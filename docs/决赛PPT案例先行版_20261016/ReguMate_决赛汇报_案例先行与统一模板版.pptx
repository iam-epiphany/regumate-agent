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Masters/case_slideMaster1.xml" ContentType="application/vnd.openxmlformats-officedocument.presentationml.slideMaster+xml"/>
  <Override PartName="/ppt/slideMasters/theme/case_theme2.xml" ContentType="application/vnd.openxmlformats-officedocument.theme+xml"/>
  <Override PartName="/ppt/slideLayouts/case_slideLayout1.xml" ContentType="application/vnd.openxmlformats-officedocument.presentationml.slideLayout+xml"/>
  <Override PartName="/ppt/slideLayouts/case_slideLayout2.xml" ContentType="application/vnd.openxmlformats-officedocument.presentationml.slideLayout+xml"/>
  <Override PartName="/ppt/slideLayouts/case_slideLayout3.xml" ContentType="application/vnd.openxmlformats-officedocument.presentationml.slideLayout+xml"/>
  <Override PartName="/ppt/slideLayouts/case_slideLayout4.xml" ContentType="application/vnd.openxmlformats-officedocument.presentationml.slideLayout+xml"/>
  <Override PartName="/ppt/slideLayouts/case_slideLayout5.xml" ContentType="application/vnd.openxmlformats-officedocument.presentationml.slideLayout+xml"/>
  <Override PartName="/ppt/slideLayouts/case_slideLayout6.xml" ContentType="application/vnd.openxmlformats-officedocument.presentationml.slideLayout+xml"/>
  <Override PartName="/ppt/notesMasters/case_notesMaster1.xml" ContentType="application/vnd.openxmlformats-officedocument.presentationml.notesMaster+xml"/>
  <Override PartName="/ppt/notesMasters/theme/case_theme3.xml" ContentType="application/vnd.openxmlformats-officedocument.theme+xml"/>
  <Override PartName="/ppt/slides/case_slide1.xml" ContentType="application/vnd.openxmlformats-officedocument.presentationml.slide+xml"/>
  <Override PartName="/ppt/notesSlides/case_notesSlide1.xml" ContentType="application/vnd.openxmlformats-officedocument.presentationml.notesSlide+xml"/>
  <Override PartName="/ppt/slides/case_slide2.xml" ContentType="application/vnd.openxmlformats-officedocument.presentationml.slide+xml"/>
  <Override PartName="/ppt/notesSlides/case_notesSlide2.xml" ContentType="application/vnd.openxmlformats-officedocument.presentationml.notesSlide+xml"/>
  <Override PartName="/ppt/slideMasters/experiment_slideMaster1.xml" ContentType="application/vnd.openxmlformats-officedocument.presentationml.slideMaster+xml"/>
  <Override PartName="/ppt/slideMasters/theme/experiment_theme2.xml" ContentType="application/vnd.openxmlformats-officedocument.theme+xml"/>
  <Override PartName="/ppt/slideLayouts/experiment_slideLayout1.xml" ContentType="application/vnd.openxmlformats-officedocument.presentationml.slideLayout+xml"/>
  <Override PartName="/ppt/slideLayouts/experiment_slideLayout2.xml" ContentType="application/vnd.openxmlformats-officedocument.presentationml.slideLayout+xml"/>
  <Override PartName="/ppt/slideLayouts/experiment_slideLayout3.xml" ContentType="application/vnd.openxmlformats-officedocument.presentationml.slideLayout+xml"/>
  <Override PartName="/ppt/slideLayouts/experiment_slideLayout4.xml" ContentType="application/vnd.openxmlformats-officedocument.presentationml.slideLayout+xml"/>
  <Override PartName="/ppt/slideLayouts/experiment_slideLayout5.xml" ContentType="application/vnd.openxmlformats-officedocument.presentationml.slideLayout+xml"/>
  <Override PartName="/ppt/slideLayouts/experiment_slideLayout6.xml" ContentType="application/vnd.openxmlformats-officedocument.presentationml.slideLayout+xml"/>
  <Override PartName="/ppt/notesMasters/experiment_notesMaster1.xml" ContentType="application/vnd.openxmlformats-officedocument.presentationml.notesMaster+xml"/>
  <Override PartName="/ppt/notesMasters/theme/experiment_theme3.xml" ContentType="application/vnd.openxmlformats-officedocument.theme+xml"/>
  <Override PartName="/ppt/slides/experiment_slide1.xml" ContentType="application/vnd.openxmlformats-officedocument.presentationml.slide+xml"/>
  <Override PartName="/ppt/notesSlides/experiment_notesSlide1.xml" ContentType="application/vnd.openxmlformats-officedocument.presentationml.notesSlide+xml"/>
  <Override PartName="/ppt/slides/experiment_slide2.xml" ContentType="application/vnd.openxmlformats-officedocument.presentationml.slide+xml"/>
  <Override PartName="/ppt/notesSlides/experiment_notesSlide2.xml" ContentType="application/vnd.openxmlformats-officedocument.presentationml.notesSlide+xml"/>
  <Override PartName="/ppt/slides/experiment_slide3.xml" ContentType="application/vnd.openxmlformats-officedocument.presentationml.slide+xml"/>
  <Override PartName="/ppt/notesSlides/experiment_notesSlide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ns2="http://schemas.openxmlformats.org/drawingml/2006/main" xmlns:ns3="http://schemas.microsoft.com/office/powerpoint/2012/main" xmlns:p="http://schemas.openxmlformats.org/presentationml/2006/main" xmlns:r="http://schemas.openxmlformats.org/officeDocument/2006/relationships">
  <p:sldMasterIdLst>
    <p:sldMasterId id="2147483648" r:id="rId1"/>
    <p:sldMasterId r:id="rIdAblation3" id="2147483649"/>
    <p:sldMasterId r:id="rIdAblation8" id="2147483650"/>
  </p:sldMasterIdLst>
  <p:notesMasterIdLst>
    <p:notesMasterId r:id="rId8"/>
    <p:notesMasterId r:id="rIdAblation4"/>
    <p:notesMasterId r:id="rIdAblation9"/>
  </p:notesMasterIdLst>
  <p:sldIdLst>
    <p:sldId id="256" r:id="rId3"/>
    <p:sldId id="262" r:id="rId4"/>
    <p:sldId id="257" r:id="rId5"/>
    <p:sldId id="258" r:id="rId6"/>
    <p:sldId id="261" r:id="rId7"/>
    <p:sldId id="270" r:id="rId9"/>
    <p:sldId id="267" r:id="rId10"/>
    <p:sldId id="268" r:id="rId11"/>
    <p:sldId id="282" r:id="rId12"/>
    <p:sldId id="301" r:id="rId13"/>
    <p:sldId id="269" r:id="rId14"/>
    <p:sldId id="281" r:id="rId15"/>
    <p:sldId id="272" r:id="rId16"/>
    <p:sldId id="283" r:id="rId21"/>
    <p:sldId id="304" r:id="rIdAblation1"/>
    <p:sldId id="305" r:id="rIdAblation2"/>
    <p:sldId id="274" r:id="rId17"/>
    <p:sldId id="294" r:id="rId20"/>
    <p:sldId id="295" r:id="rId22"/>
    <p:sldId id="306" r:id="rIdAblation5"/>
    <p:sldId id="307" r:id="rIdAblation6"/>
    <p:sldId id="308" r:id="rIdAblation7"/>
    <p:sldId id="284" r:id="rId23"/>
    <p:sldId id="300" r:id="rId24"/>
    <p:sldId id="263" r:id="rId25"/>
  </p:sldIdLst>
  <p:sldSz cx="12192000" cy="6858000"/>
  <p:notesSz cx="6858000" cy="9144000"/>
  <p:defaultTextStyle>
    <ns2:defPPr>
      <ns2:defRPr lang="zh-CN"/>
    </ns2:defPPr>
    <ns2:lvl1pPr marL="0" algn="l" defTabSz="914400" rtl="0" eaLnBrk="1" latinLnBrk="0" hangingPunct="1">
      <ns2:defRPr sz="1800" kern="1200">
        <ns2:solidFill>
          <ns2:schemeClr val="tx1"/>
        </ns2:solidFill>
        <ns2:latin typeface="+mn-lt"/>
        <ns2:ea typeface="+mn-ea"/>
        <ns2:cs typeface="+mn-cs"/>
      </ns2:defRPr>
    </ns2:lvl1pPr>
    <ns2:lvl2pPr marL="457200" algn="l" defTabSz="914400" rtl="0" eaLnBrk="1" latinLnBrk="0" hangingPunct="1">
      <ns2:defRPr sz="1800" kern="1200">
        <ns2:solidFill>
          <ns2:schemeClr val="tx1"/>
        </ns2:solidFill>
        <ns2:latin typeface="+mn-lt"/>
        <ns2:ea typeface="+mn-ea"/>
        <ns2:cs typeface="+mn-cs"/>
      </ns2:defRPr>
    </ns2:lvl2pPr>
    <ns2:lvl3pPr marL="914400" algn="l" defTabSz="914400" rtl="0" eaLnBrk="1" latinLnBrk="0" hangingPunct="1">
      <ns2:defRPr sz="1800" kern="1200">
        <ns2:solidFill>
          <ns2:schemeClr val="tx1"/>
        </ns2:solidFill>
        <ns2:latin typeface="+mn-lt"/>
        <ns2:ea typeface="+mn-ea"/>
        <ns2:cs typeface="+mn-cs"/>
      </ns2:defRPr>
    </ns2:lvl3pPr>
    <ns2:lvl4pPr marL="1371600" algn="l" defTabSz="914400" rtl="0" eaLnBrk="1" latinLnBrk="0" hangingPunct="1">
      <ns2:defRPr sz="1800" kern="1200">
        <ns2:solidFill>
          <ns2:schemeClr val="tx1"/>
        </ns2:solidFill>
        <ns2:latin typeface="+mn-lt"/>
        <ns2:ea typeface="+mn-ea"/>
        <ns2:cs typeface="+mn-cs"/>
      </ns2:defRPr>
    </ns2:lvl4pPr>
    <ns2:lvl5pPr marL="1828800" algn="l" defTabSz="914400" rtl="0" eaLnBrk="1" latinLnBrk="0" hangingPunct="1">
      <ns2:defRPr sz="1800" kern="1200">
        <ns2:solidFill>
          <ns2:schemeClr val="tx1"/>
        </ns2:solidFill>
        <ns2:latin typeface="+mn-lt"/>
        <ns2:ea typeface="+mn-ea"/>
        <ns2:cs typeface="+mn-cs"/>
      </ns2:defRPr>
    </ns2:lvl5pPr>
    <ns2:lvl6pPr marL="2286000" algn="l" defTabSz="914400" rtl="0" eaLnBrk="1" latinLnBrk="0" hangingPunct="1">
      <ns2:defRPr sz="1800" kern="1200">
        <ns2:solidFill>
          <ns2:schemeClr val="tx1"/>
        </ns2:solidFill>
        <ns2:latin typeface="+mn-lt"/>
        <ns2:ea typeface="+mn-ea"/>
        <ns2:cs typeface="+mn-cs"/>
      </ns2:defRPr>
    </ns2:lvl6pPr>
    <ns2:lvl7pPr marL="2743200" algn="l" defTabSz="914400" rtl="0" eaLnBrk="1" latinLnBrk="0" hangingPunct="1">
      <ns2:defRPr sz="1800" kern="1200">
        <ns2:solidFill>
          <ns2:schemeClr val="tx1"/>
        </ns2:solidFill>
        <ns2:latin typeface="+mn-lt"/>
        <ns2:ea typeface="+mn-ea"/>
        <ns2:cs typeface="+mn-cs"/>
      </ns2:defRPr>
    </ns2:lvl7pPr>
    <ns2:lvl8pPr marL="3200400" algn="l" defTabSz="914400" rtl="0" eaLnBrk="1" latinLnBrk="0" hangingPunct="1">
      <ns2:defRPr sz="1800" kern="1200">
        <ns2:solidFill>
          <ns2:schemeClr val="tx1"/>
        </ns2:solidFill>
        <ns2:latin typeface="+mn-lt"/>
        <ns2:ea typeface="+mn-ea"/>
        <ns2:cs typeface="+mn-cs"/>
      </ns2:defRPr>
    </ns2:lvl8pPr>
    <ns2:lvl9pPr marL="3657600" algn="l" defTabSz="914400" rtl="0" eaLnBrk="1" latinLnBrk="0" hangingPunct="1">
      <ns2:defRPr sz="1800" kern="1200">
        <ns2:solidFill>
          <ns2:schemeClr val="tx1"/>
        </ns2:solidFill>
        <ns2:latin typeface="+mn-lt"/>
        <ns2:ea typeface="+mn-ea"/>
        <ns2:cs typeface="+mn-cs"/>
      </ns2:defRPr>
    </ns2:lvl9pPr>
  </p:defaultTextStyle>
  <p:extLst>
    <p:ext uri="{EFAFB233-063F-42B5-8137-9DF3F51BA10A}">
      <ns3:sldGuideLst>
        <ns3:guide id="1" orient="horz" pos="3467" userDrawn="1">
          <ns3:clr>
            <ns2:srgbClr val="A4A3A4"/>
          </ns3:clr>
        </ns3:guide>
        <ns3:guide id="2" pos="3838" userDrawn="1">
          <ns3:clr>
            <ns2:srgbClr val="A4A3A4"/>
          </ns3:clr>
        </ns3:guide>
      </ns3: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E5AA8"/>
    <a:srgbClr val="195CC4"/>
    <a:srgbClr val="D9DEE8"/>
    <a:srgbClr val="FBF3F3"/>
    <a:srgbClr val="CE0000"/>
    <a:srgbClr val="1C41A9"/>
    <a:srgbClr val="7FA0C0"/>
    <a:srgbClr val="004182"/>
    <a:srgbClr val="B6C7EA"/>
    <a:srgbClr val="21208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p:scale>
          <a:sx n="75" d="100"/>
          <a:sy n="75" d="100"/>
        </p:scale>
        <p:origin x="1360" y="504"/>
      </p:cViewPr>
      <p:guideLst>
        <p:guide orient="horz" pos="3467"/>
        <p:guide pos="3838"/>
      </p:guideLst>
    </p:cSldViewPr>
  </p:slideViewPr>
  <p:notesTextViewPr>
    <p:cViewPr>
      <p:scale>
        <a:sx n="1" d="1"/>
        <a:sy n="1" d="1"/>
      </p:scale>
      <p:origin x="0" y="0"/>
    </p:cViewPr>
  </p:notesTextViewPr>
  <p:gridSpacing cx="72008" cy="72008"/>
</p:viewPr>
</file>

<file path=ppt/_rels/presentation.xml.rels><?xml version='1.0' encoding='utf-8'?>
<ns0:Relationships xmlns:ns0="http://schemas.openxmlformats.org/package/2006/relationships"><ns0:Relationship Id="rId9" Type="http://schemas.openxmlformats.org/officeDocument/2006/relationships/slide" Target="slides/slide6.xml" /><ns0:Relationship Id="rId8" Type="http://schemas.openxmlformats.org/officeDocument/2006/relationships/notesMaster" Target="notesMasters/notesMaster1.xml" /><ns0:Relationship Id="rId7" Type="http://schemas.openxmlformats.org/officeDocument/2006/relationships/slide" Target="slides/slide5.xml" /><ns0:Relationship Id="rId6" Type="http://schemas.openxmlformats.org/officeDocument/2006/relationships/slide" Target="slides/slide4.xml" /><ns0:Relationship Id="rId5" Type="http://schemas.openxmlformats.org/officeDocument/2006/relationships/slide" Target="slides/slide3.xml" /><ns0:Relationship Id="rId4" Type="http://schemas.openxmlformats.org/officeDocument/2006/relationships/slide" Target="slides/slide2.xml" /><ns0:Relationship Id="rId3" Type="http://schemas.openxmlformats.org/officeDocument/2006/relationships/slide" Target="slides/slide1.xml" /><ns0:Relationship Id="rId28" Type="http://schemas.openxmlformats.org/officeDocument/2006/relationships/tableStyles" Target="tableStyles.xml" /><ns0:Relationship Id="rId27" Type="http://schemas.openxmlformats.org/officeDocument/2006/relationships/viewProps" Target="viewProps.xml" /><ns0:Relationship Id="rId26" Type="http://schemas.openxmlformats.org/officeDocument/2006/relationships/presProps" Target="presProps.xml" /><ns0:Relationship Id="rId25" Type="http://schemas.openxmlformats.org/officeDocument/2006/relationships/slide" Target="slides/slide22.xml" /><ns0:Relationship Id="rId24" Type="http://schemas.openxmlformats.org/officeDocument/2006/relationships/slide" Target="slides/slide21.xml" /><ns0:Relationship Id="rId23" Type="http://schemas.openxmlformats.org/officeDocument/2006/relationships/slide" Target="slides/slide20.xml" /><ns0:Relationship Id="rId22" Type="http://schemas.openxmlformats.org/officeDocument/2006/relationships/slide" Target="slides/slide19.xml" /><ns0:Relationship Id="rId21" Type="http://schemas.openxmlformats.org/officeDocument/2006/relationships/slide" Target="slides/slide18.xml" /><ns0:Relationship Id="rId20" Type="http://schemas.openxmlformats.org/officeDocument/2006/relationships/slide" Target="slides/slide17.xml" /><ns0:Relationship Id="rId2" Type="http://schemas.openxmlformats.org/officeDocument/2006/relationships/theme" Target="theme/theme1.xml" /><ns0:Relationship Id="rId19" Type="http://schemas.openxmlformats.org/officeDocument/2006/relationships/slide" Target="slides/slide16.xml" /><ns0:Relationship Id="rId18" Type="http://schemas.openxmlformats.org/officeDocument/2006/relationships/slide" Target="slides/slide15.xml" /><ns0:Relationship Id="rId17" Type="http://schemas.openxmlformats.org/officeDocument/2006/relationships/slide" Target="slides/slide14.xml" /><ns0:Relationship Id="rId16" Type="http://schemas.openxmlformats.org/officeDocument/2006/relationships/slide" Target="slides/slide13.xml" /><ns0:Relationship Id="rId15" Type="http://schemas.openxmlformats.org/officeDocument/2006/relationships/slide" Target="slides/slide12.xml" /><ns0:Relationship Id="rId14" Type="http://schemas.openxmlformats.org/officeDocument/2006/relationships/slide" Target="slides/slide11.xml" /><ns0:Relationship Id="rId13" Type="http://schemas.openxmlformats.org/officeDocument/2006/relationships/slide" Target="slides/slide10.xml" /><ns0:Relationship Id="rId12" Type="http://schemas.openxmlformats.org/officeDocument/2006/relationships/slide" Target="slides/slide9.xml" /><ns0:Relationship Id="rId11" Type="http://schemas.openxmlformats.org/officeDocument/2006/relationships/slide" Target="slides/slide8.xml" /><ns0:Relationship Id="rId10" Type="http://schemas.openxmlformats.org/officeDocument/2006/relationships/slide" Target="slides/slide7.xml" /><ns0:Relationship Id="rId1" Type="http://schemas.openxmlformats.org/officeDocument/2006/relationships/slideMaster" Target="slideMasters/slideMaster1.xml" /><ns0:Relationship Id="rIdAblation1" Type="http://schemas.openxmlformats.org/officeDocument/2006/relationships/slide" Target="slides/case_slide1.xml" /><ns0:Relationship Id="rIdAblation2" Type="http://schemas.openxmlformats.org/officeDocument/2006/relationships/slide" Target="slides/case_slide2.xml" /><ns0:Relationship Id="rIdAblation3" Type="http://schemas.openxmlformats.org/officeDocument/2006/relationships/slideMaster" Target="slideMasters/case_slideMaster1.xml" /><ns0:Relationship Id="rIdAblation4" Type="http://schemas.openxmlformats.org/officeDocument/2006/relationships/notesMaster" Target="notesMasters/case_notesMaster1.xml" /><ns0:Relationship Id="rIdAblation5" Type="http://schemas.openxmlformats.org/officeDocument/2006/relationships/slide" Target="slides/experiment_slide1.xml" /><ns0:Relationship Id="rIdAblation6" Type="http://schemas.openxmlformats.org/officeDocument/2006/relationships/slide" Target="slides/experiment_slide2.xml" /><ns0:Relationship Id="rIdAblation7" Type="http://schemas.openxmlformats.org/officeDocument/2006/relationships/slide" Target="slides/experiment_slide3.xml" /><ns0:Relationship Id="rIdAblation8" Type="http://schemas.openxmlformats.org/officeDocument/2006/relationships/slideMaster" Target="slideMasters/experiment_slideMaster1.xml" /><ns0:Relationship Id="rIdAblation9" Type="http://schemas.openxmlformats.org/officeDocument/2006/relationships/notesMaster" Target="notesMasters/experiment_notesMaster1.xml" /></ns0:Relationships>
</file>

<file path=ppt/notesMasters/_rels/case_notesMaster1.xml.rels><?xml version='1.0' encoding='utf-8'?>
<ns0:Relationships xmlns:ns0="http://schemas.openxmlformats.org/package/2006/relationships"><ns0:Relationship Type="http://schemas.openxmlformats.org/officeDocument/2006/relationships/theme" Target="theme/case_theme3.xml" Id="R038066251388437e" /></ns0:Relationships>
</file>

<file path=ppt/notesMasters/_rels/experiment_notesMaster1.xml.rels><?xml version='1.0' encoding='utf-8'?>
<ns0:Relationships xmlns:ns0="http://schemas.openxmlformats.org/package/2006/relationships"><ns0:Relationship Type="http://schemas.openxmlformats.org/officeDocument/2006/relationships/theme" Target="theme/experiment_theme3.xml" Id="Rd1afc03b313b4861" /></ns0: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case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experiment_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Masters/theme/case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Masters/theme/experiment_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case_notesSlide1.xml.rels><?xml version='1.0' encoding='utf-8'?>
<ns0:Relationships xmlns:ns0="http://schemas.openxmlformats.org/package/2006/relationships"><ns0:Relationship Type="http://schemas.openxmlformats.org/officeDocument/2006/relationships/slide" Target="../slides/case_slide1.xml" Id="R31ff49a3ce0b4300" /><ns0:Relationship Type="http://schemas.openxmlformats.org/officeDocument/2006/relationships/notesMaster" Target="../notesMasters/case_notesMaster1.xml" Id="R174c1881605e400a" /></ns0:Relationships>
</file>

<file path=ppt/notesSlides/_rels/case_notesSlide2.xml.rels><?xml version='1.0' encoding='utf-8'?>
<ns0:Relationships xmlns:ns0="http://schemas.openxmlformats.org/package/2006/relationships"><ns0:Relationship Type="http://schemas.openxmlformats.org/officeDocument/2006/relationships/slide" Target="../slides/case_slide2.xml" Id="Ra7acca8354fd4156" /><ns0:Relationship Type="http://schemas.openxmlformats.org/officeDocument/2006/relationships/notesMaster" Target="../notesMasters/case_notesMaster1.xml" Id="R10409cd6f1f5468b" /></ns0:Relationships>
</file>

<file path=ppt/notesSlides/_rels/experiment_notesSlide1.xml.rels><?xml version='1.0' encoding='utf-8'?>
<ns0:Relationships xmlns:ns0="http://schemas.openxmlformats.org/package/2006/relationships"><ns0:Relationship Type="http://schemas.openxmlformats.org/officeDocument/2006/relationships/slide" Target="../slides/experiment_slide1.xml" Id="R0232a291ce2b4875" /><ns0:Relationship Type="http://schemas.openxmlformats.org/officeDocument/2006/relationships/notesMaster" Target="../notesMasters/experiment_notesMaster1.xml" Id="Rcc4fbfb98c66467b" /></ns0:Relationships>
</file>

<file path=ppt/notesSlides/_rels/experiment_notesSlide2.xml.rels><?xml version='1.0' encoding='utf-8'?>
<ns0:Relationships xmlns:ns0="http://schemas.openxmlformats.org/package/2006/relationships"><ns0:Relationship Type="http://schemas.openxmlformats.org/officeDocument/2006/relationships/slide" Target="../slides/experiment_slide2.xml" Id="R60c9183d66f1400b" /><ns0:Relationship Type="http://schemas.openxmlformats.org/officeDocument/2006/relationships/notesMaster" Target="../notesMasters/experiment_notesMaster1.xml" Id="R034a6a2653d44818" /></ns0:Relationships>
</file>

<file path=ppt/notesSlides/_rels/experiment_notesSlide3.xml.rels><?xml version='1.0' encoding='utf-8'?>
<ns0:Relationships xmlns:ns0="http://schemas.openxmlformats.org/package/2006/relationships"><ns0:Relationship Type="http://schemas.openxmlformats.org/officeDocument/2006/relationships/slide" Target="../slides/experiment_slide3.xml" Id="Rbc04d17fa4d94e1d" /><ns0:Relationship Type="http://schemas.openxmlformats.org/officeDocument/2006/relationships/notesMaster" Target="../notesMasters/experiment_notesMaster1.xml" Id="Rbae00db0eb754cdf" /></ns0:Relationships>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case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业务场景：金融集团核对银行、保险子公司恢复计划中的业务清单。</a:t>
            </a:r>
          </a:p>
          <a:p xmlns:a="http://schemas.openxmlformats.org/drawingml/2006/main">
            <a:r>
              <a:t>完整实际提问：恢复计划示例（商业银行版）和恢复计划示例（保险公司版）列示的“主要金融产品和服务”是否一致？</a:t>
            </a:r>
          </a:p>
          <a:p xmlns:a="http://schemas.openxmlformats.org/drawingml/2006/main">
            <a:r>
              <a:t>本次实际回答：不一致。恢复计划示例（商业银行版）列示的主要金融产品和服务至少包括5个方面：1.存款；2.贷款；3.支付清算托管与结算；4.同业融资；5.资本市场与投资活动（包括但不限于债券投资、特殊目的载体投资、理财产品、承销、衍生金融产品交易、资金交易等）[7]；恢复计划示例（保险公司版）列示的主要金融产品和服务包括4项：1.保险承保；2.保险理赔；3.保险保全；4.资本市场与投资活动（包括但不限于债券投资、权益投资、保险资产管理产品、理财产品、信托计划、投资性房地产、衍生金融产品等相关投资活动）[1]。两者在项目数量和具体项目上均不一致。</a:t>
            </a:r>
          </a:p>
          <a:p xmlns:a="http://schemas.openxmlformats.org/drawingml/2006/main">
            <a:r>
              <a:t/>
            </a:r>
          </a:p>
          <a:p xmlns:a="http://schemas.openxmlformats.org/drawingml/2006/main">
            <a:r>
              <a:t>分类说明：商业银行版与保险公司版唯一名称重合的类别是“资本市场与投资活动”，但其包含的子项不同：商业银行版包括但不限于债券投资、特殊目的载体投资、理财产品、承销、衍生金融产品交易、资金交易等[7]；保险公司版包括但不限于债券投资、权益投资、保险资产管理产品、理财产品、信托计划、投资性房地产、衍生金融产品等相关投资活动[1]。</a:t>
            </a:r>
          </a:p>
          <a:p xmlns:a="http://schemas.openxmlformats.org/drawingml/2006/main">
            <a:r>
              <a:t>来源：该办法附件1《恢复计划示例（商业银行版）》、附件2《恢复计划示例（保险公司版）》。两份附件为分别存储的两份文档，可称跨文档比较，不称跨法规冲突裁决。原文“包括但不限于”必须保留，列示差异不等于另一机构被禁止开展某项业务。截图为当前系统实际浏览器画面局部，未改写问答内容。任务ID：6aac8149b5374479935f1bc5780d5bfb，完成时间：2026-10-16T13:47:27.503984+00:00。单案例成功不代表所有改写问法均稳定成功。配文来源：docs/决赛PPT案例选题与配文_20261016.md。原始响应：tmp/ppt_restructure_20261016/build/case1_actual_respons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case_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业务场景：风险计量人员复核初级内部评级法下使用单种抵质押品的调整后违约损失率。</a:t>
            </a:r>
          </a:p>
          <a:p xmlns:a="http://schemas.openxmlformats.org/drawingml/2006/main">
            <a:r>
              <a:t>实际完整提问：请依据《信用风险内部评级法风险缓释监管要求》中的公式计算调整后违约损失率LGD*：LGD_s=0.35，E_s=70，E=100，H_e=0.25，LGD_u=0.65，E_u=55。</a:t>
            </a:r>
          </a:p>
          <a:p xmlns:a="http://schemas.openxmlformats.org/drawingml/2006/main">
            <a:r>
              <a:t>实际完整回答：计算结果为 0.482。依据公式 LGD^*=LGD_s*(E_s)/(E*(1+H_e))+LGD_u*(E_u)/(E*(1+H_e))，变量取值为 LGD_s=0.35，E_s=70，E=100，H_e=0.25，LGD_u=0.65，E_u=55，代入计算式为 0.35*(70)/(100*(1+0.25))+0.65*(55)/(100*(1+0.25)) = 0.482。[1]</a:t>
            </a:r>
          </a:p>
          <a:p xmlns:a="http://schemas.openxmlformats.org/drawingml/2006/main">
            <a:r>
              <a:t>原文公式：LGD*=LGD_s×E_s/[E×(1+H_e)]+LGD_u×E_u/[E×(1+H_e)]。本例 E×(1+H_e)=125，E_u=125−70=55，参数关系一致。结果0.482换算为48.2%。参数为演示输入，不是监管统一设定或真实业务。该题为单文档计算，不称跨文档推理，不涉及抵质押品资格认定。截图为当前系统实际浏览器画面局部，提问和答复分别取图，未修改内容。任务ID：f0566115537344f6b326607081dc8aa2，完成时间：2026-10-16T13:48:33.207313+00:00。原始响应：tmp/ppt_restructure_20261016/build/case2_actual_respons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experiment_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来源：analysis100/summary.json；冻结协议 protocol.json。各配置统一采用原题集前100题，其中80道可回答、20道拒答。A0/A1共享查询规划、查询变体融合与基础溯源。普通文本索引缺少期间字段，但表格请求保留时间过滤，部分表格题零召回；本轮不能作为充分调优的通用Dense算法比较。详见 plain_index_table_filter_audit.json。Dense另保留完整200题首次结果；Full与B2原200题输出保留，主表仅取同一前100题。制度题正确率为定义、范围列表、适用规则和阈值规则四类的合计正确率，作为补充分组；总体主评分仍包含全部共同题目。未执行人工事实复核；原评分器通过率不等于事实正确率。</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experiment_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来源：analysis100/summary.json pairs；paired_differences.jsonl。配对题目 bootstrap 10000 次，固定随机种子。Full 条件贡献不等同独立模块贡献。计算对照 A4 的10道计算题最终上下文均只保留一个操作数，模型明确报告缺少另一操作数，不符合预定公平条件；A4→A5 是描述性结果，不能支持独立确定性计算消融或模型算术能力结论。详见 calculation_operand_context_audit.json。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experiment_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来源：analysis100/summary.json by_type、运行时间与错误记录。环境偏离见 environment_deviations.jsonl：B2 开始阶段生产容器曾运行；首次中断按失败保留，延迟比较需谨慎。未经人工复核，事实错误率和有效语义拦截率不报告。</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三个业务难点分别对应后续知识底座、证据驱动问答与监管可信交付三项核心能力。四项技术挑战覆盖结构解析、证据覆盖、跨文档与表格推理以及监管语义。银行监管问答同时面临资料分散、口径多样与证据复核困难。既有原稿列出了信贷、风控、资本管理、消保、反洗钱、支付结算、普惠与监管报送场景，本页保持原有三类痛点与四项技术挑战结构。来源：docs/开发文档/技术文档.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围绕赛题要求的文档处理与可信问答两项任务，构建知识可定位、计算可复核、结论可核验、服务可持续的业务能力。取数和运算由确定性逻辑执行；查询规划、部分语义核验等有模型参与，不声称拒答边界全部程序化。总主线：让监管知识可查询，让报表数据可计算，让业务结论可核验。确定性优先是系统设计原则，实际能力由后续回归指标验证。系统对文件身份和证据进行留存与核对，不依据文件名或日期自动认定法规效力。来源：docs/开发文档/技术文档.md、docs/开发文档/可信能力与发布门禁.md。</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本页侧重模块协作：查询规划明确证据需求，混合检索组织依据，文本与表格双引擎完成回答，统一校验和业务交付形成闭环。下一章节展开机制与差异化设计。讲解重点：ReguMate 将文本理解、证据检索和确定性表格计算组织为统一业务服务。双引擎指文本证据链路与结构化单元格计算链路，双存储指 Qdrant 与 SQLite。查询规划、混合检索、生成与可信校验协同工作。来源：docs/开发文档/技术文档.md；backend/app/services/rag_service.py、query_planner_service.py、spreadsheet_retrieval_service.py。部署按试点环境配置，外部模型 API 与本地嵌入和重排协同。</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本章总览按三行配对：结构感知解析＋多粒度证据索引属于知识底座；覆盖驱动检索与跨文档补证＋确定性计算属于证据驱动问答；事实与监管语义联合校验＋风险边界与审计追踪属于监管可信交付。随后三页依次展开。六项创新属于面向金融监管场景的系统融合与工程设计，不作为相对所有现有方法的性能领先声明。结构与引用扩展来源：docs/开发文档/数据驱动优化执行报告_202610.md；检索补证来源：docs/开发文档/四阶段升级完成报告_20260805.md；表格证据来自最终回归 old_outputs.json/new_outputs.json；监管语义来自 backend/app/services/regulatory_semantic_grounding_service.py。技术参考：HyDE https://arxiv.org/abs/2212.10496；CRAG https://arxiv.org/abs/2401.15884。前沿方法启发了覆盖诊断和假设检索线索的表达，项目特点在于与条款、单元格和监管语义结合。未声称实现 GraphRAG 社区摘要或训练 Self-RAG 模型。</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技术亮点第一项：结构感知解析与多粒度知识索引。定义、条款、邻接片段与单元格分别承担不同问题类型的取证；文件身份不等于法规效力认定。讲解重点：监管文件不能只切成文字块，需要保留条款关系和数字的业务语义。500 份文件与索引规模来源：docs/开发文档/技术文档.md、evaluation/文档解析结果/文档解析结果说明.md。新增 440 条定义、164 行条款索引来源：docs/开发文档/数据驱动优化执行报告_202610.md（阶段二）。本批处理成功率指归档文件处理完成，不代表所有抽取字段均无误。结构索引以实际提取结果为准。外部技术背景：BGE-M3 官方文档 https://bge-model.com/bge/bge_m3.html，支持稠密和稀疏等表示；这里未将模型的全部功能都表述为系统已启用能力。</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本页六个步骤按左列自上而下、右列自上而下阅读；数值计算是问题类型触发的分支，六个阶段为能力组织示意，不表示每个问题都会执行全部机制。HyDE假设线索只用于检索，最终答案仍使用真实原文。讲解顺序：多路召回解决找得到，条款定位解决找得准，覆盖诊断与引用扩展解决证据补全，确定性计算解决数字可复算。真实回归案例：根据《2025年商业银行主要指标分机构类情况表（季度）》，农村商业银行三季度与二季度不良贷款余额差值。商业银行分机构类情况表!G27=8274.705191、G16=8051.364405，差值=223.340786 亿元。来源：evaluation/系统测试结果/自命题200题/GPU_最终回归_20261002/old_outputs.json（BW-TC6）。算法背景：HyDE 原论文 https://arxiv.org/abs/2212.10496；CRAG 原论文 https://arxiv.org/abs/2401.15884；BGE-M3 https://arxiv.org/abs/2402.03216。CRAG-lite 是本项目借鉴检索评估思想的工程化实现，采用受限知识库内的覆盖诊断与补搜，不等同于原论文的互联网检索系统。系统采用词面检索与元数据过滤，未将其强称为标准 BM25。</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中栏为监管语义校验机制示意，条件A及示例句均为教学示意，非真实法规引文或独立实测案例。检查条件遗漏、主体扩大与规范强度变化。监管语义示例（机制示意）：证据写“符合条件时可以办理”，如果答案变成“必须办理”，即使主体和数字一致，义务强度也已经改变。系统抽取主体、行为、规范强度、条件、例外等监管语义框架，结合确定性检查与风险触发语义核验。来源：backend/app/services/regulatory_semantic_grounding_service.py、grounding_validation_service.py。最终指标来源：evaluation/系统测试结果/自命题200题/GPU_最终回归_20261002/old_outputs_diagnostic.json、new_outputs_diagnostic.json，表格 40/40、预设应拒答题40/40，来源文件覆盖149/160；引用携带率为实际已返回的159个答案均携带引用，不等于每条引用语义均正确，也不等于可回答题160/160。</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业务场景：银行资本管理、发行方案准备与合规口径核验。此页为模拟业务场景中的真实系统问答，不代表银行投产或完整发行合规意见。页面问题为展示摘要，完整实测问法如下：</a:t>
            </a:r>
          </a:p>
          <a:p>
            <a:r>
              <a:t>根据《商业银行资本管理办法》附件1，其他一级资本工具在到期日和利率跳升方面有哪些限制？发行银行行使其他一级资本工具赎回权需要满足哪些条件？所有其他一级资本工具和二级资本工具按什么顺序吸收损失？请分别引用依据。</a:t>
            </a:r>
          </a:p>
          <a:p/>
          <a:p>
            <a:r>
              <a:t>原始回答（保留接口引用编号）：</a:t>
            </a:r>
          </a:p>
          <a:p>
            <a:r>
              <a:t>根据《商业银行资本管理办法》附件1，其他一级资本工具在到期日和利率跳升方面的限制是：没有到期日，并且不得含有利率跳升机制及其他赎回激励 [5]。发行银行行使其他一级资本工具赎回权，应满足自发行之日起至少5年后方可赎回、不得形成赎回权将被行使的预期、行使赎回权前应经国家金融监督管理总局或其派出机构认可，并符合替换被赎回工具或赎回后资本水平仍明显高于监管资本要求等条件 [5]。所有其他一级资本工具全部吸收损失后，再启动二级资本工具吸收损失 [2][11]。</a:t>
            </a:r>
          </a:p>
          <a:p/>
          <a:p>
            <a:r>
              <a:t>其他一级资本工具在到期日和利率跳升方面的限制：没有到期日，并且不得含有利率跳升机制及其他赎回激励 [5]。</a:t>
            </a:r>
          </a:p>
          <a:p/>
          <a:p>
            <a:r>
              <a:t>发行银行行使其他一级资本工具赎回权需要满足：自发行之日起，至少5年后方可由发行银行赎回，但发行银行不得形成赎回权将被行使的预期，且行使赎回权前应经国家金融监督管理总局或其派出机构认可 [5]。同时，发行银行赎回其他一级资本工具，应符合以下要求之一：1.使用同等或更高质量的资本工具替换被赎回的工具，并且只有在收入能力具备可持续性的条件下才能实施资本工具的替换；2.或者，行使赎回权后的资本水平仍明显高于国家金融监督管理总局规定的监管资本要求 [5]。</a:t>
            </a:r>
          </a:p>
          <a:p/>
          <a:p>
            <a:r>
              <a:t>所有其他一级资本工具全部吸收损失后，再启动二级资本工具吸收损失 [2][11]。</a:t>
            </a:r>
          </a:p>
          <a:p/>
          <a:p>
            <a:r>
              <a:t>实测时间：2026-10-16T01:52:13.901322+00:00；HTTP 200；耗时 62.375 秒。原始记录：tmp/ppt_business_cases_20261016/capital_conditions_explicit_subject_first_run.json。</a:t>
            </a:r>
          </a:p>
          <a:p>
            <a:r>
              <a:t>依据：data/contest_dataset/dataset/nfra_page_attachments_500/400_商业银行资本管理办法_附件1：资本工具合格标准.docx，二、其他一级资本工具的合格标准，（四）、（五）、（六）、（十二）。页面[5]对应本次接口的第5项引用，[2][11]对应本次接口的第2及第11项引用。已另行核对原始DOCX条文。此页只展示问到的监管口径，不能替代对完整发行合同及银行资本状况的审查。</a:t>
            </a:r>
          </a:p>
          <a:p>
            <a:r>
              <a:t>演讲提示：难点在于保持工具类别一致、完整检索赎回门槛和资本约束，并准确保留“且”与“或者”的关系。</a:t>
            </a:r>
          </a:p>
          <a:p>
            <a:r>
              <a:t>验证边界：先前四项模拟草案直接审查问法曾因证据不足拒答，记录保存在capital_issue_review_first_run.json；本页展示另一次完整口径问题的真实成功响应，不声称此前草案审查已通过。系统语义验证服务本次不可用，所展示具体结论由原始DOCX逐项复核支持。</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业务场景：监管报送、保险行业统计复核。此页为历史系统成功回归案例，不代表银行或保险机构生产部署成果，不声称当前新问法已通过。</a:t>
            </a:r>
          </a:p>
          <a:p>
            <a:r>
              <a:t>完整历史问法：分别读取2025年3月保险业合计、人身险和财产险原保险保费收入累计值，计算有符号勾稽差额：保险业合计－人身险－财产险。</a:t>
            </a:r>
          </a:p>
          <a:p>
            <a:r>
              <a:t>原始回答：计算结果为 -0.18 亿元。计算式：21745 - 16590.18 - 5155 = -0.18。[1]</a:t>
            </a:r>
          </a:p>
          <a:p>
            <a:r>
              <a:t>运行时间：2026-07-23T06:07:16.688499+00:00。原始结果：outputs/evaluation/hard_challenge_50/round_2_regression_full_r34.json，HC034；评分记录：同目录round_2_regression_full_r34_report.json，HC034的passed和answer_correct为true。历史整轮报告并非全题通过，单案例成功不代表整轮发布门禁通过。</a:t>
            </a:r>
          </a:p>
          <a:p>
            <a:r>
              <a:t>[1]为该历史响应的计算证据引用，包含三份原始文件的操作数及坐标。文件及来源：</a:t>
            </a:r>
          </a:p>
          <a:p>
            <a:r>
              <a:t>059_2025年3月保险业经营情况表_2025年3月保险业经营情况表.xlsx，工作表“保险业经营数据（月度）”，C6=21745。</a:t>
            </a:r>
          </a:p>
          <a:p>
            <a:r>
              <a:t>057_2025年3月人身险公司经营情况表_2025年3月人身险公司经营情况表.xlsx，工作表“人身保险公司（月度）  ”（末尾两个空格），C6=16590.18。</a:t>
            </a:r>
          </a:p>
          <a:p>
            <a:r>
              <a:t>058_2025年3月财产保险公司经营情况表_2025年3月财产险公司经营情况表.xlsx，工作表“产险公司数据（月度）  ”（末尾两个空格），C7=5155。</a:t>
            </a:r>
          </a:p>
          <a:p>
            <a:r>
              <a:t>以上原始文件均位于data/contest_dataset/dataset/nfra_page_attachments_500/，已用原始XLSX独立取数并以Decimal复算，结果-0.18亿元。页面工作表简称省略末尾空格，完整名称在本备注中保留。</a:t>
            </a:r>
          </a:p>
          <a:p>
            <a:r>
              <a:t>演讲提示：难点是三份文件口径一致性、行号差异和计算溯源。微小差额必须如实保留；其原因需进一步核查，不能由系统猜测。</a:t>
            </a:r>
          </a:p>
          <a:p>
            <a:r>
              <a:t>当前验证边界：2026-10-16同问法仅返回人身险值，首次响应原样保留在tmp/ppt_business_cases_20261016/insurance_reconciliation_first_run.json；显式三表新问法拒答保存在insurance_explicit_tables_first_run.json。本页仅证明所标明历史版本和该历史问法的成功。</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评测口径：以2026-10-02最终GPU回归为主体。官方选择题300/300，0运行错误；自建开放题181/200=90.5%，包括旧批92/100、新批89/100。制度事实99/112=88.4%；表格取数20/20，计算20/20；预设应拒答题40/40；证据来源149/160=93.1%，为来源文件级覆盖，不能替代逐条引用语义正确率。关键数字、日期、机构、文号错误率2.4%来自2026-08-05历史专项统计，其余不是同一轮数据。来源：evaluation/系统测试结果/自命题200题/GPU_最终回归_20261002/score_summary.json、old_outputs_diagnostic.json、new_outputs_diagnostic.json、official300/official_300_results.json；docs/evaluation/关键指标总结_官方300与自命题200题_20260805.md。自建测试为内部回归，未声称第三方独立评测。</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并发口径为4个worker处理40题的测试，非40并发用户、非4×40题。0.30–0.53s为24候选GPU重排微基准，非端到端问答延迟。端到端CPU/GPU表格沿用2026-08-05同期成对实验：官方300平均7.03s/0.54s，自建200平均28.4s/17.9s。平均速度比28.4/17.9≈1.59。硬件RTX5070 Laptop/Ryzen98945HX，串行测试。10月GPU24候选重排0.30–0.53s为独立微基准，不能代替端到端延迟。来源：docs/evaluation/关键指标总结_官方300与自命题200题_20260805.md；data/evaluation/benchmarks/reranker_v2m3_gpu_20261002.json；docs/开发文档/数据驱动优化执行报告_202610.md。并发与存储修复：docs/开发文档/四阶段升级完成报告_20260805.md。500文件约34分钟指解析、切分与持久化的离线知识构建记录。</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本页三类岗位和推广步骤均为建议应用方案，未声称已与银行客户部署。试点衡量指标为拟跟踪指标，不写入未经验证的提效比例。业务定位：让监管资料成为可调用的业务知识服务。典型流程示意：业务人员提出制度或报表问题，系统定位条款和单元格，给出答复与计算过程，合规人员基于证据复核并留存记录。推进路线是建议的试点方案：部门小范围验证，扩展内部制度，再通过API融入门户或工作台。查找耗时、复核耗时、人工修订率和单次服务成本是拟跟踪的试点指标，未声称已有客户上线或已兑现收益。行业参考：BIS Project Gaia https://www.bis.org/project/gaia 和 https://www.bis.org/publications/project-gaia-enabling-climate-risk-analysis-using-generative-ai，展示从异构报告中提取结构化指标并支持金融分析的应用方向。Gaia是外部行业案例，不属于本项目业绩。项目落地价值基于已具备的文档接入、问答、表格计算、引用展示、审计记录和Docker双配置能力。</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case_slideLayout1.xml.rels><?xml version='1.0' encoding='utf-8'?>
<ns0:Relationships xmlns:ns0="http://schemas.openxmlformats.org/package/2006/relationships"><ns0:Relationship Type="http://schemas.openxmlformats.org/officeDocument/2006/relationships/slideMaster" Target="../slideMasters/case_slideMaster1.xml" Id="R39f9cd61ab994541" /></ns0:Relationships>
</file>

<file path=ppt/slideLayouts/_rels/case_slideLayout2.xml.rels><?xml version='1.0' encoding='utf-8'?>
<ns0:Relationships xmlns:ns0="http://schemas.openxmlformats.org/package/2006/relationships"><ns0:Relationship Type="http://schemas.openxmlformats.org/officeDocument/2006/relationships/slideMaster" Target="../slideMasters/case_slideMaster1.xml" Id="Rb6773b761d384351" /></ns0:Relationships>
</file>

<file path=ppt/slideLayouts/_rels/case_slideLayout3.xml.rels><?xml version='1.0' encoding='utf-8'?>
<ns0:Relationships xmlns:ns0="http://schemas.openxmlformats.org/package/2006/relationships"><ns0:Relationship Type="http://schemas.openxmlformats.org/officeDocument/2006/relationships/slideMaster" Target="../slideMasters/case_slideMaster1.xml" Id="R0dcdffca24c64a7e" /></ns0:Relationships>
</file>

<file path=ppt/slideLayouts/_rels/case_slideLayout4.xml.rels><?xml version='1.0' encoding='utf-8'?>
<ns0:Relationships xmlns:ns0="http://schemas.openxmlformats.org/package/2006/relationships"><ns0:Relationship Type="http://schemas.openxmlformats.org/officeDocument/2006/relationships/slideMaster" Target="../slideMasters/case_slideMaster1.xml" Id="R68d0038d708d464c" /></ns0:Relationships>
</file>

<file path=ppt/slideLayouts/_rels/case_slideLayout5.xml.rels><?xml version='1.0' encoding='utf-8'?>
<ns0:Relationships xmlns:ns0="http://schemas.openxmlformats.org/package/2006/relationships"><ns0:Relationship Type="http://schemas.openxmlformats.org/officeDocument/2006/relationships/slideMaster" Target="../slideMasters/case_slideMaster1.xml" Id="R1c2fbb2617d24ed0" /></ns0:Relationships>
</file>

<file path=ppt/slideLayouts/_rels/case_slideLayout6.xml.rels><?xml version='1.0' encoding='utf-8'?>
<ns0:Relationships xmlns:ns0="http://schemas.openxmlformats.org/package/2006/relationships"><ns0:Relationship Type="http://schemas.openxmlformats.org/officeDocument/2006/relationships/slideMaster" Target="../slideMasters/case_slideMaster1.xml" Id="R70b2597f15524ddd" /></ns0:Relationships>
</file>

<file path=ppt/slideLayouts/_rels/experiment_slideLayout1.xml.rels><?xml version='1.0' encoding='utf-8'?>
<ns0:Relationships xmlns:ns0="http://schemas.openxmlformats.org/package/2006/relationships"><ns0:Relationship Type="http://schemas.openxmlformats.org/officeDocument/2006/relationships/slideMaster" Target="../slideMasters/experiment_slideMaster1.xml" Id="R8b1f5556422a46ef" /></ns0:Relationships>
</file>

<file path=ppt/slideLayouts/_rels/experiment_slideLayout2.xml.rels><?xml version='1.0' encoding='utf-8'?>
<ns0:Relationships xmlns:ns0="http://schemas.openxmlformats.org/package/2006/relationships"><ns0:Relationship Type="http://schemas.openxmlformats.org/officeDocument/2006/relationships/slideMaster" Target="../slideMasters/experiment_slideMaster1.xml" Id="R01c0e9d07d4e4251" /></ns0:Relationships>
</file>

<file path=ppt/slideLayouts/_rels/experiment_slideLayout3.xml.rels><?xml version='1.0' encoding='utf-8'?>
<ns0:Relationships xmlns:ns0="http://schemas.openxmlformats.org/package/2006/relationships"><ns0:Relationship Type="http://schemas.openxmlformats.org/officeDocument/2006/relationships/slideMaster" Target="../slideMasters/experiment_slideMaster1.xml" Id="R341aeface0674126" /></ns0:Relationships>
</file>

<file path=ppt/slideLayouts/_rels/experiment_slideLayout4.xml.rels><?xml version='1.0' encoding='utf-8'?>
<ns0:Relationships xmlns:ns0="http://schemas.openxmlformats.org/package/2006/relationships"><ns0:Relationship Type="http://schemas.openxmlformats.org/officeDocument/2006/relationships/slideMaster" Target="../slideMasters/experiment_slideMaster1.xml" Id="R5f58e4f78aa64d43" /></ns0:Relationships>
</file>

<file path=ppt/slideLayouts/_rels/experiment_slideLayout5.xml.rels><?xml version='1.0' encoding='utf-8'?>
<ns0:Relationships xmlns:ns0="http://schemas.openxmlformats.org/package/2006/relationships"><ns0:Relationship Type="http://schemas.openxmlformats.org/officeDocument/2006/relationships/slideMaster" Target="../slideMasters/experiment_slideMaster1.xml" Id="R3ebbe21a0433479c" /></ns0:Relationships>
</file>

<file path=ppt/slideLayouts/_rels/experiment_slideLayout6.xml.rels><?xml version='1.0' encoding='utf-8'?>
<ns0:Relationships xmlns:ns0="http://schemas.openxmlformats.org/package/2006/relationships"><ns0:Relationship Type="http://schemas.openxmlformats.org/officeDocument/2006/relationships/slideMaster" Target="../slideMasters/experiment_slideMaster1.xml" Id="R5756c0869c414289" /></ns0: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case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4DF136E-549D-4B7F-ABBA-ED4C90DA530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C8777B3-B5F9-4F55-83D3-9C25FB6AF13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case_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0A90DFC-3D31-4829-80D0-4ACBBEA3D37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case_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FAEEC97-3FC9-4AE3-A5CE-62C124078C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7D6C99A-613C-4523-ACC0-D8244F8949C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case_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03CD26F-439C-4C89-8559-42B0B96FB75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105280F-82A9-401F-859D-82A2D3A26F1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7B0BED4-6184-4A3D-BFF1-AA9A93D98FF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case_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D675338-8B8C-47F1-9B0B-58082A2BA56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4C615C7-7D25-4AFC-A77D-42D6C69D9C4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case_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experiment_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0B9B440-61D4-468E-99CA-5CDF1991721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DB63657F-2284-4C91-9297-0DA772C5472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experiment_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BA242A3-ECB7-4262-B838-231C8E1E0CB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experiment_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DC3573F-1475-4C90-B655-B986A2D0C63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D0E51E2-FC62-423A-B376-C47475D8C1C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experiment_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503B79B-7380-4080-AEA6-62FC2899A0A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E70B39F-6255-46AE-A075-7479B74EC04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C8FE0E5-60A9-4C15-990D-B82B7698558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experiment_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896F8F9-1660-4FC1-926E-6C8BC51A251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F96B64C-A19D-45F5-9E16-C9CAC33FB47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experiment_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case_slideMaster1.xml.rels><?xml version='1.0' encoding='utf-8'?>
<ns0:Relationships xmlns:ns0="http://schemas.openxmlformats.org/package/2006/relationships"><ns0:Relationship Type="http://schemas.openxmlformats.org/officeDocument/2006/relationships/theme" Target="theme/case_theme2.xml" Id="R77f0ff56887d48f3" /><ns0:Relationship Type="http://schemas.openxmlformats.org/officeDocument/2006/relationships/slideLayout" Target="../slideLayouts/case_slideLayout1.xml" Id="R70539c4cad9c4968" /><ns0:Relationship Type="http://schemas.openxmlformats.org/officeDocument/2006/relationships/slideLayout" Target="../slideLayouts/case_slideLayout2.xml" Id="R967fac4affb5478d" /><ns0:Relationship Type="http://schemas.openxmlformats.org/officeDocument/2006/relationships/slideLayout" Target="../slideLayouts/case_slideLayout3.xml" Id="Raff9f0c737bc48b2" /><ns0:Relationship Type="http://schemas.openxmlformats.org/officeDocument/2006/relationships/slideLayout" Target="../slideLayouts/case_slideLayout4.xml" Id="Rc83b58d4e1104cd4" /><ns0:Relationship Type="http://schemas.openxmlformats.org/officeDocument/2006/relationships/slideLayout" Target="../slideLayouts/case_slideLayout5.xml" Id="Recfd1e6ec3894f2f" /><ns0:Relationship Type="http://schemas.openxmlformats.org/officeDocument/2006/relationships/slideLayout" Target="../slideLayouts/case_slideLayout6.xml" Id="Rd3d8969882ba4da6" /></ns0:Relationships>
</file>

<file path=ppt/slideMasters/_rels/experiment_slideMaster1.xml.rels><?xml version='1.0' encoding='utf-8'?>
<ns0:Relationships xmlns:ns0="http://schemas.openxmlformats.org/package/2006/relationships"><ns0:Relationship Type="http://schemas.openxmlformats.org/officeDocument/2006/relationships/theme" Target="theme/experiment_theme2.xml" Id="R9c3e67d1e3d44d7c" /><ns0:Relationship Type="http://schemas.openxmlformats.org/officeDocument/2006/relationships/slideLayout" Target="../slideLayouts/experiment_slideLayout1.xml" Id="R954c5d3e9eb3401b" /><ns0:Relationship Type="http://schemas.openxmlformats.org/officeDocument/2006/relationships/slideLayout" Target="../slideLayouts/experiment_slideLayout2.xml" Id="R33262ee047164815" /><ns0:Relationship Type="http://schemas.openxmlformats.org/officeDocument/2006/relationships/slideLayout" Target="../slideLayouts/experiment_slideLayout3.xml" Id="R16b18907b5734c85" /><ns0:Relationship Type="http://schemas.openxmlformats.org/officeDocument/2006/relationships/slideLayout" Target="../slideLayouts/experiment_slideLayout4.xml" Id="Rea12b1504f7c455d" /><ns0:Relationship Type="http://schemas.openxmlformats.org/officeDocument/2006/relationships/slideLayout" Target="../slideLayouts/experiment_slideLayout5.xml" Id="R65a86ca631f54cf2" /><ns0:Relationship Type="http://schemas.openxmlformats.org/officeDocument/2006/relationships/slideLayout" Target="../slideLayouts/experiment_slideLayout6.xml" Id="Re9c8107f12164e79" /></ns0:Relationships>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case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0539c4cad9c4968"/>
    <p:sldLayoutId xmlns:r="http://schemas.openxmlformats.org/officeDocument/2006/relationships" id="2147483650" r:id="R967fac4affb5478d"/>
    <p:sldLayoutId xmlns:r="http://schemas.openxmlformats.org/officeDocument/2006/relationships" id="2147483651" r:id="Raff9f0c737bc48b2"/>
    <p:sldLayoutId xmlns:r="http://schemas.openxmlformats.org/officeDocument/2006/relationships" id="2147483652" r:id="Rc83b58d4e1104cd4"/>
    <p:sldLayoutId xmlns:r="http://schemas.openxmlformats.org/officeDocument/2006/relationships" id="2147483653" r:id="Recfd1e6ec3894f2f"/>
    <p:sldLayoutId xmlns:r="http://schemas.openxmlformats.org/officeDocument/2006/relationships" id="2147483654" r:id="Rd3d8969882ba4da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experiment_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4c5d3e9eb3401b"/>
    <p:sldLayoutId xmlns:r="http://schemas.openxmlformats.org/officeDocument/2006/relationships" id="2147483650" r:id="R33262ee047164815"/>
    <p:sldLayoutId xmlns:r="http://schemas.openxmlformats.org/officeDocument/2006/relationships" id="2147483651" r:id="R16b18907b5734c85"/>
    <p:sldLayoutId xmlns:r="http://schemas.openxmlformats.org/officeDocument/2006/relationships" id="2147483652" r:id="Rea12b1504f7c455d"/>
    <p:sldLayoutId xmlns:r="http://schemas.openxmlformats.org/officeDocument/2006/relationships" id="2147483653" r:id="R65a86ca631f54cf2"/>
    <p:sldLayoutId xmlns:r="http://schemas.openxmlformats.org/officeDocument/2006/relationships" id="2147483654" r:id="Re9c8107f12164e7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pic>
        <p:nvPicPr>
          <p:cNvPr id="8" name="图片 7"/>
          <p:cNvPicPr>
            <a:picLocks noChangeAspect="1"/>
          </p:cNvPicPr>
          <p:nvPr userDrawn="1"/>
        </p:nvPicPr>
        <p:blipFill>
          <a:blip r:embed="rId12" cstate="print">
            <a:extLst>
              <a:ext uri="{28A0092B-C50C-407E-A947-70E740481C1C}">
                <a14:useLocalDpi xmlns:a14="http://schemas.microsoft.com/office/drawing/2010/main" val="0"/>
              </a:ext>
            </a:extLst>
          </a:blip>
          <a:srcRect r="13837"/>
          <a:stretch>
            <a:fillRect/>
          </a:stretch>
        </p:blipFill>
        <p:spPr>
          <a:xfrm>
            <a:off x="0" y="40"/>
            <a:ext cx="12192000" cy="6857919"/>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theme/case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experiment_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case_slide1.xml.rels><?xml version='1.0' encoding='UTF-8' standalone='yes'?>
<ns0:Relationships xmlns:ns0="http://schemas.openxmlformats.org/package/2006/relationships"><ns0:Relationship Type="http://schemas.openxmlformats.org/officeDocument/2006/relationships/slideLayout" Target="../slideLayouts/slideLayout2.xml" Id="R0acc11f4385d4ad2"/><ns0:Relationship Type="http://schemas.openxmlformats.org/officeDocument/2006/relationships/image" Target="../media/case_image.png" Id="R121f741cc9374358"/><ns0:Relationship Type="http://schemas.openxmlformats.org/officeDocument/2006/relationships/notesSlide" Target="../notesSlides/case_notesSlide1.xml" Id="Rcef861cb0a7840c0"/></ns0:Relationships>
</file>

<file path=ppt/slides/_rels/case_slide2.xml.rels><?xml version='1.0' encoding='UTF-8' standalone='yes'?>
<ns0:Relationships xmlns:ns0="http://schemas.openxmlformats.org/package/2006/relationships"><ns0:Relationship Type="http://schemas.openxmlformats.org/officeDocument/2006/relationships/slideLayout" Target="../slideLayouts/slideLayout2.xml" Id="R14e662fc2b114a76"/><ns0:Relationship Type="http://schemas.openxmlformats.org/officeDocument/2006/relationships/image" Target="../media/case_image2.png" Id="R33f4dc4cd3b247a2"/><ns0:Relationship Type="http://schemas.openxmlformats.org/officeDocument/2006/relationships/image" Target="../media/case_image3.png" Id="Re64f8385444f4008"/><ns0:Relationship Type="http://schemas.openxmlformats.org/officeDocument/2006/relationships/notesSlide" Target="../notesSlides/case_notesSlide2.xml" Id="R19518afd94f0412b"/></ns0:Relationships>
</file>

<file path=ppt/slides/_rels/experiment_slide1.xml.rels><?xml version='1.0' encoding='UTF-8' standalone='yes'?>
<ns0:Relationships xmlns:ns0="http://schemas.openxmlformats.org/package/2006/relationships"><ns0:Relationship Type="http://schemas.openxmlformats.org/officeDocument/2006/relationships/slideLayout" Target="../slideLayouts/slideLayout2.xml" Id="R3e44be3621204169"/><ns0:Relationship Type="http://schemas.openxmlformats.org/officeDocument/2006/relationships/notesSlide" Target="../notesSlides/experiment_notesSlide1.xml" Id="R517f305686c44de3"/></ns0:Relationships>
</file>

<file path=ppt/slides/_rels/experiment_slide2.xml.rels><?xml version='1.0' encoding='UTF-8' standalone='yes'?>
<ns0:Relationships xmlns:ns0="http://schemas.openxmlformats.org/package/2006/relationships"><ns0:Relationship Type="http://schemas.openxmlformats.org/officeDocument/2006/relationships/slideLayout" Target="../slideLayouts/slideLayout2.xml" Id="Rd24355c493174be9"/><ns0:Relationship Type="http://schemas.openxmlformats.org/officeDocument/2006/relationships/notesSlide" Target="../notesSlides/experiment_notesSlide2.xml" Id="Rbbf15214284145c6"/></ns0:Relationships>
</file>

<file path=ppt/slides/_rels/experiment_slide3.xml.rels><?xml version='1.0' encoding='UTF-8' standalone='yes'?>
<ns0:Relationships xmlns:ns0="http://schemas.openxmlformats.org/package/2006/relationships"><ns0:Relationship Type="http://schemas.openxmlformats.org/officeDocument/2006/relationships/slideLayout" Target="../slideLayouts/slideLayout2.xml" Id="R2f70cd02063c41d5"/><ns0:Relationship Type="http://schemas.openxmlformats.org/officeDocument/2006/relationships/notesSlide" Target="../notesSlides/experiment_notesSlide3.xml" Id="R3b18961a08d24fa9"/></ns0:Relationships>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4" Type="http://schemas.openxmlformats.org/officeDocument/2006/relationships/notesSlide" Target="../notesSlides/notesSlide1.xml"/><Relationship Id="rId13" Type="http://schemas.openxmlformats.org/officeDocument/2006/relationships/slideLayout" Target="../slideLayouts/slideLayout2.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9" Type="http://schemas.openxmlformats.org/officeDocument/2006/relationships/tags" Target="../tags/tag21.xml"/><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6" Type="http://schemas.openxmlformats.org/officeDocument/2006/relationships/notesSlide" Target="../notesSlides/notesSlide4.xml"/><Relationship Id="rId25" Type="http://schemas.openxmlformats.org/officeDocument/2006/relationships/slideLayout" Target="../slideLayouts/slideLayout2.xml"/><Relationship Id="rId24" Type="http://schemas.openxmlformats.org/officeDocument/2006/relationships/tags" Target="../tags/tag36.xml"/><Relationship Id="rId23" Type="http://schemas.openxmlformats.org/officeDocument/2006/relationships/tags" Target="../tags/tag35.xml"/><Relationship Id="rId22" Type="http://schemas.openxmlformats.org/officeDocument/2006/relationships/tags" Target="../tags/tag34.xml"/><Relationship Id="rId21" Type="http://schemas.openxmlformats.org/officeDocument/2006/relationships/tags" Target="../tags/tag33.xml"/><Relationship Id="rId20" Type="http://schemas.openxmlformats.org/officeDocument/2006/relationships/tags" Target="../tags/tag32.xml"/><Relationship Id="rId2" Type="http://schemas.openxmlformats.org/officeDocument/2006/relationships/tags" Target="../tags/tag14.xml"/><Relationship Id="rId19" Type="http://schemas.openxmlformats.org/officeDocument/2006/relationships/tags" Target="../tags/tag31.xml"/><Relationship Id="rId18" Type="http://schemas.openxmlformats.org/officeDocument/2006/relationships/tags" Target="../tags/tag30.xml"/><Relationship Id="rId17" Type="http://schemas.openxmlformats.org/officeDocument/2006/relationships/tags" Target="../tags/tag29.xml"/><Relationship Id="rId16" Type="http://schemas.openxmlformats.org/officeDocument/2006/relationships/tags" Target="../tags/tag28.xml"/><Relationship Id="rId15" Type="http://schemas.openxmlformats.org/officeDocument/2006/relationships/tags" Target="../tags/tag27.xml"/><Relationship Id="rId14" Type="http://schemas.openxmlformats.org/officeDocument/2006/relationships/tags" Target="../tags/tag26.xml"/><Relationship Id="rId13" Type="http://schemas.openxmlformats.org/officeDocument/2006/relationships/tags" Target="../tags/tag25.xml"/><Relationship Id="rId12" Type="http://schemas.openxmlformats.org/officeDocument/2006/relationships/tags" Target="../tags/tag24.xml"/><Relationship Id="rId11" Type="http://schemas.openxmlformats.org/officeDocument/2006/relationships/tags" Target="../tags/tag23.xml"/><Relationship Id="rId10" Type="http://schemas.openxmlformats.org/officeDocument/2006/relationships/tags" Target="../tags/tag22.xml"/><Relationship Id="rId1" Type="http://schemas.openxmlformats.org/officeDocument/2006/relationships/tags" Target="../tags/tag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9" Type="http://schemas.openxmlformats.org/officeDocument/2006/relationships/tags" Target="../tags/tag45.xml"/><Relationship Id="rId8" Type="http://schemas.openxmlformats.org/officeDocument/2006/relationships/tags" Target="../tags/tag44.xml"/><Relationship Id="rId7" Type="http://schemas.openxmlformats.org/officeDocument/2006/relationships/tags" Target="../tags/tag43.xml"/><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 Id="rId32" Type="http://schemas.openxmlformats.org/officeDocument/2006/relationships/notesSlide" Target="../notesSlides/notesSlide6.xml"/><Relationship Id="rId31" Type="http://schemas.openxmlformats.org/officeDocument/2006/relationships/slideLayout" Target="../slideLayouts/slideLayout2.xml"/><Relationship Id="rId30" Type="http://schemas.openxmlformats.org/officeDocument/2006/relationships/tags" Target="../tags/tag66.xml"/><Relationship Id="rId3" Type="http://schemas.openxmlformats.org/officeDocument/2006/relationships/tags" Target="../tags/tag39.xml"/><Relationship Id="rId29" Type="http://schemas.openxmlformats.org/officeDocument/2006/relationships/tags" Target="../tags/tag65.xml"/><Relationship Id="rId28" Type="http://schemas.openxmlformats.org/officeDocument/2006/relationships/tags" Target="../tags/tag64.xml"/><Relationship Id="rId27" Type="http://schemas.openxmlformats.org/officeDocument/2006/relationships/tags" Target="../tags/tag63.xml"/><Relationship Id="rId26" Type="http://schemas.openxmlformats.org/officeDocument/2006/relationships/tags" Target="../tags/tag62.xml"/><Relationship Id="rId25" Type="http://schemas.openxmlformats.org/officeDocument/2006/relationships/tags" Target="../tags/tag61.xml"/><Relationship Id="rId24" Type="http://schemas.openxmlformats.org/officeDocument/2006/relationships/tags" Target="../tags/tag60.xml"/><Relationship Id="rId23" Type="http://schemas.openxmlformats.org/officeDocument/2006/relationships/tags" Target="../tags/tag59.xml"/><Relationship Id="rId22" Type="http://schemas.openxmlformats.org/officeDocument/2006/relationships/tags" Target="../tags/tag58.xml"/><Relationship Id="rId21" Type="http://schemas.openxmlformats.org/officeDocument/2006/relationships/tags" Target="../tags/tag57.xml"/><Relationship Id="rId20" Type="http://schemas.openxmlformats.org/officeDocument/2006/relationships/tags" Target="../tags/tag56.xml"/><Relationship Id="rId2" Type="http://schemas.openxmlformats.org/officeDocument/2006/relationships/tags" Target="../tags/tag38.xml"/><Relationship Id="rId19" Type="http://schemas.openxmlformats.org/officeDocument/2006/relationships/tags" Target="../tags/tag55.xml"/><Relationship Id="rId18" Type="http://schemas.openxmlformats.org/officeDocument/2006/relationships/tags" Target="../tags/tag54.xml"/><Relationship Id="rId17" Type="http://schemas.openxmlformats.org/officeDocument/2006/relationships/tags" Target="../tags/tag53.xml"/><Relationship Id="rId16" Type="http://schemas.openxmlformats.org/officeDocument/2006/relationships/tags" Target="../tags/tag52.xml"/><Relationship Id="rId15" Type="http://schemas.openxmlformats.org/officeDocument/2006/relationships/tags" Target="../tags/tag51.xml"/><Relationship Id="rId14" Type="http://schemas.openxmlformats.org/officeDocument/2006/relationships/tags" Target="../tags/tag50.xml"/><Relationship Id="rId13" Type="http://schemas.openxmlformats.org/officeDocument/2006/relationships/tags" Target="../tags/tag49.xml"/><Relationship Id="rId12" Type="http://schemas.openxmlformats.org/officeDocument/2006/relationships/tags" Target="../tags/tag48.xml"/><Relationship Id="rId11" Type="http://schemas.openxmlformats.org/officeDocument/2006/relationships/tags" Target="../tags/tag47.xml"/><Relationship Id="rId10" Type="http://schemas.openxmlformats.org/officeDocument/2006/relationships/tags" Target="../tags/tag46.xml"/><Relationship Id="rId1" Type="http://schemas.openxmlformats.org/officeDocument/2006/relationships/tags" Target="../tags/tag3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9" Type="http://schemas.openxmlformats.org/officeDocument/2006/relationships/tags" Target="../tags/tag75.xml"/><Relationship Id="rId8" Type="http://schemas.openxmlformats.org/officeDocument/2006/relationships/tags" Target="../tags/tag74.xml"/><Relationship Id="rId7" Type="http://schemas.openxmlformats.org/officeDocument/2006/relationships/tags" Target="../tags/tag73.xml"/><Relationship Id="rId6" Type="http://schemas.openxmlformats.org/officeDocument/2006/relationships/tags" Target="../tags/tag72.xml"/><Relationship Id="rId5" Type="http://schemas.openxmlformats.org/officeDocument/2006/relationships/tags" Target="../tags/tag71.xml"/><Relationship Id="rId4" Type="http://schemas.openxmlformats.org/officeDocument/2006/relationships/tags" Target="../tags/tag70.xml"/><Relationship Id="rId3" Type="http://schemas.openxmlformats.org/officeDocument/2006/relationships/tags" Target="../tags/tag69.xml"/><Relationship Id="rId2" Type="http://schemas.openxmlformats.org/officeDocument/2006/relationships/tags" Target="../tags/tag68.xml"/><Relationship Id="rId18" Type="http://schemas.openxmlformats.org/officeDocument/2006/relationships/notesSlide" Target="../notesSlides/notesSlide8.xml"/><Relationship Id="rId17" Type="http://schemas.openxmlformats.org/officeDocument/2006/relationships/slideLayout" Target="../slideLayouts/slideLayout2.xml"/><Relationship Id="rId16" Type="http://schemas.openxmlformats.org/officeDocument/2006/relationships/tags" Target="../tags/tag82.xml"/><Relationship Id="rId15" Type="http://schemas.openxmlformats.org/officeDocument/2006/relationships/tags" Target="../tags/tag81.xml"/><Relationship Id="rId14" Type="http://schemas.openxmlformats.org/officeDocument/2006/relationships/tags" Target="../tags/tag80.xml"/><Relationship Id="rId13" Type="http://schemas.openxmlformats.org/officeDocument/2006/relationships/tags" Target="../tags/tag79.xml"/><Relationship Id="rId12" Type="http://schemas.openxmlformats.org/officeDocument/2006/relationships/tags" Target="../tags/tag78.xml"/><Relationship Id="rId11" Type="http://schemas.openxmlformats.org/officeDocument/2006/relationships/tags" Target="../tags/tag77.xml"/><Relationship Id="rId10" Type="http://schemas.openxmlformats.org/officeDocument/2006/relationships/tags" Target="../tags/tag76.xml"/><Relationship Id="rId1" Type="http://schemas.openxmlformats.org/officeDocument/2006/relationships/tags" Target="../tags/tag6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9" Type="http://schemas.openxmlformats.org/officeDocument/2006/relationships/tags" Target="../tags/tag91.xml"/><Relationship Id="rId8" Type="http://schemas.openxmlformats.org/officeDocument/2006/relationships/tags" Target="../tags/tag90.xml"/><Relationship Id="rId7" Type="http://schemas.openxmlformats.org/officeDocument/2006/relationships/tags" Target="../tags/tag89.xml"/><Relationship Id="rId6" Type="http://schemas.openxmlformats.org/officeDocument/2006/relationships/tags" Target="../tags/tag88.xml"/><Relationship Id="rId5" Type="http://schemas.openxmlformats.org/officeDocument/2006/relationships/tags" Target="../tags/tag87.xml"/><Relationship Id="rId4" Type="http://schemas.openxmlformats.org/officeDocument/2006/relationships/tags" Target="../tags/tag86.xml"/><Relationship Id="rId3" Type="http://schemas.openxmlformats.org/officeDocument/2006/relationships/tags" Target="../tags/tag85.xml"/><Relationship Id="rId20" Type="http://schemas.openxmlformats.org/officeDocument/2006/relationships/notesSlide" Target="../notesSlides/notesSlide12.xml"/><Relationship Id="rId2" Type="http://schemas.openxmlformats.org/officeDocument/2006/relationships/tags" Target="../tags/tag84.xml"/><Relationship Id="rId19" Type="http://schemas.openxmlformats.org/officeDocument/2006/relationships/slideLayout" Target="../slideLayouts/slideLayout2.xml"/><Relationship Id="rId18" Type="http://schemas.openxmlformats.org/officeDocument/2006/relationships/tags" Target="../tags/tag100.xml"/><Relationship Id="rId17" Type="http://schemas.openxmlformats.org/officeDocument/2006/relationships/tags" Target="../tags/tag99.xml"/><Relationship Id="rId16" Type="http://schemas.openxmlformats.org/officeDocument/2006/relationships/tags" Target="../tags/tag98.xml"/><Relationship Id="rId15" Type="http://schemas.openxmlformats.org/officeDocument/2006/relationships/tags" Target="../tags/tag97.xml"/><Relationship Id="rId14" Type="http://schemas.openxmlformats.org/officeDocument/2006/relationships/tags" Target="../tags/tag96.xml"/><Relationship Id="rId13" Type="http://schemas.openxmlformats.org/officeDocument/2006/relationships/tags" Target="../tags/tag95.xml"/><Relationship Id="rId12" Type="http://schemas.openxmlformats.org/officeDocument/2006/relationships/tags" Target="../tags/tag94.xml"/><Relationship Id="rId11" Type="http://schemas.openxmlformats.org/officeDocument/2006/relationships/tags" Target="../tags/tag93.xml"/><Relationship Id="rId10" Type="http://schemas.openxmlformats.org/officeDocument/2006/relationships/tags" Target="../tags/tag92.xml"/><Relationship Id="rId1" Type="http://schemas.openxmlformats.org/officeDocument/2006/relationships/tags" Target="../tags/tag8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case_slide1.xml><?xml version="1.0" encoding="utf-8"?>
<p:sld xmlns:p="http://schemas.openxmlformats.org/presentationml/2006/main">
  <p:cSld>
    <p:bg xmlns:a="http://schemas.openxmlformats.org/drawingml/2006/main">
      <p:bgPr>
        <a:solidFill>
          <a:schemeClr val="accent1"/>
        </a:solidFill>
        <a:effectLst/>
      </p:bgPr>
    </p:bg>
    <p:spTree>
      <p:nvGrpSpPr>
        <p:cNvPr id="1" name=""/>
        <p:cNvGrpSpPr/>
        <p:nvPr/>
      </p:nvGrpSpPr>
      <p:grpSpPr>
        <a:xfrm xmlns:a="http://schemas.openxmlformats.org/drawingml/2006/main"/>
      </p:grpSpPr>
      <p:sp xmlns:a="http://schemas.openxmlformats.org/drawingml/2006/main">
        <p:nvSpPr>
          <p:cNvPr id="9001" name="矩形 14"/>
          <p:cNvSpPr/>
          <p:nvPr/>
        </p:nvSpPr>
        <p:spPr>
          <a:xfrm>
            <a:off x="0" y="647700"/>
            <a:ext cx="12192000" cy="5638800"/>
          </a:xfrm>
          <a:prstGeom prst="rect">
            <a:avLst/>
          </a:prstGeom>
          <a:solidFill>
            <a:schemeClr val="bg1"/>
          </a:solidFill>
          <a:ln>
            <a:noFill/>
          </a:ln>
          <a:effectLst>
            <a:outerShdw blurRad="50800" dist="38100" dir="10800000" algn="r" rotWithShape="0">
              <a:prstClr val="black">
                <a:alpha val="40000"/>
              </a:prstClr>
            </a:outerShdw>
            <a:softEdge rad="317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xmlns:a="http://schemas.openxmlformats.org/drawingml/2006/main">
        <p:nvSpPr>
          <p:cNvPr id="9002" name="Rectangle 2"/>
          <p:cNvSpPr/>
          <p:nvPr/>
        </p:nvSpPr>
        <p:spPr>
          <a:xfrm>
            <a:off x="502920" y="1018413"/>
            <a:ext cx="82296" cy="566928"/>
          </a:xfrm>
          <a:prstGeom prst="rect">
            <a:avLst/>
          </a:prstGeom>
          <a:solidFill>
            <a:srgbClr val="1C41A9"/>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xmlns:a="http://schemas.openxmlformats.org/drawingml/2006/main">
        <p:nvSpPr>
          <p:cNvPr id="9003" name="Rectangle 5"/>
          <p:cNvSpPr/>
          <p:nvPr/>
        </p:nvSpPr>
        <p:spPr>
          <a:xfrm>
            <a:off x="502920" y="1840230"/>
            <a:ext cx="11196000" cy="20320"/>
          </a:xfrm>
          <a:prstGeom prst="rect">
            <a:avLst/>
          </a:prstGeom>
          <a:solidFill>
            <a:srgbClr val="D9DEE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1" name="">
            <a:extLst xmlns:a="http://schemas.openxmlformats.org/drawingml/2006/main">
              <a:ext uri="{FF2B5EF4-FFF2-40B4-BE49-F238E27FC236}">
                <a16:creationId xmlns:a16="http://schemas.microsoft.com/office/drawing/2014/main" id="{17FE7533-A5C5-43BB-BBB4-A9D0CD9FF0B0}"/>
              </a:ext>
            </a:extLst>
          </p:cNvPr>
          <p:cNvSpPr>
            <a:spLocks xmlns:a="http://schemas.openxmlformats.org/drawingml/2006/main" noGrp="1"/>
          </p:cNvSpPr>
          <p:nvPr/>
        </p:nvSpPr>
        <p:spPr>
          <a:xfrm xmlns:a="http://schemas.openxmlformats.org/drawingml/2006/main">
            <a:off x="714375" y="10477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95CC4"/>
                </a:solidFill>
                <a:latin typeface="OPPOSans B"/>
                <a:ea typeface="OPPOSans B"/>
                <a:cs typeface="OPPOSans B"/>
              </a:defRPr>
            </a:defPPr>
          </a:lstStyle>
          <a:p xmlns:a="http://schemas.openxmlformats.org/drawingml/2006/main">
            <a:pPr>
              <a:defRPr sz="3000" b="1">
                <a:solidFill>
                  <a:srgbClr val="195CC4"/>
                </a:solidFill>
                <a:latin typeface="OPPOSans B"/>
                <a:ea typeface="OPPOSans B"/>
                <a:cs typeface="OPPOSans B"/>
              </a:defRPr>
            </a:pPr>
            <a:r>
              <a:rPr sz="3000" b="1">
                <a:solidFill>
                  <a:srgbClr val="195CC4"/>
                </a:solidFill>
                <a:latin typeface="OPPOSans B"/>
                <a:ea typeface="OPPOSans B"/>
                <a:cs typeface="OPPOSans B"/>
              </a:rPr>
              <a:t>案例一：银行与保险恢复计划的业务口径核对</a:t>
            </a:r>
          </a:p>
        </p:txBody>
      </p:sp>
      <p:sp>
        <p:nvSpPr>
          <p:cNvPr id="2" name="">
            <a:extLst xmlns:a="http://schemas.openxmlformats.org/drawingml/2006/main">
              <a:ext uri="{FF2B5EF4-FFF2-40B4-BE49-F238E27FC236}">
                <a16:creationId xmlns:a16="http://schemas.microsoft.com/office/drawing/2014/main" id="{259EDBC1-A486-41DB-BE51-839CF1E394C7}"/>
              </a:ext>
            </a:extLst>
          </p:cNvPr>
          <p:cNvSpPr>
            <a:spLocks xmlns:a="http://schemas.openxmlformats.org/drawingml/2006/main" noGrp="1"/>
          </p:cNvSpPr>
          <p:nvPr/>
        </p:nvSpPr>
        <p:spPr>
          <a:xfrm xmlns:a="http://schemas.openxmlformats.org/drawingml/2006/main">
            <a:off x="714375" y="158115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95959"/>
                </a:solidFill>
                <a:latin typeface="OPPOSans R"/>
                <a:ea typeface="OPPOSans R"/>
                <a:cs typeface="OPPOSans R"/>
              </a:defRPr>
            </a:defPPr>
          </a:lstStyle>
          <a:p xmlns:a="http://schemas.openxmlformats.org/drawingml/2006/main">
            <a:pPr>
              <a:defRPr sz="1425" b="0">
                <a:solidFill>
                  <a:srgbClr val="595959"/>
                </a:solidFill>
                <a:latin typeface="OPPOSans R"/>
                <a:ea typeface="OPPOSans R"/>
                <a:cs typeface="OPPOSans R"/>
              </a:defRPr>
            </a:pPr>
            <a:r>
              <a:rPr sz="1425" b="0">
                <a:solidFill>
                  <a:srgbClr val="595959"/>
                </a:solidFill>
                <a:latin typeface="OPPOSans R"/>
                <a:ea typeface="OPPOSans R"/>
                <a:cs typeface="OPPOSans R"/>
              </a:rPr>
              <a:t>跨文档比较、机构口径辨析、双源溯证</a:t>
            </a:r>
          </a:p>
        </p:txBody>
      </p:sp>
      <p:pic>
        <p:nvPicPr>
          <p:cNvPr id="3" name="">
            <a:extLst xmlns:a="http://schemas.openxmlformats.org/drawingml/2006/main">
              <a:ext uri="{FF2B5EF4-FFF2-40B4-BE49-F238E27FC236}">
                <a16:creationId xmlns:a16="http://schemas.microsoft.com/office/drawing/2014/main" id="{E9232F6B-1FE0-42BC-BA14-D1F476640CB7}"/>
              </a:ext>
            </a:extLst>
          </p:cNvPr>
          <p:cNvPicPr>
            <a:picLocks xmlns:a="http://schemas.openxmlformats.org/drawingml/2006/main" noChangeAspect="1"/>
          </p:cNvPicPr>
          <p:nvPr/>
        </p:nvPicPr>
        <p:blipFill>
          <a:blip xmlns:r="http://schemas.openxmlformats.org/officeDocument/2006/relationships" xmlns:a="http://schemas.openxmlformats.org/drawingml/2006/main" r:embed="R121f741cc9374358"/>
          <a:stretch xmlns:a="http://schemas.openxmlformats.org/drawingml/2006/main"/>
        </p:blipFill>
        <p:spPr>
          <a:xfrm xmlns:a="http://schemas.openxmlformats.org/drawingml/2006/main">
            <a:off x="552450" y="2049066"/>
            <a:ext cx="7143750" cy="3750469"/>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E2D146C-E79D-4CD5-8899-450E1761C1A1}"/>
              </a:ext>
            </a:extLst>
          </p:cNvPr>
          <p:cNvSpPr>
            <a:spLocks xmlns:a="http://schemas.openxmlformats.org/drawingml/2006/main" noGrp="1"/>
          </p:cNvSpPr>
          <p:nvPr/>
        </p:nvSpPr>
        <p:spPr>
          <a:xfrm xmlns:a="http://schemas.openxmlformats.org/drawingml/2006/main">
            <a:off x="8029575" y="2066925"/>
            <a:ext cx="34004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95CC4"/>
                </a:solidFill>
                <a:latin typeface="OPPOSans B"/>
                <a:ea typeface="OPPOSans B"/>
                <a:cs typeface="OPPOSans B"/>
              </a:defRPr>
            </a:defPPr>
          </a:lstStyle>
          <a:p xmlns:a="http://schemas.openxmlformats.org/drawingml/2006/main">
            <a:pPr>
              <a:defRPr sz="1725" b="1">
                <a:solidFill>
                  <a:srgbClr val="195CC4"/>
                </a:solidFill>
                <a:latin typeface="OPPOSans B"/>
                <a:ea typeface="OPPOSans B"/>
                <a:cs typeface="OPPOSans B"/>
              </a:defRPr>
            </a:pPr>
            <a:r>
              <a:rPr sz="1725" b="1">
                <a:solidFill>
                  <a:srgbClr val="195CC4"/>
                </a:solidFill>
                <a:latin typeface="OPPOSans B"/>
                <a:ea typeface="OPPOSans B"/>
                <a:cs typeface="OPPOSans B"/>
              </a:rPr>
              <a:t>业务难点</a:t>
            </a:r>
          </a:p>
        </p:txBody>
      </p:sp>
      <p:sp>
        <p:nvSpPr>
          <p:cNvPr id="5" name="">
            <a:extLst xmlns:a="http://schemas.openxmlformats.org/drawingml/2006/main">
              <a:ext uri="{FF2B5EF4-FFF2-40B4-BE49-F238E27FC236}">
                <a16:creationId xmlns:a16="http://schemas.microsoft.com/office/drawing/2014/main" id="{9C040D77-D108-4F43-88A3-458B76F89C11}"/>
              </a:ext>
            </a:extLst>
          </p:cNvPr>
          <p:cNvSpPr>
            <a:spLocks xmlns:a="http://schemas.openxmlformats.org/drawingml/2006/main" noGrp="1"/>
          </p:cNvSpPr>
          <p:nvPr/>
        </p:nvSpPr>
        <p:spPr>
          <a:xfrm xmlns:a="http://schemas.openxmlformats.org/drawingml/2006/main">
            <a:off x="8029575" y="2390775"/>
            <a:ext cx="3400425"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F3864"/>
                </a:solidFill>
                <a:latin typeface="OPPOSans R"/>
                <a:ea typeface="OPPOSans R"/>
                <a:cs typeface="OPPOSans R"/>
              </a:defRPr>
            </a:defPPr>
          </a:lstStyle>
          <a:p xmlns:a="http://schemas.openxmlformats.org/drawingml/2006/main">
            <a:pPr>
              <a:defRPr sz="1575" b="0">
                <a:solidFill>
                  <a:srgbClr val="1F3864"/>
                </a:solidFill>
                <a:latin typeface="OPPOSans R"/>
                <a:ea typeface="OPPOSans R"/>
                <a:cs typeface="OPPOSans R"/>
              </a:defRPr>
            </a:pPr>
            <a:r>
              <a:rPr sz="1575" b="0">
                <a:solidFill>
                  <a:srgbClr val="1F3864"/>
                </a:solidFill>
                <a:latin typeface="OPPOSans R"/>
                <a:ea typeface="OPPOSans R"/>
                <a:cs typeface="OPPOSans R"/>
              </a:rPr>
              <a:t>两份附件面向不同机构。即使栏目同名，列示的业务范围仍有差异。</a:t>
            </a:r>
          </a:p>
        </p:txBody>
      </p:sp>
      <p:sp>
        <p:nvSpPr>
          <p:cNvPr id="6" name="">
            <a:extLst xmlns:a="http://schemas.openxmlformats.org/drawingml/2006/main">
              <a:ext uri="{FF2B5EF4-FFF2-40B4-BE49-F238E27FC236}">
                <a16:creationId xmlns:a16="http://schemas.microsoft.com/office/drawing/2014/main" id="{D5E60B7D-202B-4D4A-8336-14F950F08F5B}"/>
              </a:ext>
            </a:extLst>
          </p:cNvPr>
          <p:cNvSpPr>
            <a:spLocks xmlns:a="http://schemas.openxmlformats.org/drawingml/2006/main" noGrp="1"/>
          </p:cNvSpPr>
          <p:nvPr/>
        </p:nvSpPr>
        <p:spPr>
          <a:xfrm xmlns:a="http://schemas.openxmlformats.org/drawingml/2006/main">
            <a:off x="8029575" y="3419475"/>
            <a:ext cx="34004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95CC4"/>
                </a:solidFill>
                <a:latin typeface="OPPOSans B"/>
                <a:ea typeface="OPPOSans B"/>
                <a:cs typeface="OPPOSans B"/>
              </a:defRPr>
            </a:defPPr>
          </a:lstStyle>
          <a:p xmlns:a="http://schemas.openxmlformats.org/drawingml/2006/main">
            <a:pPr>
              <a:defRPr sz="1725" b="1">
                <a:solidFill>
                  <a:srgbClr val="195CC4"/>
                </a:solidFill>
                <a:latin typeface="OPPOSans B"/>
                <a:ea typeface="OPPOSans B"/>
                <a:cs typeface="OPPOSans B"/>
              </a:defRPr>
            </a:pPr>
            <a:r>
              <a:rPr sz="1725" b="1">
                <a:solidFill>
                  <a:srgbClr val="195CC4"/>
                </a:solidFill>
                <a:latin typeface="OPPOSans B"/>
                <a:ea typeface="OPPOSans B"/>
                <a:cs typeface="OPPOSans B"/>
              </a:rPr>
              <a:t>系统回答</a:t>
            </a:r>
          </a:p>
        </p:txBody>
      </p:sp>
      <p:sp>
        <p:nvSpPr>
          <p:cNvPr id="7" name="">
            <a:extLst xmlns:a="http://schemas.openxmlformats.org/drawingml/2006/main">
              <a:ext uri="{FF2B5EF4-FFF2-40B4-BE49-F238E27FC236}">
                <a16:creationId xmlns:a16="http://schemas.microsoft.com/office/drawing/2014/main" id="{B2DC6B20-B624-4DD6-AC28-D56C75708A01}"/>
              </a:ext>
            </a:extLst>
          </p:cNvPr>
          <p:cNvSpPr>
            <a:spLocks xmlns:a="http://schemas.openxmlformats.org/drawingml/2006/main" noGrp="1"/>
          </p:cNvSpPr>
          <p:nvPr/>
        </p:nvSpPr>
        <p:spPr>
          <a:xfrm xmlns:a="http://schemas.openxmlformats.org/drawingml/2006/main">
            <a:off x="8029575" y="3743325"/>
            <a:ext cx="3400425"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F3864"/>
                </a:solidFill>
                <a:latin typeface="OPPOSans R"/>
                <a:ea typeface="OPPOSans R"/>
                <a:cs typeface="OPPOSans R"/>
              </a:defRPr>
            </a:defPPr>
          </a:lstStyle>
          <a:p xmlns:a="http://schemas.openxmlformats.org/drawingml/2006/main">
            <a:pPr>
              <a:defRPr sz="1575" b="0">
                <a:solidFill>
                  <a:srgbClr val="1F3864"/>
                </a:solidFill>
                <a:latin typeface="OPPOSans R"/>
                <a:ea typeface="OPPOSans R"/>
                <a:cs typeface="OPPOSans R"/>
              </a:defRPr>
            </a:pPr>
            <a:r>
              <a:rPr sz="1575" b="0">
                <a:solidFill>
                  <a:srgbClr val="1F3864"/>
                </a:solidFill>
                <a:latin typeface="OPPOSans R"/>
                <a:ea typeface="OPPOSans R"/>
                <a:cs typeface="OPPOSans R"/>
              </a:rPr>
              <a:t>银行至少5方面，保险4方面。对照两份附件，解释同名类别下的业务差异</a:t>
            </a:r>
          </a:p>
        </p:txBody>
      </p:sp>
      <p:sp>
        <p:nvSpPr>
          <p:cNvPr id="8" name="">
            <a:extLst xmlns:a="http://schemas.openxmlformats.org/drawingml/2006/main">
              <a:ext uri="{FF2B5EF4-FFF2-40B4-BE49-F238E27FC236}">
                <a16:creationId xmlns:a16="http://schemas.microsoft.com/office/drawing/2014/main" id="{BABAE965-83D1-4D00-AAE2-F8FA0074F5B9}"/>
              </a:ext>
            </a:extLst>
          </p:cNvPr>
          <p:cNvSpPr>
            <a:spLocks xmlns:a="http://schemas.openxmlformats.org/drawingml/2006/main" noGrp="1"/>
          </p:cNvSpPr>
          <p:nvPr/>
        </p:nvSpPr>
        <p:spPr>
          <a:xfrm xmlns:a="http://schemas.openxmlformats.org/drawingml/2006/main">
            <a:off x="8029575" y="5000625"/>
            <a:ext cx="34004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95CC4"/>
                </a:solidFill>
                <a:latin typeface="OPPOSans B"/>
                <a:ea typeface="OPPOSans B"/>
                <a:cs typeface="OPPOSans B"/>
              </a:defRPr>
            </a:defPPr>
          </a:lstStyle>
          <a:p xmlns:a="http://schemas.openxmlformats.org/drawingml/2006/main">
            <a:pPr>
              <a:defRPr sz="1725" b="1">
                <a:solidFill>
                  <a:srgbClr val="195CC4"/>
                </a:solidFill>
                <a:latin typeface="OPPOSans B"/>
                <a:ea typeface="OPPOSans B"/>
                <a:cs typeface="OPPOSans B"/>
              </a:defRPr>
            </a:pPr>
            <a:r>
              <a:rPr sz="1725" b="1">
                <a:solidFill>
                  <a:srgbClr val="195CC4"/>
                </a:solidFill>
                <a:latin typeface="OPPOSans B"/>
                <a:ea typeface="OPPOSans B"/>
                <a:cs typeface="OPPOSans B"/>
              </a:rPr>
              <a:t>业务价值</a:t>
            </a:r>
          </a:p>
        </p:txBody>
      </p:sp>
      <p:sp>
        <p:nvSpPr>
          <p:cNvPr id="9" name="">
            <a:extLst xmlns:a="http://schemas.openxmlformats.org/drawingml/2006/main">
              <a:ext uri="{FF2B5EF4-FFF2-40B4-BE49-F238E27FC236}">
                <a16:creationId xmlns:a16="http://schemas.microsoft.com/office/drawing/2014/main" id="{C02D489C-97D6-4240-A63E-83D7E5A6317B}"/>
              </a:ext>
            </a:extLst>
          </p:cNvPr>
          <p:cNvSpPr>
            <a:spLocks xmlns:a="http://schemas.openxmlformats.org/drawingml/2006/main" noGrp="1"/>
          </p:cNvSpPr>
          <p:nvPr/>
        </p:nvSpPr>
        <p:spPr>
          <a:xfrm xmlns:a="http://schemas.openxmlformats.org/drawingml/2006/main">
            <a:off x="8029575" y="5324475"/>
            <a:ext cx="34004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F3864"/>
                </a:solidFill>
                <a:latin typeface="OPPOSans R"/>
                <a:ea typeface="OPPOSans R"/>
                <a:cs typeface="OPPOSans R"/>
              </a:defRPr>
            </a:defPPr>
          </a:lstStyle>
          <a:p xmlns:a="http://schemas.openxmlformats.org/drawingml/2006/main">
            <a:pPr>
              <a:defRPr sz="1575" b="0">
                <a:solidFill>
                  <a:srgbClr val="1F3864"/>
                </a:solidFill>
                <a:latin typeface="OPPOSans R"/>
                <a:ea typeface="OPPOSans R"/>
                <a:cs typeface="OPPOSans R"/>
              </a:defRPr>
            </a:pPr>
            <a:r>
              <a:rPr sz="1575" b="0">
                <a:solidFill>
                  <a:srgbClr val="1F3864"/>
                </a:solidFill>
                <a:latin typeface="OPPOSans R"/>
                <a:ea typeface="OPPOSans R"/>
                <a:cs typeface="OPPOSans R"/>
              </a:rPr>
              <a:t>为恢复计划编制提供差异依据，帮助避免直接套用其他机构的业务清单。</a:t>
            </a:r>
          </a:p>
        </p:txBody>
      </p:sp>
      <p:sp>
        <p:nvSpPr>
          <p:cNvPr id="10" name="">
            <a:extLst xmlns:a="http://schemas.openxmlformats.org/drawingml/2006/main">
              <a:ext uri="{FF2B5EF4-FFF2-40B4-BE49-F238E27FC236}">
                <a16:creationId xmlns:a16="http://schemas.microsoft.com/office/drawing/2014/main" id="{BA5E14C1-06DE-44B2-9711-48B32DA48440}"/>
              </a:ext>
            </a:extLst>
          </p:cNvPr>
          <p:cNvSpPr>
            <a:spLocks xmlns:a="http://schemas.openxmlformats.org/drawingml/2006/main" noGrp="1"/>
          </p:cNvSpPr>
          <p:nvPr/>
        </p:nvSpPr>
        <p:spPr>
          <a:xfrm xmlns:a="http://schemas.openxmlformats.org/drawingml/2006/main">
            <a:off x="552450" y="5981700"/>
            <a:ext cx="11087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95959"/>
                </a:solidFill>
                <a:latin typeface="OPPOSans R"/>
                <a:ea typeface="OPPOSans R"/>
                <a:cs typeface="OPPOSans R"/>
              </a:defRPr>
            </a:defPPr>
          </a:lstStyle>
          <a:p xmlns:a="http://schemas.openxmlformats.org/drawingml/2006/main">
            <a:pPr>
              <a:defRPr sz="1275" b="0">
                <a:solidFill>
                  <a:srgbClr val="595959"/>
                </a:solidFill>
                <a:latin typeface="OPPOSans R"/>
                <a:ea typeface="OPPOSans R"/>
                <a:cs typeface="OPPOSans R"/>
              </a:defRPr>
            </a:pPr>
            <a:r>
              <a:rPr sz="1275" b="0">
                <a:solidFill>
                  <a:srgbClr val="595959"/>
                </a:solidFill>
                <a:latin typeface="OPPOSans R"/>
                <a:ea typeface="OPPOSans R"/>
                <a:cs typeface="OPPOSans R"/>
              </a:rPr>
              <a:t>依据：《银行保险机构恢复和处置计划实施暂行办法》附件1、附件2</a:t>
            </a:r>
          </a:p>
        </p:txBody>
      </p:sp>
    </p:spTree>
    <p:extLst>
      <p:ext uri="{BB962C8B-B14F-4D97-AF65-F5344CB8AC3E}">
        <p14:creationId xmlns:p14="http://schemas.microsoft.com/office/powerpoint/2010/main" val="78547054"/>
      </p:ext>
    </p:extLst>
  </p:cSld>
</p:sld>
</file>

<file path=ppt/slides/case_slide2.xml><?xml version="1.0" encoding="utf-8"?>
<p:sld xmlns:p="http://schemas.openxmlformats.org/presentationml/2006/main">
  <p:cSld>
    <p:bg xmlns:a="http://schemas.openxmlformats.org/drawingml/2006/main">
      <p:bgPr>
        <a:solidFill>
          <a:schemeClr val="accent1"/>
        </a:solidFill>
        <a:effectLst/>
      </p:bgPr>
    </p:bg>
    <p:spTree>
      <p:nvGrpSpPr>
        <p:cNvPr id="1" name=""/>
        <p:cNvGrpSpPr/>
        <p:nvPr/>
      </p:nvGrpSpPr>
      <p:grpSpPr>
        <a:xfrm xmlns:a="http://schemas.openxmlformats.org/drawingml/2006/main"/>
      </p:grpSpPr>
      <p:sp xmlns:a="http://schemas.openxmlformats.org/drawingml/2006/main">
        <p:nvSpPr>
          <p:cNvPr id="9001" name="矩形 14"/>
          <p:cNvSpPr/>
          <p:nvPr/>
        </p:nvSpPr>
        <p:spPr>
          <a:xfrm>
            <a:off x="0" y="647700"/>
            <a:ext cx="12192000" cy="5638800"/>
          </a:xfrm>
          <a:prstGeom prst="rect">
            <a:avLst/>
          </a:prstGeom>
          <a:solidFill>
            <a:schemeClr val="bg1"/>
          </a:solidFill>
          <a:ln>
            <a:noFill/>
          </a:ln>
          <a:effectLst>
            <a:outerShdw blurRad="50800" dist="38100" dir="10800000" algn="r" rotWithShape="0">
              <a:prstClr val="black">
                <a:alpha val="40000"/>
              </a:prstClr>
            </a:outerShdw>
            <a:softEdge rad="317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xmlns:a="http://schemas.openxmlformats.org/drawingml/2006/main">
        <p:nvSpPr>
          <p:cNvPr id="9002" name="Rectangle 2"/>
          <p:cNvSpPr/>
          <p:nvPr/>
        </p:nvSpPr>
        <p:spPr>
          <a:xfrm>
            <a:off x="502920" y="1018413"/>
            <a:ext cx="82296" cy="566928"/>
          </a:xfrm>
          <a:prstGeom prst="rect">
            <a:avLst/>
          </a:prstGeom>
          <a:solidFill>
            <a:srgbClr val="1C41A9"/>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xmlns:a="http://schemas.openxmlformats.org/drawingml/2006/main">
        <p:nvSpPr>
          <p:cNvPr id="9003" name="Rectangle 5"/>
          <p:cNvSpPr/>
          <p:nvPr/>
        </p:nvSpPr>
        <p:spPr>
          <a:xfrm>
            <a:off x="502920" y="1840230"/>
            <a:ext cx="11196000" cy="20320"/>
          </a:xfrm>
          <a:prstGeom prst="rect">
            <a:avLst/>
          </a:prstGeom>
          <a:solidFill>
            <a:srgbClr val="D9DEE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3" name="">
            <a:extLst xmlns:a="http://schemas.openxmlformats.org/drawingml/2006/main">
              <a:ext uri="{FF2B5EF4-FFF2-40B4-BE49-F238E27FC236}">
                <a16:creationId xmlns:a16="http://schemas.microsoft.com/office/drawing/2014/main" id="{A90003E2-6BE8-447A-8FCB-A14A2494851F}"/>
              </a:ext>
            </a:extLst>
          </p:cNvPr>
          <p:cNvSpPr>
            <a:spLocks xmlns:a="http://schemas.openxmlformats.org/drawingml/2006/main" noGrp="1"/>
          </p:cNvSpPr>
          <p:nvPr/>
        </p:nvSpPr>
        <p:spPr>
          <a:xfrm xmlns:a="http://schemas.openxmlformats.org/drawingml/2006/main">
            <a:off x="714375" y="10477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95CC4"/>
                </a:solidFill>
                <a:latin typeface="OPPOSans B"/>
                <a:ea typeface="OPPOSans B"/>
                <a:cs typeface="OPPOSans B"/>
              </a:defRPr>
            </a:defPPr>
          </a:lstStyle>
          <a:p xmlns:a="http://schemas.openxmlformats.org/drawingml/2006/main">
            <a:pPr>
              <a:defRPr sz="3000" b="1">
                <a:solidFill>
                  <a:srgbClr val="195CC4"/>
                </a:solidFill>
                <a:latin typeface="OPPOSans B"/>
                <a:ea typeface="OPPOSans B"/>
                <a:cs typeface="OPPOSans B"/>
              </a:defRPr>
            </a:pPr>
            <a:r>
              <a:rPr sz="3000" b="1">
                <a:solidFill>
                  <a:srgbClr val="195CC4"/>
                </a:solidFill>
                <a:latin typeface="OPPOSans B"/>
                <a:ea typeface="OPPOSans B"/>
                <a:cs typeface="OPPOSans B"/>
              </a:rPr>
              <a:t>案例二：按监管公式复核调整后违约损失率</a:t>
            </a:r>
          </a:p>
        </p:txBody>
      </p:sp>
      <p:sp>
        <p:nvSpPr>
          <p:cNvPr id="2" name="">
            <a:extLst xmlns:a="http://schemas.openxmlformats.org/drawingml/2006/main">
              <a:ext uri="{FF2B5EF4-FFF2-40B4-BE49-F238E27FC236}">
                <a16:creationId xmlns:a16="http://schemas.microsoft.com/office/drawing/2014/main" id="{39A5AB33-F74C-4D80-8DF0-F0909E2F49A7}"/>
              </a:ext>
            </a:extLst>
          </p:cNvPr>
          <p:cNvSpPr>
            <a:spLocks xmlns:a="http://schemas.openxmlformats.org/drawingml/2006/main" noGrp="1"/>
          </p:cNvSpPr>
          <p:nvPr/>
        </p:nvSpPr>
        <p:spPr>
          <a:xfrm xmlns:a="http://schemas.openxmlformats.org/drawingml/2006/main">
            <a:off x="714375" y="158115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25" b="0">
                <a:solidFill>
                  <a:srgbClr val="595959"/>
                </a:solidFill>
                <a:latin typeface="OPPOSans R"/>
                <a:ea typeface="OPPOSans R"/>
                <a:cs typeface="OPPOSans R"/>
              </a:defRPr>
            </a:defPPr>
          </a:lstStyle>
          <a:p xmlns:a="http://schemas.openxmlformats.org/drawingml/2006/main">
            <a:pPr>
              <a:defRPr sz="1425" b="0">
                <a:solidFill>
                  <a:srgbClr val="595959"/>
                </a:solidFill>
                <a:latin typeface="OPPOSans R"/>
                <a:ea typeface="OPPOSans R"/>
                <a:cs typeface="OPPOSans R"/>
              </a:defRPr>
            </a:pPr>
            <a:r>
              <a:rPr sz="1425" b="0">
                <a:solidFill>
                  <a:srgbClr val="595959"/>
                </a:solidFill>
                <a:latin typeface="OPPOSans R"/>
                <a:ea typeface="OPPOSans R"/>
                <a:cs typeface="OPPOSans R"/>
              </a:rPr>
              <a:t>单文档监管公式检索、六参数计算与结果复核，使用模拟参数</a:t>
            </a:r>
          </a:p>
        </p:txBody>
      </p:sp>
      <p:pic>
        <p:nvPicPr>
          <p:cNvPr id="3" name="">
            <a:extLst xmlns:a="http://schemas.openxmlformats.org/drawingml/2006/main">
              <a:ext uri="{FF2B5EF4-FFF2-40B4-BE49-F238E27FC236}">
                <a16:creationId xmlns:a16="http://schemas.microsoft.com/office/drawing/2014/main" id="{C9DE9927-2D77-4F60-9605-FF2AF54484D6}"/>
              </a:ext>
            </a:extLst>
          </p:cNvPr>
          <p:cNvPicPr>
            <a:picLocks xmlns:a="http://schemas.openxmlformats.org/drawingml/2006/main" noChangeAspect="1"/>
          </p:cNvPicPr>
          <p:nvPr/>
        </p:nvPicPr>
        <p:blipFill>
          <a:blip xmlns:r="http://schemas.openxmlformats.org/officeDocument/2006/relationships" xmlns:a="http://schemas.openxmlformats.org/drawingml/2006/main" r:embed="R33f4dc4cd3b247a2"/>
          <a:stretch xmlns:a="http://schemas.openxmlformats.org/drawingml/2006/main"/>
        </p:blipFill>
        <p:spPr>
          <a:xfrm xmlns:a="http://schemas.openxmlformats.org/drawingml/2006/main">
            <a:off x="552450" y="2060773"/>
            <a:ext cx="7143750" cy="545703"/>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1776F25E-E384-4990-AC77-374A93D56417}"/>
              </a:ext>
            </a:extLst>
          </p:cNvPr>
          <p:cNvPicPr>
            <a:picLocks xmlns:a="http://schemas.openxmlformats.org/drawingml/2006/main" noChangeAspect="1"/>
          </p:cNvPicPr>
          <p:nvPr/>
        </p:nvPicPr>
        <p:blipFill>
          <a:blip xmlns:r="http://schemas.openxmlformats.org/officeDocument/2006/relationships" xmlns:a="http://schemas.openxmlformats.org/drawingml/2006/main" r:embed="Re64f8385444f4008"/>
          <a:stretch xmlns:a="http://schemas.openxmlformats.org/drawingml/2006/main"/>
        </p:blipFill>
        <p:spPr>
          <a:xfrm xmlns:a="http://schemas.openxmlformats.org/drawingml/2006/main">
            <a:off x="559745" y="2733675"/>
            <a:ext cx="7129160" cy="27051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8F19339D-2BAB-4033-BF8D-155ACACECF2B}"/>
              </a:ext>
            </a:extLst>
          </p:cNvPr>
          <p:cNvSpPr>
            <a:spLocks xmlns:a="http://schemas.openxmlformats.org/drawingml/2006/main" noGrp="1"/>
          </p:cNvSpPr>
          <p:nvPr/>
        </p:nvSpPr>
        <p:spPr>
          <a:xfrm xmlns:a="http://schemas.openxmlformats.org/drawingml/2006/main">
            <a:off x="714375" y="5572125"/>
            <a:ext cx="6905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95CC4"/>
                </a:solidFill>
                <a:latin typeface="OPPOSans B"/>
                <a:ea typeface="OPPOSans B"/>
                <a:cs typeface="OPPOSans B"/>
              </a:defRPr>
            </a:defPPr>
          </a:lstStyle>
          <a:p xmlns:a="http://schemas.openxmlformats.org/drawingml/2006/main">
            <a:pPr>
              <a:defRPr sz="1800" b="1">
                <a:solidFill>
                  <a:srgbClr val="195CC4"/>
                </a:solidFill>
                <a:latin typeface="OPPOSans B"/>
                <a:ea typeface="OPPOSans B"/>
                <a:cs typeface="OPPOSans B"/>
              </a:defRPr>
            </a:pPr>
            <a:r>
              <a:rPr sz="1800" b="1">
                <a:solidFill>
                  <a:srgbClr val="195CC4"/>
                </a:solidFill>
                <a:latin typeface="OPPOSans B"/>
                <a:ea typeface="OPPOSans B"/>
                <a:cs typeface="OPPOSans B"/>
              </a:rPr>
              <a:t>0.35×70/125＋0.65×55/125＝0.482</a:t>
            </a:r>
          </a:p>
        </p:txBody>
      </p:sp>
      <p:sp>
        <p:nvSpPr>
          <p:cNvPr id="6" name="">
            <a:extLst xmlns:a="http://schemas.openxmlformats.org/drawingml/2006/main">
              <a:ext uri="{FF2B5EF4-FFF2-40B4-BE49-F238E27FC236}">
                <a16:creationId xmlns:a16="http://schemas.microsoft.com/office/drawing/2014/main" id="{099FCC1B-B4D4-414F-9612-A91B43AAE6BF}"/>
              </a:ext>
            </a:extLst>
          </p:cNvPr>
          <p:cNvSpPr>
            <a:spLocks xmlns:a="http://schemas.openxmlformats.org/drawingml/2006/main" noGrp="1"/>
          </p:cNvSpPr>
          <p:nvPr/>
        </p:nvSpPr>
        <p:spPr>
          <a:xfrm xmlns:a="http://schemas.openxmlformats.org/drawingml/2006/main">
            <a:off x="8029575" y="2019300"/>
            <a:ext cx="34004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975" b="1">
                <a:solidFill>
                  <a:srgbClr val="195CC4"/>
                </a:solidFill>
                <a:latin typeface="OPPOSans B"/>
                <a:ea typeface="OPPOSans B"/>
                <a:cs typeface="OPPOSans B"/>
              </a:defRPr>
            </a:defPPr>
          </a:lstStyle>
          <a:p xmlns:a="http://schemas.openxmlformats.org/drawingml/2006/main">
            <a:pPr>
              <a:defRPr sz="3975" b="1">
                <a:solidFill>
                  <a:srgbClr val="195CC4"/>
                </a:solidFill>
                <a:latin typeface="OPPOSans B"/>
                <a:ea typeface="OPPOSans B"/>
                <a:cs typeface="OPPOSans B"/>
              </a:defRPr>
            </a:pPr>
            <a:r>
              <a:rPr sz="3975" b="1">
                <a:solidFill>
                  <a:srgbClr val="195CC4"/>
                </a:solidFill>
                <a:latin typeface="OPPOSans B"/>
                <a:ea typeface="OPPOSans B"/>
                <a:cs typeface="OPPOSans B"/>
              </a:rPr>
              <a:t>48.2%</a:t>
            </a:r>
          </a:p>
        </p:txBody>
      </p:sp>
      <p:sp>
        <p:nvSpPr>
          <p:cNvPr id="7" name="">
            <a:extLst xmlns:a="http://schemas.openxmlformats.org/drawingml/2006/main">
              <a:ext uri="{FF2B5EF4-FFF2-40B4-BE49-F238E27FC236}">
                <a16:creationId xmlns:a16="http://schemas.microsoft.com/office/drawing/2014/main" id="{FCC6FF50-215E-4C6A-94B1-FEECF9A973FF}"/>
              </a:ext>
            </a:extLst>
          </p:cNvPr>
          <p:cNvSpPr>
            <a:spLocks xmlns:a="http://schemas.openxmlformats.org/drawingml/2006/main" noGrp="1"/>
          </p:cNvSpPr>
          <p:nvPr/>
        </p:nvSpPr>
        <p:spPr>
          <a:xfrm xmlns:a="http://schemas.openxmlformats.org/drawingml/2006/main">
            <a:off x="8029575" y="2667000"/>
            <a:ext cx="34004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F3864"/>
                </a:solidFill>
                <a:latin typeface="OPPOSans B"/>
                <a:ea typeface="OPPOSans B"/>
                <a:cs typeface="OPPOSans B"/>
              </a:defRPr>
            </a:defPPr>
          </a:lstStyle>
          <a:p xmlns:a="http://schemas.openxmlformats.org/drawingml/2006/main">
            <a:pPr>
              <a:defRPr sz="1725" b="1">
                <a:solidFill>
                  <a:srgbClr val="1F3864"/>
                </a:solidFill>
                <a:latin typeface="OPPOSans B"/>
                <a:ea typeface="OPPOSans B"/>
                <a:cs typeface="OPPOSans B"/>
              </a:defRPr>
            </a:pPr>
            <a:r>
              <a:rPr sz="1725" b="1">
                <a:solidFill>
                  <a:srgbClr val="1F3864"/>
                </a:solidFill>
                <a:latin typeface="OPPOSans B"/>
                <a:ea typeface="OPPOSans B"/>
                <a:cs typeface="OPPOSans B"/>
              </a:rPr>
              <a:t>调整后违约损失率 LGD*</a:t>
            </a:r>
          </a:p>
        </p:txBody>
      </p:sp>
      <p:sp>
        <p:nvSpPr>
          <p:cNvPr id="8" name="">
            <a:extLst xmlns:a="http://schemas.openxmlformats.org/drawingml/2006/main">
              <a:ext uri="{FF2B5EF4-FFF2-40B4-BE49-F238E27FC236}">
                <a16:creationId xmlns:a16="http://schemas.microsoft.com/office/drawing/2014/main" id="{847D2E88-8C74-4666-A7DA-B386CC44725F}"/>
              </a:ext>
            </a:extLst>
          </p:cNvPr>
          <p:cNvSpPr>
            <a:spLocks xmlns:a="http://schemas.openxmlformats.org/drawingml/2006/main" noGrp="1"/>
          </p:cNvSpPr>
          <p:nvPr/>
        </p:nvSpPr>
        <p:spPr>
          <a:xfrm xmlns:a="http://schemas.openxmlformats.org/drawingml/2006/main">
            <a:off x="8029575" y="3190875"/>
            <a:ext cx="34004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95CC4"/>
                </a:solidFill>
                <a:latin typeface="OPPOSans B"/>
                <a:ea typeface="OPPOSans B"/>
                <a:cs typeface="OPPOSans B"/>
              </a:defRPr>
            </a:defPPr>
          </a:lstStyle>
          <a:p xmlns:a="http://schemas.openxmlformats.org/drawingml/2006/main">
            <a:pPr>
              <a:defRPr sz="1725" b="1">
                <a:solidFill>
                  <a:srgbClr val="195CC4"/>
                </a:solidFill>
                <a:latin typeface="OPPOSans B"/>
                <a:ea typeface="OPPOSans B"/>
                <a:cs typeface="OPPOSans B"/>
              </a:defRPr>
            </a:pPr>
            <a:r>
              <a:rPr sz="1725" b="1">
                <a:solidFill>
                  <a:srgbClr val="195CC4"/>
                </a:solidFill>
                <a:latin typeface="OPPOSans B"/>
                <a:ea typeface="OPPOSans B"/>
                <a:cs typeface="OPPOSans B"/>
              </a:rPr>
              <a:t>业务难点</a:t>
            </a:r>
          </a:p>
        </p:txBody>
      </p:sp>
      <p:sp>
        <p:nvSpPr>
          <p:cNvPr id="9" name="">
            <a:extLst xmlns:a="http://schemas.openxmlformats.org/drawingml/2006/main">
              <a:ext uri="{FF2B5EF4-FFF2-40B4-BE49-F238E27FC236}">
                <a16:creationId xmlns:a16="http://schemas.microsoft.com/office/drawing/2014/main" id="{68C501B7-4A30-447B-80EB-4C8747B1BB6D}"/>
              </a:ext>
            </a:extLst>
          </p:cNvPr>
          <p:cNvSpPr>
            <a:spLocks xmlns:a="http://schemas.openxmlformats.org/drawingml/2006/main" noGrp="1"/>
          </p:cNvSpPr>
          <p:nvPr/>
        </p:nvSpPr>
        <p:spPr>
          <a:xfrm xmlns:a="http://schemas.openxmlformats.org/drawingml/2006/main">
            <a:off x="8029575" y="3514725"/>
            <a:ext cx="34004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F3864"/>
                </a:solidFill>
                <a:latin typeface="OPPOSans R"/>
                <a:ea typeface="OPPOSans R"/>
                <a:cs typeface="OPPOSans R"/>
              </a:defRPr>
            </a:defPPr>
          </a:lstStyle>
          <a:p xmlns:a="http://schemas.openxmlformats.org/drawingml/2006/main">
            <a:pPr>
              <a:defRPr sz="1575" b="0">
                <a:solidFill>
                  <a:srgbClr val="1F3864"/>
                </a:solidFill>
                <a:latin typeface="OPPOSans R"/>
                <a:ea typeface="OPPOSans R"/>
                <a:cs typeface="OPPOSans R"/>
              </a:defRPr>
            </a:pPr>
            <a:r>
              <a:rPr sz="1575" b="0">
                <a:solidFill>
                  <a:srgbClr val="1F3864"/>
                </a:solidFill>
                <a:latin typeface="OPPOSans R"/>
                <a:ea typeface="OPPOSans R"/>
                <a:cs typeface="OPPOSans R"/>
              </a:rPr>
              <a:t>从监管附件定位公式，区分覆盖与未覆盖部分，正确处理暴露折扣调整。</a:t>
            </a:r>
          </a:p>
        </p:txBody>
      </p:sp>
      <p:sp>
        <p:nvSpPr>
          <p:cNvPr id="10" name="">
            <a:extLst xmlns:a="http://schemas.openxmlformats.org/drawingml/2006/main">
              <a:ext uri="{FF2B5EF4-FFF2-40B4-BE49-F238E27FC236}">
                <a16:creationId xmlns:a16="http://schemas.microsoft.com/office/drawing/2014/main" id="{4C39270C-48DD-49BF-8B01-F089AE8ED121}"/>
              </a:ext>
            </a:extLst>
          </p:cNvPr>
          <p:cNvSpPr>
            <a:spLocks xmlns:a="http://schemas.openxmlformats.org/drawingml/2006/main" noGrp="1"/>
          </p:cNvSpPr>
          <p:nvPr/>
        </p:nvSpPr>
        <p:spPr>
          <a:xfrm xmlns:a="http://schemas.openxmlformats.org/drawingml/2006/main">
            <a:off x="8029575" y="4686300"/>
            <a:ext cx="34004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725" b="1">
                <a:solidFill>
                  <a:srgbClr val="195CC4"/>
                </a:solidFill>
                <a:latin typeface="OPPOSans B"/>
                <a:ea typeface="OPPOSans B"/>
                <a:cs typeface="OPPOSans B"/>
              </a:defRPr>
            </a:defPPr>
          </a:lstStyle>
          <a:p xmlns:a="http://schemas.openxmlformats.org/drawingml/2006/main">
            <a:pPr>
              <a:defRPr sz="1725" b="1">
                <a:solidFill>
                  <a:srgbClr val="195CC4"/>
                </a:solidFill>
                <a:latin typeface="OPPOSans B"/>
                <a:ea typeface="OPPOSans B"/>
                <a:cs typeface="OPPOSans B"/>
              </a:defRPr>
            </a:pPr>
            <a:r>
              <a:rPr sz="1725" b="1">
                <a:solidFill>
                  <a:srgbClr val="195CC4"/>
                </a:solidFill>
                <a:latin typeface="OPPOSans B"/>
                <a:ea typeface="OPPOSans B"/>
                <a:cs typeface="OPPOSans B"/>
              </a:rPr>
              <a:t>系统表现与价值</a:t>
            </a:r>
          </a:p>
        </p:txBody>
      </p:sp>
      <p:sp>
        <p:nvSpPr>
          <p:cNvPr id="11" name="">
            <a:extLst xmlns:a="http://schemas.openxmlformats.org/drawingml/2006/main">
              <a:ext uri="{FF2B5EF4-FFF2-40B4-BE49-F238E27FC236}">
                <a16:creationId xmlns:a16="http://schemas.microsoft.com/office/drawing/2014/main" id="{823F0D80-1076-4FE3-B458-B1778BE657A1}"/>
              </a:ext>
            </a:extLst>
          </p:cNvPr>
          <p:cNvSpPr>
            <a:spLocks xmlns:a="http://schemas.openxmlformats.org/drawingml/2006/main" noGrp="1"/>
          </p:cNvSpPr>
          <p:nvPr/>
        </p:nvSpPr>
        <p:spPr>
          <a:xfrm xmlns:a="http://schemas.openxmlformats.org/drawingml/2006/main">
            <a:off x="8029575" y="5010150"/>
            <a:ext cx="3400425"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75" b="0">
                <a:solidFill>
                  <a:srgbClr val="1F3864"/>
                </a:solidFill>
                <a:latin typeface="OPPOSans R"/>
                <a:ea typeface="OPPOSans R"/>
                <a:cs typeface="OPPOSans R"/>
              </a:defRPr>
            </a:defPPr>
          </a:lstStyle>
          <a:p xmlns:a="http://schemas.openxmlformats.org/drawingml/2006/main">
            <a:pPr>
              <a:defRPr sz="1575" b="0">
                <a:solidFill>
                  <a:srgbClr val="1F3864"/>
                </a:solidFill>
                <a:latin typeface="OPPOSans R"/>
                <a:ea typeface="OPPOSans R"/>
                <a:cs typeface="OPPOSans R"/>
              </a:defRPr>
            </a:pPr>
            <a:r>
              <a:rPr sz="1575" b="0">
                <a:solidFill>
                  <a:srgbClr val="1F3864"/>
                </a:solidFill>
                <a:latin typeface="OPPOSans R"/>
                <a:ea typeface="OPPOSans R"/>
                <a:cs typeface="OPPOSans R"/>
              </a:rPr>
              <a:t>返回公式、六个参数、算式和出处，支持风险计量人员逐项复算。</a:t>
            </a:r>
          </a:p>
        </p:txBody>
      </p:sp>
      <p:sp>
        <p:nvSpPr>
          <p:cNvPr id="12" name="">
            <a:extLst xmlns:a="http://schemas.openxmlformats.org/drawingml/2006/main">
              <a:ext uri="{FF2B5EF4-FFF2-40B4-BE49-F238E27FC236}">
                <a16:creationId xmlns:a16="http://schemas.microsoft.com/office/drawing/2014/main" id="{AD483A6B-B7FB-446A-A650-84A950D37B60}"/>
              </a:ext>
            </a:extLst>
          </p:cNvPr>
          <p:cNvSpPr>
            <a:spLocks xmlns:a="http://schemas.openxmlformats.org/drawingml/2006/main" noGrp="1"/>
          </p:cNvSpPr>
          <p:nvPr/>
        </p:nvSpPr>
        <p:spPr>
          <a:xfrm xmlns:a="http://schemas.openxmlformats.org/drawingml/2006/main">
            <a:off x="552450" y="5981700"/>
            <a:ext cx="11087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75" b="0">
                <a:solidFill>
                  <a:srgbClr val="595959"/>
                </a:solidFill>
                <a:latin typeface="OPPOSans R"/>
                <a:ea typeface="OPPOSans R"/>
                <a:cs typeface="OPPOSans R"/>
              </a:defRPr>
            </a:defPPr>
          </a:lstStyle>
          <a:p xmlns:a="http://schemas.openxmlformats.org/drawingml/2006/main">
            <a:pPr>
              <a:defRPr sz="1275" b="0">
                <a:solidFill>
                  <a:srgbClr val="595959"/>
                </a:solidFill>
                <a:latin typeface="OPPOSans R"/>
                <a:ea typeface="OPPOSans R"/>
                <a:cs typeface="OPPOSans R"/>
              </a:defRPr>
            </a:pPr>
            <a:r>
              <a:rPr sz="1275" b="0">
                <a:solidFill>
                  <a:srgbClr val="595959"/>
                </a:solidFill>
                <a:latin typeface="OPPOSans R"/>
                <a:ea typeface="OPPOSans R"/>
                <a:cs typeface="OPPOSans R"/>
              </a:rPr>
              <a:t>依据：《商业银行资本管理办法》附件7“二、合格抵质押品”第（五）项。模拟参数，不涉及资格认定。</a:t>
            </a:r>
          </a:p>
        </p:txBody>
      </p:sp>
    </p:spTree>
    <p:extLst>
      <p:ext uri="{BB962C8B-B14F-4D97-AF65-F5344CB8AC3E}">
        <p14:creationId xmlns:p14="http://schemas.microsoft.com/office/powerpoint/2010/main" val="745930717"/>
      </p:ext>
    </p:extLst>
  </p:cSld>
</p:sld>
</file>

<file path=ppt/slides/experiment_slide1.xml><?xml version="1.0" encoding="utf-8"?>
<p:sld xmlns:p="http://schemas.openxmlformats.org/presentationml/2006/main">
  <p:cSld>
    <p:bg xmlns:a="http://schemas.openxmlformats.org/drawingml/2006/main">
      <p:bgPr>
        <a:solidFill>
          <a:schemeClr val="accent1"/>
        </a:solidFill>
        <a:effectLst/>
      </p:bgPr>
    </p:bg>
    <p:spTree>
      <p:nvGrpSpPr>
        <p:cNvPr id="1" name=""/>
        <p:cNvGrpSpPr/>
        <p:nvPr/>
      </p:nvGrpSpPr>
      <p:grpSpPr>
        <a:xfrm xmlns:a="http://schemas.openxmlformats.org/drawingml/2006/main"/>
      </p:grpSpPr>
      <p:sp xmlns:a="http://schemas.openxmlformats.org/drawingml/2006/main">
        <p:nvSpPr>
          <p:cNvPr id="9001" name="矩形 14"/>
          <p:cNvSpPr/>
          <p:nvPr/>
        </p:nvSpPr>
        <p:spPr>
          <a:xfrm>
            <a:off x="0" y="647700"/>
            <a:ext cx="12192000" cy="5638800"/>
          </a:xfrm>
          <a:prstGeom prst="rect">
            <a:avLst/>
          </a:prstGeom>
          <a:solidFill>
            <a:schemeClr val="bg1"/>
          </a:solidFill>
          <a:ln>
            <a:noFill/>
          </a:ln>
          <a:effectLst>
            <a:outerShdw blurRad="50800" dist="38100" dir="10800000" algn="r" rotWithShape="0">
              <a:prstClr val="black">
                <a:alpha val="40000"/>
              </a:prstClr>
            </a:outerShdw>
            <a:softEdge rad="317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xmlns:a="http://schemas.openxmlformats.org/drawingml/2006/main">
        <p:nvSpPr>
          <p:cNvPr id="9002" name="Rectangle 2"/>
          <p:cNvSpPr/>
          <p:nvPr/>
        </p:nvSpPr>
        <p:spPr>
          <a:xfrm>
            <a:off x="502920" y="1018413"/>
            <a:ext cx="82296" cy="566928"/>
          </a:xfrm>
          <a:prstGeom prst="rect">
            <a:avLst/>
          </a:prstGeom>
          <a:solidFill>
            <a:srgbClr val="1C41A9"/>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xmlns:a="http://schemas.openxmlformats.org/drawingml/2006/main">
        <p:nvSpPr>
          <p:cNvPr id="9003" name="Rectangle 5"/>
          <p:cNvSpPr/>
          <p:nvPr/>
        </p:nvSpPr>
        <p:spPr>
          <a:xfrm>
            <a:off x="502920" y="1840230"/>
            <a:ext cx="11196000" cy="20320"/>
          </a:xfrm>
          <a:prstGeom prst="rect">
            <a:avLst/>
          </a:prstGeom>
          <a:solidFill>
            <a:srgbClr val="D9DEE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6" name="">
            <a:extLst xmlns:a="http://schemas.openxmlformats.org/drawingml/2006/main">
              <a:ext uri="{FF2B5EF4-FFF2-40B4-BE49-F238E27FC236}">
                <a16:creationId xmlns:a16="http://schemas.microsoft.com/office/drawing/2014/main" id="{6BB3910D-001E-4E82-A9C8-305FDFC930D7}"/>
              </a:ext>
            </a:extLst>
          </p:cNvPr>
          <p:cNvSpPr>
            <a:spLocks xmlns:a="http://schemas.openxmlformats.org/drawingml/2006/main" noGrp="1"/>
          </p:cNvSpPr>
          <p:nvPr/>
        </p:nvSpPr>
        <p:spPr>
          <a:xfrm xmlns:a="http://schemas.openxmlformats.org/drawingml/2006/main">
            <a:off x="714375" y="10477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F3864"/>
                </a:solidFill>
                <a:latin typeface="OPPOSans B"/>
                <a:ea typeface="OPPOSans B"/>
                <a:cs typeface="OPPOSans B"/>
              </a:defRPr>
            </a:defPPr>
          </a:lstStyle>
          <a:p xmlns:a="http://schemas.openxmlformats.org/drawingml/2006/main">
            <a:pPr>
              <a:defRPr sz="3000" b="1">
                <a:solidFill>
                  <a:srgbClr val="1F3864"/>
                </a:solidFill>
                <a:latin typeface="OPPOSans B"/>
                <a:ea typeface="OPPOSans B"/>
                <a:cs typeface="OPPOSans B"/>
              </a:defRPr>
            </a:pPr>
            <a:r>
              <a:rPr sz="3000" b="1">
                <a:solidFill>
                  <a:srgbClr val="1F3864"/>
                </a:solidFill>
                <a:latin typeface="OPPOSans B"/>
                <a:ea typeface="OPPOSans B"/>
                <a:cs typeface="OPPOSans B"/>
              </a:rPr>
              <a:t>消融实验：六级累加主实验</a:t>
            </a:r>
          </a:p>
        </p:txBody>
      </p:sp>
      <p:sp>
        <p:nvSpPr>
          <p:cNvPr id="2" name="">
            <a:extLst xmlns:a="http://schemas.openxmlformats.org/drawingml/2006/main">
              <a:ext uri="{FF2B5EF4-FFF2-40B4-BE49-F238E27FC236}">
                <a16:creationId xmlns:a16="http://schemas.microsoft.com/office/drawing/2014/main" id="{1FCC6DB8-1467-423A-A0F4-DF0FDB43DF92}"/>
              </a:ext>
            </a:extLst>
          </p:cNvPr>
          <p:cNvSpPr>
            <a:spLocks xmlns:a="http://schemas.openxmlformats.org/drawingml/2006/main" noGrp="1"/>
          </p:cNvSpPr>
          <p:nvPr/>
        </p:nvSpPr>
        <p:spPr>
          <a:xfrm xmlns:a="http://schemas.openxmlformats.org/drawingml/2006/main">
            <a:off x="714375" y="158115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00" b="0">
                <a:solidFill>
                  <a:srgbClr val="595959"/>
                </a:solidFill>
                <a:latin typeface="OPPOSans R"/>
                <a:ea typeface="OPPOSans R"/>
                <a:cs typeface="OPPOSans R"/>
              </a:defRPr>
            </a:defPPr>
          </a:lstStyle>
          <a:p xmlns:a="http://schemas.openxmlformats.org/drawingml/2006/main">
            <a:pPr>
              <a:defRPr sz="1400" b="0">
                <a:solidFill>
                  <a:srgbClr val="595959"/>
                </a:solidFill>
                <a:latin typeface="OPPOSans R"/>
                <a:ea typeface="OPPOSans R"/>
                <a:cs typeface="OPPOSans R"/>
              </a:defRPr>
            </a:pPr>
            <a:r>
              <a:rPr sz="1400" b="0">
                <a:solidFill>
                  <a:srgbClr val="595959"/>
                </a:solidFill>
                <a:latin typeface="OPPOSans R"/>
                <a:ea typeface="OPPOSans R"/>
                <a:cs typeface="OPPOSans R"/>
              </a:rPr>
              <a:t>2026-10-16 单轮消融，同一语料、模型、GPU 与上下文预算</a:t>
            </a:r>
          </a:p>
        </p:txBody>
      </p:sp>
      <p:graphicFrame>
        <p:nvGraphicFramePr>
          <p:cNvPr id="3" name="">
            <a:extLst xmlns:a="http://schemas.openxmlformats.org/drawingml/2006/main">
              <a:ext uri="{FF2B5EF4-FFF2-40B4-BE49-F238E27FC236}">
                <a16:creationId xmlns:a16="http://schemas.microsoft.com/office/drawing/2014/main" id="{C9BF244B-BCAF-477F-B834-DB241FC97028}"/>
              </a:ext>
            </a:extLst>
          </p:cNvPr>
          <p:cNvGraphicFramePr/>
          <p:nvPr/>
        </p:nvGraphicFramePr>
        <p:xfrm>
          <a:off xmlns:a="http://schemas.openxmlformats.org/drawingml/2006/main" x="552450" y="2009775"/>
          <a:ext xmlns:a="http://schemas.openxmlformats.org/drawingml/2006/main" cx="11087100" cy="3200400"/>
        </p:xfrm>
        <a:graphic xmlns:a="http://schemas.openxmlformats.org/drawingml/2006/main">
          <a:graphicData uri="http://schemas.openxmlformats.org/drawingml/2006/table">
            <a:tbl>
              <a:tblPr/>
              <a:tblGrid>
                <a:gridCol w="3857625"/>
                <a:gridCol w="1866900"/>
                <a:gridCol w="2000250"/>
                <a:gridCol w="1524000"/>
                <a:gridCol w="1838325"/>
              </a:tblGrid>
              <a:tr h="457200">
                <a:tc>
                  <a:txBody>
                    <a:bodyPr/>
                    <a:lstStyle/>
                    <a:p>
                      <a:r>
                        <a:rPr sz="1600" b="1">
                          <a:solidFill>
                            <a:srgbClr val="FFFFFF"/>
                          </a:solidFill>
                          <a:latin typeface="OPPOSans B"/>
                          <a:ea typeface="OPPOSans B"/>
                          <a:cs typeface="OPPOSans B"/>
                        </a:rPr>
                        <a:t>配置</a:t>
                      </a:r>
                    </a:p>
                  </a:txBody>
                  <a:tcPr marL="91440" marR="91440" marT="45720" marB="45720">
                    <a:solidFill>
                      <a:srgbClr val="1F3864"/>
                    </a:solidFill>
                  </a:tcPr>
                </a:tc>
                <a:tc>
                  <a:txBody>
                    <a:bodyPr/>
                    <a:lstStyle/>
                    <a:p>
                      <a:r>
                        <a:rPr sz="1600" b="1">
                          <a:solidFill>
                            <a:srgbClr val="FFFFFF"/>
                          </a:solidFill>
                          <a:latin typeface="OPPOSans B"/>
                          <a:ea typeface="OPPOSans B"/>
                          <a:cs typeface="OPPOSans B"/>
                        </a:rPr>
                        <a:t>正确率（自动）</a:t>
                      </a:r>
                    </a:p>
                  </a:txBody>
                  <a:tcPr marL="91440" marR="91440" marT="45720" marB="45720">
                    <a:solidFill>
                      <a:srgbClr val="1F3864"/>
                    </a:solidFill>
                  </a:tcPr>
                </a:tc>
                <a:tc>
                  <a:txBody>
                    <a:bodyPr/>
                    <a:lstStyle/>
                    <a:p>
                      <a:r>
                        <a:rPr sz="1600" b="1">
                          <a:solidFill>
                            <a:srgbClr val="FFFFFF"/>
                          </a:solidFill>
                          <a:latin typeface="OPPOSans B"/>
                          <a:ea typeface="OPPOSans B"/>
                          <a:cs typeface="OPPOSans B"/>
                        </a:rPr>
                        <a:t>必需来源覆盖</a:t>
                      </a:r>
                    </a:p>
                  </a:txBody>
                  <a:tcPr marL="91440" marR="91440" marT="45720" marB="45720">
                    <a:solidFill>
                      <a:srgbClr val="1F3864"/>
                    </a:solidFill>
                  </a:tcPr>
                </a:tc>
                <a:tc>
                  <a:txBody>
                    <a:bodyPr/>
                    <a:lstStyle/>
                    <a:p>
                      <a:r>
                        <a:rPr sz="1600" b="1">
                          <a:solidFill>
                            <a:srgbClr val="FFFFFF"/>
                          </a:solidFill>
                          <a:latin typeface="OPPOSans B"/>
                          <a:ea typeface="OPPOSans B"/>
                          <a:cs typeface="OPPOSans B"/>
                        </a:rPr>
                        <a:t>误拒答</a:t>
                      </a:r>
                    </a:p>
                  </a:txBody>
                  <a:tcPr marL="91440" marR="91440" marT="45720" marB="45720">
                    <a:solidFill>
                      <a:srgbClr val="1F3864"/>
                    </a:solidFill>
                  </a:tcPr>
                </a:tc>
                <a:tc>
                  <a:txBody>
                    <a:bodyPr/>
                    <a:lstStyle/>
                    <a:p>
                      <a:r>
                        <a:rPr sz="1600" b="1">
                          <a:solidFill>
                            <a:srgbClr val="FFFFFF"/>
                          </a:solidFill>
                          <a:latin typeface="OPPOSans B"/>
                          <a:ea typeface="OPPOSans B"/>
                          <a:cs typeface="OPPOSans B"/>
                        </a:rPr>
                        <a:t>制度题正确率</a:t>
                      </a:r>
                    </a:p>
                  </a:txBody>
                  <a:tcPr marL="91440" marR="91440" marT="45720" marB="45720">
                    <a:solidFill>
                      <a:srgbClr val="1F3864"/>
                    </a:solidFill>
                  </a:tcPr>
                </a:tc>
              </a:tr>
              <a:tr h="457200">
                <a:tc>
                  <a:txBody>
                    <a:bodyPr/>
                    <a:lstStyle/>
                    <a:p>
                      <a:r>
                        <a:rPr sz="1600" b="0">
                          <a:solidFill>
                            <a:srgbClr val="1F3864"/>
                          </a:solidFill>
                          <a:latin typeface="OPPOSans R"/>
                          <a:ea typeface="OPPOSans R"/>
                          <a:cs typeface="OPPOSans R"/>
                        </a:rPr>
                        <a:t>Dense 文本基线</a:t>
                      </a:r>
                    </a:p>
                  </a:txBody>
                  <a:tcPr marL="91440" marR="91440" marT="45720" marB="45720">
                    <a:solidFill>
                      <a:srgbClr val="F2F5FA"/>
                    </a:solidFill>
                  </a:tcPr>
                </a:tc>
                <a:tc>
                  <a:txBody>
                    <a:bodyPr/>
                    <a:lstStyle/>
                    <a:p>
                      <a:r>
                        <a:rPr sz="1600" b="0">
                          <a:solidFill>
                            <a:srgbClr val="1F3864"/>
                          </a:solidFill>
                          <a:latin typeface="OPPOSans R"/>
                          <a:ea typeface="OPPOSans R"/>
                          <a:cs typeface="OPPOSans R"/>
                        </a:rPr>
                        <a:t>72.0%</a:t>
                      </a:r>
                    </a:p>
                  </a:txBody>
                  <a:tcPr marL="91440" marR="91440" marT="45720" marB="45720">
                    <a:solidFill>
                      <a:srgbClr val="F2F5FA"/>
                    </a:solidFill>
                  </a:tcPr>
                </a:tc>
                <a:tc>
                  <a:txBody>
                    <a:bodyPr/>
                    <a:lstStyle/>
                    <a:p>
                      <a:r>
                        <a:rPr sz="1600" b="0">
                          <a:solidFill>
                            <a:srgbClr val="1F3864"/>
                          </a:solidFill>
                          <a:latin typeface="OPPOSans R"/>
                          <a:ea typeface="OPPOSans R"/>
                          <a:cs typeface="OPPOSans R"/>
                        </a:rPr>
                        <a:t>69.4%</a:t>
                      </a:r>
                    </a:p>
                  </a:txBody>
                  <a:tcPr marL="91440" marR="91440" marT="45720" marB="45720">
                    <a:solidFill>
                      <a:srgbClr val="F2F5FA"/>
                    </a:solidFill>
                  </a:tcPr>
                </a:tc>
                <a:tc>
                  <a:txBody>
                    <a:bodyPr/>
                    <a:lstStyle/>
                    <a:p>
                      <a:r>
                        <a:rPr sz="1600" b="0">
                          <a:solidFill>
                            <a:srgbClr val="1F3864"/>
                          </a:solidFill>
                          <a:latin typeface="OPPOSans R"/>
                          <a:ea typeface="OPPOSans R"/>
                          <a:cs typeface="OPPOSans R"/>
                        </a:rPr>
                        <a:t>25.0%</a:t>
                      </a:r>
                    </a:p>
                  </a:txBody>
                  <a:tcPr marL="91440" marR="91440" marT="45720" marB="45720">
                    <a:solidFill>
                      <a:srgbClr val="F2F5FA"/>
                    </a:solidFill>
                  </a:tcPr>
                </a:tc>
                <a:tc>
                  <a:txBody>
                    <a:bodyPr/>
                    <a:lstStyle/>
                    <a:p>
                      <a:r>
                        <a:rPr sz="1600" b="0">
                          <a:solidFill>
                            <a:srgbClr val="1F3864"/>
                          </a:solidFill>
                          <a:latin typeface="OPPOSans R"/>
                          <a:ea typeface="OPPOSans R"/>
                          <a:cs typeface="OPPOSans R"/>
                        </a:rPr>
                        <a:t>92.9%</a:t>
                      </a:r>
                    </a:p>
                  </a:txBody>
                  <a:tcPr marL="91440" marR="91440" marT="45720" marB="45720">
                    <a:solidFill>
                      <a:srgbClr val="F2F5FA"/>
                    </a:solidFill>
                  </a:tcPr>
                </a:tc>
              </a:tr>
              <a:tr h="457200">
                <a:tc>
                  <a:txBody>
                    <a:bodyPr/>
                    <a:lstStyle/>
                    <a:p>
                      <a:r>
                        <a:rPr sz="1600" b="0">
                          <a:solidFill>
                            <a:srgbClr val="1F3864"/>
                          </a:solidFill>
                          <a:latin typeface="OPPOSans R"/>
                          <a:ea typeface="OPPOSans R"/>
                          <a:cs typeface="OPPOSans R"/>
                        </a:rPr>
                        <a:t>+ 混合检索与重排</a:t>
                      </a:r>
                    </a:p>
                  </a:txBody>
                  <a:tcPr marL="91440" marR="91440" marT="45720" marB="45720">
                    <a:solidFill>
                      <a:srgbClr val="FFFFFF"/>
                    </a:solidFill>
                  </a:tcPr>
                </a:tc>
                <a:tc>
                  <a:txBody>
                    <a:bodyPr/>
                    <a:lstStyle/>
                    <a:p>
                      <a:r>
                        <a:rPr sz="1600" b="0">
                          <a:solidFill>
                            <a:srgbClr val="1F3864"/>
                          </a:solidFill>
                          <a:latin typeface="OPPOSans R"/>
                          <a:ea typeface="OPPOSans R"/>
                          <a:cs typeface="OPPOSans R"/>
                        </a:rPr>
                        <a:t>59.0%</a:t>
                      </a:r>
                    </a:p>
                  </a:txBody>
                  <a:tcPr marL="91440" marR="91440" marT="45720" marB="45720">
                    <a:solidFill>
                      <a:srgbClr val="FFFFFF"/>
                    </a:solidFill>
                  </a:tcPr>
                </a:tc>
                <a:tc>
                  <a:txBody>
                    <a:bodyPr/>
                    <a:lstStyle/>
                    <a:p>
                      <a:r>
                        <a:rPr sz="1600" b="0">
                          <a:solidFill>
                            <a:srgbClr val="1F3864"/>
                          </a:solidFill>
                          <a:latin typeface="OPPOSans R"/>
                          <a:ea typeface="OPPOSans R"/>
                          <a:cs typeface="OPPOSans R"/>
                        </a:rPr>
                        <a:t>58.1%</a:t>
                      </a:r>
                    </a:p>
                  </a:txBody>
                  <a:tcPr marL="91440" marR="91440" marT="45720" marB="45720">
                    <a:solidFill>
                      <a:srgbClr val="FFFFFF"/>
                    </a:solidFill>
                  </a:tcPr>
                </a:tc>
                <a:tc>
                  <a:txBody>
                    <a:bodyPr/>
                    <a:lstStyle/>
                    <a:p>
                      <a:r>
                        <a:rPr sz="1600" b="0">
                          <a:solidFill>
                            <a:srgbClr val="1F3864"/>
                          </a:solidFill>
                          <a:latin typeface="OPPOSans R"/>
                          <a:ea typeface="OPPOSans R"/>
                          <a:cs typeface="OPPOSans R"/>
                        </a:rPr>
                        <a:t>35.0%</a:t>
                      </a:r>
                    </a:p>
                  </a:txBody>
                  <a:tcPr marL="91440" marR="91440" marT="45720" marB="45720">
                    <a:solidFill>
                      <a:srgbClr val="FFFFFF"/>
                    </a:solidFill>
                  </a:tcPr>
                </a:tc>
                <a:tc>
                  <a:txBody>
                    <a:bodyPr/>
                    <a:lstStyle/>
                    <a:p>
                      <a:r>
                        <a:rPr sz="1600" b="0">
                          <a:solidFill>
                            <a:srgbClr val="1F3864"/>
                          </a:solidFill>
                          <a:latin typeface="OPPOSans R"/>
                          <a:ea typeface="OPPOSans R"/>
                          <a:cs typeface="OPPOSans R"/>
                        </a:rPr>
                        <a:t>71.4%</a:t>
                      </a:r>
                    </a:p>
                  </a:txBody>
                  <a:tcPr marL="91440" marR="91440" marT="45720" marB="45720">
                    <a:solidFill>
                      <a:srgbClr val="FFFFFF"/>
                    </a:solidFill>
                  </a:tcPr>
                </a:tc>
              </a:tr>
              <a:tr h="457200">
                <a:tc>
                  <a:txBody>
                    <a:bodyPr/>
                    <a:lstStyle/>
                    <a:p>
                      <a:r>
                        <a:rPr sz="1600" b="0">
                          <a:solidFill>
                            <a:srgbClr val="1F3864"/>
                          </a:solidFill>
                          <a:latin typeface="OPPOSans R"/>
                          <a:ea typeface="OPPOSans R"/>
                          <a:cs typeface="OPPOSans R"/>
                        </a:rPr>
                        <a:t>+ 结构化索引</a:t>
                      </a:r>
                    </a:p>
                  </a:txBody>
                  <a:tcPr marL="91440" marR="91440" marT="45720" marB="45720">
                    <a:solidFill>
                      <a:srgbClr val="F2F5FA"/>
                    </a:solidFill>
                  </a:tcPr>
                </a:tc>
                <a:tc>
                  <a:txBody>
                    <a:bodyPr/>
                    <a:lstStyle/>
                    <a:p>
                      <a:r>
                        <a:rPr sz="1600" b="0">
                          <a:solidFill>
                            <a:srgbClr val="1F3864"/>
                          </a:solidFill>
                          <a:latin typeface="OPPOSans R"/>
                          <a:ea typeface="OPPOSans R"/>
                          <a:cs typeface="OPPOSans R"/>
                        </a:rPr>
                        <a:t>79.0%</a:t>
                      </a:r>
                    </a:p>
                  </a:txBody>
                  <a:tcPr marL="91440" marR="91440" marT="45720" marB="45720">
                    <a:solidFill>
                      <a:srgbClr val="F2F5FA"/>
                    </a:solidFill>
                  </a:tcPr>
                </a:tc>
                <a:tc>
                  <a:txBody>
                    <a:bodyPr/>
                    <a:lstStyle/>
                    <a:p>
                      <a:r>
                        <a:rPr sz="1600" b="0">
                          <a:solidFill>
                            <a:srgbClr val="1F3864"/>
                          </a:solidFill>
                          <a:latin typeface="OPPOSans R"/>
                          <a:ea typeface="OPPOSans R"/>
                          <a:cs typeface="OPPOSans R"/>
                        </a:rPr>
                        <a:t>85.6%</a:t>
                      </a:r>
                    </a:p>
                  </a:txBody>
                  <a:tcPr marL="91440" marR="91440" marT="45720" marB="45720">
                    <a:solidFill>
                      <a:srgbClr val="F2F5FA"/>
                    </a:solidFill>
                  </a:tcPr>
                </a:tc>
                <a:tc>
                  <a:txBody>
                    <a:bodyPr/>
                    <a:lstStyle/>
                    <a:p>
                      <a:r>
                        <a:rPr sz="1600" b="0">
                          <a:solidFill>
                            <a:srgbClr val="1F3864"/>
                          </a:solidFill>
                          <a:latin typeface="OPPOSans R"/>
                          <a:ea typeface="OPPOSans R"/>
                          <a:cs typeface="OPPOSans R"/>
                        </a:rPr>
                        <a:t>8.8%</a:t>
                      </a:r>
                    </a:p>
                  </a:txBody>
                  <a:tcPr marL="91440" marR="91440" marT="45720" marB="45720">
                    <a:solidFill>
                      <a:srgbClr val="F2F5FA"/>
                    </a:solidFill>
                  </a:tcPr>
                </a:tc>
                <a:tc>
                  <a:txBody>
                    <a:bodyPr/>
                    <a:lstStyle/>
                    <a:p>
                      <a:r>
                        <a:rPr sz="1600" b="0">
                          <a:solidFill>
                            <a:srgbClr val="1F3864"/>
                          </a:solidFill>
                          <a:latin typeface="OPPOSans R"/>
                          <a:ea typeface="OPPOSans R"/>
                          <a:cs typeface="OPPOSans R"/>
                        </a:rPr>
                        <a:t>75.0%</a:t>
                      </a:r>
                    </a:p>
                  </a:txBody>
                  <a:tcPr marL="91440" marR="91440" marT="45720" marB="45720">
                    <a:solidFill>
                      <a:srgbClr val="F2F5FA"/>
                    </a:solidFill>
                  </a:tcPr>
                </a:tc>
              </a:tr>
              <a:tr h="457200">
                <a:tc>
                  <a:txBody>
                    <a:bodyPr/>
                    <a:lstStyle/>
                    <a:p>
                      <a:r>
                        <a:rPr sz="1600" b="0">
                          <a:solidFill>
                            <a:srgbClr val="1F3864"/>
                          </a:solidFill>
                          <a:latin typeface="OPPOSans R"/>
                          <a:ea typeface="OPPOSans R"/>
                          <a:cs typeface="OPPOSans R"/>
                        </a:rPr>
                        <a:t>+ 覆盖诊断与补证</a:t>
                      </a:r>
                    </a:p>
                  </a:txBody>
                  <a:tcPr marL="91440" marR="91440" marT="45720" marB="45720">
                    <a:solidFill>
                      <a:srgbClr val="FFFFFF"/>
                    </a:solidFill>
                  </a:tcPr>
                </a:tc>
                <a:tc>
                  <a:txBody>
                    <a:bodyPr/>
                    <a:lstStyle/>
                    <a:p>
                      <a:r>
                        <a:rPr sz="1600" b="0">
                          <a:solidFill>
                            <a:srgbClr val="1F3864"/>
                          </a:solidFill>
                          <a:latin typeface="OPPOSans R"/>
                          <a:ea typeface="OPPOSans R"/>
                          <a:cs typeface="OPPOSans R"/>
                        </a:rPr>
                        <a:t>73.0%</a:t>
                      </a:r>
                    </a:p>
                  </a:txBody>
                  <a:tcPr marL="91440" marR="91440" marT="45720" marB="45720">
                    <a:solidFill>
                      <a:srgbClr val="FFFFFF"/>
                    </a:solidFill>
                  </a:tcPr>
                </a:tc>
                <a:tc>
                  <a:txBody>
                    <a:bodyPr/>
                    <a:lstStyle/>
                    <a:p>
                      <a:r>
                        <a:rPr sz="1600" b="0">
                          <a:solidFill>
                            <a:srgbClr val="1F3864"/>
                          </a:solidFill>
                          <a:latin typeface="OPPOSans R"/>
                          <a:ea typeface="OPPOSans R"/>
                          <a:cs typeface="OPPOSans R"/>
                        </a:rPr>
                        <a:t>91.9%</a:t>
                      </a:r>
                    </a:p>
                  </a:txBody>
                  <a:tcPr marL="91440" marR="91440" marT="45720" marB="45720">
                    <a:solidFill>
                      <a:srgbClr val="FFFFFF"/>
                    </a:solidFill>
                  </a:tcPr>
                </a:tc>
                <a:tc>
                  <a:txBody>
                    <a:bodyPr/>
                    <a:lstStyle/>
                    <a:p>
                      <a:r>
                        <a:rPr sz="1600" b="0">
                          <a:solidFill>
                            <a:srgbClr val="1F3864"/>
                          </a:solidFill>
                          <a:latin typeface="OPPOSans R"/>
                          <a:ea typeface="OPPOSans R"/>
                          <a:cs typeface="OPPOSans R"/>
                        </a:rPr>
                        <a:t>1.3%</a:t>
                      </a:r>
                    </a:p>
                  </a:txBody>
                  <a:tcPr marL="91440" marR="91440" marT="45720" marB="45720">
                    <a:solidFill>
                      <a:srgbClr val="FFFFFF"/>
                    </a:solidFill>
                  </a:tcPr>
                </a:tc>
                <a:tc>
                  <a:txBody>
                    <a:bodyPr/>
                    <a:lstStyle/>
                    <a:p>
                      <a:r>
                        <a:rPr sz="1600" b="0">
                          <a:solidFill>
                            <a:srgbClr val="1F3864"/>
                          </a:solidFill>
                          <a:latin typeface="OPPOSans R"/>
                          <a:ea typeface="OPPOSans R"/>
                          <a:cs typeface="OPPOSans R"/>
                        </a:rPr>
                        <a:t>80.4%</a:t>
                      </a:r>
                    </a:p>
                  </a:txBody>
                  <a:tcPr marL="91440" marR="91440" marT="45720" marB="45720">
                    <a:solidFill>
                      <a:srgbClr val="FFFFFF"/>
                    </a:solidFill>
                  </a:tcPr>
                </a:tc>
              </a:tr>
              <a:tr h="457200">
                <a:tc>
                  <a:txBody>
                    <a:bodyPr/>
                    <a:lstStyle/>
                    <a:p>
                      <a:r>
                        <a:rPr sz="1600" b="0">
                          <a:solidFill>
                            <a:srgbClr val="1F3864"/>
                          </a:solidFill>
                          <a:latin typeface="OPPOSans R"/>
                          <a:ea typeface="OPPOSans R"/>
                          <a:cs typeface="OPPOSans R"/>
                        </a:rPr>
                        <a:t>+ 监管语义校验</a:t>
                      </a:r>
                    </a:p>
                  </a:txBody>
                  <a:tcPr marL="91440" marR="91440" marT="45720" marB="45720">
                    <a:solidFill>
                      <a:srgbClr val="F2F5FA"/>
                    </a:solidFill>
                  </a:tcPr>
                </a:tc>
                <a:tc>
                  <a:txBody>
                    <a:bodyPr/>
                    <a:lstStyle/>
                    <a:p>
                      <a:r>
                        <a:rPr sz="1600" b="0">
                          <a:solidFill>
                            <a:srgbClr val="1F3864"/>
                          </a:solidFill>
                          <a:latin typeface="OPPOSans R"/>
                          <a:ea typeface="OPPOSans R"/>
                          <a:cs typeface="OPPOSans R"/>
                        </a:rPr>
                        <a:t>81.0%</a:t>
                      </a:r>
                    </a:p>
                  </a:txBody>
                  <a:tcPr marL="91440" marR="91440" marT="45720" marB="45720">
                    <a:solidFill>
                      <a:srgbClr val="F2F5FA"/>
                    </a:solidFill>
                  </a:tcPr>
                </a:tc>
                <a:tc>
                  <a:txBody>
                    <a:bodyPr/>
                    <a:lstStyle/>
                    <a:p>
                      <a:r>
                        <a:rPr sz="1600" b="0">
                          <a:solidFill>
                            <a:srgbClr val="1F3864"/>
                          </a:solidFill>
                          <a:latin typeface="OPPOSans R"/>
                          <a:ea typeface="OPPOSans R"/>
                          <a:cs typeface="OPPOSans R"/>
                        </a:rPr>
                        <a:t>90.6%</a:t>
                      </a:r>
                    </a:p>
                  </a:txBody>
                  <a:tcPr marL="91440" marR="91440" marT="45720" marB="45720">
                    <a:solidFill>
                      <a:srgbClr val="F2F5FA"/>
                    </a:solidFill>
                  </a:tcPr>
                </a:tc>
                <a:tc>
                  <a:txBody>
                    <a:bodyPr/>
                    <a:lstStyle/>
                    <a:p>
                      <a:r>
                        <a:rPr sz="1600" b="0">
                          <a:solidFill>
                            <a:srgbClr val="1F3864"/>
                          </a:solidFill>
                          <a:latin typeface="OPPOSans R"/>
                          <a:ea typeface="OPPOSans R"/>
                          <a:cs typeface="OPPOSans R"/>
                        </a:rPr>
                        <a:t>0.0%</a:t>
                      </a:r>
                    </a:p>
                  </a:txBody>
                  <a:tcPr marL="91440" marR="91440" marT="45720" marB="45720">
                    <a:solidFill>
                      <a:srgbClr val="F2F5FA"/>
                    </a:solidFill>
                  </a:tcPr>
                </a:tc>
                <a:tc>
                  <a:txBody>
                    <a:bodyPr/>
                    <a:lstStyle/>
                    <a:p>
                      <a:r>
                        <a:rPr sz="1600" b="0">
                          <a:solidFill>
                            <a:srgbClr val="1F3864"/>
                          </a:solidFill>
                          <a:latin typeface="OPPOSans R"/>
                          <a:ea typeface="OPPOSans R"/>
                          <a:cs typeface="OPPOSans R"/>
                        </a:rPr>
                        <a:t>94.6%</a:t>
                      </a:r>
                    </a:p>
                  </a:txBody>
                  <a:tcPr marL="91440" marR="91440" marT="45720" marB="45720">
                    <a:solidFill>
                      <a:srgbClr val="F2F5FA"/>
                    </a:solidFill>
                  </a:tcPr>
                </a:tc>
              </a:tr>
              <a:tr h="457200">
                <a:tc>
                  <a:txBody>
                    <a:bodyPr/>
                    <a:lstStyle/>
                    <a:p>
                      <a:r>
                        <a:rPr sz="1600" b="0">
                          <a:solidFill>
                            <a:srgbClr val="1F3864"/>
                          </a:solidFill>
                          <a:latin typeface="OPPOSans R"/>
                          <a:ea typeface="OPPOSans R"/>
                          <a:cs typeface="OPPOSans R"/>
                        </a:rPr>
                        <a:t>ReguMate Full</a:t>
                      </a:r>
                    </a:p>
                  </a:txBody>
                  <a:tcPr marL="91440" marR="91440" marT="45720" marB="45720">
                    <a:solidFill>
                      <a:srgbClr val="FFFFFF"/>
                    </a:solidFill>
                  </a:tcPr>
                </a:tc>
                <a:tc>
                  <a:txBody>
                    <a:bodyPr/>
                    <a:lstStyle/>
                    <a:p>
                      <a:r>
                        <a:rPr sz="1600" b="0">
                          <a:solidFill>
                            <a:srgbClr val="1F3864"/>
                          </a:solidFill>
                          <a:latin typeface="OPPOSans R"/>
                          <a:ea typeface="OPPOSans R"/>
                          <a:cs typeface="OPPOSans R"/>
                        </a:rPr>
                        <a:t>89.0%</a:t>
                      </a:r>
                    </a:p>
                  </a:txBody>
                  <a:tcPr marL="91440" marR="91440" marT="45720" marB="45720">
                    <a:solidFill>
                      <a:srgbClr val="FFFFFF"/>
                    </a:solidFill>
                  </a:tcPr>
                </a:tc>
                <a:tc>
                  <a:txBody>
                    <a:bodyPr/>
                    <a:lstStyle/>
                    <a:p>
                      <a:r>
                        <a:rPr sz="1600" b="0">
                          <a:solidFill>
                            <a:srgbClr val="1F3864"/>
                          </a:solidFill>
                          <a:latin typeface="OPPOSans R"/>
                          <a:ea typeface="OPPOSans R"/>
                          <a:cs typeface="OPPOSans R"/>
                        </a:rPr>
                        <a:t>96.9%</a:t>
                      </a:r>
                    </a:p>
                  </a:txBody>
                  <a:tcPr marL="91440" marR="91440" marT="45720" marB="45720">
                    <a:solidFill>
                      <a:srgbClr val="FFFFFF"/>
                    </a:solidFill>
                  </a:tcPr>
                </a:tc>
                <a:tc>
                  <a:txBody>
                    <a:bodyPr/>
                    <a:lstStyle/>
                    <a:p>
                      <a:r>
                        <a:rPr sz="1600" b="0">
                          <a:solidFill>
                            <a:srgbClr val="1F3864"/>
                          </a:solidFill>
                          <a:latin typeface="OPPOSans R"/>
                          <a:ea typeface="OPPOSans R"/>
                          <a:cs typeface="OPPOSans R"/>
                        </a:rPr>
                        <a:t>0.0%</a:t>
                      </a:r>
                    </a:p>
                  </a:txBody>
                  <a:tcPr marL="91440" marR="91440" marT="45720" marB="45720">
                    <a:solidFill>
                      <a:srgbClr val="FFFFFF"/>
                    </a:solidFill>
                  </a:tcPr>
                </a:tc>
                <a:tc>
                  <a:txBody>
                    <a:bodyPr/>
                    <a:lstStyle/>
                    <a:p>
                      <a:r>
                        <a:rPr sz="1600" b="0">
                          <a:solidFill>
                            <a:srgbClr val="1F3864"/>
                          </a:solidFill>
                          <a:latin typeface="OPPOSans R"/>
                          <a:ea typeface="OPPOSans R"/>
                          <a:cs typeface="OPPOSans R"/>
                        </a:rPr>
                        <a:t>83.9%</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C0380E90-9A96-4F84-862C-D006364E03F0}"/>
              </a:ext>
            </a:extLst>
          </p:cNvPr>
          <p:cNvSpPr>
            <a:spLocks xmlns:a="http://schemas.openxmlformats.org/drawingml/2006/main" noGrp="1"/>
          </p:cNvSpPr>
          <p:nvPr/>
        </p:nvSpPr>
        <p:spPr>
          <a:xfrm xmlns:a="http://schemas.openxmlformats.org/drawingml/2006/main">
            <a:off x="714375" y="5448300"/>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95CC4"/>
                </a:solidFill>
                <a:latin typeface="OPPOSans B"/>
                <a:ea typeface="OPPOSans B"/>
                <a:cs typeface="OPPOSans B"/>
              </a:defRPr>
            </a:defPPr>
          </a:lstStyle>
          <a:p xmlns:a="http://schemas.openxmlformats.org/drawingml/2006/main">
            <a:pPr>
              <a:defRPr sz="1800" b="1">
                <a:solidFill>
                  <a:srgbClr val="195CC4"/>
                </a:solidFill>
                <a:latin typeface="OPPOSans B"/>
                <a:ea typeface="OPPOSans B"/>
                <a:cs typeface="OPPOSans B"/>
              </a:defRPr>
            </a:pPr>
            <a:r>
              <a:rPr sz="1800" b="1">
                <a:solidFill>
                  <a:srgbClr val="195CC4"/>
                </a:solidFill>
                <a:latin typeface="OPPOSans B"/>
                <a:ea typeface="OPPOSans B"/>
                <a:cs typeface="OPPOSans B"/>
              </a:rPr>
              <a:t>Full 正确率 89.0%，相比 Dense 基线变化 +17.0 pp</a:t>
            </a:r>
          </a:p>
        </p:txBody>
      </p:sp>
      <p:sp>
        <p:nvSpPr>
          <p:cNvPr id="5" name="">
            <a:extLst xmlns:a="http://schemas.openxmlformats.org/drawingml/2006/main">
              <a:ext uri="{FF2B5EF4-FFF2-40B4-BE49-F238E27FC236}">
                <a16:creationId xmlns:a16="http://schemas.microsoft.com/office/drawing/2014/main" id="{22D01F03-7048-475C-8C30-804070CC1320}"/>
              </a:ext>
            </a:extLst>
          </p:cNvPr>
          <p:cNvSpPr>
            <a:spLocks xmlns:a="http://schemas.openxmlformats.org/drawingml/2006/main" noGrp="1"/>
          </p:cNvSpPr>
          <p:nvPr/>
        </p:nvSpPr>
        <p:spPr>
          <a:xfrm xmlns:a="http://schemas.openxmlformats.org/drawingml/2006/main">
            <a:off x="714375" y="589597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00" b="0">
                <a:solidFill>
                  <a:srgbClr val="595959"/>
                </a:solidFill>
                <a:latin typeface="OPPOSans R"/>
                <a:ea typeface="OPPOSans R"/>
                <a:cs typeface="OPPOSans R"/>
              </a:defRPr>
            </a:defPPr>
          </a:lstStyle>
          <a:p xmlns:a="http://schemas.openxmlformats.org/drawingml/2006/main">
            <a:pPr>
              <a:defRPr sz="1300" b="0">
                <a:solidFill>
                  <a:srgbClr val="595959"/>
                </a:solidFill>
                <a:latin typeface="OPPOSans R"/>
                <a:ea typeface="OPPOSans R"/>
                <a:cs typeface="OPPOSans R"/>
              </a:defRPr>
            </a:pPr>
            <a:r>
              <a:rPr sz="1300" b="0">
                <a:solidFill>
                  <a:srgbClr val="595959"/>
                </a:solidFill>
                <a:latin typeface="OPPOSans R"/>
                <a:ea typeface="OPPOSans R"/>
                <a:cs typeface="OPPOSans R"/>
              </a:rPr>
              <a:t>固定同题集单轮观察，组合收益不可相加。文本基线的表格差异含过滤与定位能力；计算对照操作数保留不全，不能作独立归因。</a:t>
            </a:r>
          </a:p>
        </p:txBody>
      </p:sp>
    </p:spTree>
    <p:extLst>
      <p:ext uri="{BB962C8B-B14F-4D97-AF65-F5344CB8AC3E}">
        <p14:creationId xmlns:p14="http://schemas.microsoft.com/office/powerpoint/2010/main" val="594718455"/>
      </p:ext>
    </p:extLst>
  </p:cSld>
</p:sld>
</file>

<file path=ppt/slides/experiment_slide2.xml><?xml version="1.0" encoding="utf-8"?>
<p:sld xmlns:p="http://schemas.openxmlformats.org/presentationml/2006/main">
  <p:cSld>
    <p:bg xmlns:a="http://schemas.openxmlformats.org/drawingml/2006/main">
      <p:bgPr>
        <a:solidFill>
          <a:schemeClr val="accent1"/>
        </a:solidFill>
        <a:effectLst/>
      </p:bgPr>
    </p:bg>
    <p:spTree>
      <p:nvGrpSpPr>
        <p:cNvPr id="1" name=""/>
        <p:cNvGrpSpPr/>
        <p:nvPr/>
      </p:nvGrpSpPr>
      <p:grpSpPr>
        <a:xfrm xmlns:a="http://schemas.openxmlformats.org/drawingml/2006/main"/>
      </p:grpSpPr>
      <p:sp xmlns:a="http://schemas.openxmlformats.org/drawingml/2006/main">
        <p:nvSpPr>
          <p:cNvPr id="9001" name="矩形 14"/>
          <p:cNvSpPr/>
          <p:nvPr/>
        </p:nvSpPr>
        <p:spPr>
          <a:xfrm>
            <a:off x="0" y="647700"/>
            <a:ext cx="12192000" cy="5638800"/>
          </a:xfrm>
          <a:prstGeom prst="rect">
            <a:avLst/>
          </a:prstGeom>
          <a:solidFill>
            <a:schemeClr val="bg1"/>
          </a:solidFill>
          <a:ln>
            <a:noFill/>
          </a:ln>
          <a:effectLst>
            <a:outerShdw blurRad="50800" dist="38100" dir="10800000" algn="r" rotWithShape="0">
              <a:prstClr val="black">
                <a:alpha val="40000"/>
              </a:prstClr>
            </a:outerShdw>
            <a:softEdge rad="317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xmlns:a="http://schemas.openxmlformats.org/drawingml/2006/main">
        <p:nvSpPr>
          <p:cNvPr id="9002" name="Rectangle 2"/>
          <p:cNvSpPr/>
          <p:nvPr/>
        </p:nvSpPr>
        <p:spPr>
          <a:xfrm>
            <a:off x="502920" y="1018413"/>
            <a:ext cx="82296" cy="566928"/>
          </a:xfrm>
          <a:prstGeom prst="rect">
            <a:avLst/>
          </a:prstGeom>
          <a:solidFill>
            <a:srgbClr val="1C41A9"/>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xmlns:a="http://schemas.openxmlformats.org/drawingml/2006/main">
        <p:nvSpPr>
          <p:cNvPr id="9003" name="Rectangle 5"/>
          <p:cNvSpPr/>
          <p:nvPr/>
        </p:nvSpPr>
        <p:spPr>
          <a:xfrm>
            <a:off x="502920" y="1840230"/>
            <a:ext cx="11196000" cy="20320"/>
          </a:xfrm>
          <a:prstGeom prst="rect">
            <a:avLst/>
          </a:prstGeom>
          <a:solidFill>
            <a:srgbClr val="D9DEE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6" name="">
            <a:extLst xmlns:a="http://schemas.openxmlformats.org/drawingml/2006/main">
              <a:ext uri="{FF2B5EF4-FFF2-40B4-BE49-F238E27FC236}">
                <a16:creationId xmlns:a16="http://schemas.microsoft.com/office/drawing/2014/main" id="{E38D4B54-AAAE-4E12-88E6-DDCB9324C874}"/>
              </a:ext>
            </a:extLst>
          </p:cNvPr>
          <p:cNvSpPr>
            <a:spLocks xmlns:a="http://schemas.openxmlformats.org/drawingml/2006/main" noGrp="1"/>
          </p:cNvSpPr>
          <p:nvPr/>
        </p:nvSpPr>
        <p:spPr>
          <a:xfrm xmlns:a="http://schemas.openxmlformats.org/drawingml/2006/main">
            <a:off x="714375" y="10477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F3864"/>
                </a:solidFill>
                <a:latin typeface="OPPOSans B"/>
                <a:ea typeface="OPPOSans B"/>
                <a:cs typeface="OPPOSans B"/>
              </a:defRPr>
            </a:defPPr>
          </a:lstStyle>
          <a:p xmlns:a="http://schemas.openxmlformats.org/drawingml/2006/main">
            <a:pPr>
              <a:defRPr sz="3000" b="1">
                <a:solidFill>
                  <a:srgbClr val="1F3864"/>
                </a:solidFill>
                <a:latin typeface="OPPOSans B"/>
                <a:ea typeface="OPPOSans B"/>
                <a:cs typeface="OPPOSans B"/>
              </a:defRPr>
            </a:pPr>
            <a:r>
              <a:rPr sz="3000" b="1">
                <a:solidFill>
                  <a:srgbClr val="1F3864"/>
                </a:solidFill>
                <a:latin typeface="OPPOSans B"/>
                <a:ea typeface="OPPOSans B"/>
                <a:cs typeface="OPPOSans B"/>
              </a:rPr>
              <a:t>消融实验：关键机制的配对对照</a:t>
            </a:r>
          </a:p>
        </p:txBody>
      </p:sp>
      <p:sp>
        <p:nvSpPr>
          <p:cNvPr id="2" name="">
            <a:extLst xmlns:a="http://schemas.openxmlformats.org/drawingml/2006/main">
              <a:ext uri="{FF2B5EF4-FFF2-40B4-BE49-F238E27FC236}">
                <a16:creationId xmlns:a16="http://schemas.microsoft.com/office/drawing/2014/main" id="{1A73B412-8E03-4BBD-8807-78736942B681}"/>
              </a:ext>
            </a:extLst>
          </p:cNvPr>
          <p:cNvSpPr>
            <a:spLocks xmlns:a="http://schemas.openxmlformats.org/drawingml/2006/main" noGrp="1"/>
          </p:cNvSpPr>
          <p:nvPr/>
        </p:nvSpPr>
        <p:spPr>
          <a:xfrm xmlns:a="http://schemas.openxmlformats.org/drawingml/2006/main">
            <a:off x="714375" y="158115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00" b="0">
                <a:solidFill>
                  <a:srgbClr val="595959"/>
                </a:solidFill>
                <a:latin typeface="OPPOSans R"/>
                <a:ea typeface="OPPOSans R"/>
                <a:cs typeface="OPPOSans R"/>
              </a:defRPr>
            </a:defPPr>
          </a:lstStyle>
          <a:p xmlns:a="http://schemas.openxmlformats.org/drawingml/2006/main">
            <a:pPr>
              <a:defRPr sz="1400" b="0">
                <a:solidFill>
                  <a:srgbClr val="595959"/>
                </a:solidFill>
                <a:latin typeface="OPPOSans R"/>
                <a:ea typeface="OPPOSans R"/>
                <a:cs typeface="OPPOSans R"/>
              </a:defRPr>
            </a:pPr>
            <a:r>
              <a:rPr sz="1400" b="0">
                <a:solidFill>
                  <a:srgbClr val="595959"/>
                </a:solidFill>
                <a:latin typeface="OPPOSans R"/>
                <a:ea typeface="OPPOSans R"/>
                <a:cs typeface="OPPOSans R"/>
              </a:rPr>
              <a:t>与 Full 配对比较，切分对照比较 A1 和 B3，仅改变原文切分边界</a:t>
            </a:r>
          </a:p>
        </p:txBody>
      </p:sp>
      <p:graphicFrame>
        <p:nvGraphicFramePr>
          <p:cNvPr id="3" name="">
            <a:extLst xmlns:a="http://schemas.openxmlformats.org/drawingml/2006/main">
              <a:ext uri="{FF2B5EF4-FFF2-40B4-BE49-F238E27FC236}">
                <a16:creationId xmlns:a16="http://schemas.microsoft.com/office/drawing/2014/main" id="{87294E9D-9BE8-4648-86E4-4B72B0CC565C}"/>
              </a:ext>
            </a:extLst>
          </p:cNvPr>
          <p:cNvGraphicFramePr/>
          <p:nvPr/>
        </p:nvGraphicFramePr>
        <p:xfrm>
          <a:off xmlns:a="http://schemas.openxmlformats.org/drawingml/2006/main" x="552450" y="2009775"/>
          <a:ext xmlns:a="http://schemas.openxmlformats.org/drawingml/2006/main" cx="11087100" cy="3200400"/>
        </p:xfrm>
        <a:graphic xmlns:a="http://schemas.openxmlformats.org/drawingml/2006/main">
          <a:graphicData uri="http://schemas.openxmlformats.org/drawingml/2006/table">
            <a:tbl>
              <a:tblPr/>
              <a:tblGrid>
                <a:gridCol w="2857500"/>
                <a:gridCol w="2000250"/>
                <a:gridCol w="2000250"/>
                <a:gridCol w="1524000"/>
                <a:gridCol w="2705100"/>
              </a:tblGrid>
              <a:tr h="457200">
                <a:tc>
                  <a:txBody>
                    <a:bodyPr/>
                    <a:lstStyle/>
                    <a:p>
                      <a:r>
                        <a:rPr sz="1600" b="1">
                          <a:solidFill>
                            <a:srgbClr val="FFFFFF"/>
                          </a:solidFill>
                          <a:latin typeface="OPPOSans B"/>
                          <a:ea typeface="OPPOSans B"/>
                          <a:cs typeface="OPPOSans B"/>
                        </a:rPr>
                        <a:t>机制对照</a:t>
                      </a:r>
                    </a:p>
                  </a:txBody>
                  <a:tcPr marL="91440" marR="91440" marT="45720" marB="45720">
                    <a:solidFill>
                      <a:srgbClr val="1F3864"/>
                    </a:solidFill>
                  </a:tcPr>
                </a:tc>
                <a:tc>
                  <a:txBody>
                    <a:bodyPr/>
                    <a:lstStyle/>
                    <a:p>
                      <a:r>
                        <a:rPr sz="1600" b="1">
                          <a:solidFill>
                            <a:srgbClr val="FFFFFF"/>
                          </a:solidFill>
                          <a:latin typeface="OPPOSans B"/>
                          <a:ea typeface="OPPOSans B"/>
                          <a:cs typeface="OPPOSans B"/>
                        </a:rPr>
                        <a:t>前配置正确率</a:t>
                      </a:r>
                    </a:p>
                  </a:txBody>
                  <a:tcPr marL="91440" marR="91440" marT="45720" marB="45720">
                    <a:solidFill>
                      <a:srgbClr val="1F3864"/>
                    </a:solidFill>
                  </a:tcPr>
                </a:tc>
                <a:tc>
                  <a:txBody>
                    <a:bodyPr/>
                    <a:lstStyle/>
                    <a:p>
                      <a:r>
                        <a:rPr sz="1600" b="1">
                          <a:solidFill>
                            <a:srgbClr val="FFFFFF"/>
                          </a:solidFill>
                          <a:latin typeface="OPPOSans B"/>
                          <a:ea typeface="OPPOSans B"/>
                          <a:cs typeface="OPPOSans B"/>
                        </a:rPr>
                        <a:t>后配置正确率</a:t>
                      </a:r>
                    </a:p>
                  </a:txBody>
                  <a:tcPr marL="91440" marR="91440" marT="45720" marB="45720">
                    <a:solidFill>
                      <a:srgbClr val="1F3864"/>
                    </a:solidFill>
                  </a:tcPr>
                </a:tc>
                <a:tc>
                  <a:txBody>
                    <a:bodyPr/>
                    <a:lstStyle/>
                    <a:p>
                      <a:r>
                        <a:rPr sz="1600" b="1">
                          <a:solidFill>
                            <a:srgbClr val="FFFFFF"/>
                          </a:solidFill>
                          <a:latin typeface="OPPOSans B"/>
                          <a:ea typeface="OPPOSans B"/>
                          <a:cs typeface="OPPOSans B"/>
                        </a:rPr>
                        <a:t>净变化</a:t>
                      </a:r>
                    </a:p>
                  </a:txBody>
                  <a:tcPr marL="91440" marR="91440" marT="45720" marB="45720">
                    <a:solidFill>
                      <a:srgbClr val="1F3864"/>
                    </a:solidFill>
                  </a:tcPr>
                </a:tc>
                <a:tc>
                  <a:txBody>
                    <a:bodyPr/>
                    <a:lstStyle/>
                    <a:p>
                      <a:r>
                        <a:rPr sz="1600" b="1">
                          <a:solidFill>
                            <a:srgbClr val="FFFFFF"/>
                          </a:solidFill>
                          <a:latin typeface="OPPOSans B"/>
                          <a:ea typeface="OPPOSans B"/>
                          <a:cs typeface="OPPOSans B"/>
                        </a:rPr>
                        <a:t>95% 区间（pp）</a:t>
                      </a:r>
                    </a:p>
                  </a:txBody>
                  <a:tcPr marL="91440" marR="91440" marT="45720" marB="45720">
                    <a:solidFill>
                      <a:srgbClr val="1F3864"/>
                    </a:solidFill>
                  </a:tcPr>
                </a:tc>
              </a:tr>
              <a:tr h="457200">
                <a:tc>
                  <a:txBody>
                    <a:bodyPr/>
                    <a:lstStyle/>
                    <a:p>
                      <a:r>
                        <a:rPr sz="1600" b="0">
                          <a:solidFill>
                            <a:srgbClr val="1F3864"/>
                          </a:solidFill>
                          <a:latin typeface="OPPOSans R"/>
                          <a:ea typeface="OPPOSans R"/>
                          <a:cs typeface="OPPOSans R"/>
                        </a:rPr>
                        <a:t>CRAG-lite</a:t>
                      </a:r>
                    </a:p>
                  </a:txBody>
                  <a:tcPr marL="91440" marR="91440" marT="45720" marB="45720">
                    <a:solidFill>
                      <a:srgbClr val="F2F5FA"/>
                    </a:solidFill>
                  </a:tcPr>
                </a:tc>
                <a:tc>
                  <a:txBody>
                    <a:bodyPr/>
                    <a:lstStyle/>
                    <a:p>
                      <a:r>
                        <a:rPr sz="1600" b="0">
                          <a:solidFill>
                            <a:srgbClr val="1F3864"/>
                          </a:solidFill>
                          <a:latin typeface="OPPOSans R"/>
                          <a:ea typeface="OPPOSans R"/>
                          <a:cs typeface="OPPOSans R"/>
                        </a:rPr>
                        <a:t>87.0%</a:t>
                      </a:r>
                    </a:p>
                  </a:txBody>
                  <a:tcPr marL="91440" marR="91440" marT="45720" marB="45720">
                    <a:solidFill>
                      <a:srgbClr val="F2F5FA"/>
                    </a:solidFill>
                  </a:tcPr>
                </a:tc>
                <a:tc>
                  <a:txBody>
                    <a:bodyPr/>
                    <a:lstStyle/>
                    <a:p>
                      <a:r>
                        <a:rPr sz="1600" b="0">
                          <a:solidFill>
                            <a:srgbClr val="1F3864"/>
                          </a:solidFill>
                          <a:latin typeface="OPPOSans R"/>
                          <a:ea typeface="OPPOSans R"/>
                          <a:cs typeface="OPPOSans R"/>
                        </a:rPr>
                        <a:t>89.0%</a:t>
                      </a:r>
                    </a:p>
                  </a:txBody>
                  <a:tcPr marL="91440" marR="91440" marT="45720" marB="45720">
                    <a:solidFill>
                      <a:srgbClr val="F2F5FA"/>
                    </a:solidFill>
                  </a:tcPr>
                </a:tc>
                <a:tc>
                  <a:txBody>
                    <a:bodyPr/>
                    <a:lstStyle/>
                    <a:p>
                      <a:r>
                        <a:rPr sz="1600" b="0">
                          <a:solidFill>
                            <a:srgbClr val="1F3864"/>
                          </a:solidFill>
                          <a:latin typeface="OPPOSans R"/>
                          <a:ea typeface="OPPOSans R"/>
                          <a:cs typeface="OPPOSans R"/>
                        </a:rPr>
                        <a:t>+2.0 pp</a:t>
                      </a:r>
                    </a:p>
                  </a:txBody>
                  <a:tcPr marL="91440" marR="91440" marT="45720" marB="45720">
                    <a:solidFill>
                      <a:srgbClr val="F2F5FA"/>
                    </a:solidFill>
                  </a:tcPr>
                </a:tc>
                <a:tc>
                  <a:txBody>
                    <a:bodyPr/>
                    <a:lstStyle/>
                    <a:p>
                      <a:r>
                        <a:rPr sz="1600" b="0">
                          <a:solidFill>
                            <a:srgbClr val="1F3864"/>
                          </a:solidFill>
                          <a:latin typeface="OPPOSans R"/>
                          <a:ea typeface="OPPOSans R"/>
                          <a:cs typeface="OPPOSans R"/>
                        </a:rPr>
                        <a:t>-4.0 ～ 8.0</a:t>
                      </a:r>
                    </a:p>
                  </a:txBody>
                  <a:tcPr marL="91440" marR="91440" marT="45720" marB="45720">
                    <a:solidFill>
                      <a:srgbClr val="F2F5FA"/>
                    </a:solidFill>
                  </a:tcPr>
                </a:tc>
              </a:tr>
              <a:tr h="457200">
                <a:tc>
                  <a:txBody>
                    <a:bodyPr/>
                    <a:lstStyle/>
                    <a:p>
                      <a:r>
                        <a:rPr sz="1600" b="0">
                          <a:solidFill>
                            <a:srgbClr val="1F3864"/>
                          </a:solidFill>
                          <a:latin typeface="OPPOSans R"/>
                          <a:ea typeface="OPPOSans R"/>
                          <a:cs typeface="OPPOSans R"/>
                        </a:rPr>
                        <a:t>HyDE</a:t>
                      </a:r>
                    </a:p>
                  </a:txBody>
                  <a:tcPr marL="91440" marR="91440" marT="45720" marB="45720">
                    <a:solidFill>
                      <a:srgbClr val="FFFFFF"/>
                    </a:solidFill>
                  </a:tcPr>
                </a:tc>
                <a:tc>
                  <a:txBody>
                    <a:bodyPr/>
                    <a:lstStyle/>
                    <a:p>
                      <a:r>
                        <a:rPr sz="1600" b="0">
                          <a:solidFill>
                            <a:srgbClr val="1F3864"/>
                          </a:solidFill>
                          <a:latin typeface="OPPOSans R"/>
                          <a:ea typeface="OPPOSans R"/>
                          <a:cs typeface="OPPOSans R"/>
                        </a:rPr>
                        <a:t>89.0%</a:t>
                      </a:r>
                    </a:p>
                  </a:txBody>
                  <a:tcPr marL="91440" marR="91440" marT="45720" marB="45720">
                    <a:solidFill>
                      <a:srgbClr val="FFFFFF"/>
                    </a:solidFill>
                  </a:tcPr>
                </a:tc>
                <a:tc>
                  <a:txBody>
                    <a:bodyPr/>
                    <a:lstStyle/>
                    <a:p>
                      <a:r>
                        <a:rPr sz="1600" b="0">
                          <a:solidFill>
                            <a:srgbClr val="1F3864"/>
                          </a:solidFill>
                          <a:latin typeface="OPPOSans R"/>
                          <a:ea typeface="OPPOSans R"/>
                          <a:cs typeface="OPPOSans R"/>
                        </a:rPr>
                        <a:t>89.0%</a:t>
                      </a:r>
                    </a:p>
                  </a:txBody>
                  <a:tcPr marL="91440" marR="91440" marT="45720" marB="45720">
                    <a:solidFill>
                      <a:srgbClr val="FFFFFF"/>
                    </a:solidFill>
                  </a:tcPr>
                </a:tc>
                <a:tc>
                  <a:txBody>
                    <a:bodyPr/>
                    <a:lstStyle/>
                    <a:p>
                      <a:r>
                        <a:rPr sz="1600" b="0">
                          <a:solidFill>
                            <a:srgbClr val="1F3864"/>
                          </a:solidFill>
                          <a:latin typeface="OPPOSans R"/>
                          <a:ea typeface="OPPOSans R"/>
                          <a:cs typeface="OPPOSans R"/>
                        </a:rPr>
                        <a:t>+0.0 pp</a:t>
                      </a:r>
                    </a:p>
                  </a:txBody>
                  <a:tcPr marL="91440" marR="91440" marT="45720" marB="45720">
                    <a:solidFill>
                      <a:srgbClr val="FFFFFF"/>
                    </a:solidFill>
                  </a:tcPr>
                </a:tc>
                <a:tc>
                  <a:txBody>
                    <a:bodyPr/>
                    <a:lstStyle/>
                    <a:p>
                      <a:r>
                        <a:rPr sz="1600" b="0">
                          <a:solidFill>
                            <a:srgbClr val="1F3864"/>
                          </a:solidFill>
                          <a:latin typeface="OPPOSans R"/>
                          <a:ea typeface="OPPOSans R"/>
                          <a:cs typeface="OPPOSans R"/>
                        </a:rPr>
                        <a:t>-7.0 ～ 7.0</a:t>
                      </a:r>
                    </a:p>
                  </a:txBody>
                  <a:tcPr marL="91440" marR="91440" marT="45720" marB="45720">
                    <a:solidFill>
                      <a:srgbClr val="FFFFFF"/>
                    </a:solidFill>
                  </a:tcPr>
                </a:tc>
              </a:tr>
              <a:tr h="457200">
                <a:tc>
                  <a:txBody>
                    <a:bodyPr/>
                    <a:lstStyle/>
                    <a:p>
                      <a:r>
                        <a:rPr sz="1600" b="0">
                          <a:solidFill>
                            <a:srgbClr val="1F3864"/>
                          </a:solidFill>
                          <a:latin typeface="OPPOSans R"/>
                          <a:ea typeface="OPPOSans R"/>
                          <a:cs typeface="OPPOSans R"/>
                        </a:rPr>
                        <a:t>结构感知边界</a:t>
                      </a:r>
                    </a:p>
                  </a:txBody>
                  <a:tcPr marL="91440" marR="91440" marT="45720" marB="45720">
                    <a:solidFill>
                      <a:srgbClr val="F2F5FA"/>
                    </a:solidFill>
                  </a:tcPr>
                </a:tc>
                <a:tc>
                  <a:txBody>
                    <a:bodyPr/>
                    <a:lstStyle/>
                    <a:p>
                      <a:r>
                        <a:rPr sz="1600" b="0">
                          <a:solidFill>
                            <a:srgbClr val="1F3864"/>
                          </a:solidFill>
                          <a:latin typeface="OPPOSans R"/>
                          <a:ea typeface="OPPOSans R"/>
                          <a:cs typeface="OPPOSans R"/>
                        </a:rPr>
                        <a:t>59.0%</a:t>
                      </a:r>
                    </a:p>
                  </a:txBody>
                  <a:tcPr marL="91440" marR="91440" marT="45720" marB="45720">
                    <a:solidFill>
                      <a:srgbClr val="F2F5FA"/>
                    </a:solidFill>
                  </a:tcPr>
                </a:tc>
                <a:tc>
                  <a:txBody>
                    <a:bodyPr/>
                    <a:lstStyle/>
                    <a:p>
                      <a:r>
                        <a:rPr sz="1600" b="0">
                          <a:solidFill>
                            <a:srgbClr val="1F3864"/>
                          </a:solidFill>
                          <a:latin typeface="OPPOSans R"/>
                          <a:ea typeface="OPPOSans R"/>
                          <a:cs typeface="OPPOSans R"/>
                        </a:rPr>
                        <a:t>58.0%</a:t>
                      </a:r>
                    </a:p>
                  </a:txBody>
                  <a:tcPr marL="91440" marR="91440" marT="45720" marB="45720">
                    <a:solidFill>
                      <a:srgbClr val="F2F5FA"/>
                    </a:solidFill>
                  </a:tcPr>
                </a:tc>
                <a:tc>
                  <a:txBody>
                    <a:bodyPr/>
                    <a:lstStyle/>
                    <a:p>
                      <a:r>
                        <a:rPr sz="1600" b="0">
                          <a:solidFill>
                            <a:srgbClr val="1F3864"/>
                          </a:solidFill>
                          <a:latin typeface="OPPOSans R"/>
                          <a:ea typeface="OPPOSans R"/>
                          <a:cs typeface="OPPOSans R"/>
                        </a:rPr>
                        <a:t>-1.0 pp</a:t>
                      </a:r>
                    </a:p>
                  </a:txBody>
                  <a:tcPr marL="91440" marR="91440" marT="45720" marB="45720">
                    <a:solidFill>
                      <a:srgbClr val="F2F5FA"/>
                    </a:solidFill>
                  </a:tcPr>
                </a:tc>
                <a:tc>
                  <a:txBody>
                    <a:bodyPr/>
                    <a:lstStyle/>
                    <a:p>
                      <a:r>
                        <a:rPr sz="1600" b="0">
                          <a:solidFill>
                            <a:srgbClr val="1F3864"/>
                          </a:solidFill>
                          <a:latin typeface="OPPOSans R"/>
                          <a:ea typeface="OPPOSans R"/>
                          <a:cs typeface="OPPOSans R"/>
                        </a:rPr>
                        <a:t>-7.0 ～ 5.0</a:t>
                      </a:r>
                    </a:p>
                  </a:txBody>
                  <a:tcPr marL="91440" marR="91440" marT="45720" marB="45720">
                    <a:solidFill>
                      <a:srgbClr val="F2F5FA"/>
                    </a:solidFill>
                  </a:tcPr>
                </a:tc>
              </a:tr>
              <a:tr h="457200">
                <a:tc>
                  <a:txBody>
                    <a:bodyPr/>
                    <a:lstStyle/>
                    <a:p>
                      <a:r>
                        <a:rPr sz="1600" b="0">
                          <a:solidFill>
                            <a:srgbClr val="1F3864"/>
                          </a:solidFill>
                          <a:latin typeface="OPPOSans R"/>
                          <a:ea typeface="OPPOSans R"/>
                          <a:cs typeface="OPPOSans R"/>
                        </a:rPr>
                        <a:t>条款引用扩展</a:t>
                      </a:r>
                    </a:p>
                  </a:txBody>
                  <a:tcPr marL="91440" marR="91440" marT="45720" marB="45720">
                    <a:solidFill>
                      <a:srgbClr val="FFFFFF"/>
                    </a:solidFill>
                  </a:tcPr>
                </a:tc>
                <a:tc>
                  <a:txBody>
                    <a:bodyPr/>
                    <a:lstStyle/>
                    <a:p>
                      <a:r>
                        <a:rPr sz="1600" b="0">
                          <a:solidFill>
                            <a:srgbClr val="1F3864"/>
                          </a:solidFill>
                          <a:latin typeface="OPPOSans R"/>
                          <a:ea typeface="OPPOSans R"/>
                          <a:cs typeface="OPPOSans R"/>
                        </a:rPr>
                        <a:t>89.0%</a:t>
                      </a:r>
                    </a:p>
                  </a:txBody>
                  <a:tcPr marL="91440" marR="91440" marT="45720" marB="45720">
                    <a:solidFill>
                      <a:srgbClr val="FFFFFF"/>
                    </a:solidFill>
                  </a:tcPr>
                </a:tc>
                <a:tc>
                  <a:txBody>
                    <a:bodyPr/>
                    <a:lstStyle/>
                    <a:p>
                      <a:r>
                        <a:rPr sz="1600" b="0">
                          <a:solidFill>
                            <a:srgbClr val="1F3864"/>
                          </a:solidFill>
                          <a:latin typeface="OPPOSans R"/>
                          <a:ea typeface="OPPOSans R"/>
                          <a:cs typeface="OPPOSans R"/>
                        </a:rPr>
                        <a:t>89.0%</a:t>
                      </a:r>
                    </a:p>
                  </a:txBody>
                  <a:tcPr marL="91440" marR="91440" marT="45720" marB="45720">
                    <a:solidFill>
                      <a:srgbClr val="FFFFFF"/>
                    </a:solidFill>
                  </a:tcPr>
                </a:tc>
                <a:tc>
                  <a:txBody>
                    <a:bodyPr/>
                    <a:lstStyle/>
                    <a:p>
                      <a:r>
                        <a:rPr sz="1600" b="0">
                          <a:solidFill>
                            <a:srgbClr val="1F3864"/>
                          </a:solidFill>
                          <a:latin typeface="OPPOSans R"/>
                          <a:ea typeface="OPPOSans R"/>
                          <a:cs typeface="OPPOSans R"/>
                        </a:rPr>
                        <a:t>+0.0 pp</a:t>
                      </a:r>
                    </a:p>
                  </a:txBody>
                  <a:tcPr marL="91440" marR="91440" marT="45720" marB="45720">
                    <a:solidFill>
                      <a:srgbClr val="FFFFFF"/>
                    </a:solidFill>
                  </a:tcPr>
                </a:tc>
                <a:tc>
                  <a:txBody>
                    <a:bodyPr/>
                    <a:lstStyle/>
                    <a:p>
                      <a:r>
                        <a:rPr sz="1600" b="0">
                          <a:solidFill>
                            <a:srgbClr val="1F3864"/>
                          </a:solidFill>
                          <a:latin typeface="OPPOSans R"/>
                          <a:ea typeface="OPPOSans R"/>
                          <a:cs typeface="OPPOSans R"/>
                        </a:rPr>
                        <a:t>-6.0 ～ 6.0</a:t>
                      </a:r>
                    </a:p>
                  </a:txBody>
                  <a:tcPr marL="91440" marR="91440" marT="45720" marB="45720">
                    <a:solidFill>
                      <a:srgbClr val="FFFFFF"/>
                    </a:solidFill>
                  </a:tcPr>
                </a:tc>
              </a:tr>
              <a:tr h="457200">
                <a:tc>
                  <a:txBody>
                    <a:bodyPr/>
                    <a:lstStyle/>
                    <a:p>
                      <a:r>
                        <a:rPr sz="1600" b="0">
                          <a:solidFill>
                            <a:srgbClr val="1F3864"/>
                          </a:solidFill>
                          <a:latin typeface="OPPOSans R"/>
                          <a:ea typeface="OPPOSans R"/>
                          <a:cs typeface="OPPOSans R"/>
                        </a:rPr>
                        <a:t>监管语义校验</a:t>
                      </a:r>
                    </a:p>
                  </a:txBody>
                  <a:tcPr marL="91440" marR="91440" marT="45720" marB="45720">
                    <a:solidFill>
                      <a:srgbClr val="F2F5FA"/>
                    </a:solidFill>
                  </a:tcPr>
                </a:tc>
                <a:tc>
                  <a:txBody>
                    <a:bodyPr/>
                    <a:lstStyle/>
                    <a:p>
                      <a:r>
                        <a:rPr sz="1600" b="0">
                          <a:solidFill>
                            <a:srgbClr val="1F3864"/>
                          </a:solidFill>
                          <a:latin typeface="OPPOSans R"/>
                          <a:ea typeface="OPPOSans R"/>
                          <a:cs typeface="OPPOSans R"/>
                        </a:rPr>
                        <a:t>83.0%</a:t>
                      </a:r>
                    </a:p>
                  </a:txBody>
                  <a:tcPr marL="91440" marR="91440" marT="45720" marB="45720">
                    <a:solidFill>
                      <a:srgbClr val="F2F5FA"/>
                    </a:solidFill>
                  </a:tcPr>
                </a:tc>
                <a:tc>
                  <a:txBody>
                    <a:bodyPr/>
                    <a:lstStyle/>
                    <a:p>
                      <a:r>
                        <a:rPr sz="1600" b="0">
                          <a:solidFill>
                            <a:srgbClr val="1F3864"/>
                          </a:solidFill>
                          <a:latin typeface="OPPOSans R"/>
                          <a:ea typeface="OPPOSans R"/>
                          <a:cs typeface="OPPOSans R"/>
                        </a:rPr>
                        <a:t>89.0%</a:t>
                      </a:r>
                    </a:p>
                  </a:txBody>
                  <a:tcPr marL="91440" marR="91440" marT="45720" marB="45720">
                    <a:solidFill>
                      <a:srgbClr val="F2F5FA"/>
                    </a:solidFill>
                  </a:tcPr>
                </a:tc>
                <a:tc>
                  <a:txBody>
                    <a:bodyPr/>
                    <a:lstStyle/>
                    <a:p>
                      <a:r>
                        <a:rPr sz="1600" b="0">
                          <a:solidFill>
                            <a:srgbClr val="1F3864"/>
                          </a:solidFill>
                          <a:latin typeface="OPPOSans R"/>
                          <a:ea typeface="OPPOSans R"/>
                          <a:cs typeface="OPPOSans R"/>
                        </a:rPr>
                        <a:t>+6.0 pp</a:t>
                      </a:r>
                    </a:p>
                  </a:txBody>
                  <a:tcPr marL="91440" marR="91440" marT="45720" marB="45720">
                    <a:solidFill>
                      <a:srgbClr val="F2F5FA"/>
                    </a:solidFill>
                  </a:tcPr>
                </a:tc>
                <a:tc>
                  <a:txBody>
                    <a:bodyPr/>
                    <a:lstStyle/>
                    <a:p>
                      <a:r>
                        <a:rPr sz="1600" b="0">
                          <a:solidFill>
                            <a:srgbClr val="1F3864"/>
                          </a:solidFill>
                          <a:latin typeface="OPPOSans R"/>
                          <a:ea typeface="OPPOSans R"/>
                          <a:cs typeface="OPPOSans R"/>
                        </a:rPr>
                        <a:t>0.0 ～ 13.0</a:t>
                      </a:r>
                    </a:p>
                  </a:txBody>
                  <a:tcPr marL="91440" marR="91440" marT="45720" marB="45720">
                    <a:solidFill>
                      <a:srgbClr val="F2F5FA"/>
                    </a:solidFill>
                  </a:tcPr>
                </a:tc>
              </a:tr>
              <a:tr h="457200">
                <a:tc>
                  <a:txBody>
                    <a:bodyPr/>
                    <a:lstStyle/>
                    <a:p>
                      <a:r>
                        <a:rPr sz="1600" b="0">
                          <a:solidFill>
                            <a:srgbClr val="1F3864"/>
                          </a:solidFill>
                          <a:latin typeface="OPPOSans R"/>
                          <a:ea typeface="OPPOSans R"/>
                          <a:cs typeface="OPPOSans R"/>
                        </a:rPr>
                        <a:t>计算链路（受限）</a:t>
                      </a:r>
                    </a:p>
                  </a:txBody>
                  <a:tcPr marL="91440" marR="91440" marT="45720" marB="45720">
                    <a:solidFill>
                      <a:srgbClr val="FFFFFF"/>
                    </a:solidFill>
                  </a:tcPr>
                </a:tc>
                <a:tc>
                  <a:txBody>
                    <a:bodyPr/>
                    <a:lstStyle/>
                    <a:p>
                      <a:r>
                        <a:rPr sz="1600" b="0">
                          <a:solidFill>
                            <a:srgbClr val="1F3864"/>
                          </a:solidFill>
                          <a:latin typeface="OPPOSans R"/>
                          <a:ea typeface="OPPOSans R"/>
                          <a:cs typeface="OPPOSans R"/>
                        </a:rPr>
                        <a:t>81.0%</a:t>
                      </a:r>
                    </a:p>
                  </a:txBody>
                  <a:tcPr marL="91440" marR="91440" marT="45720" marB="45720">
                    <a:solidFill>
                      <a:srgbClr val="FFFFFF"/>
                    </a:solidFill>
                  </a:tcPr>
                </a:tc>
                <a:tc>
                  <a:txBody>
                    <a:bodyPr/>
                    <a:lstStyle/>
                    <a:p>
                      <a:r>
                        <a:rPr sz="1600" b="0">
                          <a:solidFill>
                            <a:srgbClr val="1F3864"/>
                          </a:solidFill>
                          <a:latin typeface="OPPOSans R"/>
                          <a:ea typeface="OPPOSans R"/>
                          <a:cs typeface="OPPOSans R"/>
                        </a:rPr>
                        <a:t>89.0%</a:t>
                      </a:r>
                    </a:p>
                  </a:txBody>
                  <a:tcPr marL="91440" marR="91440" marT="45720" marB="45720">
                    <a:solidFill>
                      <a:srgbClr val="FFFFFF"/>
                    </a:solidFill>
                  </a:tcPr>
                </a:tc>
                <a:tc>
                  <a:txBody>
                    <a:bodyPr/>
                    <a:lstStyle/>
                    <a:p>
                      <a:r>
                        <a:rPr sz="1600" b="0">
                          <a:solidFill>
                            <a:srgbClr val="1F3864"/>
                          </a:solidFill>
                          <a:latin typeface="OPPOSans R"/>
                          <a:ea typeface="OPPOSans R"/>
                          <a:cs typeface="OPPOSans R"/>
                        </a:rPr>
                        <a:t>+8.0 pp</a:t>
                      </a:r>
                    </a:p>
                  </a:txBody>
                  <a:tcPr marL="91440" marR="91440" marT="45720" marB="45720">
                    <a:solidFill>
                      <a:srgbClr val="FFFFFF"/>
                    </a:solidFill>
                  </a:tcPr>
                </a:tc>
                <a:tc>
                  <a:txBody>
                    <a:bodyPr/>
                    <a:lstStyle/>
                    <a:p>
                      <a:r>
                        <a:rPr sz="1600" b="0">
                          <a:solidFill>
                            <a:srgbClr val="1F3864"/>
                          </a:solidFill>
                          <a:latin typeface="OPPOSans R"/>
                          <a:ea typeface="OPPOSans R"/>
                          <a:cs typeface="OPPOSans R"/>
                        </a:rPr>
                        <a:t>不作模块归因</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BDF81E9C-45E5-48BB-8B1F-F0A9567FE746}"/>
              </a:ext>
            </a:extLst>
          </p:cNvPr>
          <p:cNvSpPr>
            <a:spLocks xmlns:a="http://schemas.openxmlformats.org/drawingml/2006/main" noGrp="1"/>
          </p:cNvSpPr>
          <p:nvPr/>
        </p:nvSpPr>
        <p:spPr>
          <a:xfrm xmlns:a="http://schemas.openxmlformats.org/drawingml/2006/main">
            <a:off x="714375" y="5448300"/>
            <a:ext cx="10858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1">
                <a:solidFill>
                  <a:srgbClr val="195CC4"/>
                </a:solidFill>
                <a:latin typeface="OPPOSans B"/>
                <a:ea typeface="OPPOSans B"/>
                <a:cs typeface="OPPOSans B"/>
              </a:defRPr>
            </a:defPPr>
          </a:lstStyle>
          <a:p xmlns:a="http://schemas.openxmlformats.org/drawingml/2006/main">
            <a:pPr>
              <a:defRPr sz="1800" b="1">
                <a:solidFill>
                  <a:srgbClr val="195CC4"/>
                </a:solidFill>
                <a:latin typeface="OPPOSans B"/>
                <a:ea typeface="OPPOSans B"/>
                <a:cs typeface="OPPOSans B"/>
              </a:defRPr>
            </a:pPr>
            <a:r>
              <a:rPr sz="1800" b="1">
                <a:solidFill>
                  <a:srgbClr val="195CC4"/>
                </a:solidFill>
                <a:latin typeface="OPPOSans B"/>
                <a:ea typeface="OPPOSans B"/>
                <a:cs typeface="OPPOSans B"/>
              </a:rPr>
              <a:t>Full 中 CRAG-lite 补证率 24.0%；HyDE 触发率 1.0%。</a:t>
            </a:r>
          </a:p>
        </p:txBody>
      </p:sp>
      <p:sp>
        <p:nvSpPr>
          <p:cNvPr id="5" name="">
            <a:extLst xmlns:a="http://schemas.openxmlformats.org/drawingml/2006/main">
              <a:ext uri="{FF2B5EF4-FFF2-40B4-BE49-F238E27FC236}">
                <a16:creationId xmlns:a16="http://schemas.microsoft.com/office/drawing/2014/main" id="{DC76A298-14BA-49DA-AD9E-85E1CC54E7FB}"/>
              </a:ext>
            </a:extLst>
          </p:cNvPr>
          <p:cNvSpPr>
            <a:spLocks xmlns:a="http://schemas.openxmlformats.org/drawingml/2006/main" noGrp="1"/>
          </p:cNvSpPr>
          <p:nvPr/>
        </p:nvSpPr>
        <p:spPr>
          <a:xfrm xmlns:a="http://schemas.openxmlformats.org/drawingml/2006/main">
            <a:off x="714375" y="5895975"/>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00" b="0">
                <a:solidFill>
                  <a:srgbClr val="595959"/>
                </a:solidFill>
                <a:latin typeface="OPPOSans R"/>
                <a:ea typeface="OPPOSans R"/>
                <a:cs typeface="OPPOSans R"/>
              </a:defRPr>
            </a:defPPr>
          </a:lstStyle>
          <a:p xmlns:a="http://schemas.openxmlformats.org/drawingml/2006/main">
            <a:pPr>
              <a:defRPr sz="1300" b="0">
                <a:solidFill>
                  <a:srgbClr val="595959"/>
                </a:solidFill>
                <a:latin typeface="OPPOSans R"/>
                <a:ea typeface="OPPOSans R"/>
                <a:cs typeface="OPPOSans R"/>
              </a:defRPr>
            </a:pPr>
            <a:r>
              <a:rPr sz="1300" b="0">
                <a:solidFill>
                  <a:srgbClr val="595959"/>
                </a:solidFill>
                <a:latin typeface="OPPOSans R"/>
                <a:ea typeface="OPPOSans R"/>
                <a:cs typeface="OPPOSans R"/>
              </a:rPr>
              <a:t>计算对照未保留完整操作数，不作模块归因。95% 区间仅反映题目抽样；未人工复核实际拦截量。</a:t>
            </a:r>
          </a:p>
        </p:txBody>
      </p:sp>
    </p:spTree>
    <p:extLst>
      <p:ext uri="{BB962C8B-B14F-4D97-AF65-F5344CB8AC3E}">
        <p14:creationId xmlns:p14="http://schemas.microsoft.com/office/powerpoint/2010/main" val="1560278133"/>
      </p:ext>
    </p:extLst>
  </p:cSld>
</p:sld>
</file>

<file path=ppt/slides/experiment_slide3.xml><?xml version="1.0" encoding="utf-8"?>
<p:sld xmlns:p="http://schemas.openxmlformats.org/presentationml/2006/main">
  <p:cSld>
    <p:bg xmlns:a="http://schemas.openxmlformats.org/drawingml/2006/main">
      <p:bgPr>
        <a:solidFill>
          <a:schemeClr val="accent1"/>
        </a:solidFill>
        <a:effectLst/>
      </p:bgPr>
    </p:bg>
    <p:spTree>
      <p:nvGrpSpPr>
        <p:cNvPr id="1" name=""/>
        <p:cNvGrpSpPr/>
        <p:nvPr/>
      </p:nvGrpSpPr>
      <p:grpSpPr>
        <a:xfrm xmlns:a="http://schemas.openxmlformats.org/drawingml/2006/main"/>
      </p:grpSpPr>
      <p:sp xmlns:a="http://schemas.openxmlformats.org/drawingml/2006/main">
        <p:nvSpPr>
          <p:cNvPr id="9001" name="矩形 14"/>
          <p:cNvSpPr/>
          <p:nvPr/>
        </p:nvSpPr>
        <p:spPr>
          <a:xfrm>
            <a:off x="0" y="647700"/>
            <a:ext cx="12192000" cy="5638800"/>
          </a:xfrm>
          <a:prstGeom prst="rect">
            <a:avLst/>
          </a:prstGeom>
          <a:solidFill>
            <a:schemeClr val="bg1"/>
          </a:solidFill>
          <a:ln>
            <a:noFill/>
          </a:ln>
          <a:effectLst>
            <a:outerShdw blurRad="50800" dist="38100" dir="10800000" algn="r" rotWithShape="0">
              <a:prstClr val="black">
                <a:alpha val="40000"/>
              </a:prstClr>
            </a:outerShdw>
            <a:softEdge rad="317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xmlns:a="http://schemas.openxmlformats.org/drawingml/2006/main">
        <p:nvSpPr>
          <p:cNvPr id="9002" name="Rectangle 2"/>
          <p:cNvSpPr/>
          <p:nvPr/>
        </p:nvSpPr>
        <p:spPr>
          <a:xfrm>
            <a:off x="502920" y="1018413"/>
            <a:ext cx="82296" cy="566928"/>
          </a:xfrm>
          <a:prstGeom prst="rect">
            <a:avLst/>
          </a:prstGeom>
          <a:solidFill>
            <a:srgbClr val="1C41A9"/>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xmlns:a="http://schemas.openxmlformats.org/drawingml/2006/main">
        <p:nvSpPr>
          <p:cNvPr id="9003" name="Rectangle 5"/>
          <p:cNvSpPr/>
          <p:nvPr/>
        </p:nvSpPr>
        <p:spPr>
          <a:xfrm>
            <a:off x="502920" y="1840230"/>
            <a:ext cx="11196000" cy="20320"/>
          </a:xfrm>
          <a:prstGeom prst="rect">
            <a:avLst/>
          </a:prstGeom>
          <a:solidFill>
            <a:srgbClr val="D9DEE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5" name="">
            <a:extLst xmlns:a="http://schemas.openxmlformats.org/drawingml/2006/main">
              <a:ext uri="{FF2B5EF4-FFF2-40B4-BE49-F238E27FC236}">
                <a16:creationId xmlns:a16="http://schemas.microsoft.com/office/drawing/2014/main" id="{D5FDD97E-0605-411F-9BAA-AF4BE2E0B6A6}"/>
              </a:ext>
            </a:extLst>
          </p:cNvPr>
          <p:cNvSpPr>
            <a:spLocks xmlns:a="http://schemas.openxmlformats.org/drawingml/2006/main" noGrp="1"/>
          </p:cNvSpPr>
          <p:nvPr/>
        </p:nvSpPr>
        <p:spPr>
          <a:xfrm xmlns:a="http://schemas.openxmlformats.org/drawingml/2006/main">
            <a:off x="714375" y="1047750"/>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000" b="1">
                <a:solidFill>
                  <a:srgbClr val="1F3864"/>
                </a:solidFill>
                <a:latin typeface="OPPOSans B"/>
                <a:ea typeface="OPPOSans B"/>
                <a:cs typeface="OPPOSans B"/>
              </a:defRPr>
            </a:defPPr>
          </a:lstStyle>
          <a:p xmlns:a="http://schemas.openxmlformats.org/drawingml/2006/main">
            <a:pPr>
              <a:defRPr sz="3000" b="1">
                <a:solidFill>
                  <a:srgbClr val="1F3864"/>
                </a:solidFill>
                <a:latin typeface="OPPOSans B"/>
                <a:ea typeface="OPPOSans B"/>
                <a:cs typeface="OPPOSans B"/>
              </a:defRPr>
            </a:pPr>
            <a:r>
              <a:rPr sz="3000" b="1">
                <a:solidFill>
                  <a:srgbClr val="1F3864"/>
                </a:solidFill>
                <a:latin typeface="OPPOSans B"/>
                <a:ea typeface="OPPOSans B"/>
                <a:cs typeface="OPPOSans B"/>
              </a:rPr>
              <a:t>消融实验：题型表现与运行代价</a:t>
            </a:r>
          </a:p>
        </p:txBody>
      </p:sp>
      <p:sp>
        <p:nvSpPr>
          <p:cNvPr id="2" name="">
            <a:extLst xmlns:a="http://schemas.openxmlformats.org/drawingml/2006/main">
              <a:ext uri="{FF2B5EF4-FFF2-40B4-BE49-F238E27FC236}">
                <a16:creationId xmlns:a16="http://schemas.microsoft.com/office/drawing/2014/main" id="{B023C6FB-8438-4A46-99F0-7D426C0586BF}"/>
              </a:ext>
            </a:extLst>
          </p:cNvPr>
          <p:cNvSpPr>
            <a:spLocks xmlns:a="http://schemas.openxmlformats.org/drawingml/2006/main" noGrp="1"/>
          </p:cNvSpPr>
          <p:nvPr/>
        </p:nvSpPr>
        <p:spPr>
          <a:xfrm xmlns:a="http://schemas.openxmlformats.org/drawingml/2006/main">
            <a:off x="714375" y="158115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400" b="0">
                <a:solidFill>
                  <a:srgbClr val="595959"/>
                </a:solidFill>
                <a:latin typeface="OPPOSans R"/>
                <a:ea typeface="OPPOSans R"/>
                <a:cs typeface="OPPOSans R"/>
              </a:defRPr>
            </a:defPPr>
          </a:lstStyle>
          <a:p xmlns:a="http://schemas.openxmlformats.org/drawingml/2006/main">
            <a:pPr>
              <a:defRPr sz="1400" b="0">
                <a:solidFill>
                  <a:srgbClr val="595959"/>
                </a:solidFill>
                <a:latin typeface="OPPOSans R"/>
                <a:ea typeface="OPPOSans R"/>
                <a:cs typeface="OPPOSans R"/>
              </a:defRPr>
            </a:pPr>
            <a:r>
              <a:rPr sz="1400" b="0">
                <a:solidFill>
                  <a:srgbClr val="595959"/>
                </a:solidFill>
                <a:latin typeface="OPPOSans R"/>
                <a:ea typeface="OPPOSans R"/>
                <a:cs typeface="OPPOSans R"/>
              </a:rPr>
              <a:t>同一批问题、同一评分口径，按题型比较正确率与运行代价</a:t>
            </a:r>
          </a:p>
        </p:txBody>
      </p:sp>
      <p:graphicFrame>
        <p:nvGraphicFramePr>
          <p:cNvPr id="3" name="">
            <a:extLst xmlns:a="http://schemas.openxmlformats.org/drawingml/2006/main">
              <a:ext uri="{FF2B5EF4-FFF2-40B4-BE49-F238E27FC236}">
                <a16:creationId xmlns:a16="http://schemas.microsoft.com/office/drawing/2014/main" id="{3A3043AD-1BE0-41FB-9D02-03F70B7E44A1}"/>
              </a:ext>
            </a:extLst>
          </p:cNvPr>
          <p:cNvGraphicFramePr/>
          <p:nvPr/>
        </p:nvGraphicFramePr>
        <p:xfrm>
          <a:off xmlns:a="http://schemas.openxmlformats.org/drawingml/2006/main" x="552450" y="2009775"/>
          <a:ext xmlns:a="http://schemas.openxmlformats.org/drawingml/2006/main" cx="11087100" cy="3857625"/>
        </p:xfrm>
        <a:graphic xmlns:a="http://schemas.openxmlformats.org/drawingml/2006/main">
          <a:graphicData uri="http://schemas.openxmlformats.org/drawingml/2006/table">
            <a:tbl>
              <a:tblPr/>
              <a:tblGrid>
                <a:gridCol w="4191000"/>
                <a:gridCol w="2190750"/>
                <a:gridCol w="2381250"/>
                <a:gridCol w="2324100"/>
              </a:tblGrid>
              <a:tr h="428625">
                <a:tc>
                  <a:txBody>
                    <a:bodyPr/>
                    <a:lstStyle/>
                    <a:p>
                      <a:r>
                        <a:rPr sz="1600" b="1">
                          <a:solidFill>
                            <a:srgbClr val="FFFFFF"/>
                          </a:solidFill>
                          <a:latin typeface="OPPOSans B"/>
                          <a:ea typeface="OPPOSans B"/>
                          <a:cs typeface="OPPOSans B"/>
                        </a:rPr>
                        <a:t>题型</a:t>
                      </a:r>
                    </a:p>
                  </a:txBody>
                  <a:tcPr marL="91440" marR="91440" marT="45720" marB="45720">
                    <a:solidFill>
                      <a:srgbClr val="1F3864"/>
                    </a:solidFill>
                  </a:tcPr>
                </a:tc>
                <a:tc>
                  <a:txBody>
                    <a:bodyPr/>
                    <a:lstStyle/>
                    <a:p>
                      <a:r>
                        <a:rPr sz="1600" b="1">
                          <a:solidFill>
                            <a:srgbClr val="FFFFFF"/>
                          </a:solidFill>
                          <a:latin typeface="OPPOSans B"/>
                          <a:ea typeface="OPPOSans B"/>
                          <a:cs typeface="OPPOSans B"/>
                        </a:rPr>
                        <a:t>Dense 文本基线</a:t>
                      </a:r>
                    </a:p>
                  </a:txBody>
                  <a:tcPr marL="91440" marR="91440" marT="45720" marB="45720">
                    <a:solidFill>
                      <a:srgbClr val="1F3864"/>
                    </a:solidFill>
                  </a:tcPr>
                </a:tc>
                <a:tc>
                  <a:txBody>
                    <a:bodyPr/>
                    <a:lstStyle/>
                    <a:p>
                      <a:r>
                        <a:rPr sz="1600" b="1">
                          <a:solidFill>
                            <a:srgbClr val="FFFFFF"/>
                          </a:solidFill>
                          <a:latin typeface="OPPOSans B"/>
                          <a:ea typeface="OPPOSans B"/>
                          <a:cs typeface="OPPOSans B"/>
                        </a:rPr>
                        <a:t>ReguMate Full</a:t>
                      </a:r>
                    </a:p>
                  </a:txBody>
                  <a:tcPr marL="91440" marR="91440" marT="45720" marB="45720">
                    <a:solidFill>
                      <a:srgbClr val="1F3864"/>
                    </a:solidFill>
                  </a:tcPr>
                </a:tc>
                <a:tc>
                  <a:txBody>
                    <a:bodyPr/>
                    <a:lstStyle/>
                    <a:p>
                      <a:r>
                        <a:rPr sz="1600" b="1">
                          <a:solidFill>
                            <a:srgbClr val="FFFFFF"/>
                          </a:solidFill>
                          <a:latin typeface="OPPOSans B"/>
                          <a:ea typeface="OPPOSans B"/>
                          <a:cs typeface="OPPOSans B"/>
                        </a:rPr>
                        <a:t>正确率变化</a:t>
                      </a:r>
                    </a:p>
                  </a:txBody>
                  <a:tcPr marL="91440" marR="91440" marT="45720" marB="45720">
                    <a:solidFill>
                      <a:srgbClr val="1F3864"/>
                    </a:solidFill>
                  </a:tcPr>
                </a:tc>
              </a:tr>
              <a:tr h="428625">
                <a:tc>
                  <a:txBody>
                    <a:bodyPr/>
                    <a:lstStyle/>
                    <a:p>
                      <a:r>
                        <a:rPr sz="1600" b="0">
                          <a:solidFill>
                            <a:srgbClr val="1F3864"/>
                          </a:solidFill>
                          <a:latin typeface="OPPOSans R"/>
                          <a:ea typeface="OPPOSans R"/>
                          <a:cs typeface="OPPOSans R"/>
                        </a:rPr>
                        <a:t>跨文档证据</a:t>
                      </a:r>
                    </a:p>
                  </a:txBody>
                  <a:tcPr marL="91440" marR="91440" marT="45720" marB="45720">
                    <a:solidFill>
                      <a:srgbClr val="F2F5FA"/>
                    </a:solidFill>
                  </a:tcPr>
                </a:tc>
                <a:tc>
                  <a:txBody>
                    <a:bodyPr/>
                    <a:lstStyle/>
                    <a:p>
                      <a:r>
                        <a:rPr sz="1600" b="0">
                          <a:solidFill>
                            <a:srgbClr val="1F3864"/>
                          </a:solidFill>
                          <a:latin typeface="OPPOSans R"/>
                          <a:ea typeface="OPPOSans R"/>
                          <a:cs typeface="OPPOSans R"/>
                        </a:rPr>
                        <a:t>75.0%</a:t>
                      </a:r>
                    </a:p>
                  </a:txBody>
                  <a:tcPr marL="91440" marR="91440" marT="45720" marB="45720">
                    <a:solidFill>
                      <a:srgbClr val="F2F5FA"/>
                    </a:solidFill>
                  </a:tcPr>
                </a:tc>
                <a:tc>
                  <a:txBody>
                    <a:bodyPr/>
                    <a:lstStyle/>
                    <a:p>
                      <a:r>
                        <a:rPr sz="1600" b="0">
                          <a:solidFill>
                            <a:srgbClr val="1F3864"/>
                          </a:solidFill>
                          <a:latin typeface="OPPOSans R"/>
                          <a:ea typeface="OPPOSans R"/>
                          <a:cs typeface="OPPOSans R"/>
                        </a:rPr>
                        <a:t>50.0%</a:t>
                      </a:r>
                    </a:p>
                  </a:txBody>
                  <a:tcPr marL="91440" marR="91440" marT="45720" marB="45720">
                    <a:solidFill>
                      <a:srgbClr val="F2F5FA"/>
                    </a:solidFill>
                  </a:tcPr>
                </a:tc>
                <a:tc>
                  <a:txBody>
                    <a:bodyPr/>
                    <a:lstStyle/>
                    <a:p>
                      <a:r>
                        <a:rPr sz="1600" b="0">
                          <a:solidFill>
                            <a:srgbClr val="1F3864"/>
                          </a:solidFill>
                          <a:latin typeface="OPPOSans R"/>
                          <a:ea typeface="OPPOSans R"/>
                          <a:cs typeface="OPPOSans R"/>
                        </a:rPr>
                        <a:t>-25.0 pp</a:t>
                      </a:r>
                    </a:p>
                  </a:txBody>
                  <a:tcPr marL="91440" marR="91440" marT="45720" marB="45720">
                    <a:solidFill>
                      <a:srgbClr val="F2F5FA"/>
                    </a:solidFill>
                  </a:tcPr>
                </a:tc>
              </a:tr>
              <a:tr h="428625">
                <a:tc>
                  <a:txBody>
                    <a:bodyPr/>
                    <a:lstStyle/>
                    <a:p>
                      <a:r>
                        <a:rPr sz="1600" b="0">
                          <a:solidFill>
                            <a:srgbClr val="1F3864"/>
                          </a:solidFill>
                          <a:latin typeface="OPPOSans R"/>
                          <a:ea typeface="OPPOSans R"/>
                          <a:cs typeface="OPPOSans R"/>
                        </a:rPr>
                        <a:t>事实与定义</a:t>
                      </a:r>
                    </a:p>
                  </a:txBody>
                  <a:tcPr marL="91440" marR="91440" marT="45720" marB="45720">
                    <a:solidFill>
                      <a:srgbClr val="FFFFFF"/>
                    </a:solidFill>
                  </a:tcPr>
                </a:tc>
                <a:tc>
                  <a:txBody>
                    <a:bodyPr/>
                    <a:lstStyle/>
                    <a:p>
                      <a:r>
                        <a:rPr sz="1600" b="0">
                          <a:solidFill>
                            <a:srgbClr val="1F3864"/>
                          </a:solidFill>
                          <a:latin typeface="OPPOSans R"/>
                          <a:ea typeface="OPPOSans R"/>
                          <a:cs typeface="OPPOSans R"/>
                        </a:rPr>
                        <a:t>100.0%</a:t>
                      </a:r>
                    </a:p>
                  </a:txBody>
                  <a:tcPr marL="91440" marR="91440" marT="45720" marB="45720">
                    <a:solidFill>
                      <a:srgbClr val="FFFFFF"/>
                    </a:solidFill>
                  </a:tcPr>
                </a:tc>
                <a:tc>
                  <a:txBody>
                    <a:bodyPr/>
                    <a:lstStyle/>
                    <a:p>
                      <a:r>
                        <a:rPr sz="1600" b="0">
                          <a:solidFill>
                            <a:srgbClr val="1F3864"/>
                          </a:solidFill>
                          <a:latin typeface="OPPOSans R"/>
                          <a:ea typeface="OPPOSans R"/>
                          <a:cs typeface="OPPOSans R"/>
                        </a:rPr>
                        <a:t>73.3%</a:t>
                      </a:r>
                    </a:p>
                  </a:txBody>
                  <a:tcPr marL="91440" marR="91440" marT="45720" marB="45720">
                    <a:solidFill>
                      <a:srgbClr val="FFFFFF"/>
                    </a:solidFill>
                  </a:tcPr>
                </a:tc>
                <a:tc>
                  <a:txBody>
                    <a:bodyPr/>
                    <a:lstStyle/>
                    <a:p>
                      <a:r>
                        <a:rPr sz="1600" b="0">
                          <a:solidFill>
                            <a:srgbClr val="1F3864"/>
                          </a:solidFill>
                          <a:latin typeface="OPPOSans R"/>
                          <a:ea typeface="OPPOSans R"/>
                          <a:cs typeface="OPPOSans R"/>
                        </a:rPr>
                        <a:t>-26.7 pp</a:t>
                      </a:r>
                    </a:p>
                  </a:txBody>
                  <a:tcPr marL="91440" marR="91440" marT="45720" marB="45720">
                    <a:solidFill>
                      <a:srgbClr val="FFFFFF"/>
                    </a:solidFill>
                  </a:tcPr>
                </a:tc>
              </a:tr>
              <a:tr h="428625">
                <a:tc>
                  <a:txBody>
                    <a:bodyPr/>
                    <a:lstStyle/>
                    <a:p>
                      <a:r>
                        <a:rPr sz="1600" b="0">
                          <a:solidFill>
                            <a:srgbClr val="1F3864"/>
                          </a:solidFill>
                          <a:latin typeface="OPPOSans R"/>
                          <a:ea typeface="OPPOSans R"/>
                          <a:cs typeface="OPPOSans R"/>
                        </a:rPr>
                        <a:t>拒答边界</a:t>
                      </a:r>
                    </a:p>
                  </a:txBody>
                  <a:tcPr marL="91440" marR="91440" marT="45720" marB="45720">
                    <a:solidFill>
                      <a:srgbClr val="F2F5FA"/>
                    </a:solidFill>
                  </a:tcPr>
                </a:tc>
                <a:tc>
                  <a:txBody>
                    <a:bodyPr/>
                    <a:lstStyle/>
                    <a:p>
                      <a:r>
                        <a:rPr sz="1600" b="0">
                          <a:solidFill>
                            <a:srgbClr val="1F3864"/>
                          </a:solidFill>
                          <a:latin typeface="OPPOSans R"/>
                          <a:ea typeface="OPPOSans R"/>
                          <a:cs typeface="OPPOSans R"/>
                        </a:rPr>
                        <a:t>85.0%</a:t>
                      </a:r>
                    </a:p>
                  </a:txBody>
                  <a:tcPr marL="91440" marR="91440" marT="45720" marB="45720">
                    <a:solidFill>
                      <a:srgbClr val="F2F5FA"/>
                    </a:solidFill>
                  </a:tcPr>
                </a:tc>
                <a:tc>
                  <a:txBody>
                    <a:bodyPr/>
                    <a:lstStyle/>
                    <a:p>
                      <a:r>
                        <a:rPr sz="1600" b="0">
                          <a:solidFill>
                            <a:srgbClr val="1F3864"/>
                          </a:solidFill>
                          <a:latin typeface="OPPOSans R"/>
                          <a:ea typeface="OPPOSans R"/>
                          <a:cs typeface="OPPOSans R"/>
                        </a:rPr>
                        <a:t>100.0%</a:t>
                      </a:r>
                    </a:p>
                  </a:txBody>
                  <a:tcPr marL="91440" marR="91440" marT="45720" marB="45720">
                    <a:solidFill>
                      <a:srgbClr val="F2F5FA"/>
                    </a:solidFill>
                  </a:tcPr>
                </a:tc>
                <a:tc>
                  <a:txBody>
                    <a:bodyPr/>
                    <a:lstStyle/>
                    <a:p>
                      <a:r>
                        <a:rPr sz="1600" b="0">
                          <a:solidFill>
                            <a:srgbClr val="1F3864"/>
                          </a:solidFill>
                          <a:latin typeface="OPPOSans R"/>
                          <a:ea typeface="OPPOSans R"/>
                          <a:cs typeface="OPPOSans R"/>
                        </a:rPr>
                        <a:t>+15.0 pp</a:t>
                      </a:r>
                    </a:p>
                  </a:txBody>
                  <a:tcPr marL="91440" marR="91440" marT="45720" marB="45720">
                    <a:solidFill>
                      <a:srgbClr val="F2F5FA"/>
                    </a:solidFill>
                  </a:tcPr>
                </a:tc>
              </a:tr>
              <a:tr h="428625">
                <a:tc>
                  <a:txBody>
                    <a:bodyPr/>
                    <a:lstStyle/>
                    <a:p>
                      <a:r>
                        <a:rPr sz="1600" b="0">
                          <a:solidFill>
                            <a:srgbClr val="1F3864"/>
                          </a:solidFill>
                          <a:latin typeface="OPPOSans R"/>
                          <a:ea typeface="OPPOSans R"/>
                          <a:cs typeface="OPPOSans R"/>
                        </a:rPr>
                        <a:t>规则与适用范围</a:t>
                      </a:r>
                    </a:p>
                  </a:txBody>
                  <a:tcPr marL="91440" marR="91440" marT="45720" marB="45720">
                    <a:solidFill>
                      <a:srgbClr val="FFFFFF"/>
                    </a:solidFill>
                  </a:tcPr>
                </a:tc>
                <a:tc>
                  <a:txBody>
                    <a:bodyPr/>
                    <a:lstStyle/>
                    <a:p>
                      <a:r>
                        <a:rPr sz="1600" b="0">
                          <a:solidFill>
                            <a:srgbClr val="1F3864"/>
                          </a:solidFill>
                          <a:latin typeface="OPPOSans R"/>
                          <a:ea typeface="OPPOSans R"/>
                          <a:cs typeface="OPPOSans R"/>
                        </a:rPr>
                        <a:t>95.0%</a:t>
                      </a:r>
                    </a:p>
                  </a:txBody>
                  <a:tcPr marL="91440" marR="91440" marT="45720" marB="45720">
                    <a:solidFill>
                      <a:srgbClr val="FFFFFF"/>
                    </a:solidFill>
                  </a:tcPr>
                </a:tc>
                <a:tc>
                  <a:txBody>
                    <a:bodyPr/>
                    <a:lstStyle/>
                    <a:p>
                      <a:r>
                        <a:rPr sz="1600" b="0">
                          <a:solidFill>
                            <a:srgbClr val="1F3864"/>
                          </a:solidFill>
                          <a:latin typeface="OPPOSans R"/>
                          <a:ea typeface="OPPOSans R"/>
                          <a:cs typeface="OPPOSans R"/>
                        </a:rPr>
                        <a:t>85.0%</a:t>
                      </a:r>
                    </a:p>
                  </a:txBody>
                  <a:tcPr marL="91440" marR="91440" marT="45720" marB="45720">
                    <a:solidFill>
                      <a:srgbClr val="FFFFFF"/>
                    </a:solidFill>
                  </a:tcPr>
                </a:tc>
                <a:tc>
                  <a:txBody>
                    <a:bodyPr/>
                    <a:lstStyle/>
                    <a:p>
                      <a:r>
                        <a:rPr sz="1600" b="0">
                          <a:solidFill>
                            <a:srgbClr val="1F3864"/>
                          </a:solidFill>
                          <a:latin typeface="OPPOSans R"/>
                          <a:ea typeface="OPPOSans R"/>
                          <a:cs typeface="OPPOSans R"/>
                        </a:rPr>
                        <a:t>-10.0 pp</a:t>
                      </a:r>
                    </a:p>
                  </a:txBody>
                  <a:tcPr marL="91440" marR="91440" marT="45720" marB="45720">
                    <a:solidFill>
                      <a:srgbClr val="FFFFFF"/>
                    </a:solidFill>
                  </a:tcPr>
                </a:tc>
              </a:tr>
              <a:tr h="428625">
                <a:tc>
                  <a:txBody>
                    <a:bodyPr/>
                    <a:lstStyle/>
                    <a:p>
                      <a:r>
                        <a:rPr sz="1600" b="0">
                          <a:solidFill>
                            <a:srgbClr val="1F3864"/>
                          </a:solidFill>
                          <a:latin typeface="OPPOSans R"/>
                          <a:ea typeface="OPPOSans R"/>
                          <a:cs typeface="OPPOSans R"/>
                        </a:rPr>
                        <a:t>范围与列表</a:t>
                      </a:r>
                    </a:p>
                  </a:txBody>
                  <a:tcPr marL="91440" marR="91440" marT="45720" marB="45720">
                    <a:solidFill>
                      <a:srgbClr val="F2F5FA"/>
                    </a:solidFill>
                  </a:tcPr>
                </a:tc>
                <a:tc>
                  <a:txBody>
                    <a:bodyPr/>
                    <a:lstStyle/>
                    <a:p>
                      <a:r>
                        <a:rPr sz="1600" b="0">
                          <a:solidFill>
                            <a:srgbClr val="1F3864"/>
                          </a:solidFill>
                          <a:latin typeface="OPPOSans R"/>
                          <a:ea typeface="OPPOSans R"/>
                          <a:cs typeface="OPPOSans R"/>
                        </a:rPr>
                        <a:t>75.0%</a:t>
                      </a:r>
                    </a:p>
                  </a:txBody>
                  <a:tcPr marL="91440" marR="91440" marT="45720" marB="45720">
                    <a:solidFill>
                      <a:srgbClr val="F2F5FA"/>
                    </a:solidFill>
                  </a:tcPr>
                </a:tc>
                <a:tc>
                  <a:txBody>
                    <a:bodyPr/>
                    <a:lstStyle/>
                    <a:p>
                      <a:r>
                        <a:rPr sz="1600" b="0">
                          <a:solidFill>
                            <a:srgbClr val="1F3864"/>
                          </a:solidFill>
                          <a:latin typeface="OPPOSans R"/>
                          <a:ea typeface="OPPOSans R"/>
                          <a:cs typeface="OPPOSans R"/>
                        </a:rPr>
                        <a:t>87.5%</a:t>
                      </a:r>
                    </a:p>
                  </a:txBody>
                  <a:tcPr marL="91440" marR="91440" marT="45720" marB="45720">
                    <a:solidFill>
                      <a:srgbClr val="F2F5FA"/>
                    </a:solidFill>
                  </a:tcPr>
                </a:tc>
                <a:tc>
                  <a:txBody>
                    <a:bodyPr/>
                    <a:lstStyle/>
                    <a:p>
                      <a:r>
                        <a:rPr sz="1600" b="0">
                          <a:solidFill>
                            <a:srgbClr val="1F3864"/>
                          </a:solidFill>
                          <a:latin typeface="OPPOSans R"/>
                          <a:ea typeface="OPPOSans R"/>
                          <a:cs typeface="OPPOSans R"/>
                        </a:rPr>
                        <a:t>+12.5 pp</a:t>
                      </a:r>
                    </a:p>
                  </a:txBody>
                  <a:tcPr marL="91440" marR="91440" marT="45720" marB="45720">
                    <a:solidFill>
                      <a:srgbClr val="F2F5FA"/>
                    </a:solidFill>
                  </a:tcPr>
                </a:tc>
              </a:tr>
              <a:tr h="428625">
                <a:tc>
                  <a:txBody>
                    <a:bodyPr/>
                    <a:lstStyle/>
                    <a:p>
                      <a:r>
                        <a:rPr sz="1600" b="0">
                          <a:solidFill>
                            <a:srgbClr val="1F3864"/>
                          </a:solidFill>
                          <a:latin typeface="OPPOSans R"/>
                          <a:ea typeface="OPPOSans R"/>
                          <a:cs typeface="OPPOSans R"/>
                        </a:rPr>
                        <a:t>表格计算</a:t>
                      </a:r>
                    </a:p>
                  </a:txBody>
                  <a:tcPr marL="91440" marR="91440" marT="45720" marB="45720">
                    <a:solidFill>
                      <a:srgbClr val="FFFFFF"/>
                    </a:solidFill>
                  </a:tcPr>
                </a:tc>
                <a:tc>
                  <a:txBody>
                    <a:bodyPr/>
                    <a:lstStyle/>
                    <a:p>
                      <a:r>
                        <a:rPr sz="1600" b="0">
                          <a:solidFill>
                            <a:srgbClr val="1F3864"/>
                          </a:solidFill>
                          <a:latin typeface="OPPOSans R"/>
                          <a:ea typeface="OPPOSans R"/>
                          <a:cs typeface="OPPOSans R"/>
                        </a:rPr>
                        <a:t>0.0%</a:t>
                      </a:r>
                    </a:p>
                  </a:txBody>
                  <a:tcPr marL="91440" marR="91440" marT="45720" marB="45720">
                    <a:solidFill>
                      <a:srgbClr val="FFFFFF"/>
                    </a:solidFill>
                  </a:tcPr>
                </a:tc>
                <a:tc>
                  <a:txBody>
                    <a:bodyPr/>
                    <a:lstStyle/>
                    <a:p>
                      <a:r>
                        <a:rPr sz="1600" b="0">
                          <a:solidFill>
                            <a:srgbClr val="1F3864"/>
                          </a:solidFill>
                          <a:latin typeface="OPPOSans R"/>
                          <a:ea typeface="OPPOSans R"/>
                          <a:cs typeface="OPPOSans R"/>
                        </a:rPr>
                        <a:t>100.0%</a:t>
                      </a:r>
                    </a:p>
                  </a:txBody>
                  <a:tcPr marL="91440" marR="91440" marT="45720" marB="45720">
                    <a:solidFill>
                      <a:srgbClr val="FFFFFF"/>
                    </a:solidFill>
                  </a:tcPr>
                </a:tc>
                <a:tc>
                  <a:txBody>
                    <a:bodyPr/>
                    <a:lstStyle/>
                    <a:p>
                      <a:r>
                        <a:rPr sz="1600" b="0">
                          <a:solidFill>
                            <a:srgbClr val="1F3864"/>
                          </a:solidFill>
                          <a:latin typeface="OPPOSans R"/>
                          <a:ea typeface="OPPOSans R"/>
                          <a:cs typeface="OPPOSans R"/>
                        </a:rPr>
                        <a:t>+100.0 pp</a:t>
                      </a:r>
                    </a:p>
                  </a:txBody>
                  <a:tcPr marL="91440" marR="91440" marT="45720" marB="45720">
                    <a:solidFill>
                      <a:srgbClr val="FFFFFF"/>
                    </a:solidFill>
                  </a:tcPr>
                </a:tc>
              </a:tr>
              <a:tr h="428625">
                <a:tc>
                  <a:txBody>
                    <a:bodyPr/>
                    <a:lstStyle/>
                    <a:p>
                      <a:r>
                        <a:rPr sz="1600" b="0">
                          <a:solidFill>
                            <a:srgbClr val="1F3864"/>
                          </a:solidFill>
                          <a:latin typeface="OPPOSans R"/>
                          <a:ea typeface="OPPOSans R"/>
                          <a:cs typeface="OPPOSans R"/>
                        </a:rPr>
                        <a:t>表格查值</a:t>
                      </a:r>
                    </a:p>
                  </a:txBody>
                  <a:tcPr marL="91440" marR="91440" marT="45720" marB="45720">
                    <a:solidFill>
                      <a:srgbClr val="F2F5FA"/>
                    </a:solidFill>
                  </a:tcPr>
                </a:tc>
                <a:tc>
                  <a:txBody>
                    <a:bodyPr/>
                    <a:lstStyle/>
                    <a:p>
                      <a:r>
                        <a:rPr sz="1600" b="0">
                          <a:solidFill>
                            <a:srgbClr val="1F3864"/>
                          </a:solidFill>
                          <a:latin typeface="OPPOSans R"/>
                          <a:ea typeface="OPPOSans R"/>
                          <a:cs typeface="OPPOSans R"/>
                        </a:rPr>
                        <a:t>0.0%</a:t>
                      </a:r>
                    </a:p>
                  </a:txBody>
                  <a:tcPr marL="91440" marR="91440" marT="45720" marB="45720">
                    <a:solidFill>
                      <a:srgbClr val="F2F5FA"/>
                    </a:solidFill>
                  </a:tcPr>
                </a:tc>
                <a:tc>
                  <a:txBody>
                    <a:bodyPr/>
                    <a:lstStyle/>
                    <a:p>
                      <a:r>
                        <a:rPr sz="1600" b="0">
                          <a:solidFill>
                            <a:srgbClr val="1F3864"/>
                          </a:solidFill>
                          <a:latin typeface="OPPOSans R"/>
                          <a:ea typeface="OPPOSans R"/>
                          <a:cs typeface="OPPOSans R"/>
                        </a:rPr>
                        <a:t>100.0%</a:t>
                      </a:r>
                    </a:p>
                  </a:txBody>
                  <a:tcPr marL="91440" marR="91440" marT="45720" marB="45720">
                    <a:solidFill>
                      <a:srgbClr val="F2F5FA"/>
                    </a:solidFill>
                  </a:tcPr>
                </a:tc>
                <a:tc>
                  <a:txBody>
                    <a:bodyPr/>
                    <a:lstStyle/>
                    <a:p>
                      <a:r>
                        <a:rPr sz="1600" b="0">
                          <a:solidFill>
                            <a:srgbClr val="1F3864"/>
                          </a:solidFill>
                          <a:latin typeface="OPPOSans R"/>
                          <a:ea typeface="OPPOSans R"/>
                          <a:cs typeface="OPPOSans R"/>
                        </a:rPr>
                        <a:t>+100.0 pp</a:t>
                      </a:r>
                    </a:p>
                  </a:txBody>
                  <a:tcPr marL="91440" marR="91440" marT="45720" marB="45720">
                    <a:solidFill>
                      <a:srgbClr val="F2F5FA"/>
                    </a:solidFill>
                  </a:tcPr>
                </a:tc>
              </a:tr>
              <a:tr h="428625">
                <a:tc>
                  <a:txBody>
                    <a:bodyPr/>
                    <a:lstStyle/>
                    <a:p>
                      <a:r>
                        <a:rPr sz="1600" b="0">
                          <a:solidFill>
                            <a:srgbClr val="1F3864"/>
                          </a:solidFill>
                          <a:latin typeface="OPPOSans R"/>
                          <a:ea typeface="OPPOSans R"/>
                          <a:cs typeface="OPPOSans R"/>
                        </a:rPr>
                        <a:t>阈值规则</a:t>
                      </a:r>
                    </a:p>
                  </a:txBody>
                  <a:tcPr marL="91440" marR="91440" marT="45720" marB="45720">
                    <a:solidFill>
                      <a:srgbClr val="FFFFFF"/>
                    </a:solidFill>
                  </a:tcPr>
                </a:tc>
                <a:tc>
                  <a:txBody>
                    <a:bodyPr/>
                    <a:lstStyle/>
                    <a:p>
                      <a:r>
                        <a:rPr sz="1600" b="0">
                          <a:solidFill>
                            <a:srgbClr val="1F3864"/>
                          </a:solidFill>
                          <a:latin typeface="OPPOSans R"/>
                          <a:ea typeface="OPPOSans R"/>
                          <a:cs typeface="OPPOSans R"/>
                        </a:rPr>
                        <a:t>92.3%</a:t>
                      </a:r>
                    </a:p>
                  </a:txBody>
                  <a:tcPr marL="91440" marR="91440" marT="45720" marB="45720">
                    <a:solidFill>
                      <a:srgbClr val="FFFFFF"/>
                    </a:solidFill>
                  </a:tcPr>
                </a:tc>
                <a:tc>
                  <a:txBody>
                    <a:bodyPr/>
                    <a:lstStyle/>
                    <a:p>
                      <a:r>
                        <a:rPr sz="1600" b="0">
                          <a:solidFill>
                            <a:srgbClr val="1F3864"/>
                          </a:solidFill>
                          <a:latin typeface="OPPOSans R"/>
                          <a:ea typeface="OPPOSans R"/>
                          <a:cs typeface="OPPOSans R"/>
                        </a:rPr>
                        <a:t>92.3%</a:t>
                      </a:r>
                    </a:p>
                  </a:txBody>
                  <a:tcPr marL="91440" marR="91440" marT="45720" marB="45720">
                    <a:solidFill>
                      <a:srgbClr val="FFFFFF"/>
                    </a:solidFill>
                  </a:tcPr>
                </a:tc>
                <a:tc>
                  <a:txBody>
                    <a:bodyPr/>
                    <a:lstStyle/>
                    <a:p>
                      <a:r>
                        <a:rPr sz="1600" b="0">
                          <a:solidFill>
                            <a:srgbClr val="1F3864"/>
                          </a:solidFill>
                          <a:latin typeface="OPPOSans R"/>
                          <a:ea typeface="OPPOSans R"/>
                          <a:cs typeface="OPPOSans R"/>
                        </a:rPr>
                        <a:t>+0.0 pp</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7067563-E9FB-476F-82E0-122834796CC9}"/>
              </a:ext>
            </a:extLst>
          </p:cNvPr>
          <p:cNvSpPr>
            <a:spLocks xmlns:a="http://schemas.openxmlformats.org/drawingml/2006/main" noGrp="1"/>
          </p:cNvSpPr>
          <p:nvPr/>
        </p:nvSpPr>
        <p:spPr>
          <a:xfrm xmlns:a="http://schemas.openxmlformats.org/drawingml/2006/main">
            <a:off x="714375" y="600075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1">
                <a:solidFill>
                  <a:srgbClr val="195CC4"/>
                </a:solidFill>
                <a:latin typeface="OPPOSans B"/>
                <a:ea typeface="OPPOSans B"/>
                <a:cs typeface="OPPOSans B"/>
              </a:defRPr>
            </a:defPPr>
          </a:lstStyle>
          <a:p xmlns:a="http://schemas.openxmlformats.org/drawingml/2006/main">
            <a:pPr>
              <a:defRPr sz="1500" b="1">
                <a:solidFill>
                  <a:srgbClr val="195CC4"/>
                </a:solidFill>
                <a:latin typeface="OPPOSans B"/>
                <a:ea typeface="OPPOSans B"/>
                <a:cs typeface="OPPOSans B"/>
              </a:defRPr>
            </a:pPr>
            <a:r>
              <a:rPr sz="1500" b="1">
                <a:solidFill>
                  <a:srgbClr val="195CC4"/>
                </a:solidFill>
                <a:latin typeface="OPPOSans B"/>
                <a:ea typeface="OPPOSans B"/>
                <a:cs typeface="OPPOSans B"/>
              </a:rPr>
              <a:t>Full 延迟 P50 16.3 秒 / P95 83.9 秒；平均运行失败率 0.2%</a:t>
            </a:r>
          </a:p>
        </p:txBody>
      </p:sp>
    </p:spTree>
    <p:extLst>
      <p:ext uri="{BB962C8B-B14F-4D97-AF65-F5344CB8AC3E}">
        <p14:creationId xmlns:p14="http://schemas.microsoft.com/office/powerpoint/2010/main" val="1347253598"/>
      </p:ext>
    </p:extLst>
  </p:cSld>
</p:sld>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4" name="文本框 3"/>
          <p:cNvSpPr txBox="1"/>
          <p:nvPr/>
        </p:nvSpPr>
        <p:spPr>
          <a:xfrm>
            <a:off x="386080" y="1358900"/>
            <a:ext cx="11510645" cy="891540"/>
          </a:xfrm>
          <a:prstGeom prst="rect">
            <a:avLst/>
          </a:prstGeom>
          <a:noFill/>
        </p:spPr>
        <p:txBody>
          <a:bodyPr wrap="square" rtlCol="0">
            <a:spAutoFit/>
          </a:bodyPr>
          <a:lstStyle/>
          <a:p>
            <a:pPr algn="ctr"/>
            <a:r>
              <a:rPr lang="zh-CN" altLang="en-US" sz="5200" dirty="0">
                <a:solidFill>
                  <a:schemeClr val="bg1"/>
                </a:solidFill>
                <a:latin typeface="庞门正道标题体" panose="02010600030101010101" charset="-122"/>
                <a:ea typeface="庞门正道标题体" panose="02010600030101010101" charset="-122"/>
              </a:rPr>
              <a:t>第五届中国研究生金融科技创新大赛</a:t>
            </a:r>
            <a:endParaRPr lang="zh-CN" altLang="en-US" sz="5200" dirty="0">
              <a:solidFill>
                <a:schemeClr val="bg1"/>
              </a:solidFill>
              <a:latin typeface="庞门正道标题体" panose="02010600030101010101" charset="-122"/>
              <a:ea typeface="庞门正道标题体" panose="02010600030101010101" charset="-122"/>
            </a:endParaRPr>
          </a:p>
        </p:txBody>
      </p:sp>
      <p:sp>
        <p:nvSpPr>
          <p:cNvPr id="5" name="文本框 4"/>
          <p:cNvSpPr txBox="1"/>
          <p:nvPr/>
        </p:nvSpPr>
        <p:spPr>
          <a:xfrm>
            <a:off x="812800" y="2066290"/>
            <a:ext cx="10633710" cy="521970"/>
          </a:xfrm>
          <a:prstGeom prst="rect">
            <a:avLst/>
          </a:prstGeom>
          <a:noFill/>
        </p:spPr>
        <p:txBody>
          <a:bodyPr wrap="square" rtlCol="0" anchor="t">
            <a:spAutoFit/>
          </a:bodyPr>
          <a:lstStyle/>
          <a:p>
            <a:pPr algn="dist"/>
            <a:r>
              <a:rPr lang="en-US" altLang="zh-CN" sz="2800" dirty="0">
                <a:solidFill>
                  <a:schemeClr val="bg1"/>
                </a:solidFill>
                <a:latin typeface="Franklin Gothic Book" panose="020B0503020102020204" charset="0"/>
                <a:cs typeface="Franklin Gothic Book" panose="020B0503020102020204" charset="0"/>
              </a:rPr>
              <a:t>The 5th CHINA POSTGRADUATE FINTECH INNOVATION COMPETITION</a:t>
            </a:r>
            <a:endParaRPr lang="en-US" altLang="zh-CN" sz="2800" dirty="0">
              <a:solidFill>
                <a:schemeClr val="bg1"/>
              </a:solidFill>
              <a:latin typeface="Franklin Gothic Book" panose="020B0503020102020204" charset="0"/>
              <a:cs typeface="Franklin Gothic Book" panose="020B0503020102020204" charset="0"/>
            </a:endParaRPr>
          </a:p>
        </p:txBody>
      </p:sp>
      <p:pic>
        <p:nvPicPr>
          <p:cNvPr id="6" name="图片 5" descr="未标题-1"/>
          <p:cNvPicPr>
            <a:picLocks noChangeAspect="1"/>
          </p:cNvPicPr>
          <p:nvPr/>
        </p:nvPicPr>
        <p:blipFill>
          <a:blip r:embed="rId1"/>
          <a:stretch>
            <a:fillRect/>
          </a:stretch>
        </p:blipFill>
        <p:spPr>
          <a:xfrm>
            <a:off x="1547812" y="3054985"/>
            <a:ext cx="9096375" cy="244411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文本框 1"/>
          <p:cNvSpPr txBox="1"/>
          <p:nvPr/>
        </p:nvSpPr>
        <p:spPr>
          <a:xfrm>
            <a:off x="107950" y="1979930"/>
            <a:ext cx="11979910" cy="110680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66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ReguMate 可信RAG问答系统</a:t>
            </a:r>
            <a:endParaRPr kumimoji="0" lang="zh-CN" altLang="en-US" sz="66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endParaRPr>
          </a:p>
        </p:txBody>
      </p:sp>
      <p:sp>
        <p:nvSpPr>
          <p:cNvPr id="15" name="文本框 14"/>
          <p:cNvSpPr txBox="1"/>
          <p:nvPr/>
        </p:nvSpPr>
        <p:spPr>
          <a:xfrm>
            <a:off x="2814955" y="3635375"/>
            <a:ext cx="6557010" cy="7683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V</a:t>
            </a:r>
            <a:r>
              <a:rPr kumimoji="0" lang="en-US" altLang="zh-CN" sz="4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0</a:t>
            </a:r>
            <a:r>
              <a:rPr kumimoji="0" lang="zh-CN" altLang="en-US" sz="4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rtex </a:t>
            </a:r>
            <a:r>
              <a:rPr lang="zh-CN" altLang="en-US" sz="4400" b="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sym typeface="+mn-ea"/>
              </a:rPr>
              <a:t>团队</a:t>
            </a:r>
            <a:endParaRPr kumimoji="0" lang="zh-CN" altLang="en-US" sz="4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sym typeface="+mn-ea"/>
            </a:endParaRPr>
          </a:p>
        </p:txBody>
      </p:sp>
      <p:sp>
        <p:nvSpPr>
          <p:cNvPr id="16" name="文本框 15"/>
          <p:cNvSpPr txBox="1"/>
          <p:nvPr/>
        </p:nvSpPr>
        <p:spPr>
          <a:xfrm>
            <a:off x="6674350" y="4925066"/>
            <a:ext cx="4206238"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队员：李思、刘晨阳</a:t>
            </a:r>
            <a:endParaRPr kumimoji="0" lang="zh-CN" altLang="en-US" sz="2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endParaRPr>
          </a:p>
        </p:txBody>
      </p:sp>
      <p:sp>
        <p:nvSpPr>
          <p:cNvPr id="20" name="文本框 19"/>
          <p:cNvSpPr txBox="1"/>
          <p:nvPr/>
        </p:nvSpPr>
        <p:spPr>
          <a:xfrm>
            <a:off x="2263351" y="4925066"/>
            <a:ext cx="2525267"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队长：王博震</a:t>
            </a:r>
            <a:endParaRPr kumimoji="0" lang="zh-CN" altLang="en-US" sz="2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文本框 1"/>
          <p:cNvSpPr txBox="1"/>
          <p:nvPr/>
        </p:nvSpPr>
        <p:spPr>
          <a:xfrm>
            <a:off x="4139247" y="1136396"/>
            <a:ext cx="3877945" cy="64516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36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目录</a:t>
            </a:r>
            <a:endParaRPr kumimoji="0" lang="zh-CN" altLang="en-US" sz="36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endParaRPr>
          </a:p>
        </p:txBody>
      </p:sp>
      <p:grpSp>
        <p:nvGrpSpPr>
          <p:cNvPr id="4" name="组合 3"/>
          <p:cNvGrpSpPr/>
          <p:nvPr/>
        </p:nvGrpSpPr>
        <p:grpSpPr>
          <a:xfrm>
            <a:off x="1903095" y="2504440"/>
            <a:ext cx="3223895" cy="585470"/>
            <a:chOff x="2178" y="5402"/>
            <a:chExt cx="5077" cy="922"/>
          </a:xfrm>
        </p:grpSpPr>
        <p:sp>
          <p:nvSpPr>
            <p:cNvPr id="3" name="文本框 2"/>
            <p:cNvSpPr txBox="1"/>
            <p:nvPr/>
          </p:nvSpPr>
          <p:spPr>
            <a:xfrm>
              <a:off x="3565" y="5402"/>
              <a:ext cx="3690" cy="905"/>
            </a:xfrm>
            <a:prstGeom prst="rect">
              <a:avLst/>
            </a:prstGeom>
            <a:noFill/>
          </p:spPr>
          <p:txBody>
            <a:bodyPr anchor="ctr"/>
            <a:lstStyle/>
            <a:p>
              <a:pPr marL="0" marR="0" lvl="0" indent="0" algn="l" defTabSz="914400" rtl="0" eaLnBrk="1" fontAlgn="t" latinLnBrk="0" hangingPunct="1">
                <a:lnSpc>
                  <a:spcPct val="100000"/>
                </a:lnSpc>
                <a:spcBef>
                  <a:spcPts val="0"/>
                </a:spcBef>
                <a:spcAft>
                  <a:spcPts val="0"/>
                </a:spcAft>
                <a:buClrTx/>
                <a:buSzTx/>
                <a:buFontTx/>
                <a:buNone/>
                <a:defRPr/>
              </a:pPr>
              <a:r>
                <a:rPr kumimoji="0" lang="zh-CN" altLang="en-US"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背景与问题</a:t>
              </a:r>
              <a:endParaRPr kumimoji="0" lang="zh-CN" altLang="en-US"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sp>
          <p:nvSpPr>
            <p:cNvPr id="5" name="文本框 4"/>
            <p:cNvSpPr txBox="1"/>
            <p:nvPr/>
          </p:nvSpPr>
          <p:spPr>
            <a:xfrm>
              <a:off x="2178" y="5419"/>
              <a:ext cx="1715" cy="905"/>
            </a:xfrm>
            <a:prstGeom prst="rect">
              <a:avLst/>
            </a:prstGeom>
            <a:noFill/>
          </p:spPr>
          <p:txBody>
            <a:bodyPr anchor="ctr"/>
            <a:lstStyle/>
            <a:p>
              <a:pPr marL="0" marR="0" lvl="0" indent="0" algn="l" defTabSz="914400" rtl="0" eaLnBrk="1" fontAlgn="t" latinLnBrk="0" hangingPunct="1">
                <a:lnSpc>
                  <a:spcPct val="100000"/>
                </a:lnSpc>
                <a:spcBef>
                  <a:spcPts val="0"/>
                </a:spcBef>
                <a:spcAft>
                  <a:spcPts val="0"/>
                </a:spcAft>
                <a:buClrTx/>
                <a:buSzTx/>
                <a:buFontTx/>
                <a:buNone/>
                <a:defRPr/>
              </a:pPr>
              <a:r>
                <a:rPr kumimoji="0" lang="en-US" altLang="zh-CN" sz="4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01</a:t>
              </a:r>
              <a:endParaRPr kumimoji="0" lang="en-US" altLang="zh-CN" sz="4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grpSp>
        <p:nvGrpSpPr>
          <p:cNvPr id="21" name="组合 20"/>
          <p:cNvGrpSpPr/>
          <p:nvPr/>
        </p:nvGrpSpPr>
        <p:grpSpPr>
          <a:xfrm>
            <a:off x="1902968" y="3629660"/>
            <a:ext cx="3224022" cy="585725"/>
            <a:chOff x="2178" y="5402"/>
            <a:chExt cx="5077" cy="922"/>
          </a:xfrm>
        </p:grpSpPr>
        <p:sp>
          <p:nvSpPr>
            <p:cNvPr id="22" name="文本框 21"/>
            <p:cNvSpPr txBox="1"/>
            <p:nvPr/>
          </p:nvSpPr>
          <p:spPr>
            <a:xfrm>
              <a:off x="3565" y="5402"/>
              <a:ext cx="3690" cy="905"/>
            </a:xfrm>
            <a:prstGeom prst="rect">
              <a:avLst/>
            </a:prstGeom>
            <a:noFill/>
          </p:spPr>
          <p:txBody>
            <a:bodyPr anchor="ctr"/>
            <a:p>
              <a:pPr marL="0" marR="0" lvl="0" indent="0" algn="l" defTabSz="914400" rtl="0" eaLnBrk="1" fontAlgn="t" latinLnBrk="0" hangingPunct="1">
                <a:lnSpc>
                  <a:spcPct val="100000"/>
                </a:lnSpc>
                <a:spcBef>
                  <a:spcPts val="0"/>
                </a:spcBef>
                <a:spcAft>
                  <a:spcPts val="0"/>
                </a:spcAft>
                <a:buClrTx/>
                <a:buSzTx/>
                <a:buFontTx/>
                <a:buNone/>
                <a:defRPr/>
              </a:pPr>
              <a:r>
                <a:rPr kumimoji="0" lang="zh-CN" altLang="en-US"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解决方案</a:t>
              </a:r>
              <a:endParaRPr kumimoji="0" lang="zh-CN" altLang="en-US"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sp>
          <p:nvSpPr>
            <p:cNvPr id="23" name="文本框 22"/>
            <p:cNvSpPr txBox="1"/>
            <p:nvPr/>
          </p:nvSpPr>
          <p:spPr>
            <a:xfrm>
              <a:off x="2178" y="5419"/>
              <a:ext cx="1290" cy="905"/>
            </a:xfrm>
            <a:prstGeom prst="rect">
              <a:avLst/>
            </a:prstGeom>
            <a:noFill/>
          </p:spPr>
          <p:txBody>
            <a:bodyPr anchor="ctr"/>
            <a:p>
              <a:pPr marL="0" marR="0" lvl="0" algn="l" defTabSz="914400" rtl="0" eaLnBrk="1" fontAlgn="t" latinLnBrk="0" hangingPunct="1">
                <a:lnSpc>
                  <a:spcPct val="100000"/>
                </a:lnSpc>
                <a:spcBef>
                  <a:spcPts val="0"/>
                </a:spcBef>
                <a:spcAft>
                  <a:spcPts val="0"/>
                </a:spcAft>
                <a:buClrTx/>
                <a:buSzTx/>
                <a:buFontTx/>
                <a:buNone/>
                <a:defRPr/>
              </a:pPr>
              <a:r>
                <a:rPr kumimoji="0" lang="en-US" altLang="zh-CN" sz="4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02</a:t>
              </a:r>
              <a:endParaRPr kumimoji="0" lang="en-US" altLang="zh-CN" sz="4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grpSp>
        <p:nvGrpSpPr>
          <p:cNvPr id="24" name="组合 23"/>
          <p:cNvGrpSpPr/>
          <p:nvPr/>
        </p:nvGrpSpPr>
        <p:grpSpPr>
          <a:xfrm>
            <a:off x="1902968" y="4767580"/>
            <a:ext cx="3224022" cy="585725"/>
            <a:chOff x="2178" y="5402"/>
            <a:chExt cx="5077" cy="922"/>
          </a:xfrm>
        </p:grpSpPr>
        <p:sp>
          <p:nvSpPr>
            <p:cNvPr id="25" name="文本框 24"/>
            <p:cNvSpPr txBox="1"/>
            <p:nvPr/>
          </p:nvSpPr>
          <p:spPr>
            <a:xfrm>
              <a:off x="3565" y="5402"/>
              <a:ext cx="3690" cy="905"/>
            </a:xfrm>
            <a:prstGeom prst="rect">
              <a:avLst/>
            </a:prstGeom>
            <a:noFill/>
          </p:spPr>
          <p:txBody>
            <a:bodyPr anchor="ctr"/>
            <a:p>
              <a:pPr marL="0" marR="0" lvl="0" indent="0" algn="l" defTabSz="914400" rtl="0" eaLnBrk="1" fontAlgn="t" latinLnBrk="0" hangingPunct="1">
                <a:lnSpc>
                  <a:spcPct val="100000"/>
                </a:lnSpc>
                <a:spcBef>
                  <a:spcPts val="0"/>
                </a:spcBef>
                <a:spcAft>
                  <a:spcPts val="0"/>
                </a:spcAft>
                <a:buClrTx/>
                <a:buSzTx/>
                <a:buFontTx/>
                <a:buNone/>
                <a:defRPr/>
              </a:pPr>
              <a:r>
                <a:rPr kumimoji="0" lang="zh-CN" altLang="en-US"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技术亮点</a:t>
              </a:r>
              <a:endParaRPr kumimoji="0" lang="zh-CN" altLang="en-US"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sp>
          <p:nvSpPr>
            <p:cNvPr id="26" name="文本框 25"/>
            <p:cNvSpPr txBox="1"/>
            <p:nvPr/>
          </p:nvSpPr>
          <p:spPr>
            <a:xfrm>
              <a:off x="2178" y="5419"/>
              <a:ext cx="1290" cy="905"/>
            </a:xfrm>
            <a:prstGeom prst="rect">
              <a:avLst/>
            </a:prstGeom>
            <a:noFill/>
          </p:spPr>
          <p:txBody>
            <a:bodyPr anchor="ctr"/>
            <a:p>
              <a:pPr marL="0" marR="0" lvl="0" indent="0" algn="l" defTabSz="914400" rtl="0" eaLnBrk="1" fontAlgn="t" latinLnBrk="0" hangingPunct="1">
                <a:lnSpc>
                  <a:spcPct val="100000"/>
                </a:lnSpc>
                <a:spcBef>
                  <a:spcPts val="0"/>
                </a:spcBef>
                <a:spcAft>
                  <a:spcPts val="0"/>
                </a:spcAft>
                <a:buClrTx/>
                <a:buSzTx/>
                <a:buFontTx/>
                <a:buNone/>
                <a:defRPr/>
              </a:pPr>
              <a:r>
                <a:rPr kumimoji="0" lang="en-US" altLang="zh-CN" sz="4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03</a:t>
              </a:r>
              <a:endParaRPr kumimoji="0" lang="en-US" altLang="zh-CN"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grpSp>
        <p:nvGrpSpPr>
          <p:cNvPr id="30" name="组合 29"/>
          <p:cNvGrpSpPr/>
          <p:nvPr/>
        </p:nvGrpSpPr>
        <p:grpSpPr>
          <a:xfrm>
            <a:off x="7384288" y="2515235"/>
            <a:ext cx="3224022" cy="585725"/>
            <a:chOff x="2178" y="5402"/>
            <a:chExt cx="5077" cy="922"/>
          </a:xfrm>
        </p:grpSpPr>
        <p:sp>
          <p:nvSpPr>
            <p:cNvPr id="31" name="文本框 30"/>
            <p:cNvSpPr txBox="1"/>
            <p:nvPr/>
          </p:nvSpPr>
          <p:spPr>
            <a:xfrm>
              <a:off x="3565" y="5402"/>
              <a:ext cx="3333750" cy="905"/>
            </a:xfrm>
            <a:prstGeom prst="rect">
              <a:avLst/>
            </a:prstGeom>
            <a:noFill/>
          </p:spPr>
          <p:txBody>
            <a:bodyPr anchor="ctr"/>
            <a:p>
              <a:pPr marL="0" marR="0" lvl="0" indent="0" algn="l" defTabSz="914400" rtl="0" eaLnBrk="1" fontAlgn="t" latinLnBrk="0" hangingPunct="1">
                <a:lnSpc>
                  <a:spcPct val="100000"/>
                </a:lnSpc>
                <a:spcBef>
                  <a:spcPts val="0"/>
                </a:spcBef>
                <a:spcAft>
                  <a:spcPts val="0"/>
                </a:spcAft>
                <a:buClrTx/>
                <a:buSzTx/>
                <a:buFontTx/>
                <a:buNone/>
                <a:defRPr/>
              </a:pPr>
              <a:r>
                <a:rPr kumimoji="0" lang="zh-CN" altLang="en-US"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业务场景实测</a:t>
              </a:r>
              <a:endParaRPr kumimoji="0" lang="zh-CN" altLang="en-US"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sp>
          <p:nvSpPr>
            <p:cNvPr id="32" name="文本框 31"/>
            <p:cNvSpPr txBox="1"/>
            <p:nvPr/>
          </p:nvSpPr>
          <p:spPr>
            <a:xfrm>
              <a:off x="2178" y="5419"/>
              <a:ext cx="1387" cy="905"/>
            </a:xfrm>
            <a:prstGeom prst="rect">
              <a:avLst/>
            </a:prstGeom>
            <a:noFill/>
          </p:spPr>
          <p:txBody>
            <a:bodyPr anchor="ctr"/>
            <a:p>
              <a:pPr marL="0" marR="0" lvl="0" indent="0" algn="l" defTabSz="914400" rtl="0" eaLnBrk="1" fontAlgn="t" latinLnBrk="0" hangingPunct="1">
                <a:lnSpc>
                  <a:spcPct val="100000"/>
                </a:lnSpc>
                <a:spcBef>
                  <a:spcPts val="0"/>
                </a:spcBef>
                <a:spcAft>
                  <a:spcPts val="0"/>
                </a:spcAft>
                <a:buClrTx/>
                <a:buSzTx/>
                <a:buFontTx/>
                <a:buNone/>
                <a:defRPr/>
              </a:pPr>
              <a:r>
                <a:rPr kumimoji="0" lang="en-US" altLang="zh-CN" sz="4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04</a:t>
              </a:r>
              <a:endParaRPr kumimoji="0" lang="en-US" altLang="zh-CN"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grpSp>
        <p:nvGrpSpPr>
          <p:cNvPr id="33" name="组合 32"/>
          <p:cNvGrpSpPr/>
          <p:nvPr/>
        </p:nvGrpSpPr>
        <p:grpSpPr>
          <a:xfrm>
            <a:off x="7384288" y="3618865"/>
            <a:ext cx="3686955" cy="585725"/>
            <a:chOff x="2178" y="5402"/>
            <a:chExt cx="5806" cy="922"/>
          </a:xfrm>
        </p:grpSpPr>
        <p:sp>
          <p:nvSpPr>
            <p:cNvPr id="34" name="文本框 33"/>
            <p:cNvSpPr txBox="1"/>
            <p:nvPr/>
          </p:nvSpPr>
          <p:spPr>
            <a:xfrm>
              <a:off x="3565" y="5402"/>
              <a:ext cx="3333750" cy="905"/>
            </a:xfrm>
            <a:prstGeom prst="rect">
              <a:avLst/>
            </a:prstGeom>
            <a:noFill/>
          </p:spPr>
          <p:txBody>
            <a:bodyPr anchor="ctr"/>
            <a:p>
              <a:pPr marL="0" marR="0" lvl="0" indent="0" algn="l" defTabSz="914400" rtl="0" eaLnBrk="1" fontAlgn="t" latinLnBrk="0" hangingPunct="1">
                <a:lnSpc>
                  <a:spcPct val="100000"/>
                </a:lnSpc>
                <a:spcBef>
                  <a:spcPts val="0"/>
                </a:spcBef>
                <a:spcAft>
                  <a:spcPts val="0"/>
                </a:spcAft>
                <a:buClrTx/>
                <a:buSzTx/>
                <a:buFontTx/>
                <a:buNone/>
                <a:defRPr/>
              </a:pPr>
              <a:r>
                <a:rPr kumimoji="0" lang="zh-CN" altLang="en-US"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评测结果与性能</a:t>
              </a:r>
              <a:endParaRPr kumimoji="0" lang="zh-CN" altLang="en-US"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sp>
          <p:nvSpPr>
            <p:cNvPr id="35" name="文本框 34"/>
            <p:cNvSpPr txBox="1"/>
            <p:nvPr/>
          </p:nvSpPr>
          <p:spPr>
            <a:xfrm>
              <a:off x="2178" y="5419"/>
              <a:ext cx="1387" cy="905"/>
            </a:xfrm>
            <a:prstGeom prst="rect">
              <a:avLst/>
            </a:prstGeom>
            <a:noFill/>
          </p:spPr>
          <p:txBody>
            <a:bodyPr anchor="ctr"/>
            <a:p>
              <a:pPr marL="0" marR="0" lvl="0" indent="0" algn="l" defTabSz="914400" rtl="0" eaLnBrk="1" fontAlgn="t" latinLnBrk="0" hangingPunct="1">
                <a:lnSpc>
                  <a:spcPct val="100000"/>
                </a:lnSpc>
                <a:spcBef>
                  <a:spcPts val="0"/>
                </a:spcBef>
                <a:spcAft>
                  <a:spcPts val="0"/>
                </a:spcAft>
                <a:buClrTx/>
                <a:buSzTx/>
                <a:buFontTx/>
                <a:buNone/>
                <a:defRPr/>
              </a:pPr>
              <a:r>
                <a:rPr kumimoji="0" lang="en-US" altLang="zh-CN" sz="4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05</a:t>
              </a:r>
              <a:endParaRPr kumimoji="0" lang="en-US" altLang="zh-CN"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grpSp>
        <p:nvGrpSpPr>
          <p:cNvPr id="36" name="组合 35"/>
          <p:cNvGrpSpPr/>
          <p:nvPr/>
        </p:nvGrpSpPr>
        <p:grpSpPr>
          <a:xfrm>
            <a:off x="7384288" y="4756785"/>
            <a:ext cx="3224022" cy="585725"/>
            <a:chOff x="2178" y="5402"/>
            <a:chExt cx="5077" cy="922"/>
          </a:xfrm>
        </p:grpSpPr>
        <p:sp>
          <p:nvSpPr>
            <p:cNvPr id="37" name="文本框 36"/>
            <p:cNvSpPr txBox="1"/>
            <p:nvPr/>
          </p:nvSpPr>
          <p:spPr>
            <a:xfrm>
              <a:off x="3565" y="5402"/>
              <a:ext cx="3690" cy="905"/>
            </a:xfrm>
            <a:prstGeom prst="rect">
              <a:avLst/>
            </a:prstGeom>
            <a:noFill/>
          </p:spPr>
          <p:txBody>
            <a:bodyPr anchor="ctr"/>
            <a:p>
              <a:pPr marL="0" marR="0" lvl="0" indent="0" algn="l" defTabSz="914400" rtl="0" eaLnBrk="1" fontAlgn="t" latinLnBrk="0" hangingPunct="1">
                <a:lnSpc>
                  <a:spcPct val="100000"/>
                </a:lnSpc>
                <a:spcBef>
                  <a:spcPts val="0"/>
                </a:spcBef>
                <a:spcAft>
                  <a:spcPts val="0"/>
                </a:spcAft>
                <a:buClrTx/>
                <a:buSzTx/>
                <a:buFontTx/>
                <a:buNone/>
                <a:defRPr/>
              </a:pPr>
              <a:r>
                <a:rPr kumimoji="0" lang="zh-CN" altLang="en-US"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落地价值</a:t>
              </a:r>
              <a:endParaRPr kumimoji="0" lang="zh-CN" altLang="en-US"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sp>
          <p:nvSpPr>
            <p:cNvPr id="38" name="文本框 37"/>
            <p:cNvSpPr txBox="1"/>
            <p:nvPr/>
          </p:nvSpPr>
          <p:spPr>
            <a:xfrm>
              <a:off x="2178" y="5419"/>
              <a:ext cx="1387" cy="905"/>
            </a:xfrm>
            <a:prstGeom prst="rect">
              <a:avLst/>
            </a:prstGeom>
            <a:noFill/>
          </p:spPr>
          <p:txBody>
            <a:bodyPr anchor="ctr"/>
            <a:p>
              <a:pPr marL="0" marR="0" lvl="0" indent="0" algn="l" defTabSz="914400" rtl="0" eaLnBrk="1" fontAlgn="t" latinLnBrk="0" hangingPunct="1">
                <a:lnSpc>
                  <a:spcPct val="100000"/>
                </a:lnSpc>
                <a:spcBef>
                  <a:spcPts val="0"/>
                </a:spcBef>
                <a:spcAft>
                  <a:spcPts val="0"/>
                </a:spcAft>
                <a:buClrTx/>
                <a:buSzTx/>
                <a:buFontTx/>
                <a:buNone/>
                <a:defRPr/>
              </a:pPr>
              <a:r>
                <a:rPr kumimoji="0" lang="en-US" altLang="zh-CN" sz="40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06</a:t>
              </a:r>
              <a:endParaRPr kumimoji="0" lang="en-US" altLang="zh-CN" sz="3200" b="1"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文本框 14"/>
          <p:cNvSpPr txBox="1"/>
          <p:nvPr/>
        </p:nvSpPr>
        <p:spPr>
          <a:xfrm>
            <a:off x="4191318" y="1942677"/>
            <a:ext cx="3798570" cy="221488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3800" b="0"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01</a:t>
            </a:r>
            <a:endParaRPr kumimoji="0" lang="en-US" altLang="zh-CN" sz="13800" b="0"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endParaRPr>
          </a:p>
        </p:txBody>
      </p:sp>
      <p:sp>
        <p:nvSpPr>
          <p:cNvPr id="16" name="文本框 15"/>
          <p:cNvSpPr txBox="1"/>
          <p:nvPr/>
        </p:nvSpPr>
        <p:spPr>
          <a:xfrm>
            <a:off x="3449637" y="3869267"/>
            <a:ext cx="5283200" cy="777875"/>
          </a:xfrm>
          <a:prstGeom prst="rect">
            <a:avLst/>
          </a:prstGeom>
          <a:noFill/>
        </p:spPr>
        <p:txBody>
          <a:bodyPr anchor="ctr"/>
          <a:lstStyle/>
          <a:p>
            <a:pPr marL="0" marR="0" lvl="0" indent="0" algn="ctr" defTabSz="914400" rtl="0" eaLnBrk="1" fontAlgn="t" latinLnBrk="0" hangingPunct="1">
              <a:lnSpc>
                <a:spcPct val="100000"/>
              </a:lnSpc>
              <a:spcBef>
                <a:spcPts val="0"/>
              </a:spcBef>
              <a:spcAft>
                <a:spcPts val="0"/>
              </a:spcAft>
              <a:buClrTx/>
              <a:buSzTx/>
              <a:buFontTx/>
              <a:buNone/>
              <a:defRPr/>
            </a:pPr>
            <a:r>
              <a:rPr kumimoji="0" lang="zh-CN" altLang="en-US" sz="36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背景与问题</a:t>
            </a:r>
            <a:endParaRPr kumimoji="0" lang="zh-CN" altLang="en-US" sz="36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nvGrpSpPr>
          <p:cNvPr id="18" name="组合 8"/>
          <p:cNvGrpSpPr/>
          <p:nvPr/>
        </p:nvGrpSpPr>
        <p:grpSpPr>
          <a:xfrm>
            <a:off x="3671887" y="1422930"/>
            <a:ext cx="4848225" cy="350837"/>
            <a:chOff x="5783" y="848"/>
            <a:chExt cx="7636" cy="551"/>
          </a:xfrm>
        </p:grpSpPr>
        <p:sp>
          <p:nvSpPr>
            <p:cNvPr id="19" name="任意多边形: 形状 187"/>
            <p:cNvSpPr/>
            <p:nvPr/>
          </p:nvSpPr>
          <p:spPr>
            <a:xfrm>
              <a:off x="5783" y="848"/>
              <a:ext cx="7637" cy="510"/>
            </a:xfrm>
            <a:custGeom>
              <a:avLst/>
              <a:gdLst/>
              <a:ahLst/>
              <a:cxnLst>
                <a:cxn ang="0">
                  <a:pos x="2326" y="31"/>
                </a:cxn>
                <a:cxn ang="0">
                  <a:pos x="3433" y="31"/>
                </a:cxn>
                <a:cxn ang="0">
                  <a:pos x="4216" y="31"/>
                </a:cxn>
                <a:cxn ang="0">
                  <a:pos x="5259" y="31"/>
                </a:cxn>
                <a:cxn ang="0">
                  <a:pos x="5738" y="512"/>
                </a:cxn>
                <a:cxn ang="0">
                  <a:pos x="7637" y="512"/>
                </a:cxn>
                <a:cxn ang="0">
                  <a:pos x="7637" y="494"/>
                </a:cxn>
                <a:cxn ang="0">
                  <a:pos x="5747" y="494"/>
                </a:cxn>
                <a:cxn ang="0">
                  <a:pos x="5266" y="13"/>
                </a:cxn>
                <a:cxn ang="0">
                  <a:pos x="4216" y="13"/>
                </a:cxn>
                <a:cxn ang="0">
                  <a:pos x="3433" y="13"/>
                </a:cxn>
                <a:cxn ang="0">
                  <a:pos x="2319" y="13"/>
                </a:cxn>
                <a:cxn ang="0">
                  <a:pos x="1838" y="494"/>
                </a:cxn>
                <a:cxn ang="0">
                  <a:pos x="13" y="494"/>
                </a:cxn>
                <a:cxn ang="0">
                  <a:pos x="13" y="512"/>
                </a:cxn>
                <a:cxn ang="0">
                  <a:pos x="1845" y="512"/>
                </a:cxn>
              </a:cxnLst>
              <a:rect l="0" t="0" r="0" b="0"/>
              <a:pathLst>
                <a:path w="4849342" h="324061">
                  <a:moveTo>
                    <a:pt x="1477371" y="20254"/>
                  </a:moveTo>
                  <a:lnTo>
                    <a:pt x="2179890" y="20254"/>
                  </a:lnTo>
                  <a:lnTo>
                    <a:pt x="2677555" y="20254"/>
                  </a:lnTo>
                  <a:lnTo>
                    <a:pt x="3339565" y="20254"/>
                  </a:lnTo>
                  <a:lnTo>
                    <a:pt x="3643951" y="325797"/>
                  </a:lnTo>
                  <a:lnTo>
                    <a:pt x="4849922" y="325797"/>
                  </a:lnTo>
                  <a:lnTo>
                    <a:pt x="4849922" y="314224"/>
                  </a:lnTo>
                  <a:lnTo>
                    <a:pt x="3649738" y="314224"/>
                  </a:lnTo>
                  <a:lnTo>
                    <a:pt x="3344195" y="8680"/>
                  </a:lnTo>
                  <a:lnTo>
                    <a:pt x="2677555" y="8680"/>
                  </a:lnTo>
                  <a:lnTo>
                    <a:pt x="2179890" y="8680"/>
                  </a:lnTo>
                  <a:lnTo>
                    <a:pt x="1472742" y="8680"/>
                  </a:lnTo>
                  <a:lnTo>
                    <a:pt x="1167199" y="314224"/>
                  </a:lnTo>
                  <a:lnTo>
                    <a:pt x="8680" y="314224"/>
                  </a:lnTo>
                  <a:lnTo>
                    <a:pt x="8680" y="325797"/>
                  </a:lnTo>
                  <a:lnTo>
                    <a:pt x="1171828" y="325797"/>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20" name="任意多边形: 形状 188"/>
            <p:cNvSpPr/>
            <p:nvPr/>
          </p:nvSpPr>
          <p:spPr>
            <a:xfrm>
              <a:off x="7826" y="1017"/>
              <a:ext cx="3536" cy="383"/>
            </a:xfrm>
            <a:custGeom>
              <a:avLst/>
              <a:gdLst/>
              <a:ahLst/>
              <a:cxnLst>
                <a:cxn ang="0">
                  <a:pos x="3192" y="13"/>
                </a:cxn>
                <a:cxn ang="0">
                  <a:pos x="1845" y="13"/>
                </a:cxn>
                <a:cxn ang="0">
                  <a:pos x="1705" y="13"/>
                </a:cxn>
                <a:cxn ang="0">
                  <a:pos x="356" y="13"/>
                </a:cxn>
                <a:cxn ang="0">
                  <a:pos x="13" y="358"/>
                </a:cxn>
                <a:cxn ang="0">
                  <a:pos x="24" y="371"/>
                </a:cxn>
                <a:cxn ang="0">
                  <a:pos x="363" y="31"/>
                </a:cxn>
                <a:cxn ang="0">
                  <a:pos x="1705" y="31"/>
                </a:cxn>
                <a:cxn ang="0">
                  <a:pos x="1845" y="31"/>
                </a:cxn>
                <a:cxn ang="0">
                  <a:pos x="3185" y="31"/>
                </a:cxn>
                <a:cxn ang="0">
                  <a:pos x="3516" y="362"/>
                </a:cxn>
                <a:cxn ang="0">
                  <a:pos x="3529" y="351"/>
                </a:cxn>
              </a:cxnLst>
              <a:rect l="0" t="0" r="0" b="0"/>
              <a:pathLst>
                <a:path w="2245280" h="243045">
                  <a:moveTo>
                    <a:pt x="2027118" y="8680"/>
                  </a:moveTo>
                  <a:lnTo>
                    <a:pt x="1171828" y="8680"/>
                  </a:lnTo>
                  <a:lnTo>
                    <a:pt x="1082711" y="8680"/>
                  </a:lnTo>
                  <a:lnTo>
                    <a:pt x="226264" y="8680"/>
                  </a:lnTo>
                  <a:lnTo>
                    <a:pt x="8680" y="227421"/>
                  </a:lnTo>
                  <a:lnTo>
                    <a:pt x="15624" y="235523"/>
                  </a:lnTo>
                  <a:lnTo>
                    <a:pt x="230894" y="20254"/>
                  </a:lnTo>
                  <a:lnTo>
                    <a:pt x="1082711" y="20254"/>
                  </a:lnTo>
                  <a:lnTo>
                    <a:pt x="1171828" y="20254"/>
                  </a:lnTo>
                  <a:lnTo>
                    <a:pt x="2022488" y="20254"/>
                  </a:lnTo>
                  <a:lnTo>
                    <a:pt x="2233128" y="229736"/>
                  </a:lnTo>
                  <a:lnTo>
                    <a:pt x="2241230" y="222792"/>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grpSp>
      <p:grpSp>
        <p:nvGrpSpPr>
          <p:cNvPr id="21" name="组合 7"/>
          <p:cNvGrpSpPr/>
          <p:nvPr/>
        </p:nvGrpSpPr>
        <p:grpSpPr>
          <a:xfrm flipV="1">
            <a:off x="3671887" y="4972580"/>
            <a:ext cx="4849813" cy="336550"/>
            <a:chOff x="5975" y="1069"/>
            <a:chExt cx="7636" cy="530"/>
          </a:xfrm>
        </p:grpSpPr>
        <p:sp>
          <p:nvSpPr>
            <p:cNvPr id="22" name="任意多边形: 形状 187"/>
            <p:cNvSpPr/>
            <p:nvPr/>
          </p:nvSpPr>
          <p:spPr>
            <a:xfrm>
              <a:off x="5975" y="1069"/>
              <a:ext cx="7637" cy="510"/>
            </a:xfrm>
            <a:custGeom>
              <a:avLst/>
              <a:gdLst/>
              <a:ahLst/>
              <a:cxnLst>
                <a:cxn ang="0">
                  <a:pos x="2326" y="31"/>
                </a:cxn>
                <a:cxn ang="0">
                  <a:pos x="3433" y="31"/>
                </a:cxn>
                <a:cxn ang="0">
                  <a:pos x="4216" y="31"/>
                </a:cxn>
                <a:cxn ang="0">
                  <a:pos x="5259" y="31"/>
                </a:cxn>
                <a:cxn ang="0">
                  <a:pos x="5738" y="512"/>
                </a:cxn>
                <a:cxn ang="0">
                  <a:pos x="7637" y="512"/>
                </a:cxn>
                <a:cxn ang="0">
                  <a:pos x="7637" y="494"/>
                </a:cxn>
                <a:cxn ang="0">
                  <a:pos x="5747" y="494"/>
                </a:cxn>
                <a:cxn ang="0">
                  <a:pos x="5266" y="13"/>
                </a:cxn>
                <a:cxn ang="0">
                  <a:pos x="4216" y="13"/>
                </a:cxn>
                <a:cxn ang="0">
                  <a:pos x="3433" y="13"/>
                </a:cxn>
                <a:cxn ang="0">
                  <a:pos x="2319" y="13"/>
                </a:cxn>
                <a:cxn ang="0">
                  <a:pos x="1838" y="494"/>
                </a:cxn>
                <a:cxn ang="0">
                  <a:pos x="13" y="494"/>
                </a:cxn>
                <a:cxn ang="0">
                  <a:pos x="13" y="512"/>
                </a:cxn>
                <a:cxn ang="0">
                  <a:pos x="1845" y="512"/>
                </a:cxn>
              </a:cxnLst>
              <a:rect l="0" t="0" r="0" b="0"/>
              <a:pathLst>
                <a:path w="4849342" h="324061">
                  <a:moveTo>
                    <a:pt x="1477371" y="20254"/>
                  </a:moveTo>
                  <a:lnTo>
                    <a:pt x="2179890" y="20254"/>
                  </a:lnTo>
                  <a:lnTo>
                    <a:pt x="2677555" y="20254"/>
                  </a:lnTo>
                  <a:lnTo>
                    <a:pt x="3339565" y="20254"/>
                  </a:lnTo>
                  <a:lnTo>
                    <a:pt x="3643951" y="325797"/>
                  </a:lnTo>
                  <a:lnTo>
                    <a:pt x="4849922" y="325797"/>
                  </a:lnTo>
                  <a:lnTo>
                    <a:pt x="4849922" y="314224"/>
                  </a:lnTo>
                  <a:lnTo>
                    <a:pt x="3649738" y="314224"/>
                  </a:lnTo>
                  <a:lnTo>
                    <a:pt x="3344195" y="8680"/>
                  </a:lnTo>
                  <a:lnTo>
                    <a:pt x="2677555" y="8680"/>
                  </a:lnTo>
                  <a:lnTo>
                    <a:pt x="2179890" y="8680"/>
                  </a:lnTo>
                  <a:lnTo>
                    <a:pt x="1472742" y="8680"/>
                  </a:lnTo>
                  <a:lnTo>
                    <a:pt x="1167199" y="314224"/>
                  </a:lnTo>
                  <a:lnTo>
                    <a:pt x="8680" y="314224"/>
                  </a:lnTo>
                  <a:lnTo>
                    <a:pt x="8680" y="325797"/>
                  </a:lnTo>
                  <a:lnTo>
                    <a:pt x="1171828" y="325797"/>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23" name="任意多边形: 形状 188"/>
            <p:cNvSpPr/>
            <p:nvPr/>
          </p:nvSpPr>
          <p:spPr>
            <a:xfrm>
              <a:off x="8026" y="1217"/>
              <a:ext cx="3536" cy="383"/>
            </a:xfrm>
            <a:custGeom>
              <a:avLst/>
              <a:gdLst/>
              <a:ahLst/>
              <a:cxnLst>
                <a:cxn ang="0">
                  <a:pos x="3192" y="13"/>
                </a:cxn>
                <a:cxn ang="0">
                  <a:pos x="1845" y="13"/>
                </a:cxn>
                <a:cxn ang="0">
                  <a:pos x="1705" y="13"/>
                </a:cxn>
                <a:cxn ang="0">
                  <a:pos x="356" y="13"/>
                </a:cxn>
                <a:cxn ang="0">
                  <a:pos x="13" y="358"/>
                </a:cxn>
                <a:cxn ang="0">
                  <a:pos x="24" y="371"/>
                </a:cxn>
                <a:cxn ang="0">
                  <a:pos x="363" y="31"/>
                </a:cxn>
                <a:cxn ang="0">
                  <a:pos x="1705" y="31"/>
                </a:cxn>
                <a:cxn ang="0">
                  <a:pos x="1845" y="31"/>
                </a:cxn>
                <a:cxn ang="0">
                  <a:pos x="3185" y="31"/>
                </a:cxn>
                <a:cxn ang="0">
                  <a:pos x="3516" y="362"/>
                </a:cxn>
                <a:cxn ang="0">
                  <a:pos x="3529" y="351"/>
                </a:cxn>
              </a:cxnLst>
              <a:rect l="0" t="0" r="0" b="0"/>
              <a:pathLst>
                <a:path w="2245280" h="243045">
                  <a:moveTo>
                    <a:pt x="2027118" y="8680"/>
                  </a:moveTo>
                  <a:lnTo>
                    <a:pt x="1171828" y="8680"/>
                  </a:lnTo>
                  <a:lnTo>
                    <a:pt x="1082711" y="8680"/>
                  </a:lnTo>
                  <a:lnTo>
                    <a:pt x="226264" y="8680"/>
                  </a:lnTo>
                  <a:lnTo>
                    <a:pt x="8680" y="227421"/>
                  </a:lnTo>
                  <a:lnTo>
                    <a:pt x="15624" y="235523"/>
                  </a:lnTo>
                  <a:lnTo>
                    <a:pt x="230894" y="20254"/>
                  </a:lnTo>
                  <a:lnTo>
                    <a:pt x="1082711" y="20254"/>
                  </a:lnTo>
                  <a:lnTo>
                    <a:pt x="1171828" y="20254"/>
                  </a:lnTo>
                  <a:lnTo>
                    <a:pt x="2022488" y="20254"/>
                  </a:lnTo>
                  <a:lnTo>
                    <a:pt x="2233128" y="229736"/>
                  </a:lnTo>
                  <a:lnTo>
                    <a:pt x="2241230" y="222792"/>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矩形 14"/>
          <p:cNvSpPr/>
          <p:nvPr/>
        </p:nvSpPr>
        <p:spPr>
          <a:xfrm>
            <a:off x="-323215" y="726440"/>
            <a:ext cx="12862560" cy="5641340"/>
          </a:xfrm>
          <a:prstGeom prst="rect">
            <a:avLst/>
          </a:prstGeom>
          <a:solidFill>
            <a:schemeClr val="bg1"/>
          </a:solidFill>
          <a:ln>
            <a:solidFill>
              <a:srgbClr val="012F8D"/>
            </a:solidFill>
          </a:ln>
          <a:effectLst>
            <a:outerShdw blurRad="50800" dist="38100" dir="10800000" algn="r" rotWithShape="0">
              <a:prstClr val="black">
                <a:alpha val="40000"/>
              </a:prstClr>
            </a:outerShdw>
            <a:softEdge rad="317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3" name="Rectangle 2"/>
          <p:cNvSpPr/>
          <p:nvPr/>
        </p:nvSpPr>
        <p:spPr>
          <a:xfrm>
            <a:off x="502920" y="1018413"/>
            <a:ext cx="82296" cy="566928"/>
          </a:xfrm>
          <a:prstGeom prst="rect">
            <a:avLst/>
          </a:prstGeom>
          <a:solidFill>
            <a:srgbClr val="1C41A9"/>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4" name="TextBox 3"/>
          <p:cNvSpPr txBox="1"/>
          <p:nvPr/>
        </p:nvSpPr>
        <p:spPr>
          <a:xfrm>
            <a:off x="713232" y="1066736"/>
            <a:ext cx="10058400" cy="479425"/>
          </a:xfrm>
          <a:prstGeom prst="rect">
            <a:avLst/>
          </a:prstGeom>
          <a:noFill/>
        </p:spPr>
        <p:txBody>
          <a:bodyPr wrap="square" lIns="18288" tIns="9144" rIns="18288" bIns="9144" anchor="ctr">
            <a:spAutoFit/>
          </a:bodyPr>
          <a:p>
            <a:pPr algn="l">
              <a:spcAft>
                <a:spcPts val="400"/>
              </a:spcAft>
            </a:pPr>
            <a:r>
              <a:rPr sz="3000">
                <a:solidFill>
                  <a:srgbClr val="195CC4"/>
                </a:solidFill>
                <a:latin typeface="OPPOSans B" panose="00020600040101010101" charset="-122"/>
                <a:ea typeface="OPPOSans B" panose="00020600040101010101" charset="-122"/>
              </a:rPr>
              <a:t>背景与问题：银行真实业务场景的监管问答之痛</a:t>
            </a:r>
            <a:endParaRPr sz="3000">
              <a:solidFill>
                <a:srgbClr val="195CC4"/>
              </a:solidFill>
              <a:latin typeface="OPPOSans B" panose="00020600040101010101" charset="-122"/>
              <a:ea typeface="OPPOSans B" panose="00020600040101010101" charset="-122"/>
            </a:endParaRPr>
          </a:p>
        </p:txBody>
      </p:sp>
      <p:sp>
        <p:nvSpPr>
          <p:cNvPr id="5" name="TextBox 4"/>
          <p:cNvSpPr txBox="1"/>
          <p:nvPr/>
        </p:nvSpPr>
        <p:spPr>
          <a:xfrm>
            <a:off x="713232" y="1575054"/>
            <a:ext cx="10789920" cy="233045"/>
          </a:xfrm>
          <a:prstGeom prst="rect">
            <a:avLst/>
          </a:prstGeom>
          <a:noFill/>
        </p:spPr>
        <p:txBody>
          <a:bodyPr wrap="square" lIns="18288" tIns="9144" rIns="18288" bIns="9144" anchor="t">
            <a:spAutoFit/>
          </a:bodyPr>
          <a:p>
            <a:pPr algn="l">
              <a:spcAft>
                <a:spcPts val="400"/>
              </a:spcAft>
            </a:pPr>
            <a:r>
              <a:rPr sz="1400" b="0">
                <a:solidFill>
                  <a:schemeClr val="tx1"/>
                </a:solidFill>
                <a:latin typeface="OPPOSans R" panose="00020600040101010101" charset="-122"/>
                <a:ea typeface="OPPOSans R" panose="00020600040101010101" charset="-122"/>
              </a:rPr>
              <a:t>信贷审批、风险分类、资本管理、消保投诉、反洗钱、支付结算、普惠金融、监管报送等场景均需快速查询制度依据与指标口径</a:t>
            </a:r>
            <a:endParaRPr sz="1400" b="0">
              <a:solidFill>
                <a:schemeClr val="tx1"/>
              </a:solidFill>
              <a:latin typeface="OPPOSans R" panose="00020600040101010101" charset="-122"/>
              <a:ea typeface="OPPOSans R" panose="00020600040101010101" charset="-122"/>
            </a:endParaRPr>
          </a:p>
        </p:txBody>
      </p:sp>
      <p:sp>
        <p:nvSpPr>
          <p:cNvPr id="7" name="Rectangle 6"/>
          <p:cNvSpPr/>
          <p:nvPr>
            <p:custDataLst>
              <p:tags r:id="rId1"/>
            </p:custDataLst>
          </p:nvPr>
        </p:nvSpPr>
        <p:spPr>
          <a:xfrm>
            <a:off x="502920" y="1954530"/>
            <a:ext cx="3611880" cy="1856105"/>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8" name="Rectangle 7"/>
          <p:cNvSpPr/>
          <p:nvPr>
            <p:custDataLst>
              <p:tags r:id="rId2"/>
            </p:custDataLst>
          </p:nvPr>
        </p:nvSpPr>
        <p:spPr>
          <a:xfrm>
            <a:off x="502920" y="1954530"/>
            <a:ext cx="3611880" cy="566928"/>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9" name="TextBox 8"/>
          <p:cNvSpPr txBox="1"/>
          <p:nvPr>
            <p:custDataLst>
              <p:tags r:id="rId3"/>
            </p:custDataLst>
          </p:nvPr>
        </p:nvSpPr>
        <p:spPr>
          <a:xfrm>
            <a:off x="640080" y="2044637"/>
            <a:ext cx="3337560" cy="386715"/>
          </a:xfrm>
          <a:prstGeom prst="rect">
            <a:avLst/>
          </a:prstGeom>
          <a:noFill/>
        </p:spPr>
        <p:txBody>
          <a:bodyPr wrap="square" lIns="18288" tIns="9144" rIns="18288" bIns="9144" anchor="ctr">
            <a:spAutoFit/>
          </a:bodyPr>
          <a:p>
            <a:pPr algn="l">
              <a:spcAft>
                <a:spcPts val="400"/>
              </a:spcAft>
            </a:pPr>
            <a:r>
              <a:rPr sz="2400">
                <a:solidFill>
                  <a:srgbClr val="FFFFFF"/>
                </a:solidFill>
                <a:latin typeface="OPPOSans B" panose="00020600040101010101" charset="-122"/>
                <a:ea typeface="OPPOSans B" panose="00020600040101010101" charset="-122"/>
              </a:rPr>
              <a:t>资料难组织</a:t>
            </a:r>
            <a:endParaRPr sz="2400">
              <a:solidFill>
                <a:srgbClr val="FFFFFF"/>
              </a:solidFill>
              <a:latin typeface="OPPOSans B" panose="00020600040101010101" charset="-122"/>
              <a:ea typeface="OPPOSans B" panose="00020600040101010101" charset="-122"/>
            </a:endParaRPr>
          </a:p>
        </p:txBody>
      </p:sp>
      <p:sp>
        <p:nvSpPr>
          <p:cNvPr id="10" name="TextBox 9"/>
          <p:cNvSpPr txBox="1"/>
          <p:nvPr>
            <p:custDataLst>
              <p:tags r:id="rId4"/>
            </p:custDataLst>
          </p:nvPr>
        </p:nvSpPr>
        <p:spPr>
          <a:xfrm>
            <a:off x="667385" y="2658745"/>
            <a:ext cx="3401060" cy="986790"/>
          </a:xfrm>
          <a:prstGeom prst="rect">
            <a:avLst/>
          </a:prstGeom>
          <a:noFill/>
        </p:spPr>
        <p:txBody>
          <a:bodyPr wrap="square" lIns="18288" tIns="9144" rIns="18288" bIns="9144" anchor="t">
            <a:spAutoFit/>
          </a:bodyPr>
          <a:p>
            <a:pPr algn="l" fontAlgn="auto">
              <a:lnSpc>
                <a:spcPct val="150000"/>
              </a:lnSpc>
              <a:spcAft>
                <a:spcPts val="400"/>
              </a:spcAft>
            </a:pPr>
            <a:r>
              <a:rPr sz="1400">
                <a:solidFill>
                  <a:schemeClr val="tx1"/>
                </a:solidFill>
                <a:latin typeface="OPPOSans R" panose="00020600040101010101" charset="-122"/>
                <a:ea typeface="OPPOSans R" panose="00020600040101010101" charset="-122"/>
                <a:cs typeface="OPPOSans R" panose="00020600040101010101" charset="-122"/>
              </a:rPr>
              <a:t>制度正文、监管附件与统计报表分散，PDF / Word / Excel 格式并存；</a:t>
            </a:r>
            <a:r>
              <a:rPr sz="1400">
                <a:solidFill>
                  <a:schemeClr val="accent1"/>
                </a:solidFill>
                <a:latin typeface="OPPOSans B" panose="00020600040101010101" charset="-122"/>
                <a:ea typeface="OPPOSans B" panose="00020600040101010101" charset="-122"/>
                <a:cs typeface="OPPOSans R" panose="00020600040101010101" charset="-122"/>
                <a:sym typeface="+mn-ea"/>
              </a:rPr>
              <a:t>条款层级、表头、期间和单位</a:t>
            </a:r>
            <a:r>
              <a:rPr sz="1400">
                <a:solidFill>
                  <a:schemeClr val="tx1"/>
                </a:solidFill>
                <a:latin typeface="OPPOSans R" panose="00020600040101010101" charset="-122"/>
                <a:ea typeface="OPPOSans R" panose="00020600040101010101" charset="-122"/>
                <a:cs typeface="OPPOSans R" panose="00020600040101010101" charset="-122"/>
              </a:rPr>
              <a:t>容易在解析中丢失</a:t>
            </a:r>
            <a:endParaRPr sz="1400">
              <a:solidFill>
                <a:schemeClr val="tx1"/>
              </a:solidFill>
              <a:latin typeface="OPPOSans R" panose="00020600040101010101" charset="-122"/>
              <a:ea typeface="OPPOSans R" panose="00020600040101010101" charset="-122"/>
              <a:cs typeface="OPPOSans R" panose="00020600040101010101" charset="-122"/>
            </a:endParaRPr>
          </a:p>
        </p:txBody>
      </p:sp>
      <p:sp>
        <p:nvSpPr>
          <p:cNvPr id="11" name="Rectangle 10"/>
          <p:cNvSpPr/>
          <p:nvPr>
            <p:custDataLst>
              <p:tags r:id="rId5"/>
            </p:custDataLst>
          </p:nvPr>
        </p:nvSpPr>
        <p:spPr>
          <a:xfrm>
            <a:off x="4288790" y="1954530"/>
            <a:ext cx="3611880" cy="1856105"/>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2" name="Rectangle 11"/>
          <p:cNvSpPr/>
          <p:nvPr>
            <p:custDataLst>
              <p:tags r:id="rId6"/>
            </p:custDataLst>
          </p:nvPr>
        </p:nvSpPr>
        <p:spPr>
          <a:xfrm>
            <a:off x="4288536" y="1954530"/>
            <a:ext cx="3611880" cy="566928"/>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3" name="TextBox 12"/>
          <p:cNvSpPr txBox="1"/>
          <p:nvPr>
            <p:custDataLst>
              <p:tags r:id="rId7"/>
            </p:custDataLst>
          </p:nvPr>
        </p:nvSpPr>
        <p:spPr>
          <a:xfrm>
            <a:off x="4425696" y="2075434"/>
            <a:ext cx="3337560" cy="325120"/>
          </a:xfrm>
          <a:prstGeom prst="rect">
            <a:avLst/>
          </a:prstGeom>
          <a:noFill/>
        </p:spPr>
        <p:txBody>
          <a:bodyPr wrap="square" lIns="18288" tIns="9144" rIns="18288" bIns="9144" anchor="ctr">
            <a:spAutoFit/>
          </a:bodyPr>
          <a:p>
            <a:pPr lvl="0" algn="l">
              <a:spcAft>
                <a:spcPts val="400"/>
              </a:spcAft>
              <a:buClrTx/>
              <a:buSzTx/>
              <a:buFontTx/>
            </a:pPr>
            <a:r>
              <a:rPr sz="2400">
                <a:solidFill>
                  <a:srgbClr val="FFFFFF"/>
                </a:solidFill>
                <a:latin typeface="OPPOSans B" panose="00020600040101010101" charset="-122"/>
                <a:ea typeface="OPPOSans B" panose="00020600040101010101" charset="-122"/>
                <a:sym typeface="+mn-ea"/>
              </a:rPr>
              <a:t>复杂问题难答全</a:t>
            </a:r>
            <a:endParaRPr sz="2400">
              <a:solidFill>
                <a:srgbClr val="FFFFFF"/>
              </a:solidFill>
              <a:latin typeface="OPPOSans B" panose="00020600040101010101" charset="-122"/>
              <a:ea typeface="OPPOSans B" panose="00020600040101010101" charset="-122"/>
              <a:sym typeface="+mn-ea"/>
            </a:endParaRPr>
          </a:p>
        </p:txBody>
      </p:sp>
      <p:sp>
        <p:nvSpPr>
          <p:cNvPr id="14" name="TextBox 13"/>
          <p:cNvSpPr txBox="1"/>
          <p:nvPr>
            <p:custDataLst>
              <p:tags r:id="rId8"/>
            </p:custDataLst>
          </p:nvPr>
        </p:nvSpPr>
        <p:spPr>
          <a:xfrm>
            <a:off x="4413250" y="2658745"/>
            <a:ext cx="3517265" cy="986790"/>
          </a:xfrm>
          <a:prstGeom prst="rect">
            <a:avLst/>
          </a:prstGeom>
          <a:noFill/>
        </p:spPr>
        <p:txBody>
          <a:bodyPr wrap="square" lIns="18288" tIns="9144" rIns="18288" bIns="9144" anchor="t">
            <a:spAutoFit/>
          </a:bodyPr>
          <a:p>
            <a:pPr lvl="0" algn="l">
              <a:lnSpc>
                <a:spcPct val="150000"/>
              </a:lnSpc>
              <a:spcAft>
                <a:spcPts val="400"/>
              </a:spcAft>
              <a:buClrTx/>
              <a:buSzTx/>
              <a:buFontTx/>
            </a:pPr>
            <a:r>
              <a:rPr sz="1400">
                <a:solidFill>
                  <a:schemeClr val="tx1"/>
                </a:solidFill>
                <a:latin typeface="OPPOSans R" panose="00020600040101010101" charset="-122"/>
                <a:ea typeface="OPPOSans R" panose="00020600040101010101" charset="-122"/>
                <a:cs typeface="OPPOSans R" panose="00020600040101010101" charset="-122"/>
              </a:rPr>
              <a:t>一次问询可能涉及</a:t>
            </a:r>
            <a:r>
              <a:rPr sz="1400">
                <a:solidFill>
                  <a:schemeClr val="accent1"/>
                </a:solidFill>
                <a:latin typeface="OPPOSans B" panose="00020600040101010101" charset="-122"/>
                <a:ea typeface="OPPOSans B" panose="00020600040101010101" charset="-122"/>
                <a:cs typeface="OPPOSans R" panose="00020600040101010101" charset="-122"/>
                <a:sym typeface="+mn-ea"/>
              </a:rPr>
              <a:t>定义、适用条件、例外条款和多张报表</a:t>
            </a:r>
            <a:r>
              <a:rPr sz="1400">
                <a:solidFill>
                  <a:schemeClr val="tx1"/>
                </a:solidFill>
                <a:latin typeface="OPPOSans R" panose="00020600040101010101" charset="-122"/>
                <a:ea typeface="OPPOSans R" panose="00020600040101010101" charset="-122"/>
                <a:cs typeface="OPPOSans R" panose="00020600040101010101" charset="-122"/>
              </a:rPr>
              <a:t>，单次检索难以覆盖全部依据，跨文件与跨表核对依赖人工</a:t>
            </a:r>
            <a:endParaRPr sz="1400">
              <a:solidFill>
                <a:schemeClr val="tx1"/>
              </a:solidFill>
              <a:latin typeface="OPPOSans R" panose="00020600040101010101" charset="-122"/>
              <a:ea typeface="OPPOSans R" panose="00020600040101010101" charset="-122"/>
              <a:cs typeface="OPPOSans R" panose="00020600040101010101" charset="-122"/>
            </a:endParaRPr>
          </a:p>
        </p:txBody>
      </p:sp>
      <p:sp>
        <p:nvSpPr>
          <p:cNvPr id="2" name="Rectangle 14"/>
          <p:cNvSpPr/>
          <p:nvPr>
            <p:custDataLst>
              <p:tags r:id="rId9"/>
            </p:custDataLst>
          </p:nvPr>
        </p:nvSpPr>
        <p:spPr>
          <a:xfrm>
            <a:off x="8074025" y="1954530"/>
            <a:ext cx="3611880" cy="1856105"/>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6" name="Rectangle 15"/>
          <p:cNvSpPr/>
          <p:nvPr>
            <p:custDataLst>
              <p:tags r:id="rId10"/>
            </p:custDataLst>
          </p:nvPr>
        </p:nvSpPr>
        <p:spPr>
          <a:xfrm>
            <a:off x="8074151" y="1953895"/>
            <a:ext cx="3611880" cy="566928"/>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7" name="TextBox 16"/>
          <p:cNvSpPr txBox="1"/>
          <p:nvPr>
            <p:custDataLst>
              <p:tags r:id="rId11"/>
            </p:custDataLst>
          </p:nvPr>
        </p:nvSpPr>
        <p:spPr>
          <a:xfrm>
            <a:off x="8211311" y="2075434"/>
            <a:ext cx="3337560" cy="325120"/>
          </a:xfrm>
          <a:prstGeom prst="rect">
            <a:avLst/>
          </a:prstGeom>
          <a:noFill/>
        </p:spPr>
        <p:txBody>
          <a:bodyPr wrap="square" lIns="18288" tIns="9144" rIns="18288" bIns="9144" anchor="ctr">
            <a:spAutoFit/>
          </a:bodyPr>
          <a:p>
            <a:pPr lvl="0" algn="l">
              <a:spcAft>
                <a:spcPts val="400"/>
              </a:spcAft>
              <a:buClrTx/>
              <a:buSzTx/>
              <a:buFontTx/>
            </a:pPr>
            <a:r>
              <a:rPr sz="2400">
                <a:solidFill>
                  <a:srgbClr val="FFFFFF"/>
                </a:solidFill>
                <a:latin typeface="OPPOSans B" panose="00020600040101010101" charset="-122"/>
                <a:ea typeface="OPPOSans B" panose="00020600040101010101" charset="-122"/>
                <a:sym typeface="+mn-ea"/>
              </a:rPr>
              <a:t>答案难复核</a:t>
            </a:r>
            <a:endParaRPr sz="2400">
              <a:solidFill>
                <a:srgbClr val="FFFFFF"/>
              </a:solidFill>
              <a:latin typeface="OPPOSans B" panose="00020600040101010101" charset="-122"/>
              <a:ea typeface="OPPOSans B" panose="00020600040101010101" charset="-122"/>
              <a:sym typeface="+mn-ea"/>
            </a:endParaRPr>
          </a:p>
        </p:txBody>
      </p:sp>
      <p:sp>
        <p:nvSpPr>
          <p:cNvPr id="18" name="TextBox 17"/>
          <p:cNvSpPr txBox="1"/>
          <p:nvPr>
            <p:custDataLst>
              <p:tags r:id="rId12"/>
            </p:custDataLst>
          </p:nvPr>
        </p:nvSpPr>
        <p:spPr>
          <a:xfrm>
            <a:off x="8238743" y="2658618"/>
            <a:ext cx="3291840" cy="986790"/>
          </a:xfrm>
          <a:prstGeom prst="rect">
            <a:avLst/>
          </a:prstGeom>
          <a:noFill/>
        </p:spPr>
        <p:txBody>
          <a:bodyPr wrap="square" lIns="18288" tIns="9144" rIns="18288" bIns="9144" anchor="t">
            <a:spAutoFit/>
          </a:bodyPr>
          <a:p>
            <a:pPr lvl="0" algn="l">
              <a:lnSpc>
                <a:spcPct val="150000"/>
              </a:lnSpc>
              <a:spcAft>
                <a:spcPts val="400"/>
              </a:spcAft>
              <a:buClrTx/>
              <a:buSzTx/>
              <a:buFontTx/>
            </a:pPr>
            <a:r>
              <a:rPr sz="1400">
                <a:solidFill>
                  <a:schemeClr val="tx1"/>
                </a:solidFill>
                <a:latin typeface="OPPOSans R" panose="00020600040101010101" charset="-122"/>
                <a:ea typeface="OPPOSans R" panose="00020600040101010101" charset="-122"/>
                <a:cs typeface="OPPOSans R" panose="00020600040101010101" charset="-122"/>
              </a:rPr>
              <a:t>数字正确仍需核对</a:t>
            </a:r>
            <a:r>
              <a:rPr sz="1400">
                <a:solidFill>
                  <a:schemeClr val="accent1"/>
                </a:solidFill>
                <a:latin typeface="OPPOSans B" panose="00020600040101010101" charset="-122"/>
                <a:ea typeface="OPPOSans B" panose="00020600040101010101" charset="-122"/>
                <a:cs typeface="OPPOSans R" panose="00020600040101010101" charset="-122"/>
                <a:sym typeface="+mn-ea"/>
              </a:rPr>
              <a:t>监管含义与适用范围</a:t>
            </a:r>
            <a:r>
              <a:rPr sz="1400">
                <a:solidFill>
                  <a:schemeClr val="tx1"/>
                </a:solidFill>
                <a:latin typeface="OPPOSans R" panose="00020600040101010101" charset="-122"/>
                <a:ea typeface="OPPOSans R" panose="00020600040101010101" charset="-122"/>
                <a:cs typeface="OPPOSans R" panose="00020600040101010101" charset="-122"/>
              </a:rPr>
              <a:t>；业务结论必须保留原文依据、条件例外和计算过程，支持复核与追踪</a:t>
            </a:r>
            <a:endParaRPr sz="1400">
              <a:solidFill>
                <a:schemeClr val="tx1"/>
              </a:solidFill>
              <a:latin typeface="OPPOSans R" panose="00020600040101010101" charset="-122"/>
              <a:ea typeface="OPPOSans R" panose="00020600040101010101" charset="-122"/>
              <a:cs typeface="OPPOSans R" panose="00020600040101010101" charset="-122"/>
            </a:endParaRPr>
          </a:p>
        </p:txBody>
      </p:sp>
      <p:sp>
        <p:nvSpPr>
          <p:cNvPr id="19" name="Rectangle 18"/>
          <p:cNvSpPr/>
          <p:nvPr/>
        </p:nvSpPr>
        <p:spPr>
          <a:xfrm>
            <a:off x="502920" y="3915918"/>
            <a:ext cx="11183112" cy="2057400"/>
          </a:xfrm>
          <a:prstGeom prst="rect">
            <a:avLst/>
          </a:prstGeom>
          <a:solidFill>
            <a:srgbClr val="FBF3F3"/>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0" name="Rectangle 19"/>
          <p:cNvSpPr/>
          <p:nvPr/>
        </p:nvSpPr>
        <p:spPr>
          <a:xfrm>
            <a:off x="502920" y="3915918"/>
            <a:ext cx="82296" cy="20574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1" name="TextBox 20"/>
          <p:cNvSpPr txBox="1"/>
          <p:nvPr/>
        </p:nvSpPr>
        <p:spPr>
          <a:xfrm>
            <a:off x="777240" y="3989070"/>
            <a:ext cx="10698480" cy="386715"/>
          </a:xfrm>
          <a:prstGeom prst="rect">
            <a:avLst/>
          </a:prstGeom>
          <a:noFill/>
        </p:spPr>
        <p:txBody>
          <a:bodyPr wrap="square" lIns="18288" tIns="9144" rIns="18288" bIns="9144" anchor="t">
            <a:spAutoFit/>
          </a:bodyPr>
          <a:p>
            <a:pPr algn="l">
              <a:spcAft>
                <a:spcPts val="400"/>
              </a:spcAft>
            </a:pPr>
            <a:r>
              <a:rPr sz="2400">
                <a:solidFill>
                  <a:srgbClr val="C00000"/>
                </a:solidFill>
                <a:latin typeface="OPPOSans B" panose="00020600040101010101" charset="-122"/>
                <a:ea typeface="OPPOSans B" panose="00020600040101010101" charset="-122"/>
              </a:rPr>
              <a:t>监管知识服务的四项关键挑战</a:t>
            </a:r>
            <a:endParaRPr sz="2400">
              <a:solidFill>
                <a:srgbClr val="C00000"/>
              </a:solidFill>
              <a:latin typeface="OPPOSans B" panose="00020600040101010101" charset="-122"/>
              <a:ea typeface="OPPOSans B" panose="00020600040101010101" charset="-122"/>
            </a:endParaRPr>
          </a:p>
        </p:txBody>
      </p:sp>
      <p:sp>
        <p:nvSpPr>
          <p:cNvPr id="22" name="TextBox 21"/>
          <p:cNvSpPr txBox="1"/>
          <p:nvPr/>
        </p:nvSpPr>
        <p:spPr>
          <a:xfrm>
            <a:off x="777240" y="4383405"/>
            <a:ext cx="10698480" cy="1464310"/>
          </a:xfrm>
          <a:prstGeom prst="rect">
            <a:avLst/>
          </a:prstGeom>
          <a:noFill/>
        </p:spPr>
        <p:txBody>
          <a:bodyPr wrap="square" lIns="18288" tIns="9144" rIns="18288" bIns="9144" anchor="t">
            <a:spAutoFit/>
          </a:bodyPr>
          <a:p>
            <a:pPr algn="l" fontAlgn="auto">
              <a:lnSpc>
                <a:spcPct val="150000"/>
              </a:lnSpc>
              <a:spcAft>
                <a:spcPts val="400"/>
              </a:spcAft>
            </a:pPr>
            <a:r>
              <a:rPr sz="1400">
                <a:solidFill>
                  <a:srgbClr val="CE0000"/>
                </a:solidFill>
                <a:latin typeface="OPPOSans B" panose="00020600040101010101" charset="-122"/>
                <a:ea typeface="OPPOSans B" panose="00020600040101010101" charset="-122"/>
                <a:cs typeface="OPPOSans B" panose="00020600040101010101" charset="-122"/>
              </a:rPr>
              <a:t>▪ 结构解析：</a:t>
            </a:r>
            <a:r>
              <a:rPr sz="1400">
                <a:solidFill>
                  <a:schemeClr val="tx1"/>
                </a:solidFill>
                <a:latin typeface="OPPOSans R" panose="00020600040101010101" charset="-122"/>
                <a:ea typeface="OPPOSans R" panose="00020600040101010101" charset="-122"/>
                <a:cs typeface="OPPOSans R" panose="00020600040101010101" charset="-122"/>
              </a:rPr>
              <a:t>保留标题层级、条款编号、表头关系、期间与单位，避免制度语境和数值口径丢失</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50000"/>
              </a:lnSpc>
              <a:spcAft>
                <a:spcPts val="400"/>
              </a:spcAft>
              <a:buClrTx/>
              <a:buSzTx/>
              <a:buFontTx/>
            </a:pPr>
            <a:r>
              <a:rPr sz="1400">
                <a:solidFill>
                  <a:srgbClr val="CE0000"/>
                </a:solidFill>
                <a:latin typeface="OPPOSans B" panose="00020600040101010101" charset="-122"/>
                <a:ea typeface="OPPOSans B" panose="00020600040101010101" charset="-122"/>
                <a:cs typeface="OPPOSans B" panose="00020600040101010101" charset="-122"/>
              </a:rPr>
              <a:t>▪ 证据覆盖：</a:t>
            </a:r>
            <a:r>
              <a:rPr sz="1400">
                <a:solidFill>
                  <a:schemeClr val="tx1"/>
                </a:solidFill>
                <a:latin typeface="OPPOSans R" panose="00020600040101010101" charset="-122"/>
                <a:ea typeface="OPPOSans R" panose="00020600040101010101" charset="-122"/>
                <a:cs typeface="OPPOSans R" panose="00020600040101010101" charset="-122"/>
              </a:rPr>
              <a:t>同时定位定义、主体、条件与例外，补齐单次召回遗漏的关键依据</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50000"/>
              </a:lnSpc>
              <a:spcAft>
                <a:spcPts val="400"/>
              </a:spcAft>
              <a:buClrTx/>
              <a:buSzTx/>
              <a:buFontTx/>
            </a:pPr>
            <a:r>
              <a:rPr sz="1400">
                <a:solidFill>
                  <a:srgbClr val="CE0000"/>
                </a:solidFill>
                <a:latin typeface="OPPOSans B" panose="00020600040101010101" charset="-122"/>
                <a:ea typeface="OPPOSans B" panose="00020600040101010101" charset="-122"/>
                <a:cs typeface="OPPOSans B" panose="00020600040101010101" charset="-122"/>
              </a:rPr>
              <a:t>▪ 跨文档与表格推理：</a:t>
            </a:r>
            <a:r>
              <a:rPr sz="1400">
                <a:solidFill>
                  <a:schemeClr val="tx1"/>
                </a:solidFill>
                <a:latin typeface="OPPOSans R" panose="00020600040101010101" charset="-122"/>
                <a:ea typeface="OPPOSans R" panose="00020600040101010101" charset="-122"/>
                <a:cs typeface="OPPOSans R" panose="00020600040101010101" charset="-122"/>
              </a:rPr>
              <a:t>联动制度正文和统计附件，完成条款关联、维度匹配与可复算的数值计算</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50000"/>
              </a:lnSpc>
              <a:spcAft>
                <a:spcPts val="400"/>
              </a:spcAft>
              <a:buClrTx/>
              <a:buSzTx/>
              <a:buFontTx/>
            </a:pPr>
            <a:r>
              <a:rPr sz="1400">
                <a:solidFill>
                  <a:srgbClr val="CE0000"/>
                </a:solidFill>
                <a:latin typeface="OPPOSans B" panose="00020600040101010101" charset="-122"/>
                <a:ea typeface="OPPOSans B" panose="00020600040101010101" charset="-122"/>
                <a:cs typeface="OPPOSans B" panose="00020600040101010101" charset="-122"/>
              </a:rPr>
              <a:t>▪ 监管语义校验：</a:t>
            </a:r>
            <a:r>
              <a:rPr sz="1400">
                <a:solidFill>
                  <a:schemeClr val="tx1"/>
                </a:solidFill>
                <a:latin typeface="OPPOSans R" panose="00020600040101010101" charset="-122"/>
                <a:ea typeface="OPPOSans R" panose="00020600040101010101" charset="-122"/>
                <a:cs typeface="OPPOSans R" panose="00020600040101010101" charset="-122"/>
              </a:rPr>
              <a:t>辨别“应当 / 可以 / 不得 / 原则上”，核对关键事实与适用边界，降低表述偏移风险</a:t>
            </a:r>
            <a:endParaRPr sz="1400">
              <a:solidFill>
                <a:schemeClr val="tx1"/>
              </a:solidFill>
              <a:latin typeface="OPPOSans R" panose="00020600040101010101" charset="-122"/>
              <a:ea typeface="OPPOSans R" panose="00020600040101010101" charset="-122"/>
              <a:cs typeface="OPPOSans R" panose="00020600040101010101" charset="-122"/>
            </a:endParaRPr>
          </a:p>
        </p:txBody>
      </p:sp>
      <p:sp>
        <p:nvSpPr>
          <p:cNvPr id="23" name="Rectangle 5"/>
          <p:cNvSpPr/>
          <p:nvPr/>
        </p:nvSpPr>
        <p:spPr>
          <a:xfrm>
            <a:off x="502920" y="1840230"/>
            <a:ext cx="11183112" cy="20320"/>
          </a:xfrm>
          <a:prstGeom prst="rect">
            <a:avLst/>
          </a:prstGeom>
          <a:solidFill>
            <a:srgbClr val="D9DEE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文本框 14"/>
          <p:cNvSpPr txBox="1"/>
          <p:nvPr/>
        </p:nvSpPr>
        <p:spPr>
          <a:xfrm>
            <a:off x="4191318" y="1942677"/>
            <a:ext cx="3798570" cy="221488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3800" b="0"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02</a:t>
            </a:r>
            <a:endParaRPr kumimoji="0" lang="en-US" altLang="zh-CN" sz="13800" b="0"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endParaRPr>
          </a:p>
        </p:txBody>
      </p:sp>
      <p:sp>
        <p:nvSpPr>
          <p:cNvPr id="16" name="文本框 15"/>
          <p:cNvSpPr txBox="1"/>
          <p:nvPr/>
        </p:nvSpPr>
        <p:spPr>
          <a:xfrm>
            <a:off x="3449637" y="3869267"/>
            <a:ext cx="5283200" cy="777875"/>
          </a:xfrm>
          <a:prstGeom prst="rect">
            <a:avLst/>
          </a:prstGeom>
          <a:noFill/>
        </p:spPr>
        <p:txBody>
          <a:bodyPr anchor="ctr"/>
          <a:lstStyle/>
          <a:p>
            <a:pPr marL="0" marR="0" lvl="0" indent="0" algn="ctr" defTabSz="914400" rtl="0" eaLnBrk="1" fontAlgn="t" latinLnBrk="0" hangingPunct="1">
              <a:lnSpc>
                <a:spcPct val="100000"/>
              </a:lnSpc>
              <a:spcBef>
                <a:spcPts val="0"/>
              </a:spcBef>
              <a:spcAft>
                <a:spcPts val="0"/>
              </a:spcAft>
              <a:buClrTx/>
              <a:buSzTx/>
              <a:buFontTx/>
              <a:buNone/>
              <a:defRPr/>
            </a:pPr>
            <a:r>
              <a:rPr kumimoji="0" lang="zh-CN" altLang="en-US" sz="36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解决方案</a:t>
            </a:r>
            <a:endParaRPr kumimoji="0" lang="zh-CN" altLang="en-US" sz="36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nvGrpSpPr>
          <p:cNvPr id="18" name="组合 8"/>
          <p:cNvGrpSpPr/>
          <p:nvPr/>
        </p:nvGrpSpPr>
        <p:grpSpPr>
          <a:xfrm>
            <a:off x="3671887" y="1422930"/>
            <a:ext cx="4848225" cy="350837"/>
            <a:chOff x="5783" y="848"/>
            <a:chExt cx="7636" cy="551"/>
          </a:xfrm>
        </p:grpSpPr>
        <p:sp>
          <p:nvSpPr>
            <p:cNvPr id="19" name="任意多边形: 形状 187"/>
            <p:cNvSpPr/>
            <p:nvPr/>
          </p:nvSpPr>
          <p:spPr>
            <a:xfrm>
              <a:off x="5783" y="848"/>
              <a:ext cx="7637" cy="510"/>
            </a:xfrm>
            <a:custGeom>
              <a:avLst/>
              <a:gdLst/>
              <a:ahLst/>
              <a:cxnLst>
                <a:cxn ang="0">
                  <a:pos x="2326" y="31"/>
                </a:cxn>
                <a:cxn ang="0">
                  <a:pos x="3433" y="31"/>
                </a:cxn>
                <a:cxn ang="0">
                  <a:pos x="4216" y="31"/>
                </a:cxn>
                <a:cxn ang="0">
                  <a:pos x="5259" y="31"/>
                </a:cxn>
                <a:cxn ang="0">
                  <a:pos x="5738" y="512"/>
                </a:cxn>
                <a:cxn ang="0">
                  <a:pos x="7637" y="512"/>
                </a:cxn>
                <a:cxn ang="0">
                  <a:pos x="7637" y="494"/>
                </a:cxn>
                <a:cxn ang="0">
                  <a:pos x="5747" y="494"/>
                </a:cxn>
                <a:cxn ang="0">
                  <a:pos x="5266" y="13"/>
                </a:cxn>
                <a:cxn ang="0">
                  <a:pos x="4216" y="13"/>
                </a:cxn>
                <a:cxn ang="0">
                  <a:pos x="3433" y="13"/>
                </a:cxn>
                <a:cxn ang="0">
                  <a:pos x="2319" y="13"/>
                </a:cxn>
                <a:cxn ang="0">
                  <a:pos x="1838" y="494"/>
                </a:cxn>
                <a:cxn ang="0">
                  <a:pos x="13" y="494"/>
                </a:cxn>
                <a:cxn ang="0">
                  <a:pos x="13" y="512"/>
                </a:cxn>
                <a:cxn ang="0">
                  <a:pos x="1845" y="512"/>
                </a:cxn>
              </a:cxnLst>
              <a:rect l="0" t="0" r="0" b="0"/>
              <a:pathLst>
                <a:path w="4849342" h="324061">
                  <a:moveTo>
                    <a:pt x="1477371" y="20254"/>
                  </a:moveTo>
                  <a:lnTo>
                    <a:pt x="2179890" y="20254"/>
                  </a:lnTo>
                  <a:lnTo>
                    <a:pt x="2677555" y="20254"/>
                  </a:lnTo>
                  <a:lnTo>
                    <a:pt x="3339565" y="20254"/>
                  </a:lnTo>
                  <a:lnTo>
                    <a:pt x="3643951" y="325797"/>
                  </a:lnTo>
                  <a:lnTo>
                    <a:pt x="4849922" y="325797"/>
                  </a:lnTo>
                  <a:lnTo>
                    <a:pt x="4849922" y="314224"/>
                  </a:lnTo>
                  <a:lnTo>
                    <a:pt x="3649738" y="314224"/>
                  </a:lnTo>
                  <a:lnTo>
                    <a:pt x="3344195" y="8680"/>
                  </a:lnTo>
                  <a:lnTo>
                    <a:pt x="2677555" y="8680"/>
                  </a:lnTo>
                  <a:lnTo>
                    <a:pt x="2179890" y="8680"/>
                  </a:lnTo>
                  <a:lnTo>
                    <a:pt x="1472742" y="8680"/>
                  </a:lnTo>
                  <a:lnTo>
                    <a:pt x="1167199" y="314224"/>
                  </a:lnTo>
                  <a:lnTo>
                    <a:pt x="8680" y="314224"/>
                  </a:lnTo>
                  <a:lnTo>
                    <a:pt x="8680" y="325797"/>
                  </a:lnTo>
                  <a:lnTo>
                    <a:pt x="1171828" y="325797"/>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20" name="任意多边形: 形状 188"/>
            <p:cNvSpPr/>
            <p:nvPr/>
          </p:nvSpPr>
          <p:spPr>
            <a:xfrm>
              <a:off x="7826" y="1017"/>
              <a:ext cx="3536" cy="383"/>
            </a:xfrm>
            <a:custGeom>
              <a:avLst/>
              <a:gdLst/>
              <a:ahLst/>
              <a:cxnLst>
                <a:cxn ang="0">
                  <a:pos x="3192" y="13"/>
                </a:cxn>
                <a:cxn ang="0">
                  <a:pos x="1845" y="13"/>
                </a:cxn>
                <a:cxn ang="0">
                  <a:pos x="1705" y="13"/>
                </a:cxn>
                <a:cxn ang="0">
                  <a:pos x="356" y="13"/>
                </a:cxn>
                <a:cxn ang="0">
                  <a:pos x="13" y="358"/>
                </a:cxn>
                <a:cxn ang="0">
                  <a:pos x="24" y="371"/>
                </a:cxn>
                <a:cxn ang="0">
                  <a:pos x="363" y="31"/>
                </a:cxn>
                <a:cxn ang="0">
                  <a:pos x="1705" y="31"/>
                </a:cxn>
                <a:cxn ang="0">
                  <a:pos x="1845" y="31"/>
                </a:cxn>
                <a:cxn ang="0">
                  <a:pos x="3185" y="31"/>
                </a:cxn>
                <a:cxn ang="0">
                  <a:pos x="3516" y="362"/>
                </a:cxn>
                <a:cxn ang="0">
                  <a:pos x="3529" y="351"/>
                </a:cxn>
              </a:cxnLst>
              <a:rect l="0" t="0" r="0" b="0"/>
              <a:pathLst>
                <a:path w="2245280" h="243045">
                  <a:moveTo>
                    <a:pt x="2027118" y="8680"/>
                  </a:moveTo>
                  <a:lnTo>
                    <a:pt x="1171828" y="8680"/>
                  </a:lnTo>
                  <a:lnTo>
                    <a:pt x="1082711" y="8680"/>
                  </a:lnTo>
                  <a:lnTo>
                    <a:pt x="226264" y="8680"/>
                  </a:lnTo>
                  <a:lnTo>
                    <a:pt x="8680" y="227421"/>
                  </a:lnTo>
                  <a:lnTo>
                    <a:pt x="15624" y="235523"/>
                  </a:lnTo>
                  <a:lnTo>
                    <a:pt x="230894" y="20254"/>
                  </a:lnTo>
                  <a:lnTo>
                    <a:pt x="1082711" y="20254"/>
                  </a:lnTo>
                  <a:lnTo>
                    <a:pt x="1171828" y="20254"/>
                  </a:lnTo>
                  <a:lnTo>
                    <a:pt x="2022488" y="20254"/>
                  </a:lnTo>
                  <a:lnTo>
                    <a:pt x="2233128" y="229736"/>
                  </a:lnTo>
                  <a:lnTo>
                    <a:pt x="2241230" y="222792"/>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grpSp>
      <p:grpSp>
        <p:nvGrpSpPr>
          <p:cNvPr id="21" name="组合 7"/>
          <p:cNvGrpSpPr/>
          <p:nvPr/>
        </p:nvGrpSpPr>
        <p:grpSpPr>
          <a:xfrm flipV="1">
            <a:off x="3671887" y="4972580"/>
            <a:ext cx="4849813" cy="336550"/>
            <a:chOff x="5975" y="1069"/>
            <a:chExt cx="7636" cy="530"/>
          </a:xfrm>
        </p:grpSpPr>
        <p:sp>
          <p:nvSpPr>
            <p:cNvPr id="22" name="任意多边形: 形状 187"/>
            <p:cNvSpPr/>
            <p:nvPr/>
          </p:nvSpPr>
          <p:spPr>
            <a:xfrm>
              <a:off x="5975" y="1069"/>
              <a:ext cx="7637" cy="510"/>
            </a:xfrm>
            <a:custGeom>
              <a:avLst/>
              <a:gdLst/>
              <a:ahLst/>
              <a:cxnLst>
                <a:cxn ang="0">
                  <a:pos x="2326" y="31"/>
                </a:cxn>
                <a:cxn ang="0">
                  <a:pos x="3433" y="31"/>
                </a:cxn>
                <a:cxn ang="0">
                  <a:pos x="4216" y="31"/>
                </a:cxn>
                <a:cxn ang="0">
                  <a:pos x="5259" y="31"/>
                </a:cxn>
                <a:cxn ang="0">
                  <a:pos x="5738" y="512"/>
                </a:cxn>
                <a:cxn ang="0">
                  <a:pos x="7637" y="512"/>
                </a:cxn>
                <a:cxn ang="0">
                  <a:pos x="7637" y="494"/>
                </a:cxn>
                <a:cxn ang="0">
                  <a:pos x="5747" y="494"/>
                </a:cxn>
                <a:cxn ang="0">
                  <a:pos x="5266" y="13"/>
                </a:cxn>
                <a:cxn ang="0">
                  <a:pos x="4216" y="13"/>
                </a:cxn>
                <a:cxn ang="0">
                  <a:pos x="3433" y="13"/>
                </a:cxn>
                <a:cxn ang="0">
                  <a:pos x="2319" y="13"/>
                </a:cxn>
                <a:cxn ang="0">
                  <a:pos x="1838" y="494"/>
                </a:cxn>
                <a:cxn ang="0">
                  <a:pos x="13" y="494"/>
                </a:cxn>
                <a:cxn ang="0">
                  <a:pos x="13" y="512"/>
                </a:cxn>
                <a:cxn ang="0">
                  <a:pos x="1845" y="512"/>
                </a:cxn>
              </a:cxnLst>
              <a:rect l="0" t="0" r="0" b="0"/>
              <a:pathLst>
                <a:path w="4849342" h="324061">
                  <a:moveTo>
                    <a:pt x="1477371" y="20254"/>
                  </a:moveTo>
                  <a:lnTo>
                    <a:pt x="2179890" y="20254"/>
                  </a:lnTo>
                  <a:lnTo>
                    <a:pt x="2677555" y="20254"/>
                  </a:lnTo>
                  <a:lnTo>
                    <a:pt x="3339565" y="20254"/>
                  </a:lnTo>
                  <a:lnTo>
                    <a:pt x="3643951" y="325797"/>
                  </a:lnTo>
                  <a:lnTo>
                    <a:pt x="4849922" y="325797"/>
                  </a:lnTo>
                  <a:lnTo>
                    <a:pt x="4849922" y="314224"/>
                  </a:lnTo>
                  <a:lnTo>
                    <a:pt x="3649738" y="314224"/>
                  </a:lnTo>
                  <a:lnTo>
                    <a:pt x="3344195" y="8680"/>
                  </a:lnTo>
                  <a:lnTo>
                    <a:pt x="2677555" y="8680"/>
                  </a:lnTo>
                  <a:lnTo>
                    <a:pt x="2179890" y="8680"/>
                  </a:lnTo>
                  <a:lnTo>
                    <a:pt x="1472742" y="8680"/>
                  </a:lnTo>
                  <a:lnTo>
                    <a:pt x="1167199" y="314224"/>
                  </a:lnTo>
                  <a:lnTo>
                    <a:pt x="8680" y="314224"/>
                  </a:lnTo>
                  <a:lnTo>
                    <a:pt x="8680" y="325797"/>
                  </a:lnTo>
                  <a:lnTo>
                    <a:pt x="1171828" y="325797"/>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23" name="任意多边形: 形状 188"/>
            <p:cNvSpPr/>
            <p:nvPr/>
          </p:nvSpPr>
          <p:spPr>
            <a:xfrm>
              <a:off x="8026" y="1217"/>
              <a:ext cx="3536" cy="383"/>
            </a:xfrm>
            <a:custGeom>
              <a:avLst/>
              <a:gdLst/>
              <a:ahLst/>
              <a:cxnLst>
                <a:cxn ang="0">
                  <a:pos x="3192" y="13"/>
                </a:cxn>
                <a:cxn ang="0">
                  <a:pos x="1845" y="13"/>
                </a:cxn>
                <a:cxn ang="0">
                  <a:pos x="1705" y="13"/>
                </a:cxn>
                <a:cxn ang="0">
                  <a:pos x="356" y="13"/>
                </a:cxn>
                <a:cxn ang="0">
                  <a:pos x="13" y="358"/>
                </a:cxn>
                <a:cxn ang="0">
                  <a:pos x="24" y="371"/>
                </a:cxn>
                <a:cxn ang="0">
                  <a:pos x="363" y="31"/>
                </a:cxn>
                <a:cxn ang="0">
                  <a:pos x="1705" y="31"/>
                </a:cxn>
                <a:cxn ang="0">
                  <a:pos x="1845" y="31"/>
                </a:cxn>
                <a:cxn ang="0">
                  <a:pos x="3185" y="31"/>
                </a:cxn>
                <a:cxn ang="0">
                  <a:pos x="3516" y="362"/>
                </a:cxn>
                <a:cxn ang="0">
                  <a:pos x="3529" y="351"/>
                </a:cxn>
              </a:cxnLst>
              <a:rect l="0" t="0" r="0" b="0"/>
              <a:pathLst>
                <a:path w="2245280" h="243045">
                  <a:moveTo>
                    <a:pt x="2027118" y="8680"/>
                  </a:moveTo>
                  <a:lnTo>
                    <a:pt x="1171828" y="8680"/>
                  </a:lnTo>
                  <a:lnTo>
                    <a:pt x="1082711" y="8680"/>
                  </a:lnTo>
                  <a:lnTo>
                    <a:pt x="226264" y="8680"/>
                  </a:lnTo>
                  <a:lnTo>
                    <a:pt x="8680" y="227421"/>
                  </a:lnTo>
                  <a:lnTo>
                    <a:pt x="15624" y="235523"/>
                  </a:lnTo>
                  <a:lnTo>
                    <a:pt x="230894" y="20254"/>
                  </a:lnTo>
                  <a:lnTo>
                    <a:pt x="1082711" y="20254"/>
                  </a:lnTo>
                  <a:lnTo>
                    <a:pt x="1171828" y="20254"/>
                  </a:lnTo>
                  <a:lnTo>
                    <a:pt x="2022488" y="20254"/>
                  </a:lnTo>
                  <a:lnTo>
                    <a:pt x="2233128" y="229736"/>
                  </a:lnTo>
                  <a:lnTo>
                    <a:pt x="2241230" y="222792"/>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矩形 14"/>
          <p:cNvSpPr/>
          <p:nvPr/>
        </p:nvSpPr>
        <p:spPr>
          <a:xfrm>
            <a:off x="-350520" y="721360"/>
            <a:ext cx="12862560" cy="5641340"/>
          </a:xfrm>
          <a:prstGeom prst="rect">
            <a:avLst/>
          </a:prstGeom>
          <a:solidFill>
            <a:schemeClr val="bg1"/>
          </a:solidFill>
          <a:ln>
            <a:solidFill>
              <a:srgbClr val="012F8D"/>
            </a:solidFill>
          </a:ln>
          <a:effectLst>
            <a:outerShdw blurRad="50800" dist="38100" dir="10800000" algn="r" rotWithShape="0">
              <a:prstClr val="black">
                <a:alpha val="40000"/>
              </a:prstClr>
            </a:outerShdw>
            <a:softEdge rad="317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3" name="Rectangle 2"/>
          <p:cNvSpPr/>
          <p:nvPr/>
        </p:nvSpPr>
        <p:spPr>
          <a:xfrm>
            <a:off x="502920" y="1018413"/>
            <a:ext cx="82296" cy="566928"/>
          </a:xfrm>
          <a:prstGeom prst="rect">
            <a:avLst/>
          </a:prstGeom>
          <a:solidFill>
            <a:srgbClr val="1C41A9"/>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4" name="TextBox 3"/>
          <p:cNvSpPr txBox="1"/>
          <p:nvPr/>
        </p:nvSpPr>
        <p:spPr>
          <a:xfrm>
            <a:off x="713232" y="1066736"/>
            <a:ext cx="10058400" cy="479425"/>
          </a:xfrm>
          <a:prstGeom prst="rect">
            <a:avLst/>
          </a:prstGeom>
          <a:noFill/>
        </p:spPr>
        <p:txBody>
          <a:bodyPr wrap="square" lIns="18288" tIns="9144" rIns="18288" bIns="9144" anchor="ctr">
            <a:spAutoFit/>
          </a:bodyPr>
          <a:p>
            <a:pPr algn="l">
              <a:spcAft>
                <a:spcPts val="400"/>
              </a:spcAft>
            </a:pPr>
            <a:r>
              <a:rPr sz="3000">
                <a:solidFill>
                  <a:srgbClr val="195CC4"/>
                </a:solidFill>
                <a:latin typeface="OPPOSans B" panose="00020600040101010101" charset="-122"/>
                <a:ea typeface="OPPOSans B" panose="00020600040101010101" charset="-122"/>
                <a:sym typeface="+mn-ea"/>
              </a:rPr>
              <a:t>总体方案：贯通知识构建与可信问答的业务闭环</a:t>
            </a:r>
            <a:endParaRPr sz="3000">
              <a:solidFill>
                <a:srgbClr val="195CC4"/>
              </a:solidFill>
              <a:latin typeface="OPPOSans B" panose="00020600040101010101" charset="-122"/>
              <a:ea typeface="OPPOSans B" panose="00020600040101010101" charset="-122"/>
              <a:sym typeface="+mn-ea"/>
            </a:endParaRPr>
          </a:p>
        </p:txBody>
      </p:sp>
      <p:sp>
        <p:nvSpPr>
          <p:cNvPr id="23" name="Rectangle 5"/>
          <p:cNvSpPr/>
          <p:nvPr/>
        </p:nvSpPr>
        <p:spPr>
          <a:xfrm>
            <a:off x="713105" y="1553845"/>
            <a:ext cx="11016000" cy="20320"/>
          </a:xfrm>
          <a:prstGeom prst="rect">
            <a:avLst/>
          </a:prstGeom>
          <a:solidFill>
            <a:srgbClr val="D9DEE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6" name="TextBox 5"/>
          <p:cNvSpPr txBox="1"/>
          <p:nvPr/>
        </p:nvSpPr>
        <p:spPr>
          <a:xfrm>
            <a:off x="693420" y="1686560"/>
            <a:ext cx="11155680" cy="263525"/>
          </a:xfrm>
          <a:prstGeom prst="rect">
            <a:avLst/>
          </a:prstGeom>
          <a:noFill/>
        </p:spPr>
        <p:txBody>
          <a:bodyPr wrap="square" lIns="18288" tIns="9144" rIns="18288" bIns="9144" anchor="t">
            <a:spAutoFit/>
          </a:bodyPr>
          <a:p>
            <a:pPr algn="l">
              <a:spcAft>
                <a:spcPts val="400"/>
              </a:spcAft>
            </a:pPr>
            <a:r>
              <a:rPr sz="1600">
                <a:solidFill>
                  <a:srgbClr val="1F3864"/>
                </a:solidFill>
                <a:latin typeface="OPPOSans B" panose="00020600040101010101" charset="-122"/>
                <a:ea typeface="OPPOSans B" panose="00020600040101010101" charset="-122"/>
                <a:cs typeface="OPPOSans R" panose="00020600040101010101" charset="-122"/>
              </a:rPr>
              <a:t>围绕文档处理与可信问答两项赛题任务，构建“</a:t>
            </a:r>
            <a:r>
              <a:rPr sz="1600">
                <a:solidFill>
                  <a:srgbClr val="CE0000"/>
                </a:solidFill>
                <a:latin typeface="OPPOSans B" panose="00020600040101010101" charset="-122"/>
                <a:ea typeface="OPPOSans B" panose="00020600040101010101" charset="-122"/>
                <a:cs typeface="OPPOSans B" panose="00020600040101010101" charset="-122"/>
              </a:rPr>
              <a:t>知识可定位、计算可复核、结论可核验、服务可持续</a:t>
            </a:r>
            <a:r>
              <a:rPr sz="1600">
                <a:solidFill>
                  <a:srgbClr val="1F3864"/>
                </a:solidFill>
                <a:latin typeface="OPPOSans B" panose="00020600040101010101" charset="-122"/>
                <a:ea typeface="OPPOSans B" panose="00020600040101010101" charset="-122"/>
                <a:cs typeface="OPPOSans R" panose="00020600040101010101" charset="-122"/>
              </a:rPr>
              <a:t>”的业务能力。</a:t>
            </a:r>
            <a:endParaRPr sz="1600">
              <a:solidFill>
                <a:srgbClr val="1F3864"/>
              </a:solidFill>
              <a:latin typeface="OPPOSans B" panose="00020600040101010101" charset="-122"/>
              <a:ea typeface="OPPOSans B" panose="00020600040101010101" charset="-122"/>
              <a:cs typeface="OPPOSans R" panose="00020600040101010101" charset="-122"/>
            </a:endParaRPr>
          </a:p>
        </p:txBody>
      </p:sp>
      <p:sp>
        <p:nvSpPr>
          <p:cNvPr id="24" name="Pentagon 6"/>
          <p:cNvSpPr/>
          <p:nvPr/>
        </p:nvSpPr>
        <p:spPr>
          <a:xfrm>
            <a:off x="502920" y="2101850"/>
            <a:ext cx="1691640" cy="566928"/>
          </a:xfrm>
          <a:prstGeom prst="homePlat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5" name="TextBox 7"/>
          <p:cNvSpPr txBox="1"/>
          <p:nvPr/>
        </p:nvSpPr>
        <p:spPr>
          <a:xfrm>
            <a:off x="612648" y="2228851"/>
            <a:ext cx="1463040" cy="294640"/>
          </a:xfrm>
          <a:prstGeom prst="rect">
            <a:avLst/>
          </a:prstGeom>
          <a:noFill/>
        </p:spPr>
        <p:txBody>
          <a:bodyPr wrap="square" lIns="18288" tIns="9144" rIns="18288" bIns="9144" anchor="ctr">
            <a:spAutoFit/>
          </a:bodyPr>
          <a:p>
            <a:pPr algn="ctr">
              <a:spcAft>
                <a:spcPts val="400"/>
              </a:spcAft>
            </a:pPr>
            <a:r>
              <a:rPr>
                <a:solidFill>
                  <a:srgbClr val="FFFFFF"/>
                </a:solidFill>
                <a:latin typeface="OPPOSans B" panose="00020600040101010101" charset="-122"/>
                <a:ea typeface="OPPOSans B" panose="00020600040101010101" charset="-122"/>
              </a:rPr>
              <a:t>输入</a:t>
            </a:r>
            <a:endParaRPr>
              <a:solidFill>
                <a:srgbClr val="FFFFFF"/>
              </a:solidFill>
              <a:latin typeface="OPPOSans B" panose="00020600040101010101" charset="-122"/>
              <a:ea typeface="OPPOSans B" panose="00020600040101010101" charset="-122"/>
            </a:endParaRPr>
          </a:p>
        </p:txBody>
      </p:sp>
      <p:sp>
        <p:nvSpPr>
          <p:cNvPr id="26" name="Chevron 8"/>
          <p:cNvSpPr/>
          <p:nvPr/>
        </p:nvSpPr>
        <p:spPr>
          <a:xfrm>
            <a:off x="2377439" y="2101850"/>
            <a:ext cx="1691640" cy="566928"/>
          </a:xfrm>
          <a:prstGeom prst="chevron">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7" name="TextBox 9"/>
          <p:cNvSpPr txBox="1"/>
          <p:nvPr/>
        </p:nvSpPr>
        <p:spPr>
          <a:xfrm>
            <a:off x="2540508" y="2228851"/>
            <a:ext cx="1463040" cy="294640"/>
          </a:xfrm>
          <a:prstGeom prst="rect">
            <a:avLst/>
          </a:prstGeom>
          <a:noFill/>
        </p:spPr>
        <p:txBody>
          <a:bodyPr wrap="square" lIns="18288" tIns="9144" rIns="18288" bIns="9144" anchor="ctr">
            <a:spAutoFit/>
          </a:bodyPr>
          <a:p>
            <a:pPr algn="ctr">
              <a:spcAft>
                <a:spcPts val="400"/>
              </a:spcAft>
              <a:buClrTx/>
              <a:buSzTx/>
              <a:buFontTx/>
            </a:pPr>
            <a:r>
              <a:rPr>
                <a:solidFill>
                  <a:srgbClr val="FFFFFF"/>
                </a:solidFill>
                <a:latin typeface="OPPOSans B" panose="00020600040101010101" charset="-122"/>
                <a:ea typeface="OPPOSans B" panose="00020600040101010101" charset="-122"/>
              </a:rPr>
              <a:t>结构化处理</a:t>
            </a:r>
            <a:endParaRPr>
              <a:solidFill>
                <a:srgbClr val="FFFFFF"/>
              </a:solidFill>
              <a:latin typeface="OPPOSans B" panose="00020600040101010101" charset="-122"/>
              <a:ea typeface="OPPOSans B" panose="00020600040101010101" charset="-122"/>
            </a:endParaRPr>
          </a:p>
        </p:txBody>
      </p:sp>
      <p:sp>
        <p:nvSpPr>
          <p:cNvPr id="28" name="Chevron 10"/>
          <p:cNvSpPr/>
          <p:nvPr/>
        </p:nvSpPr>
        <p:spPr>
          <a:xfrm>
            <a:off x="4251959" y="2101850"/>
            <a:ext cx="1691640" cy="566928"/>
          </a:xfrm>
          <a:prstGeom prst="chevron">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9" name="TextBox 11"/>
          <p:cNvSpPr txBox="1"/>
          <p:nvPr/>
        </p:nvSpPr>
        <p:spPr>
          <a:xfrm>
            <a:off x="4392168" y="2228851"/>
            <a:ext cx="1463040" cy="294640"/>
          </a:xfrm>
          <a:prstGeom prst="rect">
            <a:avLst/>
          </a:prstGeom>
          <a:noFill/>
        </p:spPr>
        <p:txBody>
          <a:bodyPr wrap="square" lIns="18288" tIns="9144" rIns="18288" bIns="9144" anchor="ctr">
            <a:spAutoFit/>
          </a:bodyPr>
          <a:p>
            <a:pPr algn="ctr">
              <a:spcAft>
                <a:spcPts val="400"/>
              </a:spcAft>
            </a:pPr>
            <a:r>
              <a:rPr>
                <a:solidFill>
                  <a:srgbClr val="FFFFFF"/>
                </a:solidFill>
                <a:latin typeface="OPPOSans B" panose="00020600040101010101" charset="-122"/>
                <a:ea typeface="OPPOSans B" panose="00020600040101010101" charset="-122"/>
              </a:rPr>
              <a:t>检索推理</a:t>
            </a:r>
            <a:endParaRPr>
              <a:solidFill>
                <a:srgbClr val="FFFFFF"/>
              </a:solidFill>
              <a:latin typeface="OPPOSans B" panose="00020600040101010101" charset="-122"/>
              <a:ea typeface="OPPOSans B" panose="00020600040101010101" charset="-122"/>
            </a:endParaRPr>
          </a:p>
        </p:txBody>
      </p:sp>
      <p:sp>
        <p:nvSpPr>
          <p:cNvPr id="30" name="Chevron 12"/>
          <p:cNvSpPr/>
          <p:nvPr/>
        </p:nvSpPr>
        <p:spPr>
          <a:xfrm>
            <a:off x="6126479" y="2101850"/>
            <a:ext cx="1691640" cy="566928"/>
          </a:xfrm>
          <a:prstGeom prst="chevron">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1" name="TextBox 13"/>
          <p:cNvSpPr txBox="1"/>
          <p:nvPr/>
        </p:nvSpPr>
        <p:spPr>
          <a:xfrm>
            <a:off x="6266687" y="2228851"/>
            <a:ext cx="1463040" cy="294640"/>
          </a:xfrm>
          <a:prstGeom prst="rect">
            <a:avLst/>
          </a:prstGeom>
          <a:noFill/>
        </p:spPr>
        <p:txBody>
          <a:bodyPr wrap="square" lIns="18288" tIns="9144" rIns="18288" bIns="9144" anchor="ctr">
            <a:spAutoFit/>
          </a:bodyPr>
          <a:p>
            <a:pPr algn="ctr">
              <a:spcAft>
                <a:spcPts val="400"/>
              </a:spcAft>
            </a:pPr>
            <a:r>
              <a:rPr>
                <a:solidFill>
                  <a:srgbClr val="FFFFFF"/>
                </a:solidFill>
                <a:latin typeface="OPPOSans B" panose="00020600040101010101" charset="-122"/>
                <a:ea typeface="OPPOSans B" panose="00020600040101010101" charset="-122"/>
              </a:rPr>
              <a:t>可信校验</a:t>
            </a:r>
            <a:endParaRPr>
              <a:solidFill>
                <a:srgbClr val="FFFFFF"/>
              </a:solidFill>
              <a:latin typeface="OPPOSans B" panose="00020600040101010101" charset="-122"/>
              <a:ea typeface="OPPOSans B" panose="00020600040101010101" charset="-122"/>
            </a:endParaRPr>
          </a:p>
        </p:txBody>
      </p:sp>
      <p:sp>
        <p:nvSpPr>
          <p:cNvPr id="32" name="Chevron 14"/>
          <p:cNvSpPr/>
          <p:nvPr/>
        </p:nvSpPr>
        <p:spPr>
          <a:xfrm>
            <a:off x="8001000" y="2101850"/>
            <a:ext cx="1691640" cy="566928"/>
          </a:xfrm>
          <a:prstGeom prst="chevron">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3" name="TextBox 15"/>
          <p:cNvSpPr txBox="1"/>
          <p:nvPr/>
        </p:nvSpPr>
        <p:spPr>
          <a:xfrm>
            <a:off x="8179307" y="2228851"/>
            <a:ext cx="1463040" cy="294640"/>
          </a:xfrm>
          <a:prstGeom prst="rect">
            <a:avLst/>
          </a:prstGeom>
          <a:noFill/>
        </p:spPr>
        <p:txBody>
          <a:bodyPr wrap="square" lIns="18288" tIns="9144" rIns="18288" bIns="9144" anchor="ctr">
            <a:spAutoFit/>
          </a:bodyPr>
          <a:p>
            <a:pPr algn="ctr">
              <a:spcAft>
                <a:spcPts val="400"/>
              </a:spcAft>
            </a:pPr>
            <a:r>
              <a:rPr>
                <a:solidFill>
                  <a:srgbClr val="FFFFFF"/>
                </a:solidFill>
                <a:latin typeface="OPPOSans B" panose="00020600040101010101" charset="-122"/>
                <a:ea typeface="OPPOSans B" panose="00020600040101010101" charset="-122"/>
              </a:rPr>
              <a:t>可溯源输出</a:t>
            </a:r>
            <a:endParaRPr>
              <a:solidFill>
                <a:srgbClr val="FFFFFF"/>
              </a:solidFill>
              <a:latin typeface="OPPOSans B" panose="00020600040101010101" charset="-122"/>
              <a:ea typeface="OPPOSans B" panose="00020600040101010101" charset="-122"/>
            </a:endParaRPr>
          </a:p>
        </p:txBody>
      </p:sp>
      <p:sp>
        <p:nvSpPr>
          <p:cNvPr id="34" name="Chevron 16"/>
          <p:cNvSpPr/>
          <p:nvPr/>
        </p:nvSpPr>
        <p:spPr>
          <a:xfrm>
            <a:off x="9875520" y="2101850"/>
            <a:ext cx="1691640" cy="566928"/>
          </a:xfrm>
          <a:prstGeom prst="chevron">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5" name="TextBox 17"/>
          <p:cNvSpPr txBox="1"/>
          <p:nvPr/>
        </p:nvSpPr>
        <p:spPr>
          <a:xfrm>
            <a:off x="10030968" y="2228851"/>
            <a:ext cx="1463040" cy="294640"/>
          </a:xfrm>
          <a:prstGeom prst="rect">
            <a:avLst/>
          </a:prstGeom>
          <a:noFill/>
        </p:spPr>
        <p:txBody>
          <a:bodyPr wrap="square" lIns="18288" tIns="9144" rIns="18288" bIns="9144" anchor="ctr">
            <a:spAutoFit/>
          </a:bodyPr>
          <a:p>
            <a:pPr algn="ctr">
              <a:spcAft>
                <a:spcPts val="400"/>
              </a:spcAft>
            </a:pPr>
            <a:r>
              <a:rPr>
                <a:solidFill>
                  <a:srgbClr val="FFFFFF"/>
                </a:solidFill>
                <a:latin typeface="OPPOSans B" panose="00020600040101010101" charset="-122"/>
                <a:ea typeface="OPPOSans B" panose="00020600040101010101" charset="-122"/>
              </a:rPr>
              <a:t>审计评测</a:t>
            </a:r>
            <a:endParaRPr>
              <a:solidFill>
                <a:srgbClr val="FFFFFF"/>
              </a:solidFill>
              <a:latin typeface="OPPOSans B" panose="00020600040101010101" charset="-122"/>
              <a:ea typeface="OPPOSans B" panose="00020600040101010101" charset="-122"/>
            </a:endParaRPr>
          </a:p>
        </p:txBody>
      </p:sp>
      <p:sp>
        <p:nvSpPr>
          <p:cNvPr id="36" name="TextBox 18"/>
          <p:cNvSpPr txBox="1"/>
          <p:nvPr/>
        </p:nvSpPr>
        <p:spPr>
          <a:xfrm>
            <a:off x="502920" y="2750820"/>
            <a:ext cx="11155680" cy="386715"/>
          </a:xfrm>
          <a:prstGeom prst="rect">
            <a:avLst/>
          </a:prstGeom>
          <a:noFill/>
        </p:spPr>
        <p:txBody>
          <a:bodyPr wrap="square" lIns="18288" tIns="9144" rIns="18288" bIns="9144" anchor="t">
            <a:spAutoFit/>
          </a:bodyPr>
          <a:p>
            <a:pPr algn="l">
              <a:spcAft>
                <a:spcPts val="400"/>
              </a:spcAft>
            </a:pPr>
            <a:r>
              <a:rPr sz="2400">
                <a:solidFill>
                  <a:srgbClr val="C00000"/>
                </a:solidFill>
                <a:latin typeface="OPPOSans B" panose="00020600040101010101" charset="-122"/>
                <a:ea typeface="OPPOSans B" panose="00020600040101010101" charset="-122"/>
              </a:rPr>
              <a:t>四项核心能力</a:t>
            </a:r>
            <a:endParaRPr sz="2400">
              <a:solidFill>
                <a:srgbClr val="C00000"/>
              </a:solidFill>
              <a:latin typeface="OPPOSans B" panose="00020600040101010101" charset="-122"/>
              <a:ea typeface="OPPOSans B" panose="00020600040101010101" charset="-122"/>
            </a:endParaRPr>
          </a:p>
        </p:txBody>
      </p:sp>
      <p:sp>
        <p:nvSpPr>
          <p:cNvPr id="37" name="Rectangle 19"/>
          <p:cNvSpPr/>
          <p:nvPr/>
        </p:nvSpPr>
        <p:spPr>
          <a:xfrm>
            <a:off x="502920" y="3238500"/>
            <a:ext cx="5486400" cy="105156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8" name="Rectangle 20"/>
          <p:cNvSpPr/>
          <p:nvPr/>
        </p:nvSpPr>
        <p:spPr>
          <a:xfrm>
            <a:off x="502920" y="3238500"/>
            <a:ext cx="82296" cy="1051560"/>
          </a:xfrm>
          <a:prstGeom prst="rect">
            <a:avLst/>
          </a:prstGeom>
          <a:solidFill>
            <a:schemeClr val="accent1"/>
          </a:solidFill>
          <a:ln>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9" name="TextBox 21"/>
          <p:cNvSpPr txBox="1"/>
          <p:nvPr/>
        </p:nvSpPr>
        <p:spPr>
          <a:xfrm>
            <a:off x="731520" y="3288792"/>
            <a:ext cx="5120640" cy="325120"/>
          </a:xfrm>
          <a:prstGeom prst="rect">
            <a:avLst/>
          </a:prstGeom>
          <a:noFill/>
        </p:spPr>
        <p:txBody>
          <a:bodyPr wrap="square" lIns="18288" tIns="9144" rIns="18288" bIns="9144" anchor="t">
            <a:spAutoFit/>
          </a:bodyPr>
          <a:p>
            <a:pPr algn="l">
              <a:spcAft>
                <a:spcPts val="400"/>
              </a:spcAft>
            </a:pPr>
            <a:r>
              <a:rPr sz="2000">
                <a:solidFill>
                  <a:schemeClr val="accent1"/>
                </a:solidFill>
                <a:latin typeface="OPPOSans B" panose="00020600040101010101" charset="-122"/>
                <a:ea typeface="OPPOSans B" panose="00020600040101010101" charset="-122"/>
                <a:cs typeface="OPPOSans B" panose="00020600040101010101" charset="-122"/>
              </a:rPr>
              <a:t>1. 知识可定位</a:t>
            </a:r>
            <a:endParaRPr sz="2000">
              <a:solidFill>
                <a:schemeClr val="accent1"/>
              </a:solidFill>
              <a:latin typeface="OPPOSans B" panose="00020600040101010101" charset="-122"/>
              <a:ea typeface="OPPOSans B" panose="00020600040101010101" charset="-122"/>
              <a:cs typeface="OPPOSans B" panose="00020600040101010101" charset="-122"/>
            </a:endParaRPr>
          </a:p>
        </p:txBody>
      </p:sp>
      <p:sp>
        <p:nvSpPr>
          <p:cNvPr id="40" name="TextBox 22"/>
          <p:cNvSpPr txBox="1"/>
          <p:nvPr/>
        </p:nvSpPr>
        <p:spPr>
          <a:xfrm>
            <a:off x="731520" y="3670300"/>
            <a:ext cx="5257800" cy="534035"/>
          </a:xfrm>
          <a:prstGeom prst="rect">
            <a:avLst/>
          </a:prstGeom>
          <a:noFill/>
        </p:spPr>
        <p:txBody>
          <a:bodyPr wrap="square" lIns="18288" tIns="9144" rIns="18288" bIns="9144" anchor="t">
            <a:spAutoFit/>
          </a:bodyPr>
          <a:p>
            <a:pPr lvl="0" algn="l">
              <a:lnSpc>
                <a:spcPct val="120000"/>
              </a:lnSpc>
              <a:spcAft>
                <a:spcPts val="400"/>
              </a:spcAft>
              <a:buClrTx/>
              <a:buSzTx/>
              <a:buFontTx/>
            </a:pPr>
            <a:r>
              <a:rPr sz="1400">
                <a:solidFill>
                  <a:schemeClr val="tx1"/>
                </a:solidFill>
                <a:latin typeface="OPPOSans R" panose="00020600040101010101" charset="-122"/>
                <a:ea typeface="OPPOSans R" panose="00020600040101010101" charset="-122"/>
                <a:cs typeface="OPPOSans R" panose="00020600040101010101" charset="-122"/>
              </a:rPr>
              <a:t>制度条款、定义与表格单元格统一组织，保留</a:t>
            </a:r>
            <a:r>
              <a:rPr sz="1400">
                <a:solidFill>
                  <a:schemeClr val="accent1"/>
                </a:solidFill>
                <a:latin typeface="OPPOSans B" panose="00020600040101010101" charset="-122"/>
                <a:ea typeface="OPPOSans B" panose="00020600040101010101" charset="-122"/>
                <a:cs typeface="OPPOSans R" panose="00020600040101010101" charset="-122"/>
                <a:sym typeface="+mn-ea"/>
              </a:rPr>
              <a:t>原始来源与业务维度</a:t>
            </a:r>
            <a:endParaRPr sz="1400">
              <a:solidFill>
                <a:schemeClr val="accent1"/>
              </a:solidFill>
              <a:latin typeface="OPPOSans B" panose="00020600040101010101" charset="-122"/>
              <a:ea typeface="OPPOSans B" panose="00020600040101010101" charset="-122"/>
              <a:cs typeface="OPPOSans R" panose="00020600040101010101" charset="-122"/>
              <a:sym typeface="+mn-ea"/>
            </a:endParaRPr>
          </a:p>
        </p:txBody>
      </p:sp>
      <p:sp>
        <p:nvSpPr>
          <p:cNvPr id="41" name="Rectangle 23"/>
          <p:cNvSpPr/>
          <p:nvPr/>
        </p:nvSpPr>
        <p:spPr>
          <a:xfrm>
            <a:off x="6199505" y="3238500"/>
            <a:ext cx="5543550" cy="105156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42" name="Rectangle 24"/>
          <p:cNvSpPr/>
          <p:nvPr/>
        </p:nvSpPr>
        <p:spPr>
          <a:xfrm>
            <a:off x="6199632" y="3238500"/>
            <a:ext cx="82296" cy="10515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43" name="TextBox 25"/>
          <p:cNvSpPr txBox="1"/>
          <p:nvPr/>
        </p:nvSpPr>
        <p:spPr>
          <a:xfrm>
            <a:off x="6428232" y="3288792"/>
            <a:ext cx="5120640" cy="325120"/>
          </a:xfrm>
          <a:prstGeom prst="rect">
            <a:avLst/>
          </a:prstGeom>
          <a:noFill/>
        </p:spPr>
        <p:txBody>
          <a:bodyPr wrap="square" lIns="18288" tIns="9144" rIns="18288" bIns="9144" anchor="t">
            <a:spAutoFit/>
          </a:bodyPr>
          <a:p>
            <a:pPr lvl="0" algn="l">
              <a:spcAft>
                <a:spcPts val="400"/>
              </a:spcAft>
              <a:buClrTx/>
              <a:buSzTx/>
              <a:buFontTx/>
            </a:pPr>
            <a:r>
              <a:rPr sz="2000">
                <a:solidFill>
                  <a:schemeClr val="accent1"/>
                </a:solidFill>
                <a:latin typeface="OPPOSans B" panose="00020600040101010101" charset="-122"/>
                <a:ea typeface="OPPOSans B" panose="00020600040101010101" charset="-122"/>
                <a:cs typeface="OPPOSans B" panose="00020600040101010101" charset="-122"/>
                <a:sym typeface="+mn-ea"/>
              </a:rPr>
              <a:t>2. 计算可复核</a:t>
            </a:r>
            <a:endParaRPr sz="2000">
              <a:solidFill>
                <a:schemeClr val="accent1"/>
              </a:solidFill>
              <a:latin typeface="OPPOSans B" panose="00020600040101010101" charset="-122"/>
              <a:ea typeface="OPPOSans B" panose="00020600040101010101" charset="-122"/>
              <a:cs typeface="OPPOSans B" panose="00020600040101010101" charset="-122"/>
              <a:sym typeface="+mn-ea"/>
            </a:endParaRPr>
          </a:p>
        </p:txBody>
      </p:sp>
      <p:sp>
        <p:nvSpPr>
          <p:cNvPr id="44" name="TextBox 26"/>
          <p:cNvSpPr txBox="1"/>
          <p:nvPr/>
        </p:nvSpPr>
        <p:spPr>
          <a:xfrm>
            <a:off x="6428105" y="3670300"/>
            <a:ext cx="5120640" cy="534035"/>
          </a:xfrm>
          <a:prstGeom prst="rect">
            <a:avLst/>
          </a:prstGeom>
          <a:noFill/>
        </p:spPr>
        <p:txBody>
          <a:bodyPr wrap="square" lIns="18288" tIns="9144" rIns="18288" bIns="9144" anchor="t">
            <a:spAutoFit/>
          </a:bodyPr>
          <a:p>
            <a:pPr lvl="0" algn="l">
              <a:lnSpc>
                <a:spcPct val="120000"/>
              </a:lnSpc>
              <a:spcAft>
                <a:spcPts val="400"/>
              </a:spcAft>
              <a:buClrTx/>
              <a:buSzTx/>
              <a:buFontTx/>
            </a:pPr>
            <a:r>
              <a:rPr sz="1400">
                <a:solidFill>
                  <a:schemeClr val="tx1"/>
                </a:solidFill>
                <a:latin typeface="OPPOSans R" panose="00020600040101010101" charset="-122"/>
                <a:ea typeface="OPPOSans R" panose="00020600040101010101" charset="-122"/>
                <a:cs typeface="OPPOSans R" panose="00020600040101010101" charset="-122"/>
              </a:rPr>
              <a:t>表格取数与数值运算由程序执行，</a:t>
            </a:r>
            <a:r>
              <a:rPr sz="1400">
                <a:solidFill>
                  <a:schemeClr val="accent1"/>
                </a:solidFill>
                <a:latin typeface="OPPOSans B" panose="00020600040101010101" charset="-122"/>
                <a:ea typeface="OPPOSans B" panose="00020600040101010101" charset="-122"/>
                <a:cs typeface="OPPOSans R" panose="00020600040101010101" charset="-122"/>
                <a:sym typeface="+mn-ea"/>
              </a:rPr>
              <a:t>操作数、算式、单位与原表坐标</a:t>
            </a:r>
            <a:r>
              <a:rPr sz="1400">
                <a:solidFill>
                  <a:schemeClr val="tx1"/>
                </a:solidFill>
                <a:latin typeface="OPPOSans R" panose="00020600040101010101" charset="-122"/>
                <a:ea typeface="OPPOSans R" panose="00020600040101010101" charset="-122"/>
                <a:cs typeface="OPPOSans R" panose="00020600040101010101" charset="-122"/>
              </a:rPr>
              <a:t>随结果交付</a:t>
            </a:r>
            <a:endParaRPr sz="1400">
              <a:solidFill>
                <a:schemeClr val="tx1"/>
              </a:solidFill>
              <a:latin typeface="OPPOSans R" panose="00020600040101010101" charset="-122"/>
              <a:ea typeface="OPPOSans R" panose="00020600040101010101" charset="-122"/>
              <a:cs typeface="OPPOSans R" panose="00020600040101010101" charset="-122"/>
            </a:endParaRPr>
          </a:p>
        </p:txBody>
      </p:sp>
      <p:sp>
        <p:nvSpPr>
          <p:cNvPr id="45" name="Rectangle 27"/>
          <p:cNvSpPr/>
          <p:nvPr/>
        </p:nvSpPr>
        <p:spPr>
          <a:xfrm>
            <a:off x="502920" y="4445508"/>
            <a:ext cx="5486400" cy="105156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46" name="Rectangle 28"/>
          <p:cNvSpPr/>
          <p:nvPr/>
        </p:nvSpPr>
        <p:spPr>
          <a:xfrm>
            <a:off x="502920" y="4445508"/>
            <a:ext cx="82296" cy="10515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47" name="TextBox 29"/>
          <p:cNvSpPr txBox="1"/>
          <p:nvPr/>
        </p:nvSpPr>
        <p:spPr>
          <a:xfrm>
            <a:off x="731520" y="4480560"/>
            <a:ext cx="5120640" cy="325120"/>
          </a:xfrm>
          <a:prstGeom prst="rect">
            <a:avLst/>
          </a:prstGeom>
          <a:noFill/>
        </p:spPr>
        <p:txBody>
          <a:bodyPr wrap="square" lIns="18288" tIns="9144" rIns="18288" bIns="9144" anchor="t">
            <a:spAutoFit/>
          </a:bodyPr>
          <a:p>
            <a:pPr algn="l">
              <a:spcAft>
                <a:spcPts val="400"/>
              </a:spcAft>
            </a:pPr>
            <a:r>
              <a:rPr sz="2000">
                <a:solidFill>
                  <a:schemeClr val="accent1"/>
                </a:solidFill>
                <a:latin typeface="OPPOSans B" panose="00020600040101010101" charset="-122"/>
                <a:ea typeface="OPPOSans B" panose="00020600040101010101" charset="-122"/>
                <a:cs typeface="OPPOSans B" panose="00020600040101010101" charset="-122"/>
              </a:rPr>
              <a:t>3. 结论可核验</a:t>
            </a:r>
            <a:endParaRPr sz="2000">
              <a:solidFill>
                <a:schemeClr val="accent1"/>
              </a:solidFill>
              <a:latin typeface="OPPOSans B" panose="00020600040101010101" charset="-122"/>
              <a:ea typeface="OPPOSans B" panose="00020600040101010101" charset="-122"/>
              <a:cs typeface="OPPOSans B" panose="00020600040101010101" charset="-122"/>
            </a:endParaRPr>
          </a:p>
        </p:txBody>
      </p:sp>
      <p:sp>
        <p:nvSpPr>
          <p:cNvPr id="48" name="TextBox 30"/>
          <p:cNvSpPr txBox="1"/>
          <p:nvPr/>
        </p:nvSpPr>
        <p:spPr>
          <a:xfrm>
            <a:off x="731520" y="4862195"/>
            <a:ext cx="5120005" cy="534035"/>
          </a:xfrm>
          <a:prstGeom prst="rect">
            <a:avLst/>
          </a:prstGeom>
          <a:noFill/>
        </p:spPr>
        <p:txBody>
          <a:bodyPr wrap="square" lIns="18288" tIns="9144" rIns="18288" bIns="9144" anchor="t">
            <a:spAutoFit/>
          </a:bodyPr>
          <a:p>
            <a:pPr lvl="0" algn="l">
              <a:lnSpc>
                <a:spcPct val="120000"/>
              </a:lnSpc>
              <a:spcAft>
                <a:spcPts val="400"/>
              </a:spcAft>
              <a:buClrTx/>
              <a:buSzTx/>
              <a:buFontTx/>
            </a:pPr>
            <a:r>
              <a:rPr sz="1400">
                <a:solidFill>
                  <a:schemeClr val="tx1"/>
                </a:solidFill>
                <a:latin typeface="OPPOSans R" panose="00020600040101010101" charset="-122"/>
                <a:ea typeface="OPPOSans R" panose="00020600040101010101" charset="-122"/>
                <a:cs typeface="OPPOSans R" panose="00020600040101010101" charset="-122"/>
              </a:rPr>
              <a:t>围绕证据生成答复，核对</a:t>
            </a:r>
            <a:r>
              <a:rPr sz="1400">
                <a:solidFill>
                  <a:schemeClr val="accent1"/>
                </a:solidFill>
                <a:latin typeface="OPPOSans B" panose="00020600040101010101" charset="-122"/>
                <a:ea typeface="OPPOSans B" panose="00020600040101010101" charset="-122"/>
                <a:cs typeface="OPPOSans R" panose="00020600040101010101" charset="-122"/>
                <a:sym typeface="+mn-ea"/>
              </a:rPr>
              <a:t>关键事实、规范强度及条件例外</a:t>
            </a:r>
            <a:r>
              <a:rPr sz="1400">
                <a:solidFill>
                  <a:schemeClr val="tx1"/>
                </a:solidFill>
                <a:latin typeface="OPPOSans R" panose="00020600040101010101" charset="-122"/>
                <a:ea typeface="OPPOSans R" panose="00020600040101010101" charset="-122"/>
                <a:cs typeface="OPPOSans R" panose="00020600040101010101" charset="-122"/>
              </a:rPr>
              <a:t>，支持人工复核</a:t>
            </a:r>
            <a:endParaRPr sz="1400">
              <a:solidFill>
                <a:schemeClr val="tx1"/>
              </a:solidFill>
              <a:latin typeface="OPPOSans R" panose="00020600040101010101" charset="-122"/>
              <a:ea typeface="OPPOSans R" panose="00020600040101010101" charset="-122"/>
              <a:cs typeface="OPPOSans R" panose="00020600040101010101" charset="-122"/>
            </a:endParaRPr>
          </a:p>
        </p:txBody>
      </p:sp>
      <p:sp>
        <p:nvSpPr>
          <p:cNvPr id="49" name="Rectangle 31"/>
          <p:cNvSpPr/>
          <p:nvPr/>
        </p:nvSpPr>
        <p:spPr>
          <a:xfrm>
            <a:off x="6199505" y="4445635"/>
            <a:ext cx="5543550" cy="105156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50" name="Rectangle 32"/>
          <p:cNvSpPr/>
          <p:nvPr/>
        </p:nvSpPr>
        <p:spPr>
          <a:xfrm>
            <a:off x="6199632" y="4445508"/>
            <a:ext cx="82296" cy="105156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51" name="TextBox 33"/>
          <p:cNvSpPr txBox="1"/>
          <p:nvPr/>
        </p:nvSpPr>
        <p:spPr>
          <a:xfrm>
            <a:off x="6428232" y="4480560"/>
            <a:ext cx="5120640" cy="325120"/>
          </a:xfrm>
          <a:prstGeom prst="rect">
            <a:avLst/>
          </a:prstGeom>
          <a:noFill/>
        </p:spPr>
        <p:txBody>
          <a:bodyPr wrap="square" lIns="18288" tIns="9144" rIns="18288" bIns="9144" anchor="t">
            <a:spAutoFit/>
          </a:bodyPr>
          <a:p>
            <a:pPr lvl="0" algn="l">
              <a:spcAft>
                <a:spcPts val="400"/>
              </a:spcAft>
              <a:buClrTx/>
              <a:buSzTx/>
              <a:buFontTx/>
            </a:pPr>
            <a:r>
              <a:rPr sz="2000">
                <a:solidFill>
                  <a:schemeClr val="accent1"/>
                </a:solidFill>
                <a:latin typeface="OPPOSans B" panose="00020600040101010101" charset="-122"/>
                <a:ea typeface="OPPOSans B" panose="00020600040101010101" charset="-122"/>
                <a:cs typeface="OPPOSans B" panose="00020600040101010101" charset="-122"/>
                <a:sym typeface="+mn-ea"/>
              </a:rPr>
              <a:t>4. 服务可持续</a:t>
            </a:r>
            <a:endParaRPr sz="2000">
              <a:solidFill>
                <a:schemeClr val="accent1"/>
              </a:solidFill>
              <a:latin typeface="OPPOSans B" panose="00020600040101010101" charset="-122"/>
              <a:ea typeface="OPPOSans B" panose="00020600040101010101" charset="-122"/>
              <a:cs typeface="OPPOSans B" panose="00020600040101010101" charset="-122"/>
              <a:sym typeface="+mn-ea"/>
            </a:endParaRPr>
          </a:p>
        </p:txBody>
      </p:sp>
      <p:sp>
        <p:nvSpPr>
          <p:cNvPr id="52" name="TextBox 34"/>
          <p:cNvSpPr txBox="1"/>
          <p:nvPr/>
        </p:nvSpPr>
        <p:spPr>
          <a:xfrm>
            <a:off x="6428105" y="4862195"/>
            <a:ext cx="5314950" cy="534035"/>
          </a:xfrm>
          <a:prstGeom prst="rect">
            <a:avLst/>
          </a:prstGeom>
          <a:noFill/>
        </p:spPr>
        <p:txBody>
          <a:bodyPr wrap="square" lIns="18288" tIns="9144" rIns="18288" bIns="9144" anchor="t">
            <a:spAutoFit/>
          </a:bodyPr>
          <a:p>
            <a:pPr algn="l" fontAlgn="auto">
              <a:lnSpc>
                <a:spcPct val="120000"/>
              </a:lnSpc>
              <a:spcAft>
                <a:spcPts val="400"/>
              </a:spcAft>
            </a:pPr>
            <a:r>
              <a:rPr sz="1400">
                <a:solidFill>
                  <a:schemeClr val="tx1"/>
                </a:solidFill>
                <a:latin typeface="OPPOSans R" panose="00020600040101010101" charset="-122"/>
                <a:ea typeface="OPPOSans R" panose="00020600040101010101" charset="-122"/>
                <a:cs typeface="OPPOSans R" panose="00020600040101010101" charset="-122"/>
              </a:rPr>
              <a:t>文档更新、问答留痕与题集回归协同，支持</a:t>
            </a:r>
            <a:r>
              <a:rPr sz="1400">
                <a:solidFill>
                  <a:schemeClr val="accent1"/>
                </a:solidFill>
                <a:latin typeface="OPPOSans B" panose="00020600040101010101" charset="-122"/>
                <a:ea typeface="OPPOSans B" panose="00020600040101010101" charset="-122"/>
                <a:cs typeface="OPPOSans R" panose="00020600040101010101" charset="-122"/>
                <a:sym typeface="+mn-ea"/>
              </a:rPr>
              <a:t>持续维护和质量追踪</a:t>
            </a:r>
            <a:endParaRPr sz="1400">
              <a:solidFill>
                <a:schemeClr val="accent1"/>
              </a:solidFill>
              <a:latin typeface="OPPOSans B" panose="00020600040101010101" charset="-122"/>
              <a:ea typeface="OPPOSans B" panose="00020600040101010101" charset="-122"/>
              <a:cs typeface="OPPOSans R" panose="00020600040101010101" charset="-122"/>
              <a:sym typeface="+mn-ea"/>
            </a:endParaRPr>
          </a:p>
        </p:txBody>
      </p:sp>
      <p:sp>
        <p:nvSpPr>
          <p:cNvPr id="53" name="TextBox 35"/>
          <p:cNvSpPr txBox="1"/>
          <p:nvPr/>
        </p:nvSpPr>
        <p:spPr>
          <a:xfrm>
            <a:off x="1369695" y="5614035"/>
            <a:ext cx="9408160" cy="386715"/>
          </a:xfrm>
          <a:prstGeom prst="rect">
            <a:avLst/>
          </a:prstGeom>
          <a:noFill/>
        </p:spPr>
        <p:txBody>
          <a:bodyPr wrap="square" lIns="18288" tIns="9144" rIns="18288" bIns="9144" anchor="t">
            <a:spAutoFit/>
          </a:bodyPr>
          <a:p>
            <a:pPr algn="ctr">
              <a:spcAft>
                <a:spcPts val="400"/>
              </a:spcAft>
            </a:pPr>
            <a:r>
              <a:rPr sz="2400">
                <a:solidFill>
                  <a:srgbClr val="1F3864"/>
                </a:solidFill>
                <a:latin typeface="OPPOSans B" panose="00020600040101010101" charset="-122"/>
                <a:ea typeface="OPPOSans B" panose="00020600040101010101" charset="-122"/>
                <a:cs typeface="OPPOSans R" panose="00020600040101010101" charset="-122"/>
              </a:rPr>
              <a:t>让业务人员获得</a:t>
            </a:r>
            <a:r>
              <a:rPr sz="2400">
                <a:solidFill>
                  <a:srgbClr val="CE0000"/>
                </a:solidFill>
                <a:latin typeface="OPPOSans B" panose="00020600040101010101" charset="-122"/>
                <a:ea typeface="OPPOSans B" panose="00020600040101010101" charset="-122"/>
                <a:cs typeface="OPPOSans B" panose="00020600040101010101" charset="-122"/>
              </a:rPr>
              <a:t>带依据、带计算过程、可复核</a:t>
            </a:r>
            <a:r>
              <a:rPr sz="2400">
                <a:solidFill>
                  <a:srgbClr val="1F3864"/>
                </a:solidFill>
                <a:latin typeface="OPPOSans B" panose="00020600040101010101" charset="-122"/>
                <a:ea typeface="OPPOSans B" panose="00020600040101010101" charset="-122"/>
                <a:cs typeface="OPPOSans R" panose="00020600040101010101" charset="-122"/>
              </a:rPr>
              <a:t>的监管答复</a:t>
            </a:r>
            <a:endParaRPr sz="2400">
              <a:solidFill>
                <a:srgbClr val="1F3864"/>
              </a:solidFill>
              <a:latin typeface="OPPOSans B" panose="00020600040101010101" charset="-122"/>
              <a:ea typeface="OPPOSans B" panose="00020600040101010101" charset="-122"/>
              <a:cs typeface="OPPOSans R" panose="00020600040101010101"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矩形 14"/>
          <p:cNvSpPr/>
          <p:nvPr/>
        </p:nvSpPr>
        <p:spPr>
          <a:xfrm>
            <a:off x="-350520" y="702945"/>
            <a:ext cx="12862560" cy="5641340"/>
          </a:xfrm>
          <a:prstGeom prst="rect">
            <a:avLst/>
          </a:prstGeom>
          <a:solidFill>
            <a:schemeClr val="bg1"/>
          </a:solidFill>
          <a:ln>
            <a:noFill/>
          </a:ln>
          <a:effectLst>
            <a:outerShdw blurRad="50800" dist="38100" dir="10800000" algn="r" rotWithShape="0">
              <a:prstClr val="black">
                <a:alpha val="40000"/>
              </a:prstClr>
            </a:outerShdw>
            <a:softEdge rad="317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2" name="Rectangle 2"/>
          <p:cNvSpPr/>
          <p:nvPr/>
        </p:nvSpPr>
        <p:spPr>
          <a:xfrm>
            <a:off x="502920" y="1018413"/>
            <a:ext cx="82296" cy="566928"/>
          </a:xfrm>
          <a:prstGeom prst="rect">
            <a:avLst/>
          </a:prstGeom>
          <a:solidFill>
            <a:srgbClr val="1C41A9"/>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5" name="TextBox 3"/>
          <p:cNvSpPr txBox="1"/>
          <p:nvPr/>
        </p:nvSpPr>
        <p:spPr>
          <a:xfrm>
            <a:off x="713232" y="1066736"/>
            <a:ext cx="10058400" cy="479425"/>
          </a:xfrm>
          <a:prstGeom prst="rect">
            <a:avLst/>
          </a:prstGeom>
          <a:noFill/>
        </p:spPr>
        <p:txBody>
          <a:bodyPr wrap="square" lIns="18288" tIns="9144" rIns="18288" bIns="9144" anchor="ctr">
            <a:spAutoFit/>
          </a:bodyPr>
          <a:p>
            <a:pPr algn="l">
              <a:spcAft>
                <a:spcPts val="400"/>
              </a:spcAft>
            </a:pPr>
            <a:r>
              <a:rPr sz="3000">
                <a:solidFill>
                  <a:srgbClr val="195CC4"/>
                </a:solidFill>
                <a:latin typeface="OPPOSans B" panose="00020600040101010101" charset="-122"/>
                <a:ea typeface="OPPOSans B" panose="00020600040101010101" charset="-122"/>
                <a:sym typeface="+mn-ea"/>
              </a:rPr>
              <a:t>系统架构：双引擎协同的可信监管知识中枢</a:t>
            </a:r>
            <a:endParaRPr sz="3000">
              <a:solidFill>
                <a:srgbClr val="195CC4"/>
              </a:solidFill>
              <a:latin typeface="OPPOSans B" panose="00020600040101010101" charset="-122"/>
              <a:ea typeface="OPPOSans B" panose="00020600040101010101" charset="-122"/>
              <a:sym typeface="+mn-ea"/>
            </a:endParaRPr>
          </a:p>
        </p:txBody>
      </p:sp>
      <p:sp>
        <p:nvSpPr>
          <p:cNvPr id="7" name="TextBox 4"/>
          <p:cNvSpPr txBox="1"/>
          <p:nvPr/>
        </p:nvSpPr>
        <p:spPr>
          <a:xfrm>
            <a:off x="713232" y="1575054"/>
            <a:ext cx="10789920" cy="499745"/>
          </a:xfrm>
          <a:prstGeom prst="rect">
            <a:avLst/>
          </a:prstGeom>
          <a:noFill/>
        </p:spPr>
        <p:txBody>
          <a:bodyPr wrap="square" lIns="18288" tIns="9144" rIns="18288" bIns="9144" anchor="t">
            <a:spAutoFit/>
          </a:bodyPr>
          <a:p>
            <a:pPr algn="l">
              <a:spcAft>
                <a:spcPts val="400"/>
              </a:spcAft>
            </a:pPr>
            <a:r>
              <a:rPr sz="1400">
                <a:latin typeface="OPPOSans R" panose="00020600040101010101" charset="-122"/>
                <a:ea typeface="OPPOSans R" panose="00020600040101010101" charset="-122"/>
                <a:sym typeface="+mn-ea"/>
              </a:rPr>
              <a:t>文本问答与表格计算双引擎协同，通过统一检索、可信校验与业务接口，贯通提问、取证和答复。</a:t>
            </a:r>
            <a:endParaRPr sz="1400">
              <a:latin typeface="OPPOSans R" panose="00020600040101010101" charset="-122"/>
              <a:ea typeface="OPPOSans R" panose="00020600040101010101" charset="-122"/>
              <a:sym typeface="+mn-ea"/>
            </a:endParaRPr>
          </a:p>
        </p:txBody>
      </p:sp>
      <p:sp>
        <p:nvSpPr>
          <p:cNvPr id="59" name="Rectangle 8"/>
          <p:cNvSpPr/>
          <p:nvPr/>
        </p:nvSpPr>
        <p:spPr>
          <a:xfrm>
            <a:off x="502920" y="2663190"/>
            <a:ext cx="3611880" cy="123444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60" name="Rectangle 9"/>
          <p:cNvSpPr/>
          <p:nvPr/>
        </p:nvSpPr>
        <p:spPr>
          <a:xfrm>
            <a:off x="502920" y="2663190"/>
            <a:ext cx="3611880" cy="45720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61" name="TextBox 10"/>
          <p:cNvSpPr txBox="1"/>
          <p:nvPr/>
        </p:nvSpPr>
        <p:spPr>
          <a:xfrm>
            <a:off x="612648" y="2744471"/>
            <a:ext cx="3383280" cy="294640"/>
          </a:xfrm>
          <a:prstGeom prst="rect">
            <a:avLst/>
          </a:prstGeom>
          <a:noFill/>
        </p:spPr>
        <p:txBody>
          <a:bodyPr wrap="square" lIns="18288" tIns="9144" rIns="18288" bIns="9144" anchor="ctr">
            <a:spAutoFit/>
          </a:bodyPr>
          <a:p>
            <a:pPr algn="l">
              <a:spcAft>
                <a:spcPts val="400"/>
              </a:spcAft>
            </a:pPr>
            <a:r>
              <a:rPr sz="1800">
                <a:solidFill>
                  <a:srgbClr val="FFFFFF"/>
                </a:solidFill>
                <a:latin typeface="OPPOSans B" panose="00020600040101010101" charset="-122"/>
                <a:ea typeface="OPPOSans B" panose="00020600040101010101" charset="-122"/>
                <a:cs typeface="OPPOSans B" panose="00020600040101010101" charset="-122"/>
              </a:rPr>
              <a:t>查询规划</a:t>
            </a:r>
            <a:endParaRPr sz="1800">
              <a:solidFill>
                <a:srgbClr val="FFFFFF"/>
              </a:solidFill>
              <a:latin typeface="OPPOSans B" panose="00020600040101010101" charset="-122"/>
              <a:ea typeface="OPPOSans B" panose="00020600040101010101" charset="-122"/>
              <a:cs typeface="OPPOSans B" panose="00020600040101010101" charset="-122"/>
            </a:endParaRPr>
          </a:p>
        </p:txBody>
      </p:sp>
      <p:sp>
        <p:nvSpPr>
          <p:cNvPr id="62" name="TextBox 11"/>
          <p:cNvSpPr txBox="1"/>
          <p:nvPr/>
        </p:nvSpPr>
        <p:spPr>
          <a:xfrm>
            <a:off x="640080" y="3166872"/>
            <a:ext cx="3337560" cy="663575"/>
          </a:xfrm>
          <a:prstGeom prst="rect">
            <a:avLst/>
          </a:prstGeom>
          <a:noFill/>
        </p:spPr>
        <p:txBody>
          <a:bodyPr wrap="square" lIns="18288" tIns="9144" rIns="18288" bIns="9144" anchor="t">
            <a:spAutoFit/>
          </a:bodyPr>
          <a:p>
            <a:pPr algn="l" fontAlgn="auto">
              <a:lnSpc>
                <a:spcPct val="150000"/>
              </a:lnSpc>
              <a:spcAft>
                <a:spcPts val="400"/>
              </a:spcAft>
            </a:pPr>
            <a:r>
              <a:rPr sz="1400">
                <a:solidFill>
                  <a:schemeClr val="tx1"/>
                </a:solidFill>
                <a:latin typeface="OPPOSans R" panose="00020600040101010101" charset="-122"/>
                <a:ea typeface="OPPOSans R" panose="00020600040101010101" charset="-122"/>
                <a:cs typeface="OPPOSans R" panose="00020600040101010101" charset="-122"/>
              </a:rPr>
              <a:t>识别问题类型与业务维度</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50000"/>
              </a:lnSpc>
              <a:spcAft>
                <a:spcPts val="400"/>
              </a:spcAft>
            </a:pPr>
            <a:r>
              <a:rPr sz="1400">
                <a:solidFill>
                  <a:schemeClr val="accent1"/>
                </a:solidFill>
                <a:latin typeface="OPPOSans B" panose="00020600040101010101" charset="-122"/>
                <a:ea typeface="OPPOSans B" panose="00020600040101010101" charset="-122"/>
                <a:cs typeface="OPPOSans R" panose="00020600040101010101" charset="-122"/>
                <a:sym typeface="+mn-ea"/>
              </a:rPr>
              <a:t>拆解子问题，明确证据需求</a:t>
            </a:r>
            <a:endParaRPr sz="1400">
              <a:solidFill>
                <a:schemeClr val="accent1"/>
              </a:solidFill>
              <a:latin typeface="OPPOSans B" panose="00020600040101010101" charset="-122"/>
              <a:ea typeface="OPPOSans B" panose="00020600040101010101" charset="-122"/>
              <a:cs typeface="OPPOSans R" panose="00020600040101010101" charset="-122"/>
              <a:sym typeface="+mn-ea"/>
            </a:endParaRPr>
          </a:p>
        </p:txBody>
      </p:sp>
      <p:sp>
        <p:nvSpPr>
          <p:cNvPr id="63" name="Rectangle 12"/>
          <p:cNvSpPr/>
          <p:nvPr/>
        </p:nvSpPr>
        <p:spPr>
          <a:xfrm>
            <a:off x="4288536" y="2663190"/>
            <a:ext cx="3611880" cy="123444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64" name="Rectangle 13"/>
          <p:cNvSpPr/>
          <p:nvPr/>
        </p:nvSpPr>
        <p:spPr>
          <a:xfrm>
            <a:off x="4288536" y="2663190"/>
            <a:ext cx="3611880" cy="45720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65" name="TextBox 14"/>
          <p:cNvSpPr txBox="1"/>
          <p:nvPr/>
        </p:nvSpPr>
        <p:spPr>
          <a:xfrm>
            <a:off x="4398264" y="2760028"/>
            <a:ext cx="3383280" cy="263525"/>
          </a:xfrm>
          <a:prstGeom prst="rect">
            <a:avLst/>
          </a:prstGeom>
          <a:noFill/>
        </p:spPr>
        <p:txBody>
          <a:bodyPr wrap="square" lIns="18288" tIns="9144" rIns="18288" bIns="9144" anchor="ctr">
            <a:spAutoFit/>
          </a:bodyPr>
          <a:p>
            <a:pPr lvl="0" algn="l">
              <a:spcAft>
                <a:spcPts val="400"/>
              </a:spcAft>
              <a:buClrTx/>
              <a:buSzTx/>
              <a:buFontTx/>
            </a:pPr>
            <a:r>
              <a:rPr sz="1800">
                <a:solidFill>
                  <a:srgbClr val="FFFFFF"/>
                </a:solidFill>
                <a:latin typeface="OPPOSans B" panose="00020600040101010101" charset="-122"/>
                <a:ea typeface="OPPOSans B" panose="00020600040101010101" charset="-122"/>
                <a:cs typeface="OPPOSans B" panose="00020600040101010101" charset="-122"/>
                <a:sym typeface="+mn-ea"/>
              </a:rPr>
              <a:t>混合检索与证据组织</a:t>
            </a:r>
            <a:endParaRPr sz="1800">
              <a:solidFill>
                <a:srgbClr val="FFFFFF"/>
              </a:solidFill>
              <a:latin typeface="OPPOSans B" panose="00020600040101010101" charset="-122"/>
              <a:ea typeface="OPPOSans B" panose="00020600040101010101" charset="-122"/>
              <a:cs typeface="OPPOSans B" panose="00020600040101010101" charset="-122"/>
              <a:sym typeface="+mn-ea"/>
            </a:endParaRPr>
          </a:p>
        </p:txBody>
      </p:sp>
      <p:sp>
        <p:nvSpPr>
          <p:cNvPr id="66" name="TextBox 15"/>
          <p:cNvSpPr txBox="1"/>
          <p:nvPr/>
        </p:nvSpPr>
        <p:spPr>
          <a:xfrm>
            <a:off x="4425696" y="3166872"/>
            <a:ext cx="3337560" cy="663575"/>
          </a:xfrm>
          <a:prstGeom prst="rect">
            <a:avLst/>
          </a:prstGeom>
          <a:noFill/>
        </p:spPr>
        <p:txBody>
          <a:bodyPr wrap="square" lIns="18288" tIns="9144" rIns="18288" bIns="9144" anchor="t">
            <a:spAutoFit/>
          </a:bodyPr>
          <a:p>
            <a:pPr lvl="0" algn="l" fontAlgn="auto">
              <a:lnSpc>
                <a:spcPct val="150000"/>
              </a:lnSpc>
              <a:spcAft>
                <a:spcPts val="400"/>
              </a:spcAft>
              <a:buClrTx/>
              <a:buSzTx/>
              <a:buFontTx/>
            </a:pPr>
            <a:r>
              <a:rPr sz="1400">
                <a:solidFill>
                  <a:schemeClr val="tx1"/>
                </a:solidFill>
                <a:latin typeface="OPPOSans R" panose="00020600040101010101" charset="-122"/>
                <a:ea typeface="OPPOSans R" panose="00020600040101010101" charset="-122"/>
                <a:cs typeface="OPPOSans R" panose="00020600040101010101" charset="-122"/>
              </a:rPr>
              <a:t>多路召回、条款定位与证据重排</a:t>
            </a:r>
            <a:endParaRPr sz="1400">
              <a:solidFill>
                <a:schemeClr val="tx1"/>
              </a:solidFill>
              <a:latin typeface="OPPOSans R" panose="00020600040101010101" charset="-122"/>
              <a:ea typeface="OPPOSans R" panose="00020600040101010101" charset="-122"/>
              <a:cs typeface="OPPOSans R" panose="00020600040101010101" charset="-122"/>
            </a:endParaRPr>
          </a:p>
          <a:p>
            <a:pPr lvl="0" algn="l" fontAlgn="auto">
              <a:lnSpc>
                <a:spcPct val="150000"/>
              </a:lnSpc>
              <a:spcAft>
                <a:spcPts val="400"/>
              </a:spcAft>
              <a:buClrTx/>
              <a:buSzTx/>
              <a:buFontTx/>
            </a:pPr>
            <a:r>
              <a:rPr sz="1400">
                <a:solidFill>
                  <a:schemeClr val="accent1"/>
                </a:solidFill>
                <a:latin typeface="OPPOSans B" panose="00020600040101010101" charset="-122"/>
                <a:ea typeface="OPPOSans B" panose="00020600040101010101" charset="-122"/>
                <a:cs typeface="OPPOSans R" panose="00020600040101010101" charset="-122"/>
                <a:sym typeface="+mn-ea"/>
              </a:rPr>
              <a:t>汇聚正文、附件与关联条款</a:t>
            </a:r>
            <a:endParaRPr sz="1400">
              <a:solidFill>
                <a:schemeClr val="accent1"/>
              </a:solidFill>
              <a:latin typeface="OPPOSans B" panose="00020600040101010101" charset="-122"/>
              <a:ea typeface="OPPOSans B" panose="00020600040101010101" charset="-122"/>
              <a:cs typeface="OPPOSans R" panose="00020600040101010101" charset="-122"/>
              <a:sym typeface="+mn-ea"/>
            </a:endParaRPr>
          </a:p>
        </p:txBody>
      </p:sp>
      <p:sp>
        <p:nvSpPr>
          <p:cNvPr id="67" name="Rectangle 16"/>
          <p:cNvSpPr/>
          <p:nvPr/>
        </p:nvSpPr>
        <p:spPr>
          <a:xfrm>
            <a:off x="8074151" y="2663190"/>
            <a:ext cx="3611880" cy="123444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68" name="Rectangle 17"/>
          <p:cNvSpPr/>
          <p:nvPr/>
        </p:nvSpPr>
        <p:spPr>
          <a:xfrm>
            <a:off x="8074151" y="2663190"/>
            <a:ext cx="3611880" cy="45720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69" name="TextBox 18"/>
          <p:cNvSpPr txBox="1"/>
          <p:nvPr/>
        </p:nvSpPr>
        <p:spPr>
          <a:xfrm>
            <a:off x="8183879" y="2760028"/>
            <a:ext cx="3383280" cy="263525"/>
          </a:xfrm>
          <a:prstGeom prst="rect">
            <a:avLst/>
          </a:prstGeom>
          <a:noFill/>
        </p:spPr>
        <p:txBody>
          <a:bodyPr wrap="square" lIns="18288" tIns="9144" rIns="18288" bIns="9144" anchor="ctr">
            <a:spAutoFit/>
          </a:bodyPr>
          <a:p>
            <a:pPr lvl="0" algn="l">
              <a:spcAft>
                <a:spcPts val="400"/>
              </a:spcAft>
              <a:buClrTx/>
              <a:buSzTx/>
              <a:buFontTx/>
            </a:pPr>
            <a:r>
              <a:rPr sz="1800">
                <a:solidFill>
                  <a:srgbClr val="FFFFFF"/>
                </a:solidFill>
                <a:latin typeface="OPPOSans B" panose="00020600040101010101" charset="-122"/>
                <a:ea typeface="OPPOSans B" panose="00020600040101010101" charset="-122"/>
                <a:cs typeface="OPPOSans B" panose="00020600040101010101" charset="-122"/>
                <a:sym typeface="+mn-ea"/>
              </a:rPr>
              <a:t>文本问答引擎</a:t>
            </a:r>
            <a:endParaRPr sz="1800">
              <a:solidFill>
                <a:srgbClr val="FFFFFF"/>
              </a:solidFill>
              <a:latin typeface="OPPOSans B" panose="00020600040101010101" charset="-122"/>
              <a:ea typeface="OPPOSans B" panose="00020600040101010101" charset="-122"/>
              <a:cs typeface="OPPOSans B" panose="00020600040101010101" charset="-122"/>
              <a:sym typeface="+mn-ea"/>
            </a:endParaRPr>
          </a:p>
        </p:txBody>
      </p:sp>
      <p:sp>
        <p:nvSpPr>
          <p:cNvPr id="70" name="TextBox 19"/>
          <p:cNvSpPr txBox="1"/>
          <p:nvPr/>
        </p:nvSpPr>
        <p:spPr>
          <a:xfrm>
            <a:off x="8211311" y="3166872"/>
            <a:ext cx="3337560" cy="663575"/>
          </a:xfrm>
          <a:prstGeom prst="rect">
            <a:avLst/>
          </a:prstGeom>
          <a:noFill/>
        </p:spPr>
        <p:txBody>
          <a:bodyPr wrap="square" lIns="18288" tIns="9144" rIns="18288" bIns="9144" anchor="t">
            <a:spAutoFit/>
          </a:bodyPr>
          <a:p>
            <a:pPr lvl="0" algn="l" fontAlgn="auto">
              <a:lnSpc>
                <a:spcPct val="150000"/>
              </a:lnSpc>
              <a:spcAft>
                <a:spcPts val="400"/>
              </a:spcAft>
              <a:buClrTx/>
              <a:buSzTx/>
              <a:buFontTx/>
            </a:pPr>
            <a:r>
              <a:rPr sz="1400">
                <a:solidFill>
                  <a:schemeClr val="tx1"/>
                </a:solidFill>
                <a:latin typeface="OPPOSans R" panose="00020600040101010101" charset="-122"/>
                <a:ea typeface="OPPOSans R" panose="00020600040101010101" charset="-122"/>
                <a:cs typeface="OPPOSans R" panose="00020600040101010101" charset="-122"/>
              </a:rPr>
              <a:t>按证据缺口补全相关依据</a:t>
            </a:r>
            <a:endParaRPr sz="1400">
              <a:solidFill>
                <a:schemeClr val="tx1"/>
              </a:solidFill>
              <a:latin typeface="OPPOSans R" panose="00020600040101010101" charset="-122"/>
              <a:ea typeface="OPPOSans R" panose="00020600040101010101" charset="-122"/>
              <a:cs typeface="OPPOSans R" panose="00020600040101010101" charset="-122"/>
            </a:endParaRPr>
          </a:p>
          <a:p>
            <a:pPr lvl="0" algn="l" fontAlgn="auto">
              <a:lnSpc>
                <a:spcPct val="150000"/>
              </a:lnSpc>
              <a:spcAft>
                <a:spcPts val="400"/>
              </a:spcAft>
              <a:buClrTx/>
              <a:buSzTx/>
              <a:buFontTx/>
            </a:pPr>
            <a:r>
              <a:rPr sz="1400">
                <a:solidFill>
                  <a:schemeClr val="accent1"/>
                </a:solidFill>
                <a:latin typeface="OPPOSans B" panose="00020600040101010101" charset="-122"/>
                <a:ea typeface="OPPOSans B" panose="00020600040101010101" charset="-122"/>
                <a:cs typeface="OPPOSans R" panose="00020600040101010101" charset="-122"/>
                <a:sym typeface="+mn-ea"/>
              </a:rPr>
              <a:t>证据受限生成与引用修复</a:t>
            </a:r>
            <a:endParaRPr sz="1400">
              <a:solidFill>
                <a:schemeClr val="accent1"/>
              </a:solidFill>
              <a:latin typeface="OPPOSans B" panose="00020600040101010101" charset="-122"/>
              <a:ea typeface="OPPOSans B" panose="00020600040101010101" charset="-122"/>
              <a:cs typeface="OPPOSans R" panose="00020600040101010101" charset="-122"/>
              <a:sym typeface="+mn-ea"/>
            </a:endParaRPr>
          </a:p>
        </p:txBody>
      </p:sp>
      <p:sp>
        <p:nvSpPr>
          <p:cNvPr id="71" name="Rectangle 20"/>
          <p:cNvSpPr/>
          <p:nvPr/>
        </p:nvSpPr>
        <p:spPr>
          <a:xfrm>
            <a:off x="502920" y="3961637"/>
            <a:ext cx="3611880" cy="123444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72" name="Rectangle 21"/>
          <p:cNvSpPr/>
          <p:nvPr/>
        </p:nvSpPr>
        <p:spPr>
          <a:xfrm>
            <a:off x="502920" y="3961637"/>
            <a:ext cx="3611880" cy="45720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73" name="TextBox 22"/>
          <p:cNvSpPr txBox="1"/>
          <p:nvPr/>
        </p:nvSpPr>
        <p:spPr>
          <a:xfrm>
            <a:off x="612648" y="4042917"/>
            <a:ext cx="3383280" cy="294640"/>
          </a:xfrm>
          <a:prstGeom prst="rect">
            <a:avLst/>
          </a:prstGeom>
          <a:noFill/>
        </p:spPr>
        <p:txBody>
          <a:bodyPr wrap="square" lIns="18288" tIns="9144" rIns="18288" bIns="9144" anchor="ctr">
            <a:spAutoFit/>
          </a:bodyPr>
          <a:p>
            <a:pPr lvl="0" algn="l">
              <a:spcAft>
                <a:spcPts val="400"/>
              </a:spcAft>
              <a:buClrTx/>
              <a:buSzTx/>
              <a:buFontTx/>
            </a:pPr>
            <a:r>
              <a:rPr sz="1800">
                <a:solidFill>
                  <a:srgbClr val="FFFFFF"/>
                </a:solidFill>
                <a:latin typeface="OPPOSans B" panose="00020600040101010101" charset="-122"/>
                <a:ea typeface="OPPOSans B" panose="00020600040101010101" charset="-122"/>
                <a:cs typeface="OPPOSans B" panose="00020600040101010101" charset="-122"/>
                <a:sym typeface="+mn-ea"/>
              </a:rPr>
              <a:t>表格计算引擎</a:t>
            </a:r>
            <a:endParaRPr sz="1800">
              <a:solidFill>
                <a:srgbClr val="FFFFFF"/>
              </a:solidFill>
              <a:latin typeface="OPPOSans B" panose="00020600040101010101" charset="-122"/>
              <a:ea typeface="OPPOSans B" panose="00020600040101010101" charset="-122"/>
              <a:cs typeface="OPPOSans B" panose="00020600040101010101" charset="-122"/>
              <a:sym typeface="+mn-ea"/>
            </a:endParaRPr>
          </a:p>
        </p:txBody>
      </p:sp>
      <p:sp>
        <p:nvSpPr>
          <p:cNvPr id="74" name="TextBox 23"/>
          <p:cNvSpPr txBox="1"/>
          <p:nvPr/>
        </p:nvSpPr>
        <p:spPr>
          <a:xfrm>
            <a:off x="640080" y="4465320"/>
            <a:ext cx="3337560" cy="663575"/>
          </a:xfrm>
          <a:prstGeom prst="rect">
            <a:avLst/>
          </a:prstGeom>
          <a:noFill/>
        </p:spPr>
        <p:txBody>
          <a:bodyPr wrap="square" lIns="18288" tIns="9144" rIns="18288" bIns="9144" anchor="t">
            <a:spAutoFit/>
          </a:bodyPr>
          <a:p>
            <a:pPr lvl="0" algn="l" fontAlgn="auto">
              <a:lnSpc>
                <a:spcPct val="150000"/>
              </a:lnSpc>
              <a:spcAft>
                <a:spcPts val="400"/>
              </a:spcAft>
              <a:buClrTx/>
              <a:buSzTx/>
              <a:buFontTx/>
            </a:pPr>
            <a:r>
              <a:rPr sz="1400">
                <a:solidFill>
                  <a:schemeClr val="tx1"/>
                </a:solidFill>
                <a:latin typeface="OPPOSans R" panose="00020600040101010101" charset="-122"/>
                <a:ea typeface="OPPOSans R" panose="00020600040101010101" charset="-122"/>
                <a:cs typeface="OPPOSans R" panose="00020600040101010101" charset="-122"/>
              </a:rPr>
              <a:t>按指标 / 期间 / 机构精确取数</a:t>
            </a:r>
            <a:endParaRPr sz="1400">
              <a:solidFill>
                <a:schemeClr val="tx1"/>
              </a:solidFill>
              <a:latin typeface="OPPOSans R" panose="00020600040101010101" charset="-122"/>
              <a:ea typeface="OPPOSans R" panose="00020600040101010101" charset="-122"/>
              <a:cs typeface="OPPOSans R" panose="00020600040101010101" charset="-122"/>
            </a:endParaRPr>
          </a:p>
          <a:p>
            <a:pPr lvl="0" algn="l" fontAlgn="auto">
              <a:lnSpc>
                <a:spcPct val="150000"/>
              </a:lnSpc>
              <a:spcAft>
                <a:spcPts val="400"/>
              </a:spcAft>
              <a:buClrTx/>
              <a:buSzTx/>
              <a:buFontTx/>
            </a:pPr>
            <a:r>
              <a:rPr sz="1400">
                <a:solidFill>
                  <a:schemeClr val="accent1"/>
                </a:solidFill>
                <a:latin typeface="OPPOSans B" panose="00020600040101010101" charset="-122"/>
                <a:ea typeface="OPPOSans B" panose="00020600040101010101" charset="-122"/>
                <a:cs typeface="OPPOSans R" panose="00020600040101010101" charset="-122"/>
                <a:sym typeface="+mn-ea"/>
              </a:rPr>
              <a:t>确定性运算，绑定原表坐标</a:t>
            </a:r>
            <a:endParaRPr sz="1400">
              <a:solidFill>
                <a:schemeClr val="accent1"/>
              </a:solidFill>
              <a:latin typeface="OPPOSans B" panose="00020600040101010101" charset="-122"/>
              <a:ea typeface="OPPOSans B" panose="00020600040101010101" charset="-122"/>
              <a:cs typeface="OPPOSans R" panose="00020600040101010101" charset="-122"/>
              <a:sym typeface="+mn-ea"/>
            </a:endParaRPr>
          </a:p>
        </p:txBody>
      </p:sp>
      <p:sp>
        <p:nvSpPr>
          <p:cNvPr id="75" name="Rectangle 24"/>
          <p:cNvSpPr/>
          <p:nvPr/>
        </p:nvSpPr>
        <p:spPr>
          <a:xfrm>
            <a:off x="4288536" y="3961637"/>
            <a:ext cx="3611880" cy="123444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76" name="Rectangle 25"/>
          <p:cNvSpPr/>
          <p:nvPr/>
        </p:nvSpPr>
        <p:spPr>
          <a:xfrm>
            <a:off x="4288536" y="3961637"/>
            <a:ext cx="3611880" cy="45720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77" name="TextBox 26"/>
          <p:cNvSpPr txBox="1"/>
          <p:nvPr/>
        </p:nvSpPr>
        <p:spPr>
          <a:xfrm>
            <a:off x="4398264" y="4058475"/>
            <a:ext cx="3383280" cy="263525"/>
          </a:xfrm>
          <a:prstGeom prst="rect">
            <a:avLst/>
          </a:prstGeom>
          <a:noFill/>
        </p:spPr>
        <p:txBody>
          <a:bodyPr wrap="square" lIns="18288" tIns="9144" rIns="18288" bIns="9144" anchor="ctr">
            <a:spAutoFit/>
          </a:bodyPr>
          <a:p>
            <a:pPr lvl="0" algn="l">
              <a:spcAft>
                <a:spcPts val="400"/>
              </a:spcAft>
              <a:buClrTx/>
              <a:buSzTx/>
              <a:buFontTx/>
            </a:pPr>
            <a:r>
              <a:rPr sz="1800">
                <a:solidFill>
                  <a:srgbClr val="FFFFFF"/>
                </a:solidFill>
                <a:latin typeface="OPPOSans B" panose="00020600040101010101" charset="-122"/>
                <a:ea typeface="OPPOSans B" panose="00020600040101010101" charset="-122"/>
                <a:cs typeface="OPPOSans B" panose="00020600040101010101" charset="-122"/>
                <a:sym typeface="+mn-ea"/>
              </a:rPr>
              <a:t>统一可信校验</a:t>
            </a:r>
            <a:endParaRPr sz="1800">
              <a:solidFill>
                <a:srgbClr val="FFFFFF"/>
              </a:solidFill>
              <a:latin typeface="OPPOSans B" panose="00020600040101010101" charset="-122"/>
              <a:ea typeface="OPPOSans B" panose="00020600040101010101" charset="-122"/>
              <a:cs typeface="OPPOSans B" panose="00020600040101010101" charset="-122"/>
              <a:sym typeface="+mn-ea"/>
            </a:endParaRPr>
          </a:p>
        </p:txBody>
      </p:sp>
      <p:sp>
        <p:nvSpPr>
          <p:cNvPr id="78" name="TextBox 27"/>
          <p:cNvSpPr txBox="1"/>
          <p:nvPr/>
        </p:nvSpPr>
        <p:spPr>
          <a:xfrm>
            <a:off x="4425696" y="4465320"/>
            <a:ext cx="3337560" cy="663575"/>
          </a:xfrm>
          <a:prstGeom prst="rect">
            <a:avLst/>
          </a:prstGeom>
          <a:noFill/>
        </p:spPr>
        <p:txBody>
          <a:bodyPr wrap="square" lIns="18288" tIns="9144" rIns="18288" bIns="9144" anchor="t">
            <a:spAutoFit/>
          </a:bodyPr>
          <a:p>
            <a:pPr lvl="0" algn="l" fontAlgn="auto">
              <a:lnSpc>
                <a:spcPct val="150000"/>
              </a:lnSpc>
              <a:spcAft>
                <a:spcPts val="400"/>
              </a:spcAft>
              <a:buClrTx/>
              <a:buSzTx/>
              <a:buFontTx/>
            </a:pPr>
            <a:r>
              <a:rPr sz="1400">
                <a:solidFill>
                  <a:schemeClr val="tx1"/>
                </a:solidFill>
                <a:latin typeface="OPPOSans R" panose="00020600040101010101" charset="-122"/>
                <a:ea typeface="OPPOSans R" panose="00020600040101010101" charset="-122"/>
                <a:cs typeface="OPPOSans R" panose="00020600040101010101" charset="-122"/>
              </a:rPr>
              <a:t>核对关键事实与引用一致性</a:t>
            </a:r>
            <a:endParaRPr sz="1400">
              <a:solidFill>
                <a:schemeClr val="tx1"/>
              </a:solidFill>
              <a:latin typeface="OPPOSans R" panose="00020600040101010101" charset="-122"/>
              <a:ea typeface="OPPOSans R" panose="00020600040101010101" charset="-122"/>
              <a:cs typeface="OPPOSans R" panose="00020600040101010101" charset="-122"/>
            </a:endParaRPr>
          </a:p>
          <a:p>
            <a:pPr lvl="0" algn="l" fontAlgn="auto">
              <a:lnSpc>
                <a:spcPct val="150000"/>
              </a:lnSpc>
              <a:spcAft>
                <a:spcPts val="400"/>
              </a:spcAft>
              <a:buClrTx/>
              <a:buSzTx/>
              <a:buFontTx/>
            </a:pPr>
            <a:r>
              <a:rPr sz="1400">
                <a:solidFill>
                  <a:schemeClr val="accent1"/>
                </a:solidFill>
                <a:latin typeface="OPPOSans B" panose="00020600040101010101" charset="-122"/>
                <a:ea typeface="OPPOSans B" panose="00020600040101010101" charset="-122"/>
                <a:cs typeface="OPPOSans R" panose="00020600040101010101" charset="-122"/>
                <a:sym typeface="+mn-ea"/>
              </a:rPr>
              <a:t>检查规范强度、条件与例外</a:t>
            </a:r>
            <a:endParaRPr sz="1400">
              <a:solidFill>
                <a:schemeClr val="accent1"/>
              </a:solidFill>
              <a:latin typeface="OPPOSans B" panose="00020600040101010101" charset="-122"/>
              <a:ea typeface="OPPOSans B" panose="00020600040101010101" charset="-122"/>
              <a:cs typeface="OPPOSans R" panose="00020600040101010101" charset="-122"/>
              <a:sym typeface="+mn-ea"/>
            </a:endParaRPr>
          </a:p>
        </p:txBody>
      </p:sp>
      <p:sp>
        <p:nvSpPr>
          <p:cNvPr id="79" name="Rectangle 28"/>
          <p:cNvSpPr/>
          <p:nvPr/>
        </p:nvSpPr>
        <p:spPr>
          <a:xfrm>
            <a:off x="8074151" y="3961637"/>
            <a:ext cx="3611880" cy="123444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80" name="Rectangle 29"/>
          <p:cNvSpPr/>
          <p:nvPr/>
        </p:nvSpPr>
        <p:spPr>
          <a:xfrm>
            <a:off x="8074151" y="3961637"/>
            <a:ext cx="3611880" cy="45720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81" name="TextBox 30"/>
          <p:cNvSpPr txBox="1"/>
          <p:nvPr/>
        </p:nvSpPr>
        <p:spPr>
          <a:xfrm>
            <a:off x="8183879" y="4058475"/>
            <a:ext cx="3383280" cy="263525"/>
          </a:xfrm>
          <a:prstGeom prst="rect">
            <a:avLst/>
          </a:prstGeom>
          <a:noFill/>
        </p:spPr>
        <p:txBody>
          <a:bodyPr wrap="square" lIns="18288" tIns="9144" rIns="18288" bIns="9144" anchor="ctr">
            <a:spAutoFit/>
          </a:bodyPr>
          <a:p>
            <a:pPr lvl="0" algn="l">
              <a:spcAft>
                <a:spcPts val="400"/>
              </a:spcAft>
              <a:buClrTx/>
              <a:buSzTx/>
              <a:buFontTx/>
            </a:pPr>
            <a:r>
              <a:rPr sz="1800">
                <a:solidFill>
                  <a:srgbClr val="FFFFFF"/>
                </a:solidFill>
                <a:latin typeface="OPPOSans B" panose="00020600040101010101" charset="-122"/>
                <a:ea typeface="OPPOSans B" panose="00020600040101010101" charset="-122"/>
                <a:cs typeface="OPPOSans B" panose="00020600040101010101" charset="-122"/>
                <a:sym typeface="+mn-ea"/>
              </a:rPr>
              <a:t>业务交付与风险边界</a:t>
            </a:r>
            <a:endParaRPr sz="1800">
              <a:solidFill>
                <a:srgbClr val="FFFFFF"/>
              </a:solidFill>
              <a:latin typeface="OPPOSans B" panose="00020600040101010101" charset="-122"/>
              <a:ea typeface="OPPOSans B" panose="00020600040101010101" charset="-122"/>
              <a:cs typeface="OPPOSans B" panose="00020600040101010101" charset="-122"/>
              <a:sym typeface="+mn-ea"/>
            </a:endParaRPr>
          </a:p>
        </p:txBody>
      </p:sp>
      <p:sp>
        <p:nvSpPr>
          <p:cNvPr id="82" name="TextBox 31"/>
          <p:cNvSpPr txBox="1"/>
          <p:nvPr/>
        </p:nvSpPr>
        <p:spPr>
          <a:xfrm>
            <a:off x="8211311" y="4465320"/>
            <a:ext cx="3337560" cy="663575"/>
          </a:xfrm>
          <a:prstGeom prst="rect">
            <a:avLst/>
          </a:prstGeom>
          <a:noFill/>
        </p:spPr>
        <p:txBody>
          <a:bodyPr wrap="square" lIns="18288" tIns="9144" rIns="18288" bIns="9144" anchor="t">
            <a:spAutoFit/>
          </a:bodyPr>
          <a:p>
            <a:pPr lvl="0" algn="l" fontAlgn="auto">
              <a:lnSpc>
                <a:spcPct val="150000"/>
              </a:lnSpc>
              <a:spcAft>
                <a:spcPts val="400"/>
              </a:spcAft>
              <a:buClrTx/>
              <a:buSzTx/>
              <a:buFontTx/>
            </a:pPr>
            <a:r>
              <a:rPr sz="1400">
                <a:solidFill>
                  <a:schemeClr val="tx1"/>
                </a:solidFill>
                <a:latin typeface="OPPOSans R" panose="00020600040101010101" charset="-122"/>
                <a:ea typeface="OPPOSans R" panose="00020600040101010101" charset="-122"/>
                <a:cs typeface="OPPOSans R" panose="00020600040101010101" charset="-122"/>
              </a:rPr>
              <a:t>交付答案、依据与计算过程</a:t>
            </a:r>
            <a:endParaRPr sz="1400">
              <a:solidFill>
                <a:schemeClr val="tx1"/>
              </a:solidFill>
              <a:latin typeface="OPPOSans R" panose="00020600040101010101" charset="-122"/>
              <a:ea typeface="OPPOSans R" panose="00020600040101010101" charset="-122"/>
              <a:cs typeface="OPPOSans R" panose="00020600040101010101" charset="-122"/>
            </a:endParaRPr>
          </a:p>
          <a:p>
            <a:pPr lvl="0" algn="l" fontAlgn="auto">
              <a:lnSpc>
                <a:spcPct val="150000"/>
              </a:lnSpc>
              <a:spcAft>
                <a:spcPts val="400"/>
              </a:spcAft>
              <a:buClrTx/>
              <a:buSzTx/>
              <a:buFontTx/>
            </a:pPr>
            <a:r>
              <a:rPr sz="1400">
                <a:solidFill>
                  <a:schemeClr val="accent1"/>
                </a:solidFill>
                <a:latin typeface="OPPOSans B" panose="00020600040101010101" charset="-122"/>
                <a:ea typeface="OPPOSans B" panose="00020600040101010101" charset="-122"/>
                <a:cs typeface="OPPOSans R" panose="00020600040101010101" charset="-122"/>
                <a:sym typeface="+mn-ea"/>
              </a:rPr>
              <a:t>不足则澄清或拒答，记录留存</a:t>
            </a:r>
            <a:endParaRPr sz="1400">
              <a:solidFill>
                <a:schemeClr val="accent1"/>
              </a:solidFill>
              <a:latin typeface="OPPOSans B" panose="00020600040101010101" charset="-122"/>
              <a:ea typeface="OPPOSans B" panose="00020600040101010101" charset="-122"/>
              <a:cs typeface="OPPOSans R" panose="00020600040101010101" charset="-122"/>
              <a:sym typeface="+mn-ea"/>
            </a:endParaRPr>
          </a:p>
        </p:txBody>
      </p:sp>
      <p:sp>
        <p:nvSpPr>
          <p:cNvPr id="84" name="TextBox 33"/>
          <p:cNvSpPr txBox="1"/>
          <p:nvPr/>
        </p:nvSpPr>
        <p:spPr>
          <a:xfrm>
            <a:off x="433832" y="5367528"/>
            <a:ext cx="2011680" cy="233045"/>
          </a:xfrm>
          <a:prstGeom prst="rect">
            <a:avLst/>
          </a:prstGeom>
          <a:noFill/>
        </p:spPr>
        <p:txBody>
          <a:bodyPr wrap="square" lIns="18288" tIns="9144" rIns="18288" bIns="9144" anchor="t">
            <a:spAutoFit/>
          </a:bodyPr>
          <a:p>
            <a:pPr algn="l">
              <a:spcAft>
                <a:spcPts val="400"/>
              </a:spcAft>
            </a:pPr>
            <a:r>
              <a:rPr sz="1400">
                <a:solidFill>
                  <a:schemeClr val="accent1"/>
                </a:solidFill>
                <a:latin typeface="OPPOSans B" panose="00020600040101010101" charset="-122"/>
                <a:ea typeface="OPPOSans B" panose="00020600040101010101" charset="-122"/>
                <a:cs typeface="OPPOSans B" panose="00020600040101010101" charset="-122"/>
              </a:rPr>
              <a:t>Qdrant 向量索引</a:t>
            </a:r>
            <a:endParaRPr sz="1400">
              <a:solidFill>
                <a:schemeClr val="accent1"/>
              </a:solidFill>
              <a:latin typeface="OPPOSans B" panose="00020600040101010101" charset="-122"/>
              <a:ea typeface="OPPOSans B" panose="00020600040101010101" charset="-122"/>
              <a:cs typeface="OPPOSans B" panose="00020600040101010101" charset="-122"/>
            </a:endParaRPr>
          </a:p>
        </p:txBody>
      </p:sp>
      <p:sp>
        <p:nvSpPr>
          <p:cNvPr id="85" name="TextBox 34"/>
          <p:cNvSpPr txBox="1"/>
          <p:nvPr/>
        </p:nvSpPr>
        <p:spPr>
          <a:xfrm>
            <a:off x="691642" y="5684520"/>
            <a:ext cx="2011680" cy="201930"/>
          </a:xfrm>
          <a:prstGeom prst="rect">
            <a:avLst/>
          </a:prstGeom>
          <a:noFill/>
        </p:spPr>
        <p:txBody>
          <a:bodyPr wrap="square" lIns="18288" tIns="9144" rIns="18288" bIns="9144" anchor="t">
            <a:spAutoFit/>
          </a:bodyPr>
          <a:p>
            <a:pPr algn="l">
              <a:spcAft>
                <a:spcPts val="400"/>
              </a:spcAft>
            </a:pPr>
            <a:r>
              <a:rPr sz="1200" b="0">
                <a:solidFill>
                  <a:schemeClr val="tx1"/>
                </a:solidFill>
                <a:latin typeface="OPPOSans R" panose="00020600040101010101" charset="-122"/>
                <a:ea typeface="OPPOSans R" panose="00020600040101010101" charset="-122"/>
                <a:cs typeface="OPPOSans R" panose="00020600040101010101" charset="-122"/>
              </a:rPr>
              <a:t>语义 / 稀疏召回</a:t>
            </a:r>
            <a:endParaRPr sz="1200" b="0">
              <a:solidFill>
                <a:schemeClr val="tx1"/>
              </a:solidFill>
              <a:latin typeface="OPPOSans R" panose="00020600040101010101" charset="-122"/>
              <a:ea typeface="OPPOSans R" panose="00020600040101010101" charset="-122"/>
              <a:cs typeface="OPPOSans R" panose="00020600040101010101" charset="-122"/>
            </a:endParaRPr>
          </a:p>
        </p:txBody>
      </p:sp>
      <p:sp>
        <p:nvSpPr>
          <p:cNvPr id="87" name="TextBox 36"/>
          <p:cNvSpPr txBox="1"/>
          <p:nvPr/>
        </p:nvSpPr>
        <p:spPr>
          <a:xfrm>
            <a:off x="2595880" y="5368163"/>
            <a:ext cx="2011680" cy="233045"/>
          </a:xfrm>
          <a:prstGeom prst="rect">
            <a:avLst/>
          </a:prstGeom>
          <a:noFill/>
        </p:spPr>
        <p:txBody>
          <a:bodyPr wrap="square" lIns="18288" tIns="9144" rIns="18288" bIns="9144" anchor="t">
            <a:spAutoFit/>
          </a:bodyPr>
          <a:p>
            <a:pPr algn="l">
              <a:spcAft>
                <a:spcPts val="400"/>
              </a:spcAft>
            </a:pPr>
            <a:r>
              <a:rPr sz="1400">
                <a:solidFill>
                  <a:schemeClr val="accent1"/>
                </a:solidFill>
                <a:latin typeface="OPPOSans B" panose="00020600040101010101" charset="-122"/>
                <a:ea typeface="OPPOSans B" panose="00020600040101010101" charset="-122"/>
                <a:cs typeface="OPPOSans B" panose="00020600040101010101" charset="-122"/>
              </a:rPr>
              <a:t>SQLite 双存储</a:t>
            </a:r>
            <a:endParaRPr sz="1400">
              <a:solidFill>
                <a:schemeClr val="accent1"/>
              </a:solidFill>
              <a:latin typeface="OPPOSans B" panose="00020600040101010101" charset="-122"/>
              <a:ea typeface="OPPOSans B" panose="00020600040101010101" charset="-122"/>
              <a:cs typeface="OPPOSans B" panose="00020600040101010101" charset="-122"/>
            </a:endParaRPr>
          </a:p>
        </p:txBody>
      </p:sp>
      <p:sp>
        <p:nvSpPr>
          <p:cNvPr id="88" name="TextBox 37"/>
          <p:cNvSpPr txBox="1"/>
          <p:nvPr/>
        </p:nvSpPr>
        <p:spPr>
          <a:xfrm>
            <a:off x="2160270" y="5684520"/>
            <a:ext cx="2258695" cy="201930"/>
          </a:xfrm>
          <a:prstGeom prst="rect">
            <a:avLst/>
          </a:prstGeom>
          <a:noFill/>
        </p:spPr>
        <p:txBody>
          <a:bodyPr wrap="square" lIns="18288" tIns="9144" rIns="18288" bIns="9144" anchor="t">
            <a:spAutoFit/>
          </a:bodyPr>
          <a:p>
            <a:pPr algn="l">
              <a:spcAft>
                <a:spcPts val="400"/>
              </a:spcAft>
            </a:pPr>
            <a:r>
              <a:rPr sz="1200" b="0">
                <a:solidFill>
                  <a:schemeClr val="tx1"/>
                </a:solidFill>
                <a:latin typeface="OPPOSans R" panose="00020600040101010101" charset="-122"/>
                <a:ea typeface="OPPOSans R" panose="00020600040101010101" charset="-122"/>
                <a:cs typeface="OPPOSans R" panose="00020600040101010101" charset="-122"/>
              </a:rPr>
              <a:t>文本元数据 / 结构化单元格</a:t>
            </a:r>
            <a:endParaRPr sz="1200" b="0">
              <a:solidFill>
                <a:schemeClr val="tx1"/>
              </a:solidFill>
              <a:latin typeface="OPPOSans R" panose="00020600040101010101" charset="-122"/>
              <a:ea typeface="OPPOSans R" panose="00020600040101010101" charset="-122"/>
              <a:cs typeface="OPPOSans R" panose="00020600040101010101" charset="-122"/>
            </a:endParaRPr>
          </a:p>
        </p:txBody>
      </p:sp>
      <p:sp>
        <p:nvSpPr>
          <p:cNvPr id="90" name="TextBox 39"/>
          <p:cNvSpPr txBox="1"/>
          <p:nvPr/>
        </p:nvSpPr>
        <p:spPr>
          <a:xfrm>
            <a:off x="4573905" y="5370195"/>
            <a:ext cx="2979420" cy="233045"/>
          </a:xfrm>
          <a:prstGeom prst="rect">
            <a:avLst/>
          </a:prstGeom>
          <a:noFill/>
        </p:spPr>
        <p:txBody>
          <a:bodyPr wrap="square" lIns="18288" tIns="9144" rIns="18288" bIns="9144" anchor="t">
            <a:spAutoFit/>
          </a:bodyPr>
          <a:p>
            <a:pPr algn="l">
              <a:spcAft>
                <a:spcPts val="400"/>
              </a:spcAft>
            </a:pPr>
            <a:r>
              <a:rPr sz="1400">
                <a:solidFill>
                  <a:schemeClr val="accent1"/>
                </a:solidFill>
                <a:latin typeface="OPPOSans B" panose="00020600040101010101" charset="-122"/>
                <a:ea typeface="OPPOSans B" panose="00020600040101010101" charset="-122"/>
              </a:rPr>
              <a:t>BGE-M3 + BGE-reranker-v2-m3</a:t>
            </a:r>
            <a:endParaRPr sz="1400">
              <a:solidFill>
                <a:schemeClr val="accent1"/>
              </a:solidFill>
              <a:latin typeface="OPPOSans B" panose="00020600040101010101" charset="-122"/>
              <a:ea typeface="OPPOSans B" panose="00020600040101010101" charset="-122"/>
            </a:endParaRPr>
          </a:p>
        </p:txBody>
      </p:sp>
      <p:sp>
        <p:nvSpPr>
          <p:cNvPr id="91" name="TextBox 40"/>
          <p:cNvSpPr txBox="1"/>
          <p:nvPr/>
        </p:nvSpPr>
        <p:spPr>
          <a:xfrm>
            <a:off x="5444998" y="5684520"/>
            <a:ext cx="2011680" cy="201930"/>
          </a:xfrm>
          <a:prstGeom prst="rect">
            <a:avLst/>
          </a:prstGeom>
          <a:noFill/>
        </p:spPr>
        <p:txBody>
          <a:bodyPr wrap="square" lIns="18288" tIns="9144" rIns="18288" bIns="9144" anchor="t">
            <a:spAutoFit/>
          </a:bodyPr>
          <a:p>
            <a:pPr algn="l">
              <a:spcAft>
                <a:spcPts val="400"/>
              </a:spcAft>
            </a:pPr>
            <a:r>
              <a:rPr sz="1200" b="0">
                <a:solidFill>
                  <a:schemeClr val="tx1"/>
                </a:solidFill>
                <a:latin typeface="OPPOSans R" panose="00020600040101010101" charset="-122"/>
                <a:ea typeface="OPPOSans R" panose="00020600040101010101" charset="-122"/>
              </a:rPr>
              <a:t>本地嵌入与重排</a:t>
            </a:r>
            <a:endParaRPr sz="1200" b="0">
              <a:solidFill>
                <a:schemeClr val="tx1"/>
              </a:solidFill>
              <a:latin typeface="OPPOSans R" panose="00020600040101010101" charset="-122"/>
              <a:ea typeface="OPPOSans R" panose="00020600040101010101" charset="-122"/>
            </a:endParaRPr>
          </a:p>
        </p:txBody>
      </p:sp>
      <p:sp>
        <p:nvSpPr>
          <p:cNvPr id="93" name="TextBox 42"/>
          <p:cNvSpPr txBox="1"/>
          <p:nvPr/>
        </p:nvSpPr>
        <p:spPr>
          <a:xfrm>
            <a:off x="7721346" y="5368798"/>
            <a:ext cx="2011680" cy="233045"/>
          </a:xfrm>
          <a:prstGeom prst="rect">
            <a:avLst/>
          </a:prstGeom>
          <a:noFill/>
        </p:spPr>
        <p:txBody>
          <a:bodyPr wrap="square" lIns="18288" tIns="9144" rIns="18288" bIns="9144" anchor="t">
            <a:spAutoFit/>
          </a:bodyPr>
          <a:p>
            <a:pPr algn="l">
              <a:spcAft>
                <a:spcPts val="400"/>
              </a:spcAft>
            </a:pPr>
            <a:r>
              <a:rPr sz="1400">
                <a:solidFill>
                  <a:schemeClr val="accent1"/>
                </a:solidFill>
                <a:latin typeface="OPPOSans B" panose="00020600040101010101" charset="-122"/>
                <a:ea typeface="OPPOSans B" panose="00020600040101010101" charset="-122"/>
              </a:rPr>
              <a:t>DeepSeek API</a:t>
            </a:r>
            <a:endParaRPr sz="1400">
              <a:solidFill>
                <a:schemeClr val="accent1"/>
              </a:solidFill>
              <a:latin typeface="OPPOSans B" panose="00020600040101010101" charset="-122"/>
              <a:ea typeface="OPPOSans B" panose="00020600040101010101" charset="-122"/>
            </a:endParaRPr>
          </a:p>
        </p:txBody>
      </p:sp>
      <p:sp>
        <p:nvSpPr>
          <p:cNvPr id="94" name="TextBox 43"/>
          <p:cNvSpPr txBox="1"/>
          <p:nvPr/>
        </p:nvSpPr>
        <p:spPr>
          <a:xfrm>
            <a:off x="7783576" y="5684520"/>
            <a:ext cx="2011680" cy="201930"/>
          </a:xfrm>
          <a:prstGeom prst="rect">
            <a:avLst/>
          </a:prstGeom>
          <a:noFill/>
        </p:spPr>
        <p:txBody>
          <a:bodyPr wrap="square" lIns="18288" tIns="9144" rIns="18288" bIns="9144" anchor="t">
            <a:spAutoFit/>
          </a:bodyPr>
          <a:p>
            <a:pPr algn="l">
              <a:spcAft>
                <a:spcPts val="400"/>
              </a:spcAft>
            </a:pPr>
            <a:r>
              <a:rPr sz="1200" b="0">
                <a:solidFill>
                  <a:schemeClr val="tx1"/>
                </a:solidFill>
                <a:latin typeface="OPPOSans R" panose="00020600040101010101" charset="-122"/>
                <a:ea typeface="OPPOSans R" panose="00020600040101010101" charset="-122"/>
                <a:cs typeface="OPPOSans R" panose="00020600040101010101" charset="-122"/>
              </a:rPr>
              <a:t>生成 / 规划 / 校验</a:t>
            </a:r>
            <a:endParaRPr sz="1200" b="0">
              <a:solidFill>
                <a:schemeClr val="tx1"/>
              </a:solidFill>
              <a:latin typeface="OPPOSans R" panose="00020600040101010101" charset="-122"/>
              <a:ea typeface="OPPOSans R" panose="00020600040101010101" charset="-122"/>
              <a:cs typeface="OPPOSans R" panose="00020600040101010101" charset="-122"/>
            </a:endParaRPr>
          </a:p>
        </p:txBody>
      </p:sp>
      <p:sp>
        <p:nvSpPr>
          <p:cNvPr id="96" name="TextBox 45"/>
          <p:cNvSpPr txBox="1"/>
          <p:nvPr/>
        </p:nvSpPr>
        <p:spPr>
          <a:xfrm>
            <a:off x="9316720" y="5369560"/>
            <a:ext cx="2564130" cy="233045"/>
          </a:xfrm>
          <a:prstGeom prst="rect">
            <a:avLst/>
          </a:prstGeom>
          <a:noFill/>
        </p:spPr>
        <p:txBody>
          <a:bodyPr wrap="square" lIns="18288" tIns="9144" rIns="18288" bIns="9144" anchor="t">
            <a:spAutoFit/>
          </a:bodyPr>
          <a:p>
            <a:pPr algn="l">
              <a:spcAft>
                <a:spcPts val="400"/>
              </a:spcAft>
            </a:pPr>
            <a:r>
              <a:rPr sz="1400">
                <a:solidFill>
                  <a:schemeClr val="accent1"/>
                </a:solidFill>
                <a:latin typeface="OPPOSans B" panose="00020600040101010101" charset="-122"/>
                <a:ea typeface="OPPOSans B" panose="00020600040101010101" charset="-122"/>
              </a:rPr>
              <a:t>LibreOffice + pymupdf4llm</a:t>
            </a:r>
            <a:endParaRPr sz="1400">
              <a:solidFill>
                <a:schemeClr val="accent1"/>
              </a:solidFill>
              <a:latin typeface="OPPOSans B" panose="00020600040101010101" charset="-122"/>
              <a:ea typeface="OPPOSans B" panose="00020600040101010101" charset="-122"/>
            </a:endParaRPr>
          </a:p>
        </p:txBody>
      </p:sp>
      <p:sp>
        <p:nvSpPr>
          <p:cNvPr id="97" name="TextBox 46"/>
          <p:cNvSpPr txBox="1"/>
          <p:nvPr/>
        </p:nvSpPr>
        <p:spPr>
          <a:xfrm>
            <a:off x="9610344" y="5684520"/>
            <a:ext cx="2011680" cy="201930"/>
          </a:xfrm>
          <a:prstGeom prst="rect">
            <a:avLst/>
          </a:prstGeom>
          <a:noFill/>
        </p:spPr>
        <p:txBody>
          <a:bodyPr wrap="square" lIns="18288" tIns="9144" rIns="18288" bIns="9144" anchor="t">
            <a:spAutoFit/>
          </a:bodyPr>
          <a:p>
            <a:pPr algn="l">
              <a:spcAft>
                <a:spcPts val="400"/>
              </a:spcAft>
            </a:pPr>
            <a:r>
              <a:rPr sz="1200" b="0">
                <a:solidFill>
                  <a:schemeClr val="tx1"/>
                </a:solidFill>
                <a:latin typeface="OPPOSans R" panose="00020600040101010101" charset="-122"/>
                <a:ea typeface="OPPOSans R" panose="00020600040101010101" charset="-122"/>
                <a:cs typeface="OPPOSans R" panose="00020600040101010101" charset="-122"/>
              </a:rPr>
              <a:t>PDF / Word / Excel 解析</a:t>
            </a:r>
            <a:endParaRPr sz="1200" b="0">
              <a:solidFill>
                <a:schemeClr val="tx1"/>
              </a:solidFill>
              <a:latin typeface="OPPOSans R" panose="00020600040101010101" charset="-122"/>
              <a:ea typeface="OPPOSans R" panose="00020600040101010101" charset="-122"/>
              <a:cs typeface="OPPOSans R" panose="00020600040101010101" charset="-122"/>
            </a:endParaRPr>
          </a:p>
        </p:txBody>
      </p:sp>
      <p:sp>
        <p:nvSpPr>
          <p:cNvPr id="98" name="Rectangle 5"/>
          <p:cNvSpPr/>
          <p:nvPr/>
        </p:nvSpPr>
        <p:spPr>
          <a:xfrm>
            <a:off x="502920" y="1840230"/>
            <a:ext cx="11183112" cy="20320"/>
          </a:xfrm>
          <a:prstGeom prst="rect">
            <a:avLst/>
          </a:prstGeom>
          <a:solidFill>
            <a:srgbClr val="D9DEE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01" name="Rectangle 6"/>
          <p:cNvSpPr/>
          <p:nvPr/>
        </p:nvSpPr>
        <p:spPr>
          <a:xfrm>
            <a:off x="502920" y="1924050"/>
            <a:ext cx="11183112" cy="685800"/>
          </a:xfrm>
          <a:prstGeom prst="rect">
            <a:avLst/>
          </a:prstGeom>
          <a:solidFill>
            <a:srgbClr val="195CC4"/>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02" name="TextBox 7"/>
          <p:cNvSpPr txBox="1"/>
          <p:nvPr/>
        </p:nvSpPr>
        <p:spPr>
          <a:xfrm>
            <a:off x="685800" y="2090674"/>
            <a:ext cx="10789920" cy="325120"/>
          </a:xfrm>
          <a:prstGeom prst="rect">
            <a:avLst/>
          </a:prstGeom>
          <a:noFill/>
        </p:spPr>
        <p:txBody>
          <a:bodyPr wrap="square" lIns="18288" tIns="9144" rIns="18288" bIns="9144" anchor="ctr">
            <a:spAutoFit/>
          </a:bodyPr>
          <a:p>
            <a:pPr algn="l">
              <a:spcAft>
                <a:spcPts val="400"/>
              </a:spcAft>
            </a:pPr>
            <a:r>
              <a:rPr sz="2000" b="1">
                <a:solidFill>
                  <a:srgbClr val="FFFFFF"/>
                </a:solidFill>
                <a:latin typeface="OPPOSans R" panose="00020600040101010101" charset="-122"/>
                <a:ea typeface="OPPOSans R" panose="00020600040101010101" charset="-122"/>
              </a:rPr>
              <a:t>统一业务入口</a:t>
            </a:r>
            <a:r>
              <a:rPr sz="1600" b="0">
                <a:solidFill>
                  <a:schemeClr val="bg1"/>
                </a:solidFill>
                <a:latin typeface="OPPOSans R" panose="00020600040101010101" charset="-122"/>
                <a:ea typeface="OPPOSans R" panose="00020600040101010101" charset="-122"/>
                <a:cs typeface="OPPOSans R" panose="00020600040101010101" charset="-122"/>
              </a:rPr>
              <a:t>  </a:t>
            </a:r>
            <a:r>
              <a:rPr sz="1600" b="0">
                <a:solidFill>
                  <a:schemeClr val="bg1"/>
                </a:solidFill>
                <a:latin typeface="OPPOSans R" panose="00020600040101010101" charset="-122"/>
                <a:ea typeface="OPPOSans R" panose="00020600040101010101" charset="-122"/>
                <a:cs typeface="OPPOSans R" panose="00020600040101010101" charset="-122"/>
              </a:rPr>
              <a:t>React + TypeScript + Vite：可信问答 / 文档管理 / 审计记录 / 进度与已核验内容预览</a:t>
            </a:r>
            <a:endParaRPr sz="1600" b="0">
              <a:solidFill>
                <a:schemeClr val="bg1"/>
              </a:solidFill>
              <a:latin typeface="OPPOSans R" panose="00020600040101010101" charset="-122"/>
              <a:ea typeface="OPPOSans R" panose="00020600040101010101" charset="-122"/>
              <a:cs typeface="OPPOSans R" panose="00020600040101010101" charset="-122"/>
            </a:endParaRPr>
          </a:p>
        </p:txBody>
      </p:sp>
      <p:sp>
        <p:nvSpPr>
          <p:cNvPr id="104" name="矩形: 圆角 22"/>
          <p:cNvSpPr/>
          <p:nvPr/>
        </p:nvSpPr>
        <p:spPr>
          <a:xfrm flipV="1">
            <a:off x="294640" y="5268595"/>
            <a:ext cx="11586845" cy="721995"/>
          </a:xfrm>
          <a:prstGeom prst="roundRect">
            <a:avLst>
              <a:gd name="adj" fmla="val 4633"/>
            </a:avLst>
          </a:prstGeom>
          <a:noFill/>
          <a:ln>
            <a:solidFill>
              <a:srgbClr val="00418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文本框 14"/>
          <p:cNvSpPr txBox="1"/>
          <p:nvPr/>
        </p:nvSpPr>
        <p:spPr>
          <a:xfrm>
            <a:off x="4191318" y="1942677"/>
            <a:ext cx="3798570" cy="221488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3800" b="0"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03</a:t>
            </a:r>
            <a:endParaRPr kumimoji="0" lang="en-US" altLang="zh-CN" sz="13800" b="0"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endParaRPr>
          </a:p>
        </p:txBody>
      </p:sp>
      <p:sp>
        <p:nvSpPr>
          <p:cNvPr id="16" name="文本框 15"/>
          <p:cNvSpPr txBox="1"/>
          <p:nvPr/>
        </p:nvSpPr>
        <p:spPr>
          <a:xfrm>
            <a:off x="3449637" y="3869267"/>
            <a:ext cx="5283200" cy="777875"/>
          </a:xfrm>
          <a:prstGeom prst="rect">
            <a:avLst/>
          </a:prstGeom>
          <a:noFill/>
        </p:spPr>
        <p:txBody>
          <a:bodyPr anchor="ctr"/>
          <a:lstStyle/>
          <a:p>
            <a:pPr marL="0" marR="0" lvl="0" indent="0" algn="ctr" defTabSz="914400" rtl="0" eaLnBrk="1" fontAlgn="t" latinLnBrk="0" hangingPunct="1">
              <a:lnSpc>
                <a:spcPct val="100000"/>
              </a:lnSpc>
              <a:spcBef>
                <a:spcPts val="0"/>
              </a:spcBef>
              <a:spcAft>
                <a:spcPts val="0"/>
              </a:spcAft>
              <a:buClrTx/>
              <a:buSzTx/>
              <a:buFontTx/>
              <a:buNone/>
              <a:defRPr/>
            </a:pPr>
            <a:r>
              <a:rPr kumimoji="0" lang="zh-CN" altLang="en-US" sz="36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技术亮点</a:t>
            </a:r>
            <a:endParaRPr kumimoji="0" lang="zh-CN" altLang="en-US" sz="36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nvGrpSpPr>
          <p:cNvPr id="18" name="组合 8"/>
          <p:cNvGrpSpPr/>
          <p:nvPr/>
        </p:nvGrpSpPr>
        <p:grpSpPr>
          <a:xfrm>
            <a:off x="3671887" y="1422930"/>
            <a:ext cx="4848225" cy="350837"/>
            <a:chOff x="5783" y="848"/>
            <a:chExt cx="7636" cy="551"/>
          </a:xfrm>
        </p:grpSpPr>
        <p:sp>
          <p:nvSpPr>
            <p:cNvPr id="19" name="任意多边形: 形状 187"/>
            <p:cNvSpPr/>
            <p:nvPr/>
          </p:nvSpPr>
          <p:spPr>
            <a:xfrm>
              <a:off x="5783" y="848"/>
              <a:ext cx="7637" cy="510"/>
            </a:xfrm>
            <a:custGeom>
              <a:avLst/>
              <a:gdLst/>
              <a:ahLst/>
              <a:cxnLst>
                <a:cxn ang="0">
                  <a:pos x="2326" y="31"/>
                </a:cxn>
                <a:cxn ang="0">
                  <a:pos x="3433" y="31"/>
                </a:cxn>
                <a:cxn ang="0">
                  <a:pos x="4216" y="31"/>
                </a:cxn>
                <a:cxn ang="0">
                  <a:pos x="5259" y="31"/>
                </a:cxn>
                <a:cxn ang="0">
                  <a:pos x="5738" y="512"/>
                </a:cxn>
                <a:cxn ang="0">
                  <a:pos x="7637" y="512"/>
                </a:cxn>
                <a:cxn ang="0">
                  <a:pos x="7637" y="494"/>
                </a:cxn>
                <a:cxn ang="0">
                  <a:pos x="5747" y="494"/>
                </a:cxn>
                <a:cxn ang="0">
                  <a:pos x="5266" y="13"/>
                </a:cxn>
                <a:cxn ang="0">
                  <a:pos x="4216" y="13"/>
                </a:cxn>
                <a:cxn ang="0">
                  <a:pos x="3433" y="13"/>
                </a:cxn>
                <a:cxn ang="0">
                  <a:pos x="2319" y="13"/>
                </a:cxn>
                <a:cxn ang="0">
                  <a:pos x="1838" y="494"/>
                </a:cxn>
                <a:cxn ang="0">
                  <a:pos x="13" y="494"/>
                </a:cxn>
                <a:cxn ang="0">
                  <a:pos x="13" y="512"/>
                </a:cxn>
                <a:cxn ang="0">
                  <a:pos x="1845" y="512"/>
                </a:cxn>
              </a:cxnLst>
              <a:rect l="0" t="0" r="0" b="0"/>
              <a:pathLst>
                <a:path w="4849342" h="324061">
                  <a:moveTo>
                    <a:pt x="1477371" y="20254"/>
                  </a:moveTo>
                  <a:lnTo>
                    <a:pt x="2179890" y="20254"/>
                  </a:lnTo>
                  <a:lnTo>
                    <a:pt x="2677555" y="20254"/>
                  </a:lnTo>
                  <a:lnTo>
                    <a:pt x="3339565" y="20254"/>
                  </a:lnTo>
                  <a:lnTo>
                    <a:pt x="3643951" y="325797"/>
                  </a:lnTo>
                  <a:lnTo>
                    <a:pt x="4849922" y="325797"/>
                  </a:lnTo>
                  <a:lnTo>
                    <a:pt x="4849922" y="314224"/>
                  </a:lnTo>
                  <a:lnTo>
                    <a:pt x="3649738" y="314224"/>
                  </a:lnTo>
                  <a:lnTo>
                    <a:pt x="3344195" y="8680"/>
                  </a:lnTo>
                  <a:lnTo>
                    <a:pt x="2677555" y="8680"/>
                  </a:lnTo>
                  <a:lnTo>
                    <a:pt x="2179890" y="8680"/>
                  </a:lnTo>
                  <a:lnTo>
                    <a:pt x="1472742" y="8680"/>
                  </a:lnTo>
                  <a:lnTo>
                    <a:pt x="1167199" y="314224"/>
                  </a:lnTo>
                  <a:lnTo>
                    <a:pt x="8680" y="314224"/>
                  </a:lnTo>
                  <a:lnTo>
                    <a:pt x="8680" y="325797"/>
                  </a:lnTo>
                  <a:lnTo>
                    <a:pt x="1171828" y="325797"/>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20" name="任意多边形: 形状 188"/>
            <p:cNvSpPr/>
            <p:nvPr/>
          </p:nvSpPr>
          <p:spPr>
            <a:xfrm>
              <a:off x="7826" y="1017"/>
              <a:ext cx="3536" cy="383"/>
            </a:xfrm>
            <a:custGeom>
              <a:avLst/>
              <a:gdLst/>
              <a:ahLst/>
              <a:cxnLst>
                <a:cxn ang="0">
                  <a:pos x="3192" y="13"/>
                </a:cxn>
                <a:cxn ang="0">
                  <a:pos x="1845" y="13"/>
                </a:cxn>
                <a:cxn ang="0">
                  <a:pos x="1705" y="13"/>
                </a:cxn>
                <a:cxn ang="0">
                  <a:pos x="356" y="13"/>
                </a:cxn>
                <a:cxn ang="0">
                  <a:pos x="13" y="358"/>
                </a:cxn>
                <a:cxn ang="0">
                  <a:pos x="24" y="371"/>
                </a:cxn>
                <a:cxn ang="0">
                  <a:pos x="363" y="31"/>
                </a:cxn>
                <a:cxn ang="0">
                  <a:pos x="1705" y="31"/>
                </a:cxn>
                <a:cxn ang="0">
                  <a:pos x="1845" y="31"/>
                </a:cxn>
                <a:cxn ang="0">
                  <a:pos x="3185" y="31"/>
                </a:cxn>
                <a:cxn ang="0">
                  <a:pos x="3516" y="362"/>
                </a:cxn>
                <a:cxn ang="0">
                  <a:pos x="3529" y="351"/>
                </a:cxn>
              </a:cxnLst>
              <a:rect l="0" t="0" r="0" b="0"/>
              <a:pathLst>
                <a:path w="2245280" h="243045">
                  <a:moveTo>
                    <a:pt x="2027118" y="8680"/>
                  </a:moveTo>
                  <a:lnTo>
                    <a:pt x="1171828" y="8680"/>
                  </a:lnTo>
                  <a:lnTo>
                    <a:pt x="1082711" y="8680"/>
                  </a:lnTo>
                  <a:lnTo>
                    <a:pt x="226264" y="8680"/>
                  </a:lnTo>
                  <a:lnTo>
                    <a:pt x="8680" y="227421"/>
                  </a:lnTo>
                  <a:lnTo>
                    <a:pt x="15624" y="235523"/>
                  </a:lnTo>
                  <a:lnTo>
                    <a:pt x="230894" y="20254"/>
                  </a:lnTo>
                  <a:lnTo>
                    <a:pt x="1082711" y="20254"/>
                  </a:lnTo>
                  <a:lnTo>
                    <a:pt x="1171828" y="20254"/>
                  </a:lnTo>
                  <a:lnTo>
                    <a:pt x="2022488" y="20254"/>
                  </a:lnTo>
                  <a:lnTo>
                    <a:pt x="2233128" y="229736"/>
                  </a:lnTo>
                  <a:lnTo>
                    <a:pt x="2241230" y="222792"/>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grpSp>
      <p:grpSp>
        <p:nvGrpSpPr>
          <p:cNvPr id="21" name="组合 7"/>
          <p:cNvGrpSpPr/>
          <p:nvPr/>
        </p:nvGrpSpPr>
        <p:grpSpPr>
          <a:xfrm flipV="1">
            <a:off x="3671887" y="4972580"/>
            <a:ext cx="4849813" cy="336550"/>
            <a:chOff x="5975" y="1069"/>
            <a:chExt cx="7636" cy="530"/>
          </a:xfrm>
        </p:grpSpPr>
        <p:sp>
          <p:nvSpPr>
            <p:cNvPr id="22" name="任意多边形: 形状 187"/>
            <p:cNvSpPr/>
            <p:nvPr/>
          </p:nvSpPr>
          <p:spPr>
            <a:xfrm>
              <a:off x="5975" y="1069"/>
              <a:ext cx="7637" cy="510"/>
            </a:xfrm>
            <a:custGeom>
              <a:avLst/>
              <a:gdLst/>
              <a:ahLst/>
              <a:cxnLst>
                <a:cxn ang="0">
                  <a:pos x="2326" y="31"/>
                </a:cxn>
                <a:cxn ang="0">
                  <a:pos x="3433" y="31"/>
                </a:cxn>
                <a:cxn ang="0">
                  <a:pos x="4216" y="31"/>
                </a:cxn>
                <a:cxn ang="0">
                  <a:pos x="5259" y="31"/>
                </a:cxn>
                <a:cxn ang="0">
                  <a:pos x="5738" y="512"/>
                </a:cxn>
                <a:cxn ang="0">
                  <a:pos x="7637" y="512"/>
                </a:cxn>
                <a:cxn ang="0">
                  <a:pos x="7637" y="494"/>
                </a:cxn>
                <a:cxn ang="0">
                  <a:pos x="5747" y="494"/>
                </a:cxn>
                <a:cxn ang="0">
                  <a:pos x="5266" y="13"/>
                </a:cxn>
                <a:cxn ang="0">
                  <a:pos x="4216" y="13"/>
                </a:cxn>
                <a:cxn ang="0">
                  <a:pos x="3433" y="13"/>
                </a:cxn>
                <a:cxn ang="0">
                  <a:pos x="2319" y="13"/>
                </a:cxn>
                <a:cxn ang="0">
                  <a:pos x="1838" y="494"/>
                </a:cxn>
                <a:cxn ang="0">
                  <a:pos x="13" y="494"/>
                </a:cxn>
                <a:cxn ang="0">
                  <a:pos x="13" y="512"/>
                </a:cxn>
                <a:cxn ang="0">
                  <a:pos x="1845" y="512"/>
                </a:cxn>
              </a:cxnLst>
              <a:rect l="0" t="0" r="0" b="0"/>
              <a:pathLst>
                <a:path w="4849342" h="324061">
                  <a:moveTo>
                    <a:pt x="1477371" y="20254"/>
                  </a:moveTo>
                  <a:lnTo>
                    <a:pt x="2179890" y="20254"/>
                  </a:lnTo>
                  <a:lnTo>
                    <a:pt x="2677555" y="20254"/>
                  </a:lnTo>
                  <a:lnTo>
                    <a:pt x="3339565" y="20254"/>
                  </a:lnTo>
                  <a:lnTo>
                    <a:pt x="3643951" y="325797"/>
                  </a:lnTo>
                  <a:lnTo>
                    <a:pt x="4849922" y="325797"/>
                  </a:lnTo>
                  <a:lnTo>
                    <a:pt x="4849922" y="314224"/>
                  </a:lnTo>
                  <a:lnTo>
                    <a:pt x="3649738" y="314224"/>
                  </a:lnTo>
                  <a:lnTo>
                    <a:pt x="3344195" y="8680"/>
                  </a:lnTo>
                  <a:lnTo>
                    <a:pt x="2677555" y="8680"/>
                  </a:lnTo>
                  <a:lnTo>
                    <a:pt x="2179890" y="8680"/>
                  </a:lnTo>
                  <a:lnTo>
                    <a:pt x="1472742" y="8680"/>
                  </a:lnTo>
                  <a:lnTo>
                    <a:pt x="1167199" y="314224"/>
                  </a:lnTo>
                  <a:lnTo>
                    <a:pt x="8680" y="314224"/>
                  </a:lnTo>
                  <a:lnTo>
                    <a:pt x="8680" y="325797"/>
                  </a:lnTo>
                  <a:lnTo>
                    <a:pt x="1171828" y="325797"/>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23" name="任意多边形: 形状 188"/>
            <p:cNvSpPr/>
            <p:nvPr/>
          </p:nvSpPr>
          <p:spPr>
            <a:xfrm>
              <a:off x="8026" y="1217"/>
              <a:ext cx="3536" cy="383"/>
            </a:xfrm>
            <a:custGeom>
              <a:avLst/>
              <a:gdLst/>
              <a:ahLst/>
              <a:cxnLst>
                <a:cxn ang="0">
                  <a:pos x="3192" y="13"/>
                </a:cxn>
                <a:cxn ang="0">
                  <a:pos x="1845" y="13"/>
                </a:cxn>
                <a:cxn ang="0">
                  <a:pos x="1705" y="13"/>
                </a:cxn>
                <a:cxn ang="0">
                  <a:pos x="356" y="13"/>
                </a:cxn>
                <a:cxn ang="0">
                  <a:pos x="13" y="358"/>
                </a:cxn>
                <a:cxn ang="0">
                  <a:pos x="24" y="371"/>
                </a:cxn>
                <a:cxn ang="0">
                  <a:pos x="363" y="31"/>
                </a:cxn>
                <a:cxn ang="0">
                  <a:pos x="1705" y="31"/>
                </a:cxn>
                <a:cxn ang="0">
                  <a:pos x="1845" y="31"/>
                </a:cxn>
                <a:cxn ang="0">
                  <a:pos x="3185" y="31"/>
                </a:cxn>
                <a:cxn ang="0">
                  <a:pos x="3516" y="362"/>
                </a:cxn>
                <a:cxn ang="0">
                  <a:pos x="3529" y="351"/>
                </a:cxn>
              </a:cxnLst>
              <a:rect l="0" t="0" r="0" b="0"/>
              <a:pathLst>
                <a:path w="2245280" h="243045">
                  <a:moveTo>
                    <a:pt x="2027118" y="8680"/>
                  </a:moveTo>
                  <a:lnTo>
                    <a:pt x="1171828" y="8680"/>
                  </a:lnTo>
                  <a:lnTo>
                    <a:pt x="1082711" y="8680"/>
                  </a:lnTo>
                  <a:lnTo>
                    <a:pt x="226264" y="8680"/>
                  </a:lnTo>
                  <a:lnTo>
                    <a:pt x="8680" y="227421"/>
                  </a:lnTo>
                  <a:lnTo>
                    <a:pt x="15624" y="235523"/>
                  </a:lnTo>
                  <a:lnTo>
                    <a:pt x="230894" y="20254"/>
                  </a:lnTo>
                  <a:lnTo>
                    <a:pt x="1082711" y="20254"/>
                  </a:lnTo>
                  <a:lnTo>
                    <a:pt x="1171828" y="20254"/>
                  </a:lnTo>
                  <a:lnTo>
                    <a:pt x="2022488" y="20254"/>
                  </a:lnTo>
                  <a:lnTo>
                    <a:pt x="2233128" y="229736"/>
                  </a:lnTo>
                  <a:lnTo>
                    <a:pt x="2241230" y="222792"/>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337185" y="648335"/>
            <a:ext cx="12862560" cy="5641340"/>
          </a:xfrm>
          <a:prstGeom prst="rect">
            <a:avLst/>
          </a:prstGeom>
          <a:solidFill>
            <a:schemeClr val="bg1"/>
          </a:solidFill>
          <a:ln>
            <a:noFill/>
          </a:ln>
          <a:effectLst>
            <a:outerShdw blurRad="50800" dist="38100" dir="10800000" algn="r" rotWithShape="0">
              <a:prstClr val="black">
                <a:alpha val="40000"/>
              </a:prstClr>
            </a:outerShdw>
            <a:softEdge rad="317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2" name="Rectangle 2"/>
          <p:cNvSpPr/>
          <p:nvPr/>
        </p:nvSpPr>
        <p:spPr>
          <a:xfrm>
            <a:off x="502920" y="1018413"/>
            <a:ext cx="82296" cy="566928"/>
          </a:xfrm>
          <a:prstGeom prst="rect">
            <a:avLst/>
          </a:prstGeom>
          <a:solidFill>
            <a:srgbClr val="1C41A9"/>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5" name="TextBox 3"/>
          <p:cNvSpPr txBox="1"/>
          <p:nvPr/>
        </p:nvSpPr>
        <p:spPr>
          <a:xfrm>
            <a:off x="713232" y="1066736"/>
            <a:ext cx="10058400" cy="479425"/>
          </a:xfrm>
          <a:prstGeom prst="rect">
            <a:avLst/>
          </a:prstGeom>
          <a:noFill/>
        </p:spPr>
        <p:txBody>
          <a:bodyPr wrap="square" lIns="18288" tIns="9144" rIns="18288" bIns="9144" anchor="ctr">
            <a:spAutoFit/>
          </a:bodyPr>
          <a:p>
            <a:pPr algn="l">
              <a:spcAft>
                <a:spcPts val="400"/>
              </a:spcAft>
            </a:pPr>
            <a:r>
              <a:rPr sz="3000">
                <a:solidFill>
                  <a:srgbClr val="195CC4"/>
                </a:solidFill>
                <a:latin typeface="OPPOSans B" panose="00020600040101010101" charset="-122"/>
                <a:ea typeface="OPPOSans B" panose="00020600040101010101" charset="-122"/>
                <a:sym typeface="+mn-ea"/>
              </a:rPr>
              <a:t>技术创新全景：三大核心能力、六项关键设计</a:t>
            </a:r>
            <a:endParaRPr sz="3000">
              <a:solidFill>
                <a:srgbClr val="195CC4"/>
              </a:solidFill>
              <a:latin typeface="OPPOSans B" panose="00020600040101010101" charset="-122"/>
              <a:ea typeface="OPPOSans B" panose="00020600040101010101" charset="-122"/>
              <a:sym typeface="+mn-ea"/>
            </a:endParaRPr>
          </a:p>
        </p:txBody>
      </p:sp>
      <p:sp>
        <p:nvSpPr>
          <p:cNvPr id="52" name="Rectangle 5"/>
          <p:cNvSpPr/>
          <p:nvPr/>
        </p:nvSpPr>
        <p:spPr>
          <a:xfrm>
            <a:off x="502920" y="1626870"/>
            <a:ext cx="11196000" cy="20320"/>
          </a:xfrm>
          <a:prstGeom prst="rect">
            <a:avLst/>
          </a:prstGeom>
          <a:solidFill>
            <a:srgbClr val="D9DEE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6" name="Rectangle 5"/>
          <p:cNvSpPr/>
          <p:nvPr>
            <p:custDataLst>
              <p:tags r:id="rId1"/>
            </p:custDataLst>
          </p:nvPr>
        </p:nvSpPr>
        <p:spPr>
          <a:xfrm>
            <a:off x="502920" y="1727200"/>
            <a:ext cx="5486400" cy="125984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9" name="TextBox 8"/>
          <p:cNvSpPr txBox="1"/>
          <p:nvPr>
            <p:custDataLst>
              <p:tags r:id="rId2"/>
            </p:custDataLst>
          </p:nvPr>
        </p:nvSpPr>
        <p:spPr>
          <a:xfrm>
            <a:off x="713105" y="2232660"/>
            <a:ext cx="5120640" cy="681355"/>
          </a:xfrm>
          <a:prstGeom prst="rect">
            <a:avLst/>
          </a:prstGeom>
          <a:noFill/>
        </p:spPr>
        <p:txBody>
          <a:bodyPr wrap="square" lIns="18288" tIns="9144" rIns="18288" bIns="9144" anchor="t">
            <a:spAutoFit/>
          </a:bodyPr>
          <a:p>
            <a:pPr lvl="0" algn="l">
              <a:lnSpc>
                <a:spcPct val="120000"/>
              </a:lnSpc>
              <a:spcAft>
                <a:spcPts val="400"/>
              </a:spcAft>
              <a:buClrTx/>
              <a:buSzTx/>
              <a:buFontTx/>
            </a:pPr>
            <a:r>
              <a:rPr sz="1200">
                <a:solidFill>
                  <a:schemeClr val="accent1"/>
                </a:solidFill>
                <a:latin typeface="OPPOSans B" panose="00020600040101010101" charset="-122"/>
                <a:ea typeface="OPPOSans B" panose="00020600040101010101" charset="-122"/>
                <a:cs typeface="OPPOSans R" panose="00020600040101010101" charset="-122"/>
                <a:sym typeface="+mn-ea"/>
              </a:rPr>
              <a:t>知识底座：</a:t>
            </a:r>
            <a:r>
              <a:rPr sz="1200">
                <a:solidFill>
                  <a:schemeClr val="tx1"/>
                </a:solidFill>
                <a:latin typeface="OPPOSans R" panose="00020600040101010101" charset="-122"/>
                <a:ea typeface="OPPOSans R" panose="00020600040101010101" charset="-122"/>
                <a:cs typeface="OPPOSans R" panose="00020600040101010101" charset="-122"/>
              </a:rPr>
              <a:t>联合解析制度正文与统计附件，保留标题层级、条款编号、表头关联、期间和单位。</a:t>
            </a:r>
            <a:r>
              <a:rPr sz="1200">
                <a:solidFill>
                  <a:schemeClr val="accent1"/>
                </a:solidFill>
                <a:latin typeface="OPPOSans R" panose="00020600040101010101" charset="-122"/>
                <a:ea typeface="OPPOSans R" panose="00020600040101010101" charset="-122"/>
                <a:cs typeface="OPPOSans R" panose="00020600040101010101" charset="-122"/>
              </a:rPr>
              <a:t>文本与数值均携带业务语义</a:t>
            </a:r>
            <a:r>
              <a:rPr sz="1200">
                <a:solidFill>
                  <a:schemeClr val="tx1"/>
                </a:solidFill>
                <a:latin typeface="OPPOSans R" panose="00020600040101010101" charset="-122"/>
                <a:ea typeface="OPPOSans R" panose="00020600040101010101" charset="-122"/>
                <a:cs typeface="OPPOSans R" panose="00020600040101010101" charset="-122"/>
              </a:rPr>
              <a:t>，减少切分带来的语境丢失，支撑后续查询与计算。</a:t>
            </a:r>
            <a:endParaRPr sz="1200">
              <a:solidFill>
                <a:schemeClr val="tx1"/>
              </a:solidFill>
              <a:latin typeface="OPPOSans R" panose="00020600040101010101" charset="-122"/>
              <a:ea typeface="OPPOSans R" panose="00020600040101010101" charset="-122"/>
              <a:cs typeface="OPPOSans R" panose="00020600040101010101" charset="-122"/>
            </a:endParaRPr>
          </a:p>
        </p:txBody>
      </p:sp>
      <p:sp>
        <p:nvSpPr>
          <p:cNvPr id="60" name="Rectangle 9"/>
          <p:cNvSpPr/>
          <p:nvPr>
            <p:custDataLst>
              <p:tags r:id="rId3"/>
            </p:custDataLst>
          </p:nvPr>
        </p:nvSpPr>
        <p:spPr>
          <a:xfrm>
            <a:off x="505460" y="1727200"/>
            <a:ext cx="2884805" cy="45720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61" name="TextBox 10"/>
          <p:cNvSpPr txBox="1"/>
          <p:nvPr>
            <p:custDataLst>
              <p:tags r:id="rId4"/>
            </p:custDataLst>
          </p:nvPr>
        </p:nvSpPr>
        <p:spPr>
          <a:xfrm>
            <a:off x="615315" y="1808480"/>
            <a:ext cx="2775585" cy="294640"/>
          </a:xfrm>
          <a:prstGeom prst="rect">
            <a:avLst/>
          </a:prstGeom>
          <a:noFill/>
        </p:spPr>
        <p:txBody>
          <a:bodyPr wrap="square" lIns="18288" tIns="9144" rIns="18288" bIns="9144" anchor="ctr">
            <a:spAutoFit/>
          </a:bodyPr>
          <a:p>
            <a:pPr algn="l">
              <a:spcAft>
                <a:spcPts val="400"/>
              </a:spcAft>
            </a:pPr>
            <a:r>
              <a:rPr sz="1800">
                <a:solidFill>
                  <a:schemeClr val="bg1"/>
                </a:solidFill>
                <a:latin typeface="OPPOSans B" panose="00020600040101010101" charset="-122"/>
                <a:ea typeface="OPPOSans B" panose="00020600040101010101" charset="-122"/>
                <a:cs typeface="OPPOSans B" panose="00020600040101010101" charset="-122"/>
                <a:sym typeface="+mn-ea"/>
              </a:rPr>
              <a:t>① 结构感知解析</a:t>
            </a:r>
            <a:endParaRPr sz="1800">
              <a:solidFill>
                <a:schemeClr val="bg1"/>
              </a:solidFill>
              <a:latin typeface="OPPOSans B" panose="00020600040101010101" charset="-122"/>
              <a:ea typeface="OPPOSans B" panose="00020600040101010101" charset="-122"/>
              <a:cs typeface="OPPOSans B" panose="00020600040101010101" charset="-122"/>
              <a:sym typeface="+mn-ea"/>
            </a:endParaRPr>
          </a:p>
        </p:txBody>
      </p:sp>
      <p:sp>
        <p:nvSpPr>
          <p:cNvPr id="14" name="Rectangle 13"/>
          <p:cNvSpPr/>
          <p:nvPr>
            <p:custDataLst>
              <p:tags r:id="rId5"/>
            </p:custDataLst>
          </p:nvPr>
        </p:nvSpPr>
        <p:spPr>
          <a:xfrm>
            <a:off x="502920" y="3171825"/>
            <a:ext cx="5486400" cy="125984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7" name="TextBox 16"/>
          <p:cNvSpPr txBox="1"/>
          <p:nvPr>
            <p:custDataLst>
              <p:tags r:id="rId6"/>
            </p:custDataLst>
          </p:nvPr>
        </p:nvSpPr>
        <p:spPr>
          <a:xfrm>
            <a:off x="704215" y="3702050"/>
            <a:ext cx="5120640" cy="681355"/>
          </a:xfrm>
          <a:prstGeom prst="rect">
            <a:avLst/>
          </a:prstGeom>
          <a:noFill/>
        </p:spPr>
        <p:txBody>
          <a:bodyPr wrap="square" lIns="18288" tIns="9144" rIns="18288" bIns="9144" anchor="t">
            <a:spAutoFit/>
          </a:bodyPr>
          <a:p>
            <a:pPr lvl="0" algn="l" fontAlgn="auto">
              <a:lnSpc>
                <a:spcPct val="120000"/>
              </a:lnSpc>
              <a:spcAft>
                <a:spcPts val="400"/>
              </a:spcAft>
              <a:buClrTx/>
              <a:buSzTx/>
              <a:buFontTx/>
            </a:pPr>
            <a:r>
              <a:rPr sz="1200">
                <a:solidFill>
                  <a:schemeClr val="accent1"/>
                </a:solidFill>
                <a:latin typeface="OPPOSans B" panose="00020600040101010101" charset="-122"/>
                <a:ea typeface="OPPOSans B" panose="00020600040101010101" charset="-122"/>
                <a:cs typeface="OPPOSans R" panose="00020600040101010101" charset="-122"/>
                <a:sym typeface="+mn-ea"/>
              </a:rPr>
              <a:t>证据驱动问答：</a:t>
            </a:r>
            <a:r>
              <a:rPr sz="1200">
                <a:solidFill>
                  <a:schemeClr val="tx1"/>
                </a:solidFill>
                <a:latin typeface="OPPOSans R" panose="00020600040101010101" charset="-122"/>
                <a:ea typeface="OPPOSans R" panose="00020600040101010101" charset="-122"/>
                <a:cs typeface="OPPOSans R" panose="00020600040101010101" charset="-122"/>
              </a:rPr>
              <a:t>多视角检索、CRAG-lite 覆盖诊断与 HyDE 缺口补检协同，</a:t>
            </a:r>
            <a:r>
              <a:rPr sz="1200">
                <a:solidFill>
                  <a:schemeClr val="accent1"/>
                </a:solidFill>
                <a:latin typeface="OPPOSans R" panose="00020600040101010101" charset="-122"/>
                <a:ea typeface="OPPOSans R" panose="00020600040101010101" charset="-122"/>
                <a:cs typeface="OPPOSans R" panose="00020600040101010101" charset="-122"/>
              </a:rPr>
              <a:t>沿条款引用</a:t>
            </a:r>
            <a:r>
              <a:rPr sz="1200">
                <a:solidFill>
                  <a:schemeClr val="tx1"/>
                </a:solidFill>
                <a:latin typeface="OPPOSans R" panose="00020600040101010101" charset="-122"/>
                <a:ea typeface="OPPOSans R" panose="00020600040101010101" charset="-122"/>
                <a:cs typeface="OPPOSans R" panose="00020600040101010101" charset="-122"/>
              </a:rPr>
              <a:t>扩展跨文档依据。</a:t>
            </a:r>
            <a:r>
              <a:rPr sz="1200">
                <a:solidFill>
                  <a:schemeClr val="accent1"/>
                </a:solidFill>
                <a:latin typeface="OPPOSans R" panose="00020600040101010101" charset="-122"/>
                <a:ea typeface="OPPOSans R" panose="00020600040101010101" charset="-122"/>
                <a:cs typeface="OPPOSans R" panose="00020600040101010101" charset="-122"/>
              </a:rPr>
              <a:t>围绕问题要点</a:t>
            </a:r>
            <a:r>
              <a:rPr sz="1200">
                <a:solidFill>
                  <a:schemeClr val="tx1"/>
                </a:solidFill>
                <a:latin typeface="OPPOSans R" panose="00020600040101010101" charset="-122"/>
                <a:ea typeface="OPPOSans R" panose="00020600040101010101" charset="-122"/>
                <a:cs typeface="OPPOSans R" panose="00020600040101010101" charset="-122"/>
              </a:rPr>
              <a:t>补齐定义、列表、条件与例外，提高复杂问询的证据完整性。</a:t>
            </a:r>
            <a:endParaRPr sz="1200">
              <a:solidFill>
                <a:schemeClr val="tx1"/>
              </a:solidFill>
              <a:latin typeface="OPPOSans R" panose="00020600040101010101" charset="-122"/>
              <a:ea typeface="OPPOSans R" panose="00020600040101010101" charset="-122"/>
              <a:cs typeface="OPPOSans R" panose="00020600040101010101" charset="-122"/>
            </a:endParaRPr>
          </a:p>
        </p:txBody>
      </p:sp>
      <p:sp>
        <p:nvSpPr>
          <p:cNvPr id="33" name="Rectangle 9"/>
          <p:cNvSpPr/>
          <p:nvPr>
            <p:custDataLst>
              <p:tags r:id="rId7"/>
            </p:custDataLst>
          </p:nvPr>
        </p:nvSpPr>
        <p:spPr>
          <a:xfrm>
            <a:off x="505460" y="3163570"/>
            <a:ext cx="2884805" cy="45720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4" name="TextBox 10"/>
          <p:cNvSpPr txBox="1"/>
          <p:nvPr>
            <p:custDataLst>
              <p:tags r:id="rId8"/>
            </p:custDataLst>
          </p:nvPr>
        </p:nvSpPr>
        <p:spPr>
          <a:xfrm>
            <a:off x="615315" y="3244850"/>
            <a:ext cx="2775585" cy="294640"/>
          </a:xfrm>
          <a:prstGeom prst="rect">
            <a:avLst/>
          </a:prstGeom>
          <a:noFill/>
        </p:spPr>
        <p:txBody>
          <a:bodyPr wrap="square" lIns="18288" tIns="9144" rIns="18288" bIns="9144" anchor="ctr">
            <a:spAutoFit/>
          </a:bodyPr>
          <a:p>
            <a:pPr algn="l">
              <a:spcAft>
                <a:spcPts val="400"/>
              </a:spcAft>
            </a:pPr>
            <a:r>
              <a:rPr sz="1800">
                <a:solidFill>
                  <a:schemeClr val="bg1"/>
                </a:solidFill>
                <a:latin typeface="OPPOSans B" panose="00020600040101010101" charset="-122"/>
                <a:ea typeface="OPPOSans B" panose="00020600040101010101" charset="-122"/>
                <a:cs typeface="OPPOSans B" panose="00020600040101010101" charset="-122"/>
                <a:sym typeface="+mn-ea"/>
              </a:rPr>
              <a:t>③ 覆盖诊断与跨文档补证</a:t>
            </a:r>
            <a:endParaRPr sz="1800">
              <a:solidFill>
                <a:schemeClr val="bg1"/>
              </a:solidFill>
              <a:latin typeface="OPPOSans B" panose="00020600040101010101" charset="-122"/>
              <a:ea typeface="OPPOSans B" panose="00020600040101010101" charset="-122"/>
              <a:cs typeface="OPPOSans B" panose="00020600040101010101" charset="-122"/>
              <a:sym typeface="+mn-ea"/>
            </a:endParaRPr>
          </a:p>
        </p:txBody>
      </p:sp>
      <p:sp>
        <p:nvSpPr>
          <p:cNvPr id="22" name="Rectangle 21"/>
          <p:cNvSpPr/>
          <p:nvPr>
            <p:custDataLst>
              <p:tags r:id="rId9"/>
            </p:custDataLst>
          </p:nvPr>
        </p:nvSpPr>
        <p:spPr>
          <a:xfrm>
            <a:off x="502920" y="4616450"/>
            <a:ext cx="5486400" cy="125984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5" name="TextBox 24"/>
          <p:cNvSpPr txBox="1"/>
          <p:nvPr>
            <p:custDataLst>
              <p:tags r:id="rId10"/>
            </p:custDataLst>
          </p:nvPr>
        </p:nvSpPr>
        <p:spPr>
          <a:xfrm>
            <a:off x="713105" y="5139690"/>
            <a:ext cx="5120640" cy="681355"/>
          </a:xfrm>
          <a:prstGeom prst="rect">
            <a:avLst/>
          </a:prstGeom>
          <a:noFill/>
        </p:spPr>
        <p:txBody>
          <a:bodyPr wrap="square" lIns="18288" tIns="9144" rIns="18288" bIns="9144" anchor="t">
            <a:spAutoFit/>
          </a:bodyPr>
          <a:p>
            <a:pPr lvl="0" algn="l" fontAlgn="auto">
              <a:lnSpc>
                <a:spcPct val="120000"/>
              </a:lnSpc>
              <a:spcAft>
                <a:spcPts val="400"/>
              </a:spcAft>
              <a:buClrTx/>
              <a:buSzTx/>
              <a:buFontTx/>
            </a:pPr>
            <a:r>
              <a:rPr sz="1200">
                <a:solidFill>
                  <a:schemeClr val="accent1"/>
                </a:solidFill>
                <a:latin typeface="OPPOSans B" panose="00020600040101010101" charset="-122"/>
                <a:ea typeface="OPPOSans B" panose="00020600040101010101" charset="-122"/>
                <a:cs typeface="OPPOSans R" panose="00020600040101010101" charset="-122"/>
                <a:sym typeface="+mn-ea"/>
              </a:rPr>
              <a:t>监管可信交付：</a:t>
            </a:r>
            <a:r>
              <a:rPr sz="1200">
                <a:solidFill>
                  <a:schemeClr val="tx1"/>
                </a:solidFill>
                <a:latin typeface="OPPOSans R" panose="00020600040101010101" charset="-122"/>
                <a:ea typeface="OPPOSans R" panose="00020600040101010101" charset="-122"/>
                <a:cs typeface="OPPOSans R" panose="00020600040101010101" charset="-122"/>
              </a:rPr>
              <a:t>核对关键事实与引用一致性，结合主体、规范强度、条件、例外及范围检查监管含义。通过</a:t>
            </a:r>
            <a:r>
              <a:rPr sz="1200">
                <a:solidFill>
                  <a:schemeClr val="accent1"/>
                </a:solidFill>
                <a:latin typeface="OPPOSans R" panose="00020600040101010101" charset="-122"/>
                <a:ea typeface="OPPOSans R" panose="00020600040101010101" charset="-122"/>
                <a:cs typeface="OPPOSans R" panose="00020600040101010101" charset="-122"/>
              </a:rPr>
              <a:t>风险触发核验与受限修复</a:t>
            </a:r>
            <a:r>
              <a:rPr sz="1200">
                <a:solidFill>
                  <a:schemeClr val="tx1"/>
                </a:solidFill>
                <a:latin typeface="OPPOSans R" panose="00020600040101010101" charset="-122"/>
                <a:ea typeface="OPPOSans R" panose="00020600040101010101" charset="-122"/>
                <a:cs typeface="OPPOSans R" panose="00020600040101010101" charset="-122"/>
              </a:rPr>
              <a:t>，降低数字正确但业务表述失真的风险。</a:t>
            </a:r>
            <a:endParaRPr sz="1200">
              <a:solidFill>
                <a:schemeClr val="tx1"/>
              </a:solidFill>
              <a:latin typeface="OPPOSans R" panose="00020600040101010101" charset="-122"/>
              <a:ea typeface="OPPOSans R" panose="00020600040101010101" charset="-122"/>
              <a:cs typeface="OPPOSans R" panose="00020600040101010101" charset="-122"/>
            </a:endParaRPr>
          </a:p>
        </p:txBody>
      </p:sp>
      <p:sp>
        <p:nvSpPr>
          <p:cNvPr id="40" name="Rectangle 9"/>
          <p:cNvSpPr/>
          <p:nvPr>
            <p:custDataLst>
              <p:tags r:id="rId11"/>
            </p:custDataLst>
          </p:nvPr>
        </p:nvSpPr>
        <p:spPr>
          <a:xfrm>
            <a:off x="505460" y="4608195"/>
            <a:ext cx="2884805" cy="45720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41" name="TextBox 10"/>
          <p:cNvSpPr txBox="1"/>
          <p:nvPr>
            <p:custDataLst>
              <p:tags r:id="rId12"/>
            </p:custDataLst>
          </p:nvPr>
        </p:nvSpPr>
        <p:spPr>
          <a:xfrm>
            <a:off x="615315" y="4689475"/>
            <a:ext cx="2775585" cy="294640"/>
          </a:xfrm>
          <a:prstGeom prst="rect">
            <a:avLst/>
          </a:prstGeom>
          <a:noFill/>
        </p:spPr>
        <p:txBody>
          <a:bodyPr wrap="square" lIns="18288" tIns="9144" rIns="18288" bIns="9144" anchor="ctr">
            <a:spAutoFit/>
          </a:bodyPr>
          <a:p>
            <a:pPr algn="l">
              <a:spcAft>
                <a:spcPts val="400"/>
              </a:spcAft>
            </a:pPr>
            <a:r>
              <a:rPr sz="1800">
                <a:solidFill>
                  <a:schemeClr val="bg1"/>
                </a:solidFill>
                <a:latin typeface="OPPOSans B" panose="00020600040101010101" charset="-122"/>
                <a:ea typeface="OPPOSans B" panose="00020600040101010101" charset="-122"/>
                <a:cs typeface="OPPOSans B" panose="00020600040101010101" charset="-122"/>
                <a:sym typeface="+mn-ea"/>
              </a:rPr>
              <a:t>⑤ 事实与监管语义校验</a:t>
            </a:r>
            <a:endParaRPr sz="1800">
              <a:solidFill>
                <a:schemeClr val="bg1"/>
              </a:solidFill>
              <a:latin typeface="OPPOSans B" panose="00020600040101010101" charset="-122"/>
              <a:ea typeface="OPPOSans B" panose="00020600040101010101" charset="-122"/>
              <a:cs typeface="OPPOSans B" panose="00020600040101010101" charset="-122"/>
              <a:sym typeface="+mn-ea"/>
            </a:endParaRPr>
          </a:p>
        </p:txBody>
      </p:sp>
      <p:sp>
        <p:nvSpPr>
          <p:cNvPr id="89" name="Rectangle 17"/>
          <p:cNvSpPr/>
          <p:nvPr>
            <p:custDataLst>
              <p:tags r:id="rId13"/>
            </p:custDataLst>
          </p:nvPr>
        </p:nvSpPr>
        <p:spPr>
          <a:xfrm>
            <a:off x="6199505" y="3154045"/>
            <a:ext cx="5486400" cy="125984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90" name="TextBox 20"/>
          <p:cNvSpPr txBox="1"/>
          <p:nvPr>
            <p:custDataLst>
              <p:tags r:id="rId14"/>
            </p:custDataLst>
          </p:nvPr>
        </p:nvSpPr>
        <p:spPr>
          <a:xfrm>
            <a:off x="6400800" y="3663950"/>
            <a:ext cx="5120640" cy="681355"/>
          </a:xfrm>
          <a:prstGeom prst="rect">
            <a:avLst/>
          </a:prstGeom>
          <a:noFill/>
        </p:spPr>
        <p:txBody>
          <a:bodyPr wrap="square" lIns="18288" tIns="9144" rIns="18288" bIns="9144" anchor="t">
            <a:spAutoFit/>
          </a:bodyPr>
          <a:p>
            <a:pPr lvl="0" algn="l" fontAlgn="auto">
              <a:lnSpc>
                <a:spcPct val="120000"/>
              </a:lnSpc>
              <a:spcAft>
                <a:spcPts val="400"/>
              </a:spcAft>
              <a:buClrTx/>
              <a:buSzTx/>
              <a:buFontTx/>
            </a:pPr>
            <a:r>
              <a:rPr sz="1200">
                <a:solidFill>
                  <a:schemeClr val="accent1"/>
                </a:solidFill>
                <a:latin typeface="OPPOSans B" panose="00020600040101010101" charset="-122"/>
                <a:ea typeface="OPPOSans B" panose="00020600040101010101" charset="-122"/>
                <a:cs typeface="OPPOSans R" panose="00020600040101010101" charset="-122"/>
                <a:sym typeface="+mn-ea"/>
              </a:rPr>
              <a:t>证据驱动问答：</a:t>
            </a:r>
            <a:r>
              <a:rPr sz="1200">
                <a:solidFill>
                  <a:schemeClr val="tx1"/>
                </a:solidFill>
                <a:latin typeface="OPPOSans R" panose="00020600040101010101" charset="-122"/>
                <a:ea typeface="OPPOSans R" panose="00020600040101010101" charset="-122"/>
                <a:cs typeface="OPPOSans R" panose="00020600040101010101" charset="-122"/>
              </a:rPr>
              <a:t>按</a:t>
            </a:r>
            <a:r>
              <a:rPr sz="1200">
                <a:solidFill>
                  <a:schemeClr val="accent1"/>
                </a:solidFill>
                <a:latin typeface="OPPOSans R" panose="00020600040101010101" charset="-122"/>
                <a:ea typeface="OPPOSans R" panose="00020600040101010101" charset="-122"/>
                <a:cs typeface="OPPOSans R" panose="00020600040101010101" charset="-122"/>
              </a:rPr>
              <a:t>指标、期间与机构定位</a:t>
            </a:r>
            <a:r>
              <a:rPr sz="1200">
                <a:solidFill>
                  <a:schemeClr val="tx1"/>
                </a:solidFill>
                <a:latin typeface="OPPOSans R" panose="00020600040101010101" charset="-122"/>
                <a:ea typeface="OPPOSans R" panose="00020600040101010101" charset="-122"/>
                <a:cs typeface="OPPOSans R" panose="00020600040101010101" charset="-122"/>
              </a:rPr>
              <a:t>结构化单元格，由</a:t>
            </a:r>
            <a:r>
              <a:rPr sz="1200">
                <a:solidFill>
                  <a:schemeClr val="accent1"/>
                </a:solidFill>
                <a:latin typeface="OPPOSans R" panose="00020600040101010101" charset="-122"/>
                <a:ea typeface="OPPOSans R" panose="00020600040101010101" charset="-122"/>
                <a:cs typeface="OPPOSans R" panose="00020600040101010101" charset="-122"/>
              </a:rPr>
              <a:t>安全算子</a:t>
            </a:r>
            <a:r>
              <a:rPr sz="1200">
                <a:solidFill>
                  <a:schemeClr val="tx1"/>
                </a:solidFill>
                <a:latin typeface="OPPOSans R" panose="00020600040101010101" charset="-122"/>
                <a:ea typeface="OPPOSans R" panose="00020600040101010101" charset="-122"/>
                <a:cs typeface="OPPOSans R" panose="00020600040101010101" charset="-122"/>
              </a:rPr>
              <a:t>执行数值运算。将操作数、算式、单位和原表坐标与结果绑定，连接监管问答和可复核的报表分析。</a:t>
            </a:r>
            <a:endParaRPr sz="1200">
              <a:solidFill>
                <a:schemeClr val="tx1"/>
              </a:solidFill>
              <a:latin typeface="OPPOSans R" panose="00020600040101010101" charset="-122"/>
              <a:ea typeface="OPPOSans R" panose="00020600040101010101" charset="-122"/>
              <a:cs typeface="OPPOSans R" panose="00020600040101010101" charset="-122"/>
            </a:endParaRPr>
          </a:p>
        </p:txBody>
      </p:sp>
      <p:sp>
        <p:nvSpPr>
          <p:cNvPr id="91" name="Rectangle 9"/>
          <p:cNvSpPr/>
          <p:nvPr>
            <p:custDataLst>
              <p:tags r:id="rId15"/>
            </p:custDataLst>
          </p:nvPr>
        </p:nvSpPr>
        <p:spPr>
          <a:xfrm>
            <a:off x="6207760" y="3145790"/>
            <a:ext cx="3129915" cy="45720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92" name="TextBox 10"/>
          <p:cNvSpPr txBox="1"/>
          <p:nvPr>
            <p:custDataLst>
              <p:tags r:id="rId16"/>
            </p:custDataLst>
          </p:nvPr>
        </p:nvSpPr>
        <p:spPr>
          <a:xfrm>
            <a:off x="6317615" y="3227070"/>
            <a:ext cx="2884170" cy="294640"/>
          </a:xfrm>
          <a:prstGeom prst="rect">
            <a:avLst/>
          </a:prstGeom>
          <a:noFill/>
        </p:spPr>
        <p:txBody>
          <a:bodyPr wrap="square" lIns="18288" tIns="9144" rIns="18288" bIns="9144" anchor="ctr">
            <a:spAutoFit/>
          </a:bodyPr>
          <a:p>
            <a:pPr algn="l">
              <a:spcAft>
                <a:spcPts val="400"/>
              </a:spcAft>
            </a:pPr>
            <a:r>
              <a:rPr sz="1800">
                <a:solidFill>
                  <a:schemeClr val="bg1"/>
                </a:solidFill>
                <a:latin typeface="OPPOSans B" panose="00020600040101010101" charset="-122"/>
                <a:ea typeface="OPPOSans B" panose="00020600040101010101" charset="-122"/>
                <a:cs typeface="OPPOSans B" panose="00020600040101010101" charset="-122"/>
                <a:sym typeface="+mn-ea"/>
              </a:rPr>
              <a:t>④ 证据绑定确定性计算</a:t>
            </a:r>
            <a:endParaRPr sz="1800">
              <a:solidFill>
                <a:schemeClr val="bg1"/>
              </a:solidFill>
              <a:latin typeface="OPPOSans B" panose="00020600040101010101" charset="-122"/>
              <a:ea typeface="OPPOSans B" panose="00020600040101010101" charset="-122"/>
              <a:cs typeface="OPPOSans B" panose="00020600040101010101" charset="-122"/>
              <a:sym typeface="+mn-ea"/>
            </a:endParaRPr>
          </a:p>
        </p:txBody>
      </p:sp>
      <p:sp>
        <p:nvSpPr>
          <p:cNvPr id="94" name="Rectangle 9"/>
          <p:cNvSpPr/>
          <p:nvPr>
            <p:custDataLst>
              <p:tags r:id="rId17"/>
            </p:custDataLst>
          </p:nvPr>
        </p:nvSpPr>
        <p:spPr>
          <a:xfrm>
            <a:off x="6212205" y="1727200"/>
            <a:ext cx="5486400" cy="125984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95" name="TextBox 12"/>
          <p:cNvSpPr txBox="1"/>
          <p:nvPr>
            <p:custDataLst>
              <p:tags r:id="rId18"/>
            </p:custDataLst>
          </p:nvPr>
        </p:nvSpPr>
        <p:spPr>
          <a:xfrm>
            <a:off x="6400800" y="2225040"/>
            <a:ext cx="5120640" cy="681355"/>
          </a:xfrm>
          <a:prstGeom prst="rect">
            <a:avLst/>
          </a:prstGeom>
          <a:noFill/>
        </p:spPr>
        <p:txBody>
          <a:bodyPr wrap="square" lIns="18288" tIns="9144" rIns="18288" bIns="9144" anchor="t">
            <a:spAutoFit/>
          </a:bodyPr>
          <a:p>
            <a:pPr lvl="0" algn="l" fontAlgn="auto">
              <a:lnSpc>
                <a:spcPct val="120000"/>
              </a:lnSpc>
              <a:spcAft>
                <a:spcPts val="400"/>
              </a:spcAft>
              <a:buClrTx/>
              <a:buSzTx/>
              <a:buFontTx/>
            </a:pPr>
            <a:r>
              <a:rPr sz="1200">
                <a:solidFill>
                  <a:schemeClr val="accent1"/>
                </a:solidFill>
                <a:latin typeface="OPPOSans B" panose="00020600040101010101" charset="-122"/>
                <a:ea typeface="OPPOSans B" panose="00020600040101010101" charset="-122"/>
                <a:cs typeface="OPPOSans R" panose="00020600040101010101" charset="-122"/>
                <a:sym typeface="+mn-ea"/>
              </a:rPr>
              <a:t>知识底座：</a:t>
            </a:r>
            <a:r>
              <a:rPr sz="1200">
                <a:solidFill>
                  <a:schemeClr val="tx1"/>
                </a:solidFill>
                <a:latin typeface="OPPOSans R" panose="00020600040101010101" charset="-122"/>
                <a:ea typeface="OPPOSans R" panose="00020600040101010101" charset="-122"/>
                <a:cs typeface="OPPOSans R" panose="00020600040101010101" charset="-122"/>
              </a:rPr>
              <a:t>条款、定义、邻接片段与单元格分层组织，</a:t>
            </a:r>
            <a:r>
              <a:rPr sz="1200">
                <a:solidFill>
                  <a:schemeClr val="accent1"/>
                </a:solidFill>
                <a:latin typeface="OPPOSans R" panose="00020600040101010101" charset="-122"/>
                <a:ea typeface="OPPOSans R" panose="00020600040101010101" charset="-122"/>
                <a:cs typeface="OPPOSans R" panose="00020600040101010101" charset="-122"/>
              </a:rPr>
              <a:t>Qdrant 召回</a:t>
            </a:r>
            <a:r>
              <a:rPr sz="1200">
                <a:solidFill>
                  <a:schemeClr val="tx1"/>
                </a:solidFill>
                <a:latin typeface="OPPOSans R" panose="00020600040101010101" charset="-122"/>
                <a:ea typeface="OPPOSans R" panose="00020600040101010101" charset="-122"/>
                <a:cs typeface="OPPOSans R" panose="00020600040101010101" charset="-122"/>
              </a:rPr>
              <a:t>与 </a:t>
            </a:r>
            <a:r>
              <a:rPr sz="1200">
                <a:solidFill>
                  <a:schemeClr val="accent1"/>
                </a:solidFill>
                <a:latin typeface="OPPOSans R" panose="00020600040101010101" charset="-122"/>
                <a:ea typeface="OPPOSans R" panose="00020600040101010101" charset="-122"/>
                <a:cs typeface="OPPOSans R" panose="00020600040101010101" charset="-122"/>
              </a:rPr>
              <a:t>SQLite 取证</a:t>
            </a:r>
            <a:r>
              <a:rPr sz="1200">
                <a:latin typeface="OPPOSans R" panose="00020600040101010101" charset="-122"/>
                <a:ea typeface="OPPOSans R" panose="00020600040101010101" charset="-122"/>
                <a:cs typeface="OPPOSans R" panose="00020600040101010101" charset="-122"/>
              </a:rPr>
              <a:t>协</a:t>
            </a:r>
            <a:r>
              <a:rPr sz="1200">
                <a:solidFill>
                  <a:schemeClr val="tx1"/>
                </a:solidFill>
                <a:latin typeface="OPPOSans R" panose="00020600040101010101" charset="-122"/>
                <a:ea typeface="OPPOSans R" panose="00020600040101010101" charset="-122"/>
                <a:cs typeface="OPPOSans R" panose="00020600040101010101" charset="-122"/>
              </a:rPr>
              <a:t>同。依据问题类型定位概念、规定或数值，原文、结构和文件身份保持关联。</a:t>
            </a:r>
            <a:endParaRPr sz="1200">
              <a:solidFill>
                <a:schemeClr val="tx1"/>
              </a:solidFill>
              <a:latin typeface="OPPOSans R" panose="00020600040101010101" charset="-122"/>
              <a:ea typeface="OPPOSans R" panose="00020600040101010101" charset="-122"/>
              <a:cs typeface="OPPOSans R" panose="00020600040101010101" charset="-122"/>
            </a:endParaRPr>
          </a:p>
        </p:txBody>
      </p:sp>
      <p:sp>
        <p:nvSpPr>
          <p:cNvPr id="96" name="Rectangle 9"/>
          <p:cNvSpPr/>
          <p:nvPr>
            <p:custDataLst>
              <p:tags r:id="rId19"/>
            </p:custDataLst>
          </p:nvPr>
        </p:nvSpPr>
        <p:spPr>
          <a:xfrm>
            <a:off x="6202680" y="1727200"/>
            <a:ext cx="3129915" cy="45720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97" name="TextBox 10"/>
          <p:cNvSpPr txBox="1"/>
          <p:nvPr>
            <p:custDataLst>
              <p:tags r:id="rId20"/>
            </p:custDataLst>
          </p:nvPr>
        </p:nvSpPr>
        <p:spPr>
          <a:xfrm>
            <a:off x="6330315" y="1808480"/>
            <a:ext cx="2775585" cy="294640"/>
          </a:xfrm>
          <a:prstGeom prst="rect">
            <a:avLst/>
          </a:prstGeom>
          <a:noFill/>
        </p:spPr>
        <p:txBody>
          <a:bodyPr wrap="square" lIns="18288" tIns="9144" rIns="18288" bIns="9144" anchor="ctr">
            <a:spAutoFit/>
          </a:bodyPr>
          <a:p>
            <a:pPr algn="l">
              <a:spcAft>
                <a:spcPts val="400"/>
              </a:spcAft>
            </a:pPr>
            <a:r>
              <a:rPr sz="1800">
                <a:solidFill>
                  <a:schemeClr val="bg1"/>
                </a:solidFill>
                <a:latin typeface="OPPOSans B" panose="00020600040101010101" charset="-122"/>
                <a:ea typeface="OPPOSans B" panose="00020600040101010101" charset="-122"/>
                <a:cs typeface="OPPOSans B" panose="00020600040101010101" charset="-122"/>
                <a:sym typeface="+mn-ea"/>
              </a:rPr>
              <a:t>② 多粒度证据索引</a:t>
            </a:r>
            <a:endParaRPr sz="1800">
              <a:solidFill>
                <a:schemeClr val="bg1"/>
              </a:solidFill>
              <a:latin typeface="OPPOSans B" panose="00020600040101010101" charset="-122"/>
              <a:ea typeface="OPPOSans B" panose="00020600040101010101" charset="-122"/>
              <a:cs typeface="OPPOSans B" panose="00020600040101010101" charset="-122"/>
              <a:sym typeface="+mn-ea"/>
            </a:endParaRPr>
          </a:p>
        </p:txBody>
      </p:sp>
      <p:sp>
        <p:nvSpPr>
          <p:cNvPr id="99" name="Rectangle 25"/>
          <p:cNvSpPr/>
          <p:nvPr>
            <p:custDataLst>
              <p:tags r:id="rId21"/>
            </p:custDataLst>
          </p:nvPr>
        </p:nvSpPr>
        <p:spPr>
          <a:xfrm>
            <a:off x="6212205" y="4616450"/>
            <a:ext cx="5486400" cy="125984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00" name="TextBox 28"/>
          <p:cNvSpPr txBox="1"/>
          <p:nvPr>
            <p:custDataLst>
              <p:tags r:id="rId22"/>
            </p:custDataLst>
          </p:nvPr>
        </p:nvSpPr>
        <p:spPr>
          <a:xfrm>
            <a:off x="6400800" y="5144770"/>
            <a:ext cx="5120640" cy="681355"/>
          </a:xfrm>
          <a:prstGeom prst="rect">
            <a:avLst/>
          </a:prstGeom>
          <a:noFill/>
        </p:spPr>
        <p:txBody>
          <a:bodyPr wrap="square" lIns="18288" tIns="9144" rIns="18288" bIns="9144" anchor="t">
            <a:spAutoFit/>
          </a:bodyPr>
          <a:p>
            <a:pPr lvl="0" algn="l" fontAlgn="auto">
              <a:lnSpc>
                <a:spcPct val="120000"/>
              </a:lnSpc>
              <a:spcAft>
                <a:spcPts val="400"/>
              </a:spcAft>
              <a:buClrTx/>
              <a:buSzTx/>
              <a:buFontTx/>
            </a:pPr>
            <a:r>
              <a:rPr sz="1200">
                <a:solidFill>
                  <a:schemeClr val="accent1"/>
                </a:solidFill>
                <a:latin typeface="OPPOSans B" panose="00020600040101010101" charset="-122"/>
                <a:ea typeface="OPPOSans B" panose="00020600040101010101" charset="-122"/>
                <a:cs typeface="OPPOSans R" panose="00020600040101010101" charset="-122"/>
                <a:sym typeface="+mn-ea"/>
              </a:rPr>
              <a:t>监管可信交付：</a:t>
            </a:r>
            <a:r>
              <a:rPr sz="1200">
                <a:solidFill>
                  <a:schemeClr val="tx1"/>
                </a:solidFill>
                <a:latin typeface="OPPOSans R" panose="00020600040101010101" charset="-122"/>
                <a:ea typeface="OPPOSans R" panose="00020600040101010101" charset="-122"/>
                <a:cs typeface="OPPOSans R" panose="00020600040101010101" charset="-122"/>
              </a:rPr>
              <a:t>依据不足时</a:t>
            </a:r>
            <a:r>
              <a:rPr sz="1200">
                <a:solidFill>
                  <a:schemeClr val="accent1"/>
                </a:solidFill>
                <a:latin typeface="OPPOSans R" panose="00020600040101010101" charset="-122"/>
                <a:ea typeface="OPPOSans R" panose="00020600040101010101" charset="-122"/>
                <a:cs typeface="OPPOSans R" panose="00020600040101010101" charset="-122"/>
              </a:rPr>
              <a:t>说明缺口并澄清</a:t>
            </a:r>
            <a:r>
              <a:rPr sz="1200">
                <a:solidFill>
                  <a:schemeClr val="tx1"/>
                </a:solidFill>
                <a:latin typeface="OPPOSans R" panose="00020600040101010101" charset="-122"/>
                <a:ea typeface="OPPOSans R" panose="00020600040101010101" charset="-122"/>
                <a:cs typeface="OPPOSans R" panose="00020600040101010101" charset="-122"/>
              </a:rPr>
              <a:t>或</a:t>
            </a:r>
            <a:r>
              <a:rPr sz="1200">
                <a:solidFill>
                  <a:schemeClr val="accent1"/>
                </a:solidFill>
                <a:latin typeface="OPPOSans R" panose="00020600040101010101" charset="-122"/>
                <a:ea typeface="OPPOSans R" panose="00020600040101010101" charset="-122"/>
                <a:cs typeface="OPPOSans R" panose="00020600040101010101" charset="-122"/>
              </a:rPr>
              <a:t>拒答，关联答案、引用、原文与问答记录</a:t>
            </a:r>
            <a:r>
              <a:rPr sz="1200">
                <a:solidFill>
                  <a:schemeClr val="tx1"/>
                </a:solidFill>
                <a:latin typeface="OPPOSans R" panose="00020600040101010101" charset="-122"/>
                <a:ea typeface="OPPOSans R" panose="00020600040101010101" charset="-122"/>
                <a:cs typeface="OPPOSans R" panose="00020600040101010101" charset="-122"/>
              </a:rPr>
              <a:t>。将风险边界、业务复核与持续回归纳入交付流程，支持后续审计和知识维护。</a:t>
            </a:r>
            <a:endParaRPr sz="1200">
              <a:solidFill>
                <a:schemeClr val="tx1"/>
              </a:solidFill>
              <a:latin typeface="OPPOSans R" panose="00020600040101010101" charset="-122"/>
              <a:ea typeface="OPPOSans R" panose="00020600040101010101" charset="-122"/>
              <a:cs typeface="OPPOSans R" panose="00020600040101010101" charset="-122"/>
            </a:endParaRPr>
          </a:p>
        </p:txBody>
      </p:sp>
      <p:sp>
        <p:nvSpPr>
          <p:cNvPr id="101" name="Rectangle 9"/>
          <p:cNvSpPr/>
          <p:nvPr>
            <p:custDataLst>
              <p:tags r:id="rId23"/>
            </p:custDataLst>
          </p:nvPr>
        </p:nvSpPr>
        <p:spPr>
          <a:xfrm>
            <a:off x="6202680" y="4608195"/>
            <a:ext cx="3129915" cy="45720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02" name="TextBox 10"/>
          <p:cNvSpPr txBox="1"/>
          <p:nvPr>
            <p:custDataLst>
              <p:tags r:id="rId24"/>
            </p:custDataLst>
          </p:nvPr>
        </p:nvSpPr>
        <p:spPr>
          <a:xfrm>
            <a:off x="6330315" y="4689475"/>
            <a:ext cx="2884170" cy="294640"/>
          </a:xfrm>
          <a:prstGeom prst="rect">
            <a:avLst/>
          </a:prstGeom>
          <a:noFill/>
        </p:spPr>
        <p:txBody>
          <a:bodyPr wrap="square" lIns="18288" tIns="9144" rIns="18288" bIns="9144" anchor="ctr">
            <a:spAutoFit/>
          </a:bodyPr>
          <a:p>
            <a:pPr algn="l">
              <a:spcAft>
                <a:spcPts val="400"/>
              </a:spcAft>
            </a:pPr>
            <a:r>
              <a:rPr sz="1800">
                <a:solidFill>
                  <a:schemeClr val="bg1"/>
                </a:solidFill>
                <a:latin typeface="OPPOSans B" panose="00020600040101010101" charset="-122"/>
                <a:ea typeface="OPPOSans B" panose="00020600040101010101" charset="-122"/>
                <a:cs typeface="OPPOSans B" panose="00020600040101010101" charset="-122"/>
                <a:sym typeface="+mn-ea"/>
              </a:rPr>
              <a:t>⑥ 风险边界与审计追踪</a:t>
            </a:r>
            <a:endParaRPr sz="1800">
              <a:solidFill>
                <a:schemeClr val="bg1"/>
              </a:solidFill>
              <a:latin typeface="OPPOSans B" panose="00020600040101010101" charset="-122"/>
              <a:ea typeface="OPPOSans B" panose="00020600040101010101" charset="-122"/>
              <a:cs typeface="OPPOSans B" panose="00020600040101010101"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矩形 14"/>
          <p:cNvSpPr/>
          <p:nvPr/>
        </p:nvSpPr>
        <p:spPr>
          <a:xfrm>
            <a:off x="-337185" y="671195"/>
            <a:ext cx="12862560" cy="5641340"/>
          </a:xfrm>
          <a:prstGeom prst="rect">
            <a:avLst/>
          </a:prstGeom>
          <a:solidFill>
            <a:schemeClr val="bg1"/>
          </a:solidFill>
          <a:ln>
            <a:noFill/>
          </a:ln>
          <a:effectLst>
            <a:outerShdw blurRad="50800" dist="38100" dir="10800000" algn="r" rotWithShape="0">
              <a:prstClr val="black">
                <a:alpha val="40000"/>
              </a:prstClr>
            </a:outerShdw>
            <a:softEdge rad="317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2" name="Rectangle 2"/>
          <p:cNvSpPr/>
          <p:nvPr/>
        </p:nvSpPr>
        <p:spPr>
          <a:xfrm>
            <a:off x="502920" y="1018413"/>
            <a:ext cx="82296" cy="566928"/>
          </a:xfrm>
          <a:prstGeom prst="rect">
            <a:avLst/>
          </a:prstGeom>
          <a:solidFill>
            <a:srgbClr val="1C41A9"/>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5" name="TextBox 3"/>
          <p:cNvSpPr txBox="1"/>
          <p:nvPr/>
        </p:nvSpPr>
        <p:spPr>
          <a:xfrm>
            <a:off x="713232" y="1066736"/>
            <a:ext cx="10058400" cy="479425"/>
          </a:xfrm>
          <a:prstGeom prst="rect">
            <a:avLst/>
          </a:prstGeom>
          <a:noFill/>
        </p:spPr>
        <p:txBody>
          <a:bodyPr wrap="square" lIns="18288" tIns="9144" rIns="18288" bIns="9144" anchor="ctr">
            <a:spAutoFit/>
          </a:bodyPr>
          <a:p>
            <a:pPr algn="l">
              <a:spcAft>
                <a:spcPts val="400"/>
              </a:spcAft>
            </a:pPr>
            <a:r>
              <a:rPr sz="3000">
                <a:solidFill>
                  <a:srgbClr val="195CC4"/>
                </a:solidFill>
                <a:latin typeface="OPPOSans B" panose="00020600040101010101" charset="-122"/>
                <a:ea typeface="OPPOSans B" panose="00020600040101010101" charset="-122"/>
                <a:sym typeface="+mn-ea"/>
              </a:rPr>
              <a:t>亮点一：结构感知解析与多粒度知识索引</a:t>
            </a:r>
            <a:endParaRPr sz="3000">
              <a:solidFill>
                <a:srgbClr val="195CC4"/>
              </a:solidFill>
              <a:latin typeface="OPPOSans B" panose="00020600040101010101" charset="-122"/>
              <a:ea typeface="OPPOSans B" panose="00020600040101010101" charset="-122"/>
              <a:sym typeface="+mn-ea"/>
            </a:endParaRPr>
          </a:p>
        </p:txBody>
      </p:sp>
      <p:sp>
        <p:nvSpPr>
          <p:cNvPr id="7" name="TextBox 4"/>
          <p:cNvSpPr txBox="1"/>
          <p:nvPr/>
        </p:nvSpPr>
        <p:spPr>
          <a:xfrm>
            <a:off x="713232" y="1575054"/>
            <a:ext cx="10789920" cy="233045"/>
          </a:xfrm>
          <a:prstGeom prst="rect">
            <a:avLst/>
          </a:prstGeom>
          <a:noFill/>
        </p:spPr>
        <p:txBody>
          <a:bodyPr wrap="square" lIns="18288" tIns="9144" rIns="18288" bIns="9144" anchor="t">
            <a:spAutoFit/>
          </a:bodyPr>
          <a:p>
            <a:pPr algn="l">
              <a:spcAft>
                <a:spcPts val="400"/>
              </a:spcAft>
            </a:pPr>
            <a:r>
              <a:rPr sz="1400">
                <a:latin typeface="OPPOSans R" panose="00020600040101010101" charset="-122"/>
                <a:ea typeface="OPPOSans R" panose="00020600040101010101" charset="-122"/>
                <a:sym typeface="+mn-ea"/>
              </a:rPr>
              <a:t>面向制度条款与统计附件，保留文档结构和数值业务语义，让知识既能精准定位，也能支撑计算与复核。</a:t>
            </a:r>
            <a:endParaRPr sz="1400">
              <a:latin typeface="OPPOSans R" panose="00020600040101010101" charset="-122"/>
              <a:ea typeface="OPPOSans R" panose="00020600040101010101" charset="-122"/>
              <a:sym typeface="+mn-ea"/>
            </a:endParaRPr>
          </a:p>
        </p:txBody>
      </p:sp>
      <p:sp>
        <p:nvSpPr>
          <p:cNvPr id="98" name="Rectangle 5"/>
          <p:cNvSpPr/>
          <p:nvPr/>
        </p:nvSpPr>
        <p:spPr>
          <a:xfrm>
            <a:off x="502920" y="1840230"/>
            <a:ext cx="11412000" cy="20320"/>
          </a:xfrm>
          <a:prstGeom prst="rect">
            <a:avLst/>
          </a:prstGeom>
          <a:solidFill>
            <a:srgbClr val="D9DEE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 name="Rectangle 6"/>
          <p:cNvSpPr/>
          <p:nvPr/>
        </p:nvSpPr>
        <p:spPr>
          <a:xfrm>
            <a:off x="502920" y="1929765"/>
            <a:ext cx="5257800" cy="2083435"/>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8" name="TextBox 7"/>
          <p:cNvSpPr txBox="1"/>
          <p:nvPr/>
        </p:nvSpPr>
        <p:spPr>
          <a:xfrm>
            <a:off x="731520" y="2021205"/>
            <a:ext cx="5029200" cy="325120"/>
          </a:xfrm>
          <a:prstGeom prst="rect">
            <a:avLst/>
          </a:prstGeom>
          <a:noFill/>
        </p:spPr>
        <p:txBody>
          <a:bodyPr wrap="square" lIns="18288" tIns="9144" rIns="18288" bIns="9144" anchor="t">
            <a:spAutoFit/>
          </a:bodyPr>
          <a:p>
            <a:pPr algn="l">
              <a:spcAft>
                <a:spcPts val="400"/>
              </a:spcAft>
            </a:pPr>
            <a:r>
              <a:rPr sz="2000">
                <a:solidFill>
                  <a:schemeClr val="accent1"/>
                </a:solidFill>
                <a:latin typeface="OPPOSans B" panose="00020600040101010101" charset="-122"/>
                <a:ea typeface="OPPOSans B" panose="00020600040101010101" charset="-122"/>
              </a:rPr>
              <a:t>保留业务语义的结构化解析</a:t>
            </a:r>
            <a:endParaRPr sz="2000">
              <a:solidFill>
                <a:schemeClr val="accent1"/>
              </a:solidFill>
              <a:latin typeface="OPPOSans B" panose="00020600040101010101" charset="-122"/>
              <a:ea typeface="OPPOSans B" panose="00020600040101010101" charset="-122"/>
            </a:endParaRPr>
          </a:p>
        </p:txBody>
      </p:sp>
      <p:sp>
        <p:nvSpPr>
          <p:cNvPr id="9" name="TextBox 8"/>
          <p:cNvSpPr txBox="1"/>
          <p:nvPr/>
        </p:nvSpPr>
        <p:spPr>
          <a:xfrm>
            <a:off x="731520" y="2392045"/>
            <a:ext cx="5029200" cy="1463675"/>
          </a:xfrm>
          <a:prstGeom prst="rect">
            <a:avLst/>
          </a:prstGeom>
          <a:noFill/>
        </p:spPr>
        <p:txBody>
          <a:bodyPr wrap="square" lIns="18288" tIns="9144" rIns="18288" bIns="9144" anchor="t">
            <a:spAutoFit/>
          </a:bodyPr>
          <a:p>
            <a:pPr algn="l" fontAlgn="auto">
              <a:lnSpc>
                <a:spcPct val="120000"/>
              </a:lnSpc>
              <a:spcAft>
                <a:spcPts val="4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制度正文：</a:t>
            </a:r>
            <a:r>
              <a:rPr sz="1400">
                <a:solidFill>
                  <a:schemeClr val="tx1"/>
                </a:solidFill>
                <a:latin typeface="OPPOSans R" panose="00020600040101010101" charset="-122"/>
                <a:ea typeface="OPPOSans R" panose="00020600040101010101" charset="-122"/>
                <a:cs typeface="OPPOSans R" panose="00020600040101010101" charset="-122"/>
              </a:rPr>
              <a:t>提取标题层级、条款编号与原文段落，保留章节语境；PDF / Word 解析协同处理。</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4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统计附件：</a:t>
            </a:r>
            <a:r>
              <a:rPr sz="1400">
                <a:solidFill>
                  <a:schemeClr val="tx1"/>
                </a:solidFill>
                <a:latin typeface="OPPOSans R" panose="00020600040101010101" charset="-122"/>
                <a:ea typeface="OPPOSans R" panose="00020600040101010101" charset="-122"/>
                <a:cs typeface="OPPOSans R" panose="00020600040101010101" charset="-122"/>
              </a:rPr>
              <a:t>关联表头、行列标签、期间、单位、数值与坐标，避免“数字脱离口径”。</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4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统一产出：</a:t>
            </a:r>
            <a:r>
              <a:rPr sz="1400">
                <a:solidFill>
                  <a:schemeClr val="tx1"/>
                </a:solidFill>
                <a:latin typeface="OPPOSans R" panose="00020600040101010101" charset="-122"/>
                <a:ea typeface="OPPOSans R" panose="00020600040101010101" charset="-122"/>
                <a:cs typeface="OPPOSans R" panose="00020600040101010101" charset="-122"/>
              </a:rPr>
              <a:t>以文本片段与结构化单元格承载知识，连接制度查询和报表分析。</a:t>
            </a:r>
            <a:endParaRPr sz="1400">
              <a:solidFill>
                <a:schemeClr val="tx1"/>
              </a:solidFill>
              <a:latin typeface="OPPOSans R" panose="00020600040101010101" charset="-122"/>
              <a:ea typeface="OPPOSans R" panose="00020600040101010101" charset="-122"/>
              <a:cs typeface="OPPOSans R" panose="00020600040101010101" charset="-122"/>
            </a:endParaRPr>
          </a:p>
        </p:txBody>
      </p:sp>
      <p:sp>
        <p:nvSpPr>
          <p:cNvPr id="10" name="Rectangle 9"/>
          <p:cNvSpPr/>
          <p:nvPr/>
        </p:nvSpPr>
        <p:spPr>
          <a:xfrm>
            <a:off x="5940425" y="1929765"/>
            <a:ext cx="5974715" cy="2083435"/>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1" name="TextBox 10"/>
          <p:cNvSpPr txBox="1"/>
          <p:nvPr/>
        </p:nvSpPr>
        <p:spPr>
          <a:xfrm>
            <a:off x="6100572" y="2021205"/>
            <a:ext cx="5029200" cy="325120"/>
          </a:xfrm>
          <a:prstGeom prst="rect">
            <a:avLst/>
          </a:prstGeom>
          <a:noFill/>
        </p:spPr>
        <p:txBody>
          <a:bodyPr wrap="square" lIns="18288" tIns="9144" rIns="18288" bIns="9144" anchor="t">
            <a:spAutoFit/>
          </a:bodyPr>
          <a:p>
            <a:pPr lvl="0" algn="l">
              <a:spcAft>
                <a:spcPts val="400"/>
              </a:spcAft>
              <a:buClrTx/>
              <a:buSzTx/>
              <a:buFontTx/>
            </a:pPr>
            <a:r>
              <a:rPr sz="2000">
                <a:solidFill>
                  <a:schemeClr val="accent1"/>
                </a:solidFill>
                <a:latin typeface="OPPOSans B" panose="00020600040101010101" charset="-122"/>
                <a:ea typeface="OPPOSans B" panose="00020600040101010101" charset="-122"/>
                <a:sym typeface="+mn-ea"/>
              </a:rPr>
              <a:t>条款、定义与单元格多粒度索引</a:t>
            </a:r>
            <a:endParaRPr sz="2000">
              <a:solidFill>
                <a:schemeClr val="accent1"/>
              </a:solidFill>
              <a:latin typeface="OPPOSans B" panose="00020600040101010101" charset="-122"/>
              <a:ea typeface="OPPOSans B" panose="00020600040101010101" charset="-122"/>
              <a:sym typeface="+mn-ea"/>
            </a:endParaRPr>
          </a:p>
        </p:txBody>
      </p:sp>
      <p:sp>
        <p:nvSpPr>
          <p:cNvPr id="12" name="TextBox 11"/>
          <p:cNvSpPr txBox="1"/>
          <p:nvPr/>
        </p:nvSpPr>
        <p:spPr>
          <a:xfrm>
            <a:off x="6100445" y="2392045"/>
            <a:ext cx="5746115" cy="1412240"/>
          </a:xfrm>
          <a:prstGeom prst="rect">
            <a:avLst/>
          </a:prstGeom>
          <a:noFill/>
        </p:spPr>
        <p:txBody>
          <a:bodyPr wrap="square" lIns="18288" tIns="9144" rIns="18288" bIns="9144" anchor="t">
            <a:spAutoFit/>
          </a:bodyPr>
          <a:p>
            <a:pPr algn="l" fontAlgn="auto">
              <a:lnSpc>
                <a:spcPct val="120000"/>
              </a:lnSpc>
              <a:spcAft>
                <a:spcPts val="4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定义与条款：</a:t>
            </a:r>
            <a:r>
              <a:rPr sz="1400">
                <a:solidFill>
                  <a:schemeClr val="tx1"/>
                </a:solidFill>
                <a:latin typeface="OPPOSans R" panose="00020600040101010101" charset="-122"/>
                <a:ea typeface="OPPOSans R" panose="00020600040101010101" charset="-122"/>
                <a:cs typeface="OPPOSans R" panose="00020600040101010101" charset="-122"/>
              </a:rPr>
              <a:t>按问题类型直达概念依据，关联邻接上下文；新增 </a:t>
            </a:r>
            <a:r>
              <a:rPr sz="1400">
                <a:solidFill>
                  <a:schemeClr val="accent1"/>
                </a:solidFill>
                <a:latin typeface="OPPOSans B" panose="00020600040101010101" charset="-122"/>
                <a:ea typeface="OPPOSans B" panose="00020600040101010101" charset="-122"/>
                <a:cs typeface="OPPOSans R" panose="00020600040101010101" charset="-122"/>
                <a:sym typeface="+mn-ea"/>
              </a:rPr>
              <a:t>440 条定义、164 行条款索引</a:t>
            </a:r>
            <a:r>
              <a:rPr sz="1400">
                <a:solidFill>
                  <a:schemeClr val="tx1"/>
                </a:solidFill>
                <a:latin typeface="OPPOSans R" panose="00020600040101010101" charset="-122"/>
                <a:ea typeface="OPPOSans R" panose="00020600040101010101" charset="-122"/>
                <a:cs typeface="OPPOSans R" panose="00020600040101010101" charset="-122"/>
              </a:rPr>
              <a:t>。</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4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数值与坐标：</a:t>
            </a:r>
            <a:r>
              <a:rPr sz="1400">
                <a:solidFill>
                  <a:schemeClr val="accent1"/>
                </a:solidFill>
                <a:latin typeface="OPPOSans B" panose="00020600040101010101" charset="-122"/>
                <a:ea typeface="OPPOSans B" panose="00020600040101010101" charset="-122"/>
                <a:cs typeface="OPPOSans R" panose="00020600040101010101" charset="-122"/>
                <a:sym typeface="+mn-ea"/>
              </a:rPr>
              <a:t>133,001 个单元格</a:t>
            </a:r>
            <a:r>
              <a:rPr sz="1400">
                <a:solidFill>
                  <a:schemeClr val="tx1"/>
                </a:solidFill>
                <a:latin typeface="OPPOSans R" panose="00020600040101010101" charset="-122"/>
                <a:ea typeface="OPPOSans R" panose="00020600040101010101" charset="-122"/>
                <a:cs typeface="OPPOSans R" panose="00020600040101010101" charset="-122"/>
              </a:rPr>
              <a:t>绑定指标、期间和机构，支撑精确取数与计算复核。</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4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双存储协同：</a:t>
            </a:r>
            <a:r>
              <a:rPr sz="1400">
                <a:solidFill>
                  <a:schemeClr val="tx1"/>
                </a:solidFill>
                <a:latin typeface="OPPOSans R" panose="00020600040101010101" charset="-122"/>
                <a:ea typeface="OPPOSans R" panose="00020600040101010101" charset="-122"/>
                <a:cs typeface="OPPOSans R" panose="00020600040101010101" charset="-122"/>
              </a:rPr>
              <a:t>Qdrant 召回 + SQLite 取证，manifest 保留文件身份。</a:t>
            </a:r>
            <a:endParaRPr sz="1400">
              <a:solidFill>
                <a:schemeClr val="tx1"/>
              </a:solidFill>
              <a:latin typeface="OPPOSans R" panose="00020600040101010101" charset="-122"/>
              <a:ea typeface="OPPOSans R" panose="00020600040101010101" charset="-122"/>
              <a:cs typeface="OPPOSans R" panose="00020600040101010101" charset="-122"/>
            </a:endParaRPr>
          </a:p>
        </p:txBody>
      </p:sp>
      <p:grpSp>
        <p:nvGrpSpPr>
          <p:cNvPr id="31" name="组合 30"/>
          <p:cNvGrpSpPr/>
          <p:nvPr/>
        </p:nvGrpSpPr>
        <p:grpSpPr>
          <a:xfrm>
            <a:off x="502920" y="4093845"/>
            <a:ext cx="2157730" cy="1051560"/>
            <a:chOff x="792" y="6615"/>
            <a:chExt cx="3398" cy="1656"/>
          </a:xfrm>
        </p:grpSpPr>
        <p:sp>
          <p:nvSpPr>
            <p:cNvPr id="13" name="Rectangle 12"/>
            <p:cNvSpPr/>
            <p:nvPr/>
          </p:nvSpPr>
          <p:spPr>
            <a:xfrm>
              <a:off x="792" y="6615"/>
              <a:ext cx="3398" cy="1656"/>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4" name="TextBox 13"/>
            <p:cNvSpPr txBox="1"/>
            <p:nvPr/>
          </p:nvSpPr>
          <p:spPr>
            <a:xfrm>
              <a:off x="864" y="6782"/>
              <a:ext cx="3254" cy="803"/>
            </a:xfrm>
            <a:prstGeom prst="rect">
              <a:avLst/>
            </a:prstGeom>
            <a:noFill/>
          </p:spPr>
          <p:txBody>
            <a:bodyPr wrap="square" lIns="18288" tIns="9144" rIns="18288" bIns="9144" anchor="t">
              <a:spAutoFit/>
            </a:bodyPr>
            <a:p>
              <a:pPr algn="ctr">
                <a:spcAft>
                  <a:spcPts val="400"/>
                </a:spcAft>
              </a:pPr>
              <a:r>
                <a:rPr sz="3200">
                  <a:solidFill>
                    <a:srgbClr val="F0C800"/>
                  </a:solidFill>
                  <a:latin typeface="OPPOSans B" panose="00020600040101010101" charset="-122"/>
                  <a:ea typeface="OPPOSans B" panose="00020600040101010101" charset="-122"/>
                </a:rPr>
                <a:t>500</a:t>
              </a:r>
              <a:endParaRPr sz="3200">
                <a:solidFill>
                  <a:srgbClr val="F0C800"/>
                </a:solidFill>
                <a:latin typeface="OPPOSans B" panose="00020600040101010101" charset="-122"/>
                <a:ea typeface="OPPOSans B" panose="00020600040101010101" charset="-122"/>
              </a:endParaRPr>
            </a:p>
          </p:txBody>
        </p:sp>
        <p:sp>
          <p:nvSpPr>
            <p:cNvPr id="4" name="TextBox 14"/>
            <p:cNvSpPr txBox="1"/>
            <p:nvPr/>
          </p:nvSpPr>
          <p:spPr>
            <a:xfrm>
              <a:off x="864" y="7650"/>
              <a:ext cx="3254" cy="415"/>
            </a:xfrm>
            <a:prstGeom prst="rect">
              <a:avLst/>
            </a:prstGeom>
            <a:noFill/>
          </p:spPr>
          <p:txBody>
            <a:bodyPr wrap="square" lIns="18288" tIns="9144" rIns="18288" bIns="9144" anchor="t">
              <a:spAutoFit/>
            </a:bodyPr>
            <a:p>
              <a:pPr algn="ctr">
                <a:spcAft>
                  <a:spcPts val="400"/>
                </a:spcAft>
              </a:pPr>
              <a:r>
                <a:rPr sz="1600" b="0">
                  <a:solidFill>
                    <a:srgbClr val="FFFFFF"/>
                  </a:solidFill>
                  <a:latin typeface="OPPOSans R" panose="00020600040101010101" charset="-122"/>
                  <a:ea typeface="OPPOSans R" panose="00020600040101010101" charset="-122"/>
                </a:rPr>
                <a:t>制度与统计附件</a:t>
              </a:r>
              <a:endParaRPr sz="1600" b="0">
                <a:solidFill>
                  <a:srgbClr val="FFFFFF"/>
                </a:solidFill>
                <a:latin typeface="OPPOSans R" panose="00020600040101010101" charset="-122"/>
                <a:ea typeface="OPPOSans R" panose="00020600040101010101" charset="-122"/>
              </a:endParaRPr>
            </a:p>
          </p:txBody>
        </p:sp>
      </p:grpSp>
      <p:grpSp>
        <p:nvGrpSpPr>
          <p:cNvPr id="32" name="组合 31"/>
          <p:cNvGrpSpPr/>
          <p:nvPr/>
        </p:nvGrpSpPr>
        <p:grpSpPr>
          <a:xfrm>
            <a:off x="2790190" y="4093845"/>
            <a:ext cx="2157730" cy="1051560"/>
            <a:chOff x="4349" y="6615"/>
            <a:chExt cx="3398" cy="1656"/>
          </a:xfrm>
        </p:grpSpPr>
        <p:sp>
          <p:nvSpPr>
            <p:cNvPr id="16" name="Rectangle 15"/>
            <p:cNvSpPr/>
            <p:nvPr/>
          </p:nvSpPr>
          <p:spPr>
            <a:xfrm>
              <a:off x="4349" y="6615"/>
              <a:ext cx="3398" cy="1656"/>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17" name="TextBox 16"/>
            <p:cNvSpPr txBox="1"/>
            <p:nvPr/>
          </p:nvSpPr>
          <p:spPr>
            <a:xfrm>
              <a:off x="4421" y="6782"/>
              <a:ext cx="3254" cy="803"/>
            </a:xfrm>
            <a:prstGeom prst="rect">
              <a:avLst/>
            </a:prstGeom>
            <a:noFill/>
          </p:spPr>
          <p:txBody>
            <a:bodyPr wrap="square" lIns="18288" tIns="9144" rIns="18288" bIns="9144" anchor="t">
              <a:spAutoFit/>
            </a:bodyPr>
            <a:p>
              <a:pPr algn="ctr">
                <a:spcAft>
                  <a:spcPts val="400"/>
                </a:spcAft>
                <a:buClrTx/>
                <a:buSzTx/>
                <a:buFontTx/>
              </a:pPr>
              <a:r>
                <a:rPr sz="3200">
                  <a:solidFill>
                    <a:srgbClr val="F0C800"/>
                  </a:solidFill>
                  <a:latin typeface="OPPOSans B" panose="00020600040101010101" charset="-122"/>
                  <a:ea typeface="OPPOSans B" panose="00020600040101010101" charset="-122"/>
                </a:rPr>
                <a:t>45,530</a:t>
              </a:r>
              <a:endParaRPr sz="3200">
                <a:solidFill>
                  <a:srgbClr val="F0C800"/>
                </a:solidFill>
                <a:latin typeface="OPPOSans B" panose="00020600040101010101" charset="-122"/>
                <a:ea typeface="OPPOSans B" panose="00020600040101010101" charset="-122"/>
              </a:endParaRPr>
            </a:p>
          </p:txBody>
        </p:sp>
        <p:sp>
          <p:nvSpPr>
            <p:cNvPr id="18" name="TextBox 17"/>
            <p:cNvSpPr txBox="1"/>
            <p:nvPr/>
          </p:nvSpPr>
          <p:spPr>
            <a:xfrm>
              <a:off x="4421" y="7650"/>
              <a:ext cx="3254" cy="415"/>
            </a:xfrm>
            <a:prstGeom prst="rect">
              <a:avLst/>
            </a:prstGeom>
            <a:noFill/>
          </p:spPr>
          <p:txBody>
            <a:bodyPr wrap="square" lIns="18288" tIns="9144" rIns="18288" bIns="9144" anchor="t">
              <a:spAutoFit/>
            </a:bodyPr>
            <a:p>
              <a:pPr lvl="0" algn="ctr">
                <a:spcAft>
                  <a:spcPts val="400"/>
                </a:spcAft>
                <a:buClrTx/>
                <a:buSzTx/>
                <a:buFontTx/>
              </a:pPr>
              <a:r>
                <a:rPr sz="1600">
                  <a:solidFill>
                    <a:srgbClr val="FFFFFF"/>
                  </a:solidFill>
                  <a:latin typeface="OPPOSans R" panose="00020600040101010101" charset="-122"/>
                  <a:ea typeface="OPPOSans R" panose="00020600040101010101" charset="-122"/>
                  <a:sym typeface="+mn-ea"/>
                </a:rPr>
                <a:t>Qdrant 向量索引</a:t>
              </a:r>
              <a:endParaRPr sz="1600">
                <a:solidFill>
                  <a:srgbClr val="FFFFFF"/>
                </a:solidFill>
                <a:latin typeface="OPPOSans R" panose="00020600040101010101" charset="-122"/>
                <a:ea typeface="OPPOSans R" panose="00020600040101010101" charset="-122"/>
                <a:sym typeface="+mn-ea"/>
              </a:endParaRPr>
            </a:p>
          </p:txBody>
        </p:sp>
      </p:grpSp>
      <p:grpSp>
        <p:nvGrpSpPr>
          <p:cNvPr id="34" name="组合 33"/>
          <p:cNvGrpSpPr/>
          <p:nvPr/>
        </p:nvGrpSpPr>
        <p:grpSpPr>
          <a:xfrm>
            <a:off x="5077460" y="4093845"/>
            <a:ext cx="2157730" cy="1051560"/>
            <a:chOff x="7906" y="6615"/>
            <a:chExt cx="3398" cy="1656"/>
          </a:xfrm>
        </p:grpSpPr>
        <p:sp>
          <p:nvSpPr>
            <p:cNvPr id="19" name="Rectangle 18"/>
            <p:cNvSpPr/>
            <p:nvPr/>
          </p:nvSpPr>
          <p:spPr>
            <a:xfrm>
              <a:off x="7906" y="6615"/>
              <a:ext cx="3398" cy="1656"/>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grpSp>
          <p:nvGrpSpPr>
            <p:cNvPr id="33" name="组合 32"/>
            <p:cNvGrpSpPr/>
            <p:nvPr/>
          </p:nvGrpSpPr>
          <p:grpSpPr>
            <a:xfrm>
              <a:off x="7978" y="6782"/>
              <a:ext cx="3254" cy="1282"/>
              <a:chOff x="7978" y="6782"/>
              <a:chExt cx="3254" cy="1282"/>
            </a:xfrm>
          </p:grpSpPr>
          <p:sp>
            <p:nvSpPr>
              <p:cNvPr id="20" name="TextBox 19"/>
              <p:cNvSpPr txBox="1"/>
              <p:nvPr/>
            </p:nvSpPr>
            <p:spPr>
              <a:xfrm>
                <a:off x="7978" y="6782"/>
                <a:ext cx="3254" cy="706"/>
              </a:xfrm>
              <a:prstGeom prst="rect">
                <a:avLst/>
              </a:prstGeom>
              <a:noFill/>
            </p:spPr>
            <p:txBody>
              <a:bodyPr wrap="square" lIns="18288" tIns="9144" rIns="18288" bIns="9144" anchor="t">
                <a:spAutoFit/>
              </a:bodyPr>
              <a:p>
                <a:pPr algn="ctr">
                  <a:spcAft>
                    <a:spcPts val="400"/>
                  </a:spcAft>
                  <a:buClrTx/>
                  <a:buSzTx/>
                  <a:buFontTx/>
                </a:pPr>
                <a:r>
                  <a:rPr sz="3200">
                    <a:solidFill>
                      <a:srgbClr val="F0C800"/>
                    </a:solidFill>
                    <a:latin typeface="OPPOSans B" panose="00020600040101010101" charset="-122"/>
                    <a:ea typeface="OPPOSans B" panose="00020600040101010101" charset="-122"/>
                  </a:rPr>
                  <a:t>46,551</a:t>
                </a:r>
                <a:endParaRPr sz="3200">
                  <a:solidFill>
                    <a:srgbClr val="F0C800"/>
                  </a:solidFill>
                  <a:latin typeface="OPPOSans B" panose="00020600040101010101" charset="-122"/>
                  <a:ea typeface="OPPOSans B" panose="00020600040101010101" charset="-122"/>
                </a:endParaRPr>
              </a:p>
            </p:txBody>
          </p:sp>
          <p:sp>
            <p:nvSpPr>
              <p:cNvPr id="21" name="TextBox 20"/>
              <p:cNvSpPr txBox="1"/>
              <p:nvPr/>
            </p:nvSpPr>
            <p:spPr>
              <a:xfrm>
                <a:off x="7978" y="7650"/>
                <a:ext cx="3254" cy="415"/>
              </a:xfrm>
              <a:prstGeom prst="rect">
                <a:avLst/>
              </a:prstGeom>
              <a:noFill/>
            </p:spPr>
            <p:txBody>
              <a:bodyPr wrap="square" lIns="18288" tIns="9144" rIns="18288" bIns="9144" anchor="t">
                <a:spAutoFit/>
              </a:bodyPr>
              <a:p>
                <a:pPr lvl="0" algn="ctr">
                  <a:spcAft>
                    <a:spcPts val="400"/>
                  </a:spcAft>
                  <a:buClrTx/>
                  <a:buSzTx/>
                  <a:buFontTx/>
                </a:pPr>
                <a:r>
                  <a:rPr sz="1600">
                    <a:solidFill>
                      <a:srgbClr val="FFFFFF"/>
                    </a:solidFill>
                    <a:latin typeface="OPPOSans R" panose="00020600040101010101" charset="-122"/>
                    <a:ea typeface="OPPOSans R" panose="00020600040101010101" charset="-122"/>
                    <a:sym typeface="+mn-ea"/>
                  </a:rPr>
                  <a:t>知识片段元数据</a:t>
                </a:r>
                <a:endParaRPr sz="1600">
                  <a:solidFill>
                    <a:srgbClr val="FFFFFF"/>
                  </a:solidFill>
                  <a:latin typeface="OPPOSans R" panose="00020600040101010101" charset="-122"/>
                  <a:ea typeface="OPPOSans R" panose="00020600040101010101" charset="-122"/>
                  <a:sym typeface="+mn-ea"/>
                </a:endParaRPr>
              </a:p>
            </p:txBody>
          </p:sp>
        </p:grpSp>
      </p:grpSp>
      <p:grpSp>
        <p:nvGrpSpPr>
          <p:cNvPr id="35" name="组合 34"/>
          <p:cNvGrpSpPr/>
          <p:nvPr/>
        </p:nvGrpSpPr>
        <p:grpSpPr>
          <a:xfrm>
            <a:off x="7364730" y="4093845"/>
            <a:ext cx="2157730" cy="1051560"/>
            <a:chOff x="11462" y="6615"/>
            <a:chExt cx="3398" cy="1656"/>
          </a:xfrm>
        </p:grpSpPr>
        <p:sp>
          <p:nvSpPr>
            <p:cNvPr id="22" name="Rectangle 21"/>
            <p:cNvSpPr/>
            <p:nvPr/>
          </p:nvSpPr>
          <p:spPr>
            <a:xfrm>
              <a:off x="11462" y="6615"/>
              <a:ext cx="3398" cy="1656"/>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23" name="TextBox 22"/>
            <p:cNvSpPr txBox="1"/>
            <p:nvPr/>
          </p:nvSpPr>
          <p:spPr>
            <a:xfrm>
              <a:off x="11534" y="6782"/>
              <a:ext cx="3254" cy="706"/>
            </a:xfrm>
            <a:prstGeom prst="rect">
              <a:avLst/>
            </a:prstGeom>
            <a:noFill/>
          </p:spPr>
          <p:txBody>
            <a:bodyPr wrap="square" lIns="18288" tIns="9144" rIns="18288" bIns="9144" anchor="t">
              <a:spAutoFit/>
            </a:bodyPr>
            <a:p>
              <a:pPr algn="ctr">
                <a:spcAft>
                  <a:spcPts val="400"/>
                </a:spcAft>
                <a:buClrTx/>
                <a:buSzTx/>
                <a:buFontTx/>
              </a:pPr>
              <a:r>
                <a:rPr sz="3200">
                  <a:solidFill>
                    <a:srgbClr val="F0C800"/>
                  </a:solidFill>
                  <a:latin typeface="OPPOSans B" panose="00020600040101010101" charset="-122"/>
                  <a:ea typeface="OPPOSans B" panose="00020600040101010101" charset="-122"/>
                </a:rPr>
                <a:t>133,001</a:t>
              </a:r>
              <a:endParaRPr sz="3200">
                <a:solidFill>
                  <a:srgbClr val="F0C800"/>
                </a:solidFill>
                <a:latin typeface="OPPOSans B" panose="00020600040101010101" charset="-122"/>
                <a:ea typeface="OPPOSans B" panose="00020600040101010101" charset="-122"/>
              </a:endParaRPr>
            </a:p>
          </p:txBody>
        </p:sp>
        <p:sp>
          <p:nvSpPr>
            <p:cNvPr id="24" name="TextBox 23"/>
            <p:cNvSpPr txBox="1"/>
            <p:nvPr/>
          </p:nvSpPr>
          <p:spPr>
            <a:xfrm>
              <a:off x="11534" y="7650"/>
              <a:ext cx="3254" cy="415"/>
            </a:xfrm>
            <a:prstGeom prst="rect">
              <a:avLst/>
            </a:prstGeom>
            <a:noFill/>
          </p:spPr>
          <p:txBody>
            <a:bodyPr wrap="square" lIns="18288" tIns="9144" rIns="18288" bIns="9144" anchor="t">
              <a:spAutoFit/>
            </a:bodyPr>
            <a:p>
              <a:pPr lvl="0" algn="ctr">
                <a:spcAft>
                  <a:spcPts val="400"/>
                </a:spcAft>
                <a:buClrTx/>
                <a:buSzTx/>
                <a:buFontTx/>
              </a:pPr>
              <a:r>
                <a:rPr sz="1600">
                  <a:solidFill>
                    <a:srgbClr val="FFFFFF"/>
                  </a:solidFill>
                  <a:latin typeface="OPPOSans R" panose="00020600040101010101" charset="-122"/>
                  <a:ea typeface="OPPOSans R" panose="00020600040101010101" charset="-122"/>
                  <a:sym typeface="+mn-ea"/>
                </a:rPr>
                <a:t>结构化表格单元格</a:t>
              </a:r>
              <a:endParaRPr sz="1600">
                <a:solidFill>
                  <a:srgbClr val="FFFFFF"/>
                </a:solidFill>
                <a:latin typeface="OPPOSans R" panose="00020600040101010101" charset="-122"/>
                <a:ea typeface="OPPOSans R" panose="00020600040101010101" charset="-122"/>
                <a:sym typeface="+mn-ea"/>
              </a:endParaRPr>
            </a:p>
          </p:txBody>
        </p:sp>
      </p:grpSp>
      <p:grpSp>
        <p:nvGrpSpPr>
          <p:cNvPr id="36" name="组合 35"/>
          <p:cNvGrpSpPr/>
          <p:nvPr/>
        </p:nvGrpSpPr>
        <p:grpSpPr>
          <a:xfrm>
            <a:off x="9652000" y="4093845"/>
            <a:ext cx="2157730" cy="1051560"/>
            <a:chOff x="15127" y="6615"/>
            <a:chExt cx="3398" cy="1656"/>
          </a:xfrm>
        </p:grpSpPr>
        <p:sp>
          <p:nvSpPr>
            <p:cNvPr id="25" name="Rectangle 24"/>
            <p:cNvSpPr/>
            <p:nvPr/>
          </p:nvSpPr>
          <p:spPr>
            <a:xfrm>
              <a:off x="15127" y="6615"/>
              <a:ext cx="3398" cy="1656"/>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26" name="TextBox 25"/>
            <p:cNvSpPr txBox="1"/>
            <p:nvPr/>
          </p:nvSpPr>
          <p:spPr>
            <a:xfrm>
              <a:off x="15199" y="6782"/>
              <a:ext cx="3254" cy="803"/>
            </a:xfrm>
            <a:prstGeom prst="rect">
              <a:avLst/>
            </a:prstGeom>
            <a:noFill/>
          </p:spPr>
          <p:txBody>
            <a:bodyPr wrap="square" lIns="18288" tIns="9144" rIns="18288" bIns="9144" anchor="t">
              <a:spAutoFit/>
            </a:bodyPr>
            <a:p>
              <a:pPr algn="ctr">
                <a:spcAft>
                  <a:spcPts val="400"/>
                </a:spcAft>
              </a:pPr>
              <a:r>
                <a:rPr sz="3200">
                  <a:solidFill>
                    <a:srgbClr val="F0C800"/>
                  </a:solidFill>
                  <a:latin typeface="OPPOSans B" panose="00020600040101010101" charset="-122"/>
                  <a:ea typeface="OPPOSans B" panose="00020600040101010101" charset="-122"/>
                </a:rPr>
                <a:t>100%</a:t>
              </a:r>
              <a:endParaRPr sz="2800" b="1">
                <a:solidFill>
                  <a:srgbClr val="F0C800"/>
                </a:solidFill>
                <a:latin typeface="微软雅黑" panose="020B0503020204020204" pitchFamily="34" charset="-122"/>
                <a:ea typeface="微软雅黑" panose="020B0503020204020204" pitchFamily="34" charset="-122"/>
              </a:endParaRPr>
            </a:p>
          </p:txBody>
        </p:sp>
        <p:sp>
          <p:nvSpPr>
            <p:cNvPr id="27" name="TextBox 26"/>
            <p:cNvSpPr txBox="1"/>
            <p:nvPr/>
          </p:nvSpPr>
          <p:spPr>
            <a:xfrm>
              <a:off x="15199" y="7650"/>
              <a:ext cx="3254" cy="415"/>
            </a:xfrm>
            <a:prstGeom prst="rect">
              <a:avLst/>
            </a:prstGeom>
            <a:noFill/>
          </p:spPr>
          <p:txBody>
            <a:bodyPr wrap="square" lIns="18288" tIns="9144" rIns="18288" bIns="9144" anchor="t">
              <a:spAutoFit/>
            </a:bodyPr>
            <a:p>
              <a:pPr lvl="0" algn="ctr">
                <a:spcAft>
                  <a:spcPts val="400"/>
                </a:spcAft>
                <a:buClrTx/>
                <a:buSzTx/>
                <a:buFontTx/>
              </a:pPr>
              <a:r>
                <a:rPr sz="1600">
                  <a:solidFill>
                    <a:srgbClr val="FFFFFF"/>
                  </a:solidFill>
                  <a:latin typeface="OPPOSans R" panose="00020600040101010101" charset="-122"/>
                  <a:ea typeface="OPPOSans R" panose="00020600040101010101" charset="-122"/>
                  <a:sym typeface="+mn-ea"/>
                </a:rPr>
                <a:t>本批文件处理成功率</a:t>
              </a:r>
              <a:endParaRPr sz="1600">
                <a:solidFill>
                  <a:srgbClr val="FFFFFF"/>
                </a:solidFill>
                <a:latin typeface="OPPOSans R" panose="00020600040101010101" charset="-122"/>
                <a:ea typeface="OPPOSans R" panose="00020600040101010101" charset="-122"/>
                <a:sym typeface="+mn-ea"/>
              </a:endParaRPr>
            </a:p>
          </p:txBody>
        </p:sp>
      </p:grpSp>
      <p:sp>
        <p:nvSpPr>
          <p:cNvPr id="30" name="TextBox 29"/>
          <p:cNvSpPr txBox="1"/>
          <p:nvPr/>
        </p:nvSpPr>
        <p:spPr>
          <a:xfrm>
            <a:off x="541655" y="5255895"/>
            <a:ext cx="11346180" cy="755650"/>
          </a:xfrm>
          <a:prstGeom prst="rect">
            <a:avLst/>
          </a:prstGeom>
          <a:noFill/>
        </p:spPr>
        <p:txBody>
          <a:bodyPr wrap="square" lIns="18288" tIns="9144" rIns="18288" bIns="9144" anchor="ctr">
            <a:spAutoFit/>
          </a:bodyPr>
          <a:p>
            <a:pPr algn="l" fontAlgn="auto">
              <a:lnSpc>
                <a:spcPct val="120000"/>
              </a:lnSpc>
              <a:spcAft>
                <a:spcPts val="400"/>
              </a:spcAft>
            </a:pPr>
            <a:r>
              <a:rPr sz="2400">
                <a:solidFill>
                  <a:srgbClr val="C00000"/>
                </a:solidFill>
                <a:latin typeface="OPPOSans B" panose="00020600040101010101" charset="-122"/>
                <a:ea typeface="OPPOSans B" panose="00020600040101010101" charset="-122"/>
              </a:rPr>
              <a:t>知识资产化：</a:t>
            </a:r>
            <a:r>
              <a:rPr sz="1600" b="0">
                <a:solidFill>
                  <a:schemeClr val="tx1"/>
                </a:solidFill>
                <a:latin typeface="OPPOSans R" panose="00020600040101010101" charset="-122"/>
                <a:ea typeface="OPPOSans R" panose="00020600040101010101" charset="-122"/>
                <a:cs typeface="OPPOSans R" panose="00020600040101010101" charset="-122"/>
              </a:rPr>
              <a:t>制度与附件形成可定位、可计算、可追溯的知识资产，关联文件身份与原始依据。</a:t>
            </a:r>
            <a:endParaRPr sz="1600" b="0">
              <a:solidFill>
                <a:schemeClr val="tx1"/>
              </a:solidFill>
              <a:latin typeface="OPPOSans R" panose="00020600040101010101" charset="-122"/>
              <a:ea typeface="OPPOSans R" panose="00020600040101010101" charset="-122"/>
              <a:cs typeface="OPPOSans R" panose="00020600040101010101" charset="-122"/>
            </a:endParaRPr>
          </a:p>
        </p:txBody>
      </p:sp>
      <p:sp>
        <p:nvSpPr>
          <p:cNvPr id="37" name="矩形: 圆角 22"/>
          <p:cNvSpPr/>
          <p:nvPr/>
        </p:nvSpPr>
        <p:spPr>
          <a:xfrm flipV="1">
            <a:off x="503555" y="5286375"/>
            <a:ext cx="11306175" cy="721995"/>
          </a:xfrm>
          <a:prstGeom prst="roundRect">
            <a:avLst>
              <a:gd name="adj" fmla="val 4633"/>
            </a:avLst>
          </a:prstGeom>
          <a:noFill/>
          <a:ln>
            <a:solidFill>
              <a:srgbClr val="00418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3" name="矩形 2"/>
          <p:cNvSpPr/>
          <p:nvPr/>
        </p:nvSpPr>
        <p:spPr>
          <a:xfrm>
            <a:off x="-323215" y="690245"/>
            <a:ext cx="12862560" cy="5641340"/>
          </a:xfrm>
          <a:prstGeom prst="rect">
            <a:avLst/>
          </a:prstGeom>
          <a:solidFill>
            <a:schemeClr val="bg1"/>
          </a:solidFill>
          <a:ln>
            <a:noFill/>
          </a:ln>
          <a:effectLst>
            <a:outerShdw blurRad="50800" dist="38100" dir="10800000" algn="r" rotWithShape="0">
              <a:prstClr val="black">
                <a:alpha val="40000"/>
              </a:prstClr>
            </a:outerShdw>
            <a:softEdge rad="317500"/>
          </a:effectLst>
        </p:spPr>
        <p:style>
          <a:lnRef idx="2">
            <a:schemeClr val="accent1">
              <a:lumMod val="75000"/>
            </a:schemeClr>
          </a:lnRef>
          <a:fillRef idx="1">
            <a:schemeClr val="accent1"/>
          </a:fillRef>
          <a:effectRef idx="0">
            <a:srgbClr val="FFFFFF"/>
          </a:effectRef>
          <a:fontRef idx="minor">
            <a:schemeClr val="lt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2" name="Rectangle 2"/>
          <p:cNvSpPr/>
          <p:nvPr/>
        </p:nvSpPr>
        <p:spPr>
          <a:xfrm>
            <a:off x="502920" y="1018413"/>
            <a:ext cx="82296" cy="566928"/>
          </a:xfrm>
          <a:prstGeom prst="rect">
            <a:avLst/>
          </a:prstGeom>
          <a:solidFill>
            <a:srgbClr val="1C41A9"/>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5" name="TextBox 3"/>
          <p:cNvSpPr txBox="1"/>
          <p:nvPr/>
        </p:nvSpPr>
        <p:spPr>
          <a:xfrm>
            <a:off x="713232" y="1066736"/>
            <a:ext cx="10058400" cy="479425"/>
          </a:xfrm>
          <a:prstGeom prst="rect">
            <a:avLst/>
          </a:prstGeom>
          <a:noFill/>
        </p:spPr>
        <p:txBody>
          <a:bodyPr wrap="square" lIns="18288" tIns="9144" rIns="18288" bIns="9144" anchor="ctr">
            <a:spAutoFit/>
          </a:bodyPr>
          <a:p>
            <a:pPr algn="l">
              <a:spcAft>
                <a:spcPts val="400"/>
              </a:spcAft>
            </a:pPr>
            <a:r>
              <a:rPr sz="3000">
                <a:solidFill>
                  <a:srgbClr val="195CC4"/>
                </a:solidFill>
                <a:latin typeface="OPPOSans B" panose="00020600040101010101" charset="-122"/>
                <a:ea typeface="OPPOSans B" panose="00020600040101010101" charset="-122"/>
                <a:sym typeface="+mn-ea"/>
              </a:rPr>
              <a:t>亮点二：自适应检索与确定性计算</a:t>
            </a:r>
            <a:endParaRPr sz="3000">
              <a:solidFill>
                <a:srgbClr val="195CC4"/>
              </a:solidFill>
              <a:latin typeface="OPPOSans B" panose="00020600040101010101" charset="-122"/>
              <a:ea typeface="OPPOSans B" panose="00020600040101010101" charset="-122"/>
              <a:sym typeface="+mn-ea"/>
            </a:endParaRPr>
          </a:p>
        </p:txBody>
      </p:sp>
      <p:sp>
        <p:nvSpPr>
          <p:cNvPr id="7" name="TextBox 4"/>
          <p:cNvSpPr txBox="1"/>
          <p:nvPr/>
        </p:nvSpPr>
        <p:spPr>
          <a:xfrm>
            <a:off x="713232" y="1575054"/>
            <a:ext cx="10789920" cy="233045"/>
          </a:xfrm>
          <a:prstGeom prst="rect">
            <a:avLst/>
          </a:prstGeom>
          <a:noFill/>
        </p:spPr>
        <p:txBody>
          <a:bodyPr wrap="square" lIns="18288" tIns="9144" rIns="18288" bIns="9144" anchor="t">
            <a:spAutoFit/>
          </a:bodyPr>
          <a:p>
            <a:pPr algn="l">
              <a:spcAft>
                <a:spcPts val="400"/>
              </a:spcAft>
            </a:pPr>
            <a:r>
              <a:rPr sz="1400">
                <a:latin typeface="OPPOSans R" panose="00020600040101010101" charset="-122"/>
                <a:ea typeface="OPPOSans R" panose="00020600040101010101" charset="-122"/>
                <a:sym typeface="+mn-ea"/>
              </a:rPr>
              <a:t>根据问题类型与证据缺口组织检索，文本结论由真实原文支撑，数值结果由程序计算。</a:t>
            </a:r>
            <a:endParaRPr sz="1400">
              <a:latin typeface="OPPOSans R" panose="00020600040101010101" charset="-122"/>
              <a:ea typeface="OPPOSans R" panose="00020600040101010101" charset="-122"/>
              <a:sym typeface="+mn-ea"/>
            </a:endParaRPr>
          </a:p>
        </p:txBody>
      </p:sp>
      <p:sp>
        <p:nvSpPr>
          <p:cNvPr id="98" name="Rectangle 5"/>
          <p:cNvSpPr/>
          <p:nvPr/>
        </p:nvSpPr>
        <p:spPr>
          <a:xfrm>
            <a:off x="502920" y="1840230"/>
            <a:ext cx="11412000" cy="20320"/>
          </a:xfrm>
          <a:prstGeom prst="rect">
            <a:avLst/>
          </a:prstGeom>
          <a:solidFill>
            <a:srgbClr val="D9DEE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grpSp>
        <p:nvGrpSpPr>
          <p:cNvPr id="38" name="组合 37"/>
          <p:cNvGrpSpPr/>
          <p:nvPr>
            <p:custDataLst>
              <p:tags r:id="rId1"/>
            </p:custDataLst>
          </p:nvPr>
        </p:nvGrpSpPr>
        <p:grpSpPr>
          <a:xfrm>
            <a:off x="475615" y="1988185"/>
            <a:ext cx="5457190" cy="1487805"/>
            <a:chOff x="749" y="3033"/>
            <a:chExt cx="8594" cy="2343"/>
          </a:xfrm>
        </p:grpSpPr>
        <p:sp>
          <p:nvSpPr>
            <p:cNvPr id="21" name="Rectangle 8"/>
            <p:cNvSpPr/>
            <p:nvPr>
              <p:custDataLst>
                <p:tags r:id="rId2"/>
              </p:custDataLst>
            </p:nvPr>
          </p:nvSpPr>
          <p:spPr>
            <a:xfrm>
              <a:off x="749" y="3397"/>
              <a:ext cx="8594" cy="1979"/>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2" name="Rectangle 9"/>
            <p:cNvSpPr/>
            <p:nvPr>
              <p:custDataLst>
                <p:tags r:id="rId3"/>
              </p:custDataLst>
            </p:nvPr>
          </p:nvSpPr>
          <p:spPr>
            <a:xfrm>
              <a:off x="749" y="3033"/>
              <a:ext cx="3543" cy="72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3" name="TextBox 10"/>
            <p:cNvSpPr txBox="1"/>
            <p:nvPr>
              <p:custDataLst>
                <p:tags r:id="rId4"/>
              </p:custDataLst>
            </p:nvPr>
          </p:nvSpPr>
          <p:spPr>
            <a:xfrm>
              <a:off x="922" y="3161"/>
              <a:ext cx="3370" cy="464"/>
            </a:xfrm>
            <a:prstGeom prst="rect">
              <a:avLst/>
            </a:prstGeom>
            <a:noFill/>
          </p:spPr>
          <p:txBody>
            <a:bodyPr wrap="square" lIns="18288" tIns="9144" rIns="18288" bIns="9144" anchor="ctr">
              <a:spAutoFit/>
            </a:bodyPr>
            <a:p>
              <a:pPr lvl="0" algn="l">
                <a:spcAft>
                  <a:spcPts val="400"/>
                </a:spcAft>
                <a:buClrTx/>
                <a:buSzTx/>
                <a:buFontTx/>
              </a:pPr>
              <a:r>
                <a:rPr sz="1800">
                  <a:solidFill>
                    <a:srgbClr val="FFFFFF"/>
                  </a:solidFill>
                  <a:latin typeface="OPPOSans B" panose="00020600040101010101" charset="-122"/>
                  <a:ea typeface="OPPOSans B" panose="00020600040101010101" charset="-122"/>
                  <a:sym typeface="+mn-ea"/>
                </a:rPr>
                <a:t>① 多视角查询规划</a:t>
              </a:r>
              <a:endParaRPr sz="1800">
                <a:solidFill>
                  <a:srgbClr val="FFFFFF"/>
                </a:solidFill>
                <a:latin typeface="OPPOSans B" panose="00020600040101010101" charset="-122"/>
                <a:ea typeface="OPPOSans B" panose="00020600040101010101" charset="-122"/>
                <a:sym typeface="+mn-ea"/>
              </a:endParaRPr>
            </a:p>
          </p:txBody>
        </p:sp>
        <p:sp>
          <p:nvSpPr>
            <p:cNvPr id="24" name="TextBox 11"/>
            <p:cNvSpPr txBox="1"/>
            <p:nvPr>
              <p:custDataLst>
                <p:tags r:id="rId5"/>
              </p:custDataLst>
            </p:nvPr>
          </p:nvSpPr>
          <p:spPr>
            <a:xfrm>
              <a:off x="965" y="3868"/>
              <a:ext cx="8024" cy="1248"/>
            </a:xfrm>
            <a:prstGeom prst="rect">
              <a:avLst/>
            </a:prstGeom>
            <a:noFill/>
          </p:spPr>
          <p:txBody>
            <a:bodyPr wrap="square" lIns="18288" tIns="9144" rIns="18288" bIns="9144" anchor="t">
              <a:spAutoFit/>
            </a:bodyPr>
            <a:p>
              <a:pPr algn="l" fontAlgn="auto">
                <a:lnSpc>
                  <a:spcPct val="120000"/>
                </a:lnSpc>
                <a:spcAft>
                  <a:spcPts val="400"/>
                </a:spcAft>
              </a:pPr>
              <a:r>
                <a:rPr sz="1400">
                  <a:solidFill>
                    <a:schemeClr val="tx1"/>
                  </a:solidFill>
                  <a:latin typeface="OPPOSans R" panose="00020600040101010101" charset="-122"/>
                  <a:ea typeface="OPPOSans R" panose="00020600040101010101" charset="-122"/>
                  <a:cs typeface="OPPOSans R" panose="00020600040101010101" charset="-122"/>
                </a:rPr>
                <a:t>识别</a:t>
              </a:r>
              <a:r>
                <a:rPr sz="1400">
                  <a:solidFill>
                    <a:schemeClr val="accent1"/>
                  </a:solidFill>
                  <a:latin typeface="OPPOSans B" panose="00020600040101010101" charset="-122"/>
                  <a:ea typeface="OPPOSans B" panose="00020600040101010101" charset="-122"/>
                  <a:cs typeface="OPPOSans R" panose="00020600040101010101" charset="-122"/>
                  <a:sym typeface="+mn-ea"/>
                </a:rPr>
                <a:t>主题、机构、期间与问题类型</a:t>
              </a:r>
              <a:r>
                <a:rPr sz="1400">
                  <a:solidFill>
                    <a:schemeClr val="tx1"/>
                  </a:solidFill>
                  <a:latin typeface="OPPOSans R" panose="00020600040101010101" charset="-122"/>
                  <a:ea typeface="OPPOSans R" panose="00020600040101010101" charset="-122"/>
                  <a:cs typeface="OPPOSans R" panose="00020600040101010101" charset="-122"/>
                </a:rPr>
                <a:t>，将复杂问询拆为多视角子查询，分别确定所需条款、附件和指标。文本问题组织证据检索，</a:t>
              </a:r>
              <a:r>
                <a:rPr sz="1400">
                  <a:solidFill>
                    <a:schemeClr val="accent1"/>
                  </a:solidFill>
                  <a:latin typeface="OPPOSans B" panose="00020600040101010101" charset="-122"/>
                  <a:ea typeface="OPPOSans B" panose="00020600040101010101" charset="-122"/>
                  <a:cs typeface="OPPOSans R" panose="00020600040101010101" charset="-122"/>
                  <a:sym typeface="+mn-ea"/>
                </a:rPr>
                <a:t>数值问题进入结构化取数与计算分支</a:t>
              </a:r>
              <a:endParaRPr sz="1400">
                <a:solidFill>
                  <a:schemeClr val="tx1"/>
                </a:solidFill>
                <a:latin typeface="OPPOSans R" panose="00020600040101010101" charset="-122"/>
                <a:ea typeface="OPPOSans R" panose="00020600040101010101" charset="-122"/>
                <a:cs typeface="OPPOSans R" panose="00020600040101010101" charset="-122"/>
              </a:endParaRPr>
            </a:p>
          </p:txBody>
        </p:sp>
      </p:grpSp>
      <p:grpSp>
        <p:nvGrpSpPr>
          <p:cNvPr id="43" name="组合 42"/>
          <p:cNvGrpSpPr/>
          <p:nvPr>
            <p:custDataLst>
              <p:tags r:id="rId6"/>
            </p:custDataLst>
          </p:nvPr>
        </p:nvGrpSpPr>
        <p:grpSpPr>
          <a:xfrm>
            <a:off x="474980" y="3596005"/>
            <a:ext cx="5457825" cy="1127760"/>
            <a:chOff x="748" y="5516"/>
            <a:chExt cx="8595" cy="1776"/>
          </a:xfrm>
        </p:grpSpPr>
        <p:sp>
          <p:nvSpPr>
            <p:cNvPr id="35" name="Rectangle 8"/>
            <p:cNvSpPr/>
            <p:nvPr>
              <p:custDataLst>
                <p:tags r:id="rId7"/>
              </p:custDataLst>
            </p:nvPr>
          </p:nvSpPr>
          <p:spPr>
            <a:xfrm>
              <a:off x="748" y="5880"/>
              <a:ext cx="8595" cy="1412"/>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6" name="Rectangle 9"/>
            <p:cNvSpPr/>
            <p:nvPr>
              <p:custDataLst>
                <p:tags r:id="rId8"/>
              </p:custDataLst>
            </p:nvPr>
          </p:nvSpPr>
          <p:spPr>
            <a:xfrm>
              <a:off x="748" y="5516"/>
              <a:ext cx="3871" cy="72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7" name="TextBox 10"/>
            <p:cNvSpPr txBox="1"/>
            <p:nvPr>
              <p:custDataLst>
                <p:tags r:id="rId9"/>
              </p:custDataLst>
            </p:nvPr>
          </p:nvSpPr>
          <p:spPr>
            <a:xfrm>
              <a:off x="921" y="5644"/>
              <a:ext cx="3698" cy="464"/>
            </a:xfrm>
            <a:prstGeom prst="rect">
              <a:avLst/>
            </a:prstGeom>
            <a:noFill/>
          </p:spPr>
          <p:txBody>
            <a:bodyPr wrap="square" lIns="18288" tIns="9144" rIns="18288" bIns="9144" anchor="ctr">
              <a:spAutoFit/>
            </a:bodyPr>
            <a:p>
              <a:pPr lvl="0" algn="l">
                <a:spcAft>
                  <a:spcPts val="400"/>
                </a:spcAft>
                <a:buClrTx/>
                <a:buSzTx/>
                <a:buFontTx/>
              </a:pPr>
              <a:r>
                <a:rPr sz="1800">
                  <a:solidFill>
                    <a:srgbClr val="FFFFFF"/>
                  </a:solidFill>
                  <a:latin typeface="OPPOSans B" panose="00020600040101010101" charset="-122"/>
                  <a:ea typeface="OPPOSans B" panose="00020600040101010101" charset="-122"/>
                  <a:sym typeface="+mn-ea"/>
                </a:rPr>
                <a:t>② 混合召回与重排</a:t>
              </a:r>
              <a:endParaRPr sz="1800">
                <a:solidFill>
                  <a:srgbClr val="FFFFFF"/>
                </a:solidFill>
                <a:latin typeface="OPPOSans B" panose="00020600040101010101" charset="-122"/>
                <a:ea typeface="OPPOSans B" panose="00020600040101010101" charset="-122"/>
                <a:sym typeface="+mn-ea"/>
              </a:endParaRPr>
            </a:p>
          </p:txBody>
        </p:sp>
        <p:sp>
          <p:nvSpPr>
            <p:cNvPr id="39" name="TextBox 11"/>
            <p:cNvSpPr txBox="1"/>
            <p:nvPr>
              <p:custDataLst>
                <p:tags r:id="rId10"/>
              </p:custDataLst>
            </p:nvPr>
          </p:nvSpPr>
          <p:spPr>
            <a:xfrm>
              <a:off x="964" y="6351"/>
              <a:ext cx="8294" cy="841"/>
            </a:xfrm>
            <a:prstGeom prst="rect">
              <a:avLst/>
            </a:prstGeom>
            <a:noFill/>
          </p:spPr>
          <p:txBody>
            <a:bodyPr wrap="square" lIns="18288" tIns="9144" rIns="18288" bIns="9144" anchor="t">
              <a:spAutoFit/>
            </a:bodyPr>
            <a:p>
              <a:pPr lvl="0" algn="l">
                <a:lnSpc>
                  <a:spcPct val="120000"/>
                </a:lnSpc>
                <a:spcAft>
                  <a:spcPts val="400"/>
                </a:spcAft>
                <a:buClrTx/>
                <a:buSzTx/>
                <a:buFontTx/>
              </a:pPr>
              <a:r>
                <a:rPr sz="1400">
                  <a:solidFill>
                    <a:schemeClr val="accent1"/>
                  </a:solidFill>
                  <a:latin typeface="OPPOSans B" panose="00020600040101010101" charset="-122"/>
                  <a:ea typeface="OPPOSans B" panose="00020600040101010101" charset="-122"/>
                  <a:cs typeface="OPPOSans R" panose="00020600040101010101" charset="-122"/>
                  <a:sym typeface="+mn-ea"/>
                </a:rPr>
                <a:t>BGE-M3 稠密 / 稀疏 + 词面召回</a:t>
              </a:r>
              <a:r>
                <a:rPr sz="1400">
                  <a:solidFill>
                    <a:schemeClr val="tx1"/>
                  </a:solidFill>
                  <a:latin typeface="OPPOSans R" panose="00020600040101010101" charset="-122"/>
                  <a:ea typeface="OPPOSans R" panose="00020600040101010101" charset="-122"/>
                  <a:cs typeface="OPPOSans R" panose="00020600040101010101" charset="-122"/>
                </a:rPr>
                <a:t>互补，经 RRF 融合与 BGE 交叉编码重排；结合业务维度过滤，兼顾语义相似和口径约束</a:t>
              </a:r>
              <a:endParaRPr sz="1400">
                <a:solidFill>
                  <a:schemeClr val="tx1"/>
                </a:solidFill>
                <a:latin typeface="OPPOSans R" panose="00020600040101010101" charset="-122"/>
                <a:ea typeface="OPPOSans R" panose="00020600040101010101" charset="-122"/>
                <a:cs typeface="OPPOSans R" panose="00020600040101010101" charset="-122"/>
              </a:endParaRPr>
            </a:p>
          </p:txBody>
        </p:sp>
      </p:grpSp>
      <p:grpSp>
        <p:nvGrpSpPr>
          <p:cNvPr id="19" name="组合 18"/>
          <p:cNvGrpSpPr/>
          <p:nvPr>
            <p:custDataLst>
              <p:tags r:id="rId11"/>
            </p:custDataLst>
          </p:nvPr>
        </p:nvGrpSpPr>
        <p:grpSpPr>
          <a:xfrm>
            <a:off x="6128385" y="4861560"/>
            <a:ext cx="5457825" cy="1064895"/>
            <a:chOff x="9651" y="7655"/>
            <a:chExt cx="8595" cy="1677"/>
          </a:xfrm>
        </p:grpSpPr>
        <p:sp>
          <p:nvSpPr>
            <p:cNvPr id="64" name="Rectangle 8"/>
            <p:cNvSpPr/>
            <p:nvPr>
              <p:custDataLst>
                <p:tags r:id="rId12"/>
              </p:custDataLst>
            </p:nvPr>
          </p:nvSpPr>
          <p:spPr>
            <a:xfrm>
              <a:off x="9651" y="8019"/>
              <a:ext cx="8595" cy="1313"/>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65" name="Rectangle 9"/>
            <p:cNvSpPr/>
            <p:nvPr>
              <p:custDataLst>
                <p:tags r:id="rId13"/>
              </p:custDataLst>
            </p:nvPr>
          </p:nvSpPr>
          <p:spPr>
            <a:xfrm>
              <a:off x="9651" y="7655"/>
              <a:ext cx="3871" cy="72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66" name="TextBox 10"/>
            <p:cNvSpPr txBox="1"/>
            <p:nvPr>
              <p:custDataLst>
                <p:tags r:id="rId14"/>
              </p:custDataLst>
            </p:nvPr>
          </p:nvSpPr>
          <p:spPr>
            <a:xfrm>
              <a:off x="9824" y="7783"/>
              <a:ext cx="3698" cy="464"/>
            </a:xfrm>
            <a:prstGeom prst="rect">
              <a:avLst/>
            </a:prstGeom>
            <a:noFill/>
          </p:spPr>
          <p:txBody>
            <a:bodyPr wrap="square" lIns="18288" tIns="9144" rIns="18288" bIns="9144" anchor="ctr">
              <a:spAutoFit/>
            </a:bodyPr>
            <a:p>
              <a:pPr lvl="0" algn="l">
                <a:spcAft>
                  <a:spcPts val="400"/>
                </a:spcAft>
                <a:buClrTx/>
                <a:buSzTx/>
                <a:buFontTx/>
              </a:pPr>
              <a:r>
                <a:rPr sz="1800">
                  <a:solidFill>
                    <a:srgbClr val="FFFFFF"/>
                  </a:solidFill>
                  <a:latin typeface="OPPOSans B" panose="00020600040101010101" charset="-122"/>
                  <a:ea typeface="OPPOSans B" panose="00020600040101010101" charset="-122"/>
                  <a:sym typeface="+mn-ea"/>
                </a:rPr>
                <a:t>⑥ 证据绑定计算</a:t>
              </a:r>
              <a:endParaRPr sz="1800">
                <a:solidFill>
                  <a:srgbClr val="FFFFFF"/>
                </a:solidFill>
                <a:latin typeface="OPPOSans B" panose="00020600040101010101" charset="-122"/>
                <a:ea typeface="OPPOSans B" panose="00020600040101010101" charset="-122"/>
                <a:sym typeface="+mn-ea"/>
              </a:endParaRPr>
            </a:p>
          </p:txBody>
        </p:sp>
        <p:sp>
          <p:nvSpPr>
            <p:cNvPr id="67" name="TextBox 11"/>
            <p:cNvSpPr txBox="1"/>
            <p:nvPr>
              <p:custDataLst>
                <p:tags r:id="rId15"/>
              </p:custDataLst>
            </p:nvPr>
          </p:nvSpPr>
          <p:spPr>
            <a:xfrm>
              <a:off x="9867" y="8490"/>
              <a:ext cx="8294" cy="841"/>
            </a:xfrm>
            <a:prstGeom prst="rect">
              <a:avLst/>
            </a:prstGeom>
            <a:noFill/>
          </p:spPr>
          <p:txBody>
            <a:bodyPr wrap="square" lIns="18288" tIns="9144" rIns="18288" bIns="9144" anchor="t">
              <a:spAutoFit/>
            </a:bodyPr>
            <a:p>
              <a:pPr lvl="0" algn="l">
                <a:lnSpc>
                  <a:spcPct val="120000"/>
                </a:lnSpc>
                <a:spcAft>
                  <a:spcPts val="400"/>
                </a:spcAft>
                <a:buClrTx/>
                <a:buSzTx/>
                <a:buFontTx/>
              </a:pPr>
              <a:r>
                <a:rPr sz="1400">
                  <a:solidFill>
                    <a:schemeClr val="tx1"/>
                  </a:solidFill>
                  <a:latin typeface="OPPOSans R" panose="00020600040101010101" charset="-122"/>
                  <a:ea typeface="OPPOSans R" panose="00020600040101010101" charset="-122"/>
                  <a:cs typeface="OPPOSans R" panose="00020600040101010101" charset="-122"/>
                </a:rPr>
                <a:t>按业务维度取数，安全算子执行</a:t>
              </a:r>
              <a:r>
                <a:rPr sz="1400">
                  <a:solidFill>
                    <a:schemeClr val="accent1"/>
                  </a:solidFill>
                  <a:latin typeface="OPPOSans B" panose="00020600040101010101" charset="-122"/>
                  <a:ea typeface="OPPOSans B" panose="00020600040101010101" charset="-122"/>
                  <a:cs typeface="OPPOSans R" panose="00020600040101010101" charset="-122"/>
                  <a:sym typeface="+mn-ea"/>
                </a:rPr>
                <a:t>求和、差值、比例与最值</a:t>
              </a:r>
              <a:r>
                <a:rPr sz="1400">
                  <a:solidFill>
                    <a:schemeClr val="tx1"/>
                  </a:solidFill>
                  <a:latin typeface="OPPOSans R" panose="00020600040101010101" charset="-122"/>
                  <a:ea typeface="OPPOSans R" panose="00020600040101010101" charset="-122"/>
                  <a:cs typeface="OPPOSans R" panose="00020600040101010101" charset="-122"/>
                </a:rPr>
                <a:t>；结果绑定操作数、算式、单位和单元格坐标，随证据交付</a:t>
              </a:r>
              <a:endParaRPr sz="1400">
                <a:solidFill>
                  <a:schemeClr val="tx1"/>
                </a:solidFill>
                <a:latin typeface="OPPOSans R" panose="00020600040101010101" charset="-122"/>
                <a:ea typeface="OPPOSans R" panose="00020600040101010101" charset="-122"/>
                <a:cs typeface="OPPOSans R" panose="00020600040101010101" charset="-122"/>
              </a:endParaRPr>
            </a:p>
          </p:txBody>
        </p:sp>
      </p:grpSp>
      <p:grpSp>
        <p:nvGrpSpPr>
          <p:cNvPr id="28" name="组合 27"/>
          <p:cNvGrpSpPr/>
          <p:nvPr>
            <p:custDataLst>
              <p:tags r:id="rId16"/>
            </p:custDataLst>
          </p:nvPr>
        </p:nvGrpSpPr>
        <p:grpSpPr>
          <a:xfrm>
            <a:off x="6170295" y="2014855"/>
            <a:ext cx="5457190" cy="1205865"/>
            <a:chOff x="9717" y="3033"/>
            <a:chExt cx="8594" cy="1899"/>
          </a:xfrm>
        </p:grpSpPr>
        <p:sp>
          <p:nvSpPr>
            <p:cNvPr id="4" name="Rectangle 8"/>
            <p:cNvSpPr/>
            <p:nvPr>
              <p:custDataLst>
                <p:tags r:id="rId17"/>
              </p:custDataLst>
            </p:nvPr>
          </p:nvSpPr>
          <p:spPr>
            <a:xfrm>
              <a:off x="9717" y="3397"/>
              <a:ext cx="8594" cy="1535"/>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6" name="Rectangle 9"/>
            <p:cNvSpPr/>
            <p:nvPr>
              <p:custDataLst>
                <p:tags r:id="rId18"/>
              </p:custDataLst>
            </p:nvPr>
          </p:nvSpPr>
          <p:spPr>
            <a:xfrm>
              <a:off x="9717" y="3033"/>
              <a:ext cx="3871" cy="72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8" name="TextBox 10"/>
            <p:cNvSpPr txBox="1"/>
            <p:nvPr>
              <p:custDataLst>
                <p:tags r:id="rId19"/>
              </p:custDataLst>
            </p:nvPr>
          </p:nvSpPr>
          <p:spPr>
            <a:xfrm>
              <a:off x="9890" y="3161"/>
              <a:ext cx="3698" cy="464"/>
            </a:xfrm>
            <a:prstGeom prst="rect">
              <a:avLst/>
            </a:prstGeom>
            <a:noFill/>
          </p:spPr>
          <p:txBody>
            <a:bodyPr wrap="square" lIns="18288" tIns="9144" rIns="18288" bIns="9144" anchor="ctr">
              <a:spAutoFit/>
            </a:bodyPr>
            <a:p>
              <a:pPr lvl="0" algn="l">
                <a:spcAft>
                  <a:spcPts val="400"/>
                </a:spcAft>
                <a:buClrTx/>
                <a:buSzTx/>
                <a:buFontTx/>
              </a:pPr>
              <a:r>
                <a:rPr sz="1800">
                  <a:solidFill>
                    <a:srgbClr val="FFFFFF"/>
                  </a:solidFill>
                  <a:latin typeface="OPPOSans B" panose="00020600040101010101" charset="-122"/>
                  <a:ea typeface="OPPOSans B" panose="00020600040101010101" charset="-122"/>
                  <a:sym typeface="+mn-ea"/>
                </a:rPr>
                <a:t>④ 证据覆盖诊断</a:t>
              </a:r>
              <a:endParaRPr sz="1800">
                <a:solidFill>
                  <a:srgbClr val="FFFFFF"/>
                </a:solidFill>
                <a:latin typeface="OPPOSans B" panose="00020600040101010101" charset="-122"/>
                <a:ea typeface="OPPOSans B" panose="00020600040101010101" charset="-122"/>
                <a:sym typeface="+mn-ea"/>
              </a:endParaRPr>
            </a:p>
          </p:txBody>
        </p:sp>
        <p:sp>
          <p:nvSpPr>
            <p:cNvPr id="9" name="TextBox 11"/>
            <p:cNvSpPr txBox="1"/>
            <p:nvPr>
              <p:custDataLst>
                <p:tags r:id="rId20"/>
              </p:custDataLst>
            </p:nvPr>
          </p:nvSpPr>
          <p:spPr>
            <a:xfrm>
              <a:off x="9933" y="3868"/>
              <a:ext cx="8025" cy="841"/>
            </a:xfrm>
            <a:prstGeom prst="rect">
              <a:avLst/>
            </a:prstGeom>
            <a:noFill/>
          </p:spPr>
          <p:txBody>
            <a:bodyPr wrap="square" lIns="18288" tIns="9144" rIns="18288" bIns="9144" anchor="t">
              <a:spAutoFit/>
            </a:bodyPr>
            <a:p>
              <a:pPr lvl="0" algn="l">
                <a:lnSpc>
                  <a:spcPct val="120000"/>
                </a:lnSpc>
                <a:spcAft>
                  <a:spcPts val="400"/>
                </a:spcAft>
                <a:buClrTx/>
                <a:buSzTx/>
                <a:buFontTx/>
              </a:pPr>
              <a:r>
                <a:rPr sz="1400">
                  <a:solidFill>
                    <a:schemeClr val="accent1"/>
                  </a:solidFill>
                  <a:latin typeface="OPPOSans B" panose="00020600040101010101" charset="-122"/>
                  <a:ea typeface="OPPOSans B" panose="00020600040101010101" charset="-122"/>
                  <a:cs typeface="OPPOSans R" panose="00020600040101010101" charset="-122"/>
                  <a:sym typeface="+mn-ea"/>
                </a:rPr>
                <a:t>CRAG-lite 诊断证据覆盖</a:t>
              </a:r>
              <a:r>
                <a:rPr sz="1400">
                  <a:solidFill>
                    <a:schemeClr val="tx1"/>
                  </a:solidFill>
                  <a:latin typeface="OPPOSans R" panose="00020600040101010101" charset="-122"/>
                  <a:ea typeface="OPPOSans R" panose="00020600040101010101" charset="-122"/>
                  <a:cs typeface="OPPOSans R" panose="00020600040101010101" charset="-122"/>
                </a:rPr>
                <a:t>，检查定义、列表、禁止性与兜底条款的缺口；逐项形成补检目标，避免过早作答</a:t>
              </a:r>
              <a:endParaRPr sz="1400">
                <a:solidFill>
                  <a:schemeClr val="tx1"/>
                </a:solidFill>
                <a:latin typeface="OPPOSans R" panose="00020600040101010101" charset="-122"/>
                <a:ea typeface="OPPOSans R" panose="00020600040101010101" charset="-122"/>
                <a:cs typeface="OPPOSans R" panose="00020600040101010101" charset="-122"/>
              </a:endParaRPr>
            </a:p>
          </p:txBody>
        </p:sp>
      </p:grpSp>
      <p:grpSp>
        <p:nvGrpSpPr>
          <p:cNvPr id="20" name="组合 19"/>
          <p:cNvGrpSpPr/>
          <p:nvPr>
            <p:custDataLst>
              <p:tags r:id="rId21"/>
            </p:custDataLst>
          </p:nvPr>
        </p:nvGrpSpPr>
        <p:grpSpPr>
          <a:xfrm>
            <a:off x="6169660" y="3484245"/>
            <a:ext cx="5457825" cy="1202055"/>
            <a:chOff x="9716" y="5399"/>
            <a:chExt cx="8595" cy="1893"/>
          </a:xfrm>
        </p:grpSpPr>
        <p:sp>
          <p:nvSpPr>
            <p:cNvPr id="10" name="Rectangle 8"/>
            <p:cNvSpPr/>
            <p:nvPr>
              <p:custDataLst>
                <p:tags r:id="rId22"/>
              </p:custDataLst>
            </p:nvPr>
          </p:nvSpPr>
          <p:spPr>
            <a:xfrm>
              <a:off x="9716" y="5763"/>
              <a:ext cx="8595" cy="1529"/>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1" name="Rectangle 9"/>
            <p:cNvSpPr/>
            <p:nvPr>
              <p:custDataLst>
                <p:tags r:id="rId23"/>
              </p:custDataLst>
            </p:nvPr>
          </p:nvSpPr>
          <p:spPr>
            <a:xfrm>
              <a:off x="9716" y="5399"/>
              <a:ext cx="3871" cy="72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2" name="TextBox 10"/>
            <p:cNvSpPr txBox="1"/>
            <p:nvPr>
              <p:custDataLst>
                <p:tags r:id="rId24"/>
              </p:custDataLst>
            </p:nvPr>
          </p:nvSpPr>
          <p:spPr>
            <a:xfrm>
              <a:off x="9889" y="5527"/>
              <a:ext cx="3698" cy="464"/>
            </a:xfrm>
            <a:prstGeom prst="rect">
              <a:avLst/>
            </a:prstGeom>
            <a:noFill/>
          </p:spPr>
          <p:txBody>
            <a:bodyPr wrap="square" lIns="18288" tIns="9144" rIns="18288" bIns="9144" anchor="ctr">
              <a:spAutoFit/>
            </a:bodyPr>
            <a:p>
              <a:pPr lvl="0" algn="l">
                <a:spcAft>
                  <a:spcPts val="400"/>
                </a:spcAft>
                <a:buClrTx/>
                <a:buSzTx/>
                <a:buFontTx/>
              </a:pPr>
              <a:r>
                <a:rPr sz="1800">
                  <a:solidFill>
                    <a:srgbClr val="FFFFFF"/>
                  </a:solidFill>
                  <a:latin typeface="OPPOSans B" panose="00020600040101010101" charset="-122"/>
                  <a:ea typeface="OPPOSans B" panose="00020600040101010101" charset="-122"/>
                  <a:sym typeface="+mn-ea"/>
                </a:rPr>
                <a:t>⑤ HyDE 定向补证</a:t>
              </a:r>
              <a:endParaRPr sz="1800">
                <a:solidFill>
                  <a:srgbClr val="FFFFFF"/>
                </a:solidFill>
                <a:latin typeface="OPPOSans B" panose="00020600040101010101" charset="-122"/>
                <a:ea typeface="OPPOSans B" panose="00020600040101010101" charset="-122"/>
                <a:sym typeface="+mn-ea"/>
              </a:endParaRPr>
            </a:p>
          </p:txBody>
        </p:sp>
        <p:sp>
          <p:nvSpPr>
            <p:cNvPr id="13" name="TextBox 11"/>
            <p:cNvSpPr txBox="1"/>
            <p:nvPr>
              <p:custDataLst>
                <p:tags r:id="rId25"/>
              </p:custDataLst>
            </p:nvPr>
          </p:nvSpPr>
          <p:spPr>
            <a:xfrm>
              <a:off x="9932" y="6234"/>
              <a:ext cx="8294" cy="841"/>
            </a:xfrm>
            <a:prstGeom prst="rect">
              <a:avLst/>
            </a:prstGeom>
            <a:noFill/>
          </p:spPr>
          <p:txBody>
            <a:bodyPr wrap="square" lIns="18288" tIns="9144" rIns="18288" bIns="9144" anchor="t">
              <a:spAutoFit/>
            </a:bodyPr>
            <a:p>
              <a:pPr lvl="0" algn="l">
                <a:lnSpc>
                  <a:spcPct val="120000"/>
                </a:lnSpc>
                <a:spcAft>
                  <a:spcPts val="400"/>
                </a:spcAft>
                <a:buClrTx/>
                <a:buSzTx/>
                <a:buFontTx/>
              </a:pPr>
              <a:r>
                <a:rPr sz="1400">
                  <a:solidFill>
                    <a:schemeClr val="tx1"/>
                  </a:solidFill>
                  <a:latin typeface="OPPOSans R" panose="00020600040101010101" charset="-122"/>
                  <a:ea typeface="OPPOSans R" panose="00020600040101010101" charset="-122"/>
                  <a:cs typeface="OPPOSans R" panose="00020600040101010101" charset="-122"/>
                </a:rPr>
                <a:t>针对缺口生成</a:t>
              </a:r>
              <a:r>
                <a:rPr sz="1400">
                  <a:solidFill>
                    <a:schemeClr val="accent1"/>
                  </a:solidFill>
                  <a:latin typeface="OPPOSans B" panose="00020600040101010101" charset="-122"/>
                  <a:ea typeface="OPPOSans B" panose="00020600040101010101" charset="-122"/>
                  <a:cs typeface="OPPOSans R" panose="00020600040101010101" charset="-122"/>
                  <a:sym typeface="+mn-ea"/>
                </a:rPr>
                <a:t>假设条款检索线索</a:t>
              </a:r>
              <a:r>
                <a:rPr sz="1400">
                  <a:solidFill>
                    <a:schemeClr val="tx1"/>
                  </a:solidFill>
                  <a:latin typeface="OPPOSans R" panose="00020600040101010101" charset="-122"/>
                  <a:ea typeface="OPPOSans R" panose="00020600040101010101" charset="-122"/>
                  <a:cs typeface="OPPOSans R" panose="00020600040101010101" charset="-122"/>
                </a:rPr>
                <a:t>，弥合业务问法与监管术语差异；在预算内补搜真实原文，复核覆盖后汇聚，仍不足则澄清或拒答</a:t>
              </a:r>
              <a:endParaRPr sz="1400">
                <a:solidFill>
                  <a:schemeClr val="tx1"/>
                </a:solidFill>
                <a:latin typeface="OPPOSans R" panose="00020600040101010101" charset="-122"/>
                <a:ea typeface="OPPOSans R" panose="00020600040101010101" charset="-122"/>
                <a:cs typeface="OPPOSans R" panose="00020600040101010101" charset="-122"/>
              </a:endParaRPr>
            </a:p>
          </p:txBody>
        </p:sp>
      </p:grpSp>
      <p:grpSp>
        <p:nvGrpSpPr>
          <p:cNvPr id="18" name="组合 17"/>
          <p:cNvGrpSpPr/>
          <p:nvPr>
            <p:custDataLst>
              <p:tags r:id="rId26"/>
            </p:custDataLst>
          </p:nvPr>
        </p:nvGrpSpPr>
        <p:grpSpPr>
          <a:xfrm>
            <a:off x="474980" y="4844415"/>
            <a:ext cx="5457825" cy="1064895"/>
            <a:chOff x="748" y="7531"/>
            <a:chExt cx="8595" cy="1677"/>
          </a:xfrm>
        </p:grpSpPr>
        <p:sp>
          <p:nvSpPr>
            <p:cNvPr id="14" name="Rectangle 8"/>
            <p:cNvSpPr/>
            <p:nvPr>
              <p:custDataLst>
                <p:tags r:id="rId27"/>
              </p:custDataLst>
            </p:nvPr>
          </p:nvSpPr>
          <p:spPr>
            <a:xfrm>
              <a:off x="748" y="7895"/>
              <a:ext cx="8595" cy="1313"/>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5" name="Rectangle 9"/>
            <p:cNvSpPr/>
            <p:nvPr>
              <p:custDataLst>
                <p:tags r:id="rId28"/>
              </p:custDataLst>
            </p:nvPr>
          </p:nvSpPr>
          <p:spPr>
            <a:xfrm>
              <a:off x="748" y="7531"/>
              <a:ext cx="3871" cy="72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6" name="TextBox 10"/>
            <p:cNvSpPr txBox="1"/>
            <p:nvPr>
              <p:custDataLst>
                <p:tags r:id="rId29"/>
              </p:custDataLst>
            </p:nvPr>
          </p:nvSpPr>
          <p:spPr>
            <a:xfrm>
              <a:off x="921" y="7659"/>
              <a:ext cx="3698" cy="464"/>
            </a:xfrm>
            <a:prstGeom prst="rect">
              <a:avLst/>
            </a:prstGeom>
            <a:noFill/>
          </p:spPr>
          <p:txBody>
            <a:bodyPr wrap="square" lIns="18288" tIns="9144" rIns="18288" bIns="9144" anchor="ctr">
              <a:spAutoFit/>
            </a:bodyPr>
            <a:p>
              <a:pPr lvl="0" algn="l">
                <a:spcAft>
                  <a:spcPts val="400"/>
                </a:spcAft>
                <a:buClrTx/>
                <a:buSzTx/>
                <a:buFontTx/>
              </a:pPr>
              <a:r>
                <a:rPr sz="1800">
                  <a:solidFill>
                    <a:srgbClr val="FFFFFF"/>
                  </a:solidFill>
                  <a:latin typeface="OPPOSans B" panose="00020600040101010101" charset="-122"/>
                  <a:ea typeface="OPPOSans B" panose="00020600040101010101" charset="-122"/>
                  <a:sym typeface="+mn-ea"/>
                </a:rPr>
                <a:t>③ 条款与引用定位</a:t>
              </a:r>
              <a:endParaRPr sz="1800">
                <a:solidFill>
                  <a:srgbClr val="FFFFFF"/>
                </a:solidFill>
                <a:latin typeface="OPPOSans B" panose="00020600040101010101" charset="-122"/>
                <a:ea typeface="OPPOSans B" panose="00020600040101010101" charset="-122"/>
                <a:sym typeface="+mn-ea"/>
              </a:endParaRPr>
            </a:p>
          </p:txBody>
        </p:sp>
        <p:sp>
          <p:nvSpPr>
            <p:cNvPr id="17" name="TextBox 11"/>
            <p:cNvSpPr txBox="1"/>
            <p:nvPr>
              <p:custDataLst>
                <p:tags r:id="rId30"/>
              </p:custDataLst>
            </p:nvPr>
          </p:nvSpPr>
          <p:spPr>
            <a:xfrm>
              <a:off x="964" y="8366"/>
              <a:ext cx="8294" cy="841"/>
            </a:xfrm>
            <a:prstGeom prst="rect">
              <a:avLst/>
            </a:prstGeom>
            <a:noFill/>
          </p:spPr>
          <p:txBody>
            <a:bodyPr wrap="square" lIns="18288" tIns="9144" rIns="18288" bIns="9144" anchor="t">
              <a:spAutoFit/>
            </a:bodyPr>
            <a:p>
              <a:pPr lvl="0" algn="l">
                <a:lnSpc>
                  <a:spcPct val="120000"/>
                </a:lnSpc>
                <a:spcAft>
                  <a:spcPts val="400"/>
                </a:spcAft>
                <a:buClrTx/>
                <a:buSzTx/>
                <a:buFontTx/>
              </a:pPr>
              <a:r>
                <a:rPr sz="1400">
                  <a:solidFill>
                    <a:schemeClr val="tx1"/>
                  </a:solidFill>
                  <a:latin typeface="OPPOSans R" panose="00020600040101010101" charset="-122"/>
                  <a:ea typeface="OPPOSans R" panose="00020600040101010101" charset="-122"/>
                  <a:cs typeface="OPPOSans R" panose="00020600040101010101" charset="-122"/>
                </a:rPr>
                <a:t>定义索引直达概念条款，邻接片段补齐语境；解析</a:t>
              </a:r>
              <a:r>
                <a:rPr sz="1400">
                  <a:solidFill>
                    <a:schemeClr val="accent1"/>
                  </a:solidFill>
                  <a:latin typeface="OPPOSans B" panose="00020600040101010101" charset="-122"/>
                  <a:ea typeface="OPPOSans B" panose="00020600040101010101" charset="-122"/>
                  <a:cs typeface="OPPOSans R" panose="00020600040101010101" charset="-122"/>
                  <a:sym typeface="+mn-ea"/>
                </a:rPr>
                <a:t>“本办法第X条 / 《标题》第X条”</a:t>
              </a:r>
              <a:r>
                <a:rPr sz="1400">
                  <a:solidFill>
                    <a:schemeClr val="tx1"/>
                  </a:solidFill>
                  <a:latin typeface="OPPOSans R" panose="00020600040101010101" charset="-122"/>
                  <a:ea typeface="OPPOSans R" panose="00020600040101010101" charset="-122"/>
                  <a:cs typeface="OPPOSans R" panose="00020600040101010101" charset="-122"/>
                </a:rPr>
                <a:t>，沿文内与跨文档引用定位关联依据</a:t>
              </a:r>
              <a:endParaRPr sz="1400">
                <a:solidFill>
                  <a:schemeClr val="tx1"/>
                </a:solidFill>
                <a:latin typeface="OPPOSans R" panose="00020600040101010101" charset="-122"/>
                <a:ea typeface="OPPOSans R" panose="00020600040101010101" charset="-122"/>
                <a:cs typeface="OPPOSans R" panose="00020600040101010101" charset="-122"/>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矩形 14"/>
          <p:cNvSpPr/>
          <p:nvPr/>
        </p:nvSpPr>
        <p:spPr>
          <a:xfrm>
            <a:off x="-337185" y="648335"/>
            <a:ext cx="12862560" cy="5641340"/>
          </a:xfrm>
          <a:prstGeom prst="rect">
            <a:avLst/>
          </a:prstGeom>
          <a:solidFill>
            <a:schemeClr val="bg1"/>
          </a:solidFill>
          <a:ln>
            <a:noFill/>
          </a:ln>
          <a:effectLst>
            <a:outerShdw blurRad="50800" dist="38100" dir="10800000" algn="r" rotWithShape="0">
              <a:prstClr val="black">
                <a:alpha val="40000"/>
              </a:prstClr>
            </a:outerShdw>
            <a:softEdge rad="317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2" name="Rectangle 2"/>
          <p:cNvSpPr/>
          <p:nvPr/>
        </p:nvSpPr>
        <p:spPr>
          <a:xfrm>
            <a:off x="502920" y="1018413"/>
            <a:ext cx="82296" cy="566928"/>
          </a:xfrm>
          <a:prstGeom prst="rect">
            <a:avLst/>
          </a:prstGeom>
          <a:solidFill>
            <a:srgbClr val="1C41A9"/>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5" name="TextBox 3"/>
          <p:cNvSpPr txBox="1"/>
          <p:nvPr/>
        </p:nvSpPr>
        <p:spPr>
          <a:xfrm>
            <a:off x="713232" y="1066736"/>
            <a:ext cx="10058400" cy="479425"/>
          </a:xfrm>
          <a:prstGeom prst="rect">
            <a:avLst/>
          </a:prstGeom>
          <a:noFill/>
        </p:spPr>
        <p:txBody>
          <a:bodyPr wrap="square" lIns="18288" tIns="9144" rIns="18288" bIns="9144" anchor="ctr">
            <a:spAutoFit/>
          </a:bodyPr>
          <a:p>
            <a:pPr algn="l">
              <a:spcAft>
                <a:spcPts val="400"/>
              </a:spcAft>
            </a:pPr>
            <a:r>
              <a:rPr sz="3000">
                <a:solidFill>
                  <a:srgbClr val="195CC4"/>
                </a:solidFill>
                <a:latin typeface="OPPOSans B" panose="00020600040101010101" charset="-122"/>
                <a:ea typeface="OPPOSans B" panose="00020600040101010101" charset="-122"/>
                <a:sym typeface="+mn-ea"/>
              </a:rPr>
              <a:t>亮点三：监管语义校验与可信交付</a:t>
            </a:r>
            <a:endParaRPr sz="3000">
              <a:solidFill>
                <a:srgbClr val="195CC4"/>
              </a:solidFill>
              <a:latin typeface="OPPOSans B" panose="00020600040101010101" charset="-122"/>
              <a:ea typeface="OPPOSans B" panose="00020600040101010101" charset="-122"/>
              <a:sym typeface="+mn-ea"/>
            </a:endParaRPr>
          </a:p>
        </p:txBody>
      </p:sp>
      <p:sp>
        <p:nvSpPr>
          <p:cNvPr id="7" name="TextBox 4"/>
          <p:cNvSpPr txBox="1"/>
          <p:nvPr/>
        </p:nvSpPr>
        <p:spPr>
          <a:xfrm>
            <a:off x="713232" y="1575054"/>
            <a:ext cx="10789920" cy="499745"/>
          </a:xfrm>
          <a:prstGeom prst="rect">
            <a:avLst/>
          </a:prstGeom>
          <a:noFill/>
        </p:spPr>
        <p:txBody>
          <a:bodyPr wrap="square" lIns="18288" tIns="9144" rIns="18288" bIns="9144" anchor="t">
            <a:spAutoFit/>
          </a:bodyPr>
          <a:p>
            <a:pPr algn="l">
              <a:spcAft>
                <a:spcPts val="400"/>
              </a:spcAft>
            </a:pPr>
            <a:r>
              <a:rPr sz="1400">
                <a:latin typeface="OPPOSans R" panose="00020600040101010101" charset="-122"/>
                <a:ea typeface="OPPOSans R" panose="00020600040101010101" charset="-122"/>
                <a:sym typeface="+mn-ea"/>
              </a:rPr>
              <a:t>事实核验与监管语义检查协同，关注数字、引用是否一致，以及结论是否改变规范强度和适用条件。</a:t>
            </a:r>
            <a:endParaRPr sz="1400">
              <a:latin typeface="OPPOSans R" panose="00020600040101010101" charset="-122"/>
              <a:ea typeface="OPPOSans R" panose="00020600040101010101" charset="-122"/>
              <a:sym typeface="+mn-ea"/>
            </a:endParaRPr>
          </a:p>
        </p:txBody>
      </p:sp>
      <p:sp>
        <p:nvSpPr>
          <p:cNvPr id="29" name="Rectangle 6"/>
          <p:cNvSpPr/>
          <p:nvPr/>
        </p:nvSpPr>
        <p:spPr>
          <a:xfrm>
            <a:off x="502920" y="1927860"/>
            <a:ext cx="3611880" cy="54864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8" name="TextBox 7"/>
          <p:cNvSpPr txBox="1"/>
          <p:nvPr/>
        </p:nvSpPr>
        <p:spPr>
          <a:xfrm>
            <a:off x="640080" y="2030477"/>
            <a:ext cx="3337560" cy="325120"/>
          </a:xfrm>
          <a:prstGeom prst="rect">
            <a:avLst/>
          </a:prstGeom>
          <a:noFill/>
        </p:spPr>
        <p:txBody>
          <a:bodyPr wrap="square" lIns="18288" tIns="9144" rIns="18288" bIns="9144" anchor="ctr">
            <a:spAutoFit/>
          </a:bodyPr>
          <a:p>
            <a:pPr lvl="0" algn="l">
              <a:spcAft>
                <a:spcPts val="400"/>
              </a:spcAft>
              <a:buClrTx/>
              <a:buSzTx/>
              <a:buFontTx/>
            </a:pPr>
            <a:r>
              <a:rPr sz="2000">
                <a:solidFill>
                  <a:srgbClr val="FFFFFF"/>
                </a:solidFill>
                <a:latin typeface="OPPOSans B" panose="00020600040101010101" charset="-122"/>
                <a:ea typeface="OPPOSans B" panose="00020600040101010101" charset="-122"/>
                <a:cs typeface="OPPOSans B" panose="00020600040101010101" charset="-122"/>
                <a:sym typeface="+mn-ea"/>
              </a:rPr>
              <a:t>01  证据受限生成</a:t>
            </a:r>
            <a:endParaRPr sz="2000">
              <a:solidFill>
                <a:srgbClr val="FFFFFF"/>
              </a:solidFill>
              <a:latin typeface="OPPOSans B" panose="00020600040101010101" charset="-122"/>
              <a:ea typeface="OPPOSans B" panose="00020600040101010101" charset="-122"/>
              <a:cs typeface="OPPOSans B" panose="00020600040101010101" charset="-122"/>
              <a:sym typeface="+mn-ea"/>
            </a:endParaRPr>
          </a:p>
        </p:txBody>
      </p:sp>
      <p:sp>
        <p:nvSpPr>
          <p:cNvPr id="39" name="Rectangle 8"/>
          <p:cNvSpPr/>
          <p:nvPr/>
        </p:nvSpPr>
        <p:spPr>
          <a:xfrm>
            <a:off x="502920" y="2476500"/>
            <a:ext cx="3611880" cy="263017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40" name="TextBox 9"/>
          <p:cNvSpPr txBox="1"/>
          <p:nvPr/>
        </p:nvSpPr>
        <p:spPr>
          <a:xfrm>
            <a:off x="667385" y="2613660"/>
            <a:ext cx="3382645" cy="2134235"/>
          </a:xfrm>
          <a:prstGeom prst="rect">
            <a:avLst/>
          </a:prstGeom>
          <a:noFill/>
        </p:spPr>
        <p:txBody>
          <a:bodyPr wrap="square" lIns="18288" tIns="9144" rIns="18288" bIns="9144" anchor="t">
            <a:spAutoFit/>
          </a:bodyPr>
          <a:p>
            <a:pPr algn="l" fontAlgn="auto">
              <a:lnSpc>
                <a:spcPct val="120000"/>
              </a:lnSpc>
              <a:spcAft>
                <a:spcPts val="8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证据约束：</a:t>
            </a:r>
            <a:r>
              <a:rPr sz="1400">
                <a:solidFill>
                  <a:schemeClr val="tx1"/>
                </a:solidFill>
                <a:latin typeface="OPPOSans R" panose="00020600040101010101" charset="-122"/>
                <a:ea typeface="OPPOSans R" panose="00020600040101010101" charset="-122"/>
                <a:cs typeface="OPPOSans R" panose="00020600040101010101" charset="-122"/>
              </a:rPr>
              <a:t>围绕真实检索原文组织结论，逐项关联</a:t>
            </a:r>
            <a:r>
              <a:rPr sz="1400">
                <a:solidFill>
                  <a:schemeClr val="accent1"/>
                </a:solidFill>
                <a:latin typeface="OPPOSans B" panose="00020600040101010101" charset="-122"/>
                <a:ea typeface="OPPOSans B" panose="00020600040101010101" charset="-122"/>
                <a:cs typeface="OPPOSans R" panose="00020600040101010101" charset="-122"/>
                <a:sym typeface="+mn-ea"/>
              </a:rPr>
              <a:t>引用标签与原文摘录</a:t>
            </a:r>
            <a:r>
              <a:rPr sz="1400">
                <a:solidFill>
                  <a:schemeClr val="tx1"/>
                </a:solidFill>
                <a:latin typeface="OPPOSans R" panose="00020600040101010101" charset="-122"/>
                <a:ea typeface="OPPOSans R" panose="00020600040101010101" charset="-122"/>
                <a:cs typeface="OPPOSans R" panose="00020600040101010101" charset="-122"/>
              </a:rPr>
              <a:t>。</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8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原文可定位：</a:t>
            </a:r>
            <a:r>
              <a:rPr sz="1400">
                <a:solidFill>
                  <a:schemeClr val="tx1"/>
                </a:solidFill>
                <a:latin typeface="OPPOSans R" panose="00020600040101010101" charset="-122"/>
                <a:ea typeface="OPPOSans R" panose="00020600040101010101" charset="-122"/>
                <a:cs typeface="OPPOSans R" panose="00020600040101010101" charset="-122"/>
              </a:rPr>
              <a:t>返回文档、章节、条款、工作表与单元格坐标，支持业务复核。</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8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计算可复算：</a:t>
            </a:r>
            <a:r>
              <a:rPr sz="1400">
                <a:solidFill>
                  <a:schemeClr val="tx1"/>
                </a:solidFill>
                <a:latin typeface="OPPOSans R" panose="00020600040101010101" charset="-122"/>
                <a:ea typeface="OPPOSans R" panose="00020600040101010101" charset="-122"/>
                <a:cs typeface="OPPOSans R" panose="00020600040101010101" charset="-122"/>
              </a:rPr>
              <a:t>绑定操作数、算式与单位，数值结论可回到原表复算。</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8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异常可修复：</a:t>
            </a:r>
            <a:r>
              <a:rPr sz="1400">
                <a:solidFill>
                  <a:schemeClr val="tx1"/>
                </a:solidFill>
                <a:latin typeface="OPPOSans R" panose="00020600040101010101" charset="-122"/>
                <a:ea typeface="OPPOSans R" panose="00020600040101010101" charset="-122"/>
                <a:cs typeface="OPPOSans R" panose="00020600040101010101" charset="-122"/>
              </a:rPr>
              <a:t>核对引用一致性，触发引用修复、受限再生成或摘录式降级。</a:t>
            </a:r>
            <a:endParaRPr sz="1400">
              <a:solidFill>
                <a:schemeClr val="tx1"/>
              </a:solidFill>
              <a:latin typeface="OPPOSans R" panose="00020600040101010101" charset="-122"/>
              <a:ea typeface="OPPOSans R" panose="00020600040101010101" charset="-122"/>
              <a:cs typeface="OPPOSans R" panose="00020600040101010101" charset="-122"/>
            </a:endParaRPr>
          </a:p>
        </p:txBody>
      </p:sp>
      <p:sp>
        <p:nvSpPr>
          <p:cNvPr id="41" name="Rectangle 10"/>
          <p:cNvSpPr/>
          <p:nvPr/>
        </p:nvSpPr>
        <p:spPr>
          <a:xfrm>
            <a:off x="4288536" y="1927860"/>
            <a:ext cx="3611880" cy="5486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42" name="TextBox 11"/>
          <p:cNvSpPr txBox="1"/>
          <p:nvPr/>
        </p:nvSpPr>
        <p:spPr>
          <a:xfrm>
            <a:off x="4425696" y="2030477"/>
            <a:ext cx="3337560" cy="325120"/>
          </a:xfrm>
          <a:prstGeom prst="rect">
            <a:avLst/>
          </a:prstGeom>
          <a:noFill/>
        </p:spPr>
        <p:txBody>
          <a:bodyPr wrap="square" lIns="18288" tIns="9144" rIns="18288" bIns="9144" anchor="ctr">
            <a:spAutoFit/>
          </a:bodyPr>
          <a:p>
            <a:pPr lvl="0" algn="l">
              <a:spcAft>
                <a:spcPts val="400"/>
              </a:spcAft>
              <a:buClrTx/>
              <a:buSzTx/>
              <a:buFontTx/>
            </a:pPr>
            <a:r>
              <a:rPr sz="2000">
                <a:solidFill>
                  <a:srgbClr val="FFFFFF"/>
                </a:solidFill>
                <a:latin typeface="OPPOSans B" panose="00020600040101010101" charset="-122"/>
                <a:ea typeface="OPPOSans B" panose="00020600040101010101" charset="-122"/>
                <a:cs typeface="OPPOSans B" panose="00020600040101010101" charset="-122"/>
                <a:sym typeface="+mn-ea"/>
              </a:rPr>
              <a:t>02  事实与监管语义校验</a:t>
            </a:r>
            <a:endParaRPr sz="2000">
              <a:solidFill>
                <a:srgbClr val="FFFFFF"/>
              </a:solidFill>
              <a:latin typeface="OPPOSans B" panose="00020600040101010101" charset="-122"/>
              <a:ea typeface="OPPOSans B" panose="00020600040101010101" charset="-122"/>
              <a:cs typeface="OPPOSans B" panose="00020600040101010101" charset="-122"/>
              <a:sym typeface="+mn-ea"/>
            </a:endParaRPr>
          </a:p>
        </p:txBody>
      </p:sp>
      <p:sp>
        <p:nvSpPr>
          <p:cNvPr id="43" name="Rectangle 12"/>
          <p:cNvSpPr/>
          <p:nvPr/>
        </p:nvSpPr>
        <p:spPr>
          <a:xfrm>
            <a:off x="4288790" y="2476500"/>
            <a:ext cx="3611880" cy="263017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44" name="TextBox 13"/>
          <p:cNvSpPr txBox="1"/>
          <p:nvPr/>
        </p:nvSpPr>
        <p:spPr>
          <a:xfrm>
            <a:off x="4453127" y="2613660"/>
            <a:ext cx="3291840" cy="1875790"/>
          </a:xfrm>
          <a:prstGeom prst="rect">
            <a:avLst/>
          </a:prstGeom>
          <a:noFill/>
        </p:spPr>
        <p:txBody>
          <a:bodyPr wrap="square" lIns="18288" tIns="9144" rIns="18288" bIns="9144" anchor="t">
            <a:spAutoFit/>
          </a:bodyPr>
          <a:p>
            <a:pPr algn="l" fontAlgn="auto">
              <a:lnSpc>
                <a:spcPct val="120000"/>
              </a:lnSpc>
              <a:spcAft>
                <a:spcPts val="8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事实核对：</a:t>
            </a:r>
            <a:r>
              <a:rPr sz="1400">
                <a:solidFill>
                  <a:schemeClr val="tx1"/>
                </a:solidFill>
                <a:latin typeface="OPPOSans R" panose="00020600040101010101" charset="-122"/>
                <a:ea typeface="OPPOSans R" panose="00020600040101010101" charset="-122"/>
                <a:cs typeface="OPPOSans R" panose="00020600040101010101" charset="-122"/>
              </a:rPr>
              <a:t>检查数字、日期、机构与文号是否与证据一致。</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8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语义框架：</a:t>
            </a:r>
            <a:r>
              <a:rPr sz="1400">
                <a:solidFill>
                  <a:schemeClr val="tx1"/>
                </a:solidFill>
                <a:latin typeface="OPPOSans R" panose="00020600040101010101" charset="-122"/>
                <a:ea typeface="OPPOSans R" panose="00020600040101010101" charset="-122"/>
                <a:cs typeface="OPPOSans R" panose="00020600040101010101" charset="-122"/>
              </a:rPr>
              <a:t>联合检查主体、规范强度、条件、例外及适用范围。</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8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校验示意：</a:t>
            </a:r>
            <a:r>
              <a:rPr sz="1400">
                <a:solidFill>
                  <a:schemeClr val="tx1"/>
                </a:solidFill>
                <a:latin typeface="OPPOSans R" panose="00020600040101010101" charset="-122"/>
                <a:ea typeface="OPPOSans R" panose="00020600040101010101" charset="-122"/>
                <a:cs typeface="OPPOSans R" panose="00020600040101010101" charset="-122"/>
              </a:rPr>
              <a:t>“</a:t>
            </a:r>
            <a:r>
              <a:rPr sz="1400">
                <a:solidFill>
                  <a:schemeClr val="accent1"/>
                </a:solidFill>
                <a:latin typeface="OPPOSans B" panose="00020600040101010101" charset="-122"/>
                <a:ea typeface="OPPOSans B" panose="00020600040101010101" charset="-122"/>
                <a:cs typeface="OPPOSans R" panose="00020600040101010101" charset="-122"/>
                <a:sym typeface="+mn-ea"/>
              </a:rPr>
              <a:t>条件A下可以</a:t>
            </a:r>
            <a:r>
              <a:rPr sz="1400">
                <a:solidFill>
                  <a:schemeClr val="tx1"/>
                </a:solidFill>
                <a:latin typeface="OPPOSans R" panose="00020600040101010101" charset="-122"/>
                <a:ea typeface="OPPOSans R" panose="00020600040101010101" charset="-122"/>
                <a:cs typeface="OPPOSans R" panose="00020600040101010101" charset="-122"/>
              </a:rPr>
              <a:t>”误写为“</a:t>
            </a:r>
            <a:r>
              <a:rPr sz="1400">
                <a:solidFill>
                  <a:srgbClr val="CE0000"/>
                </a:solidFill>
                <a:latin typeface="OPPOSans B" panose="00020600040101010101" charset="-122"/>
                <a:ea typeface="OPPOSans B" panose="00020600040101010101" charset="-122"/>
                <a:cs typeface="OPPOSans B" panose="00020600040101010101" charset="-122"/>
              </a:rPr>
              <a:t>所有机构应当</a:t>
            </a:r>
            <a:r>
              <a:rPr sz="1400">
                <a:solidFill>
                  <a:schemeClr val="tx1"/>
                </a:solidFill>
                <a:latin typeface="OPPOSans R" panose="00020600040101010101" charset="-122"/>
                <a:ea typeface="OPPOSans R" panose="00020600040101010101" charset="-122"/>
                <a:cs typeface="OPPOSans R" panose="00020600040101010101" charset="-122"/>
              </a:rPr>
              <a:t>”。</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8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偏移识别：</a:t>
            </a:r>
            <a:r>
              <a:rPr sz="1400">
                <a:solidFill>
                  <a:schemeClr val="tx1"/>
                </a:solidFill>
                <a:latin typeface="OPPOSans R" panose="00020600040101010101" charset="-122"/>
                <a:ea typeface="OPPOSans R" panose="00020600040101010101" charset="-122"/>
                <a:cs typeface="OPPOSans R" panose="00020600040101010101" charset="-122"/>
              </a:rPr>
              <a:t>检查条件遗漏、主体扩大和义务强度改变。</a:t>
            </a:r>
            <a:endParaRPr sz="1400">
              <a:solidFill>
                <a:schemeClr val="tx1"/>
              </a:solidFill>
              <a:latin typeface="OPPOSans R" panose="00020600040101010101" charset="-122"/>
              <a:ea typeface="OPPOSans R" panose="00020600040101010101" charset="-122"/>
              <a:cs typeface="OPPOSans R" panose="00020600040101010101" charset="-122"/>
            </a:endParaRPr>
          </a:p>
        </p:txBody>
      </p:sp>
      <p:sp>
        <p:nvSpPr>
          <p:cNvPr id="45" name="Rectangle 14"/>
          <p:cNvSpPr/>
          <p:nvPr/>
        </p:nvSpPr>
        <p:spPr>
          <a:xfrm>
            <a:off x="8074151" y="1927860"/>
            <a:ext cx="3611880" cy="548640"/>
          </a:xfrm>
          <a:prstGeom prst="rect">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46" name="TextBox 15"/>
          <p:cNvSpPr txBox="1"/>
          <p:nvPr/>
        </p:nvSpPr>
        <p:spPr>
          <a:xfrm>
            <a:off x="8211311" y="2030477"/>
            <a:ext cx="3337560" cy="325120"/>
          </a:xfrm>
          <a:prstGeom prst="rect">
            <a:avLst/>
          </a:prstGeom>
          <a:noFill/>
        </p:spPr>
        <p:txBody>
          <a:bodyPr wrap="square" lIns="18288" tIns="9144" rIns="18288" bIns="9144" anchor="ctr">
            <a:spAutoFit/>
          </a:bodyPr>
          <a:p>
            <a:pPr lvl="0" algn="l">
              <a:spcAft>
                <a:spcPts val="400"/>
              </a:spcAft>
              <a:buClrTx/>
              <a:buSzTx/>
              <a:buFontTx/>
            </a:pPr>
            <a:r>
              <a:rPr sz="2000">
                <a:solidFill>
                  <a:srgbClr val="FFFFFF"/>
                </a:solidFill>
                <a:latin typeface="OPPOSans B" panose="00020600040101010101" charset="-122"/>
                <a:ea typeface="OPPOSans B" panose="00020600040101010101" charset="-122"/>
                <a:cs typeface="OPPOSans B" panose="00020600040101010101" charset="-122"/>
                <a:sym typeface="+mn-ea"/>
              </a:rPr>
              <a:t>03  风险边界与审计追踪</a:t>
            </a:r>
            <a:endParaRPr sz="2000">
              <a:solidFill>
                <a:srgbClr val="FFFFFF"/>
              </a:solidFill>
              <a:latin typeface="OPPOSans B" panose="00020600040101010101" charset="-122"/>
              <a:ea typeface="OPPOSans B" panose="00020600040101010101" charset="-122"/>
              <a:cs typeface="OPPOSans B" panose="00020600040101010101" charset="-122"/>
              <a:sym typeface="+mn-ea"/>
            </a:endParaRPr>
          </a:p>
        </p:txBody>
      </p:sp>
      <p:sp>
        <p:nvSpPr>
          <p:cNvPr id="47" name="Rectangle 16"/>
          <p:cNvSpPr/>
          <p:nvPr/>
        </p:nvSpPr>
        <p:spPr>
          <a:xfrm>
            <a:off x="8074025" y="2476500"/>
            <a:ext cx="3611880" cy="2630170"/>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48" name="TextBox 17"/>
          <p:cNvSpPr txBox="1"/>
          <p:nvPr/>
        </p:nvSpPr>
        <p:spPr>
          <a:xfrm>
            <a:off x="8238743" y="2613660"/>
            <a:ext cx="3291840" cy="1514475"/>
          </a:xfrm>
          <a:prstGeom prst="rect">
            <a:avLst/>
          </a:prstGeom>
          <a:noFill/>
        </p:spPr>
        <p:txBody>
          <a:bodyPr wrap="square" lIns="18288" tIns="9144" rIns="18288" bIns="9144" anchor="t">
            <a:spAutoFit/>
          </a:bodyPr>
          <a:p>
            <a:pPr algn="l" fontAlgn="auto">
              <a:lnSpc>
                <a:spcPct val="120000"/>
              </a:lnSpc>
              <a:spcAft>
                <a:spcPts val="8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证据边界：</a:t>
            </a:r>
            <a:r>
              <a:rPr sz="1400">
                <a:solidFill>
                  <a:schemeClr val="tx1"/>
                </a:solidFill>
                <a:latin typeface="OPPOSans R" panose="00020600040101010101" charset="-122"/>
                <a:ea typeface="OPPOSans R" panose="00020600040101010101" charset="-122"/>
                <a:cs typeface="OPPOSans R" panose="00020600040101010101" charset="-122"/>
              </a:rPr>
              <a:t>依据不足、范围不明或资料冲突时，澄清或结构化拒答。</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8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原因可解释：</a:t>
            </a:r>
            <a:r>
              <a:rPr sz="1400">
                <a:solidFill>
                  <a:schemeClr val="tx1"/>
                </a:solidFill>
                <a:latin typeface="OPPOSans R" panose="00020600040101010101" charset="-122"/>
                <a:ea typeface="OPPOSans R" panose="00020600040101010101" charset="-122"/>
                <a:cs typeface="OPPOSans R" panose="00020600040101010101" charset="-122"/>
              </a:rPr>
              <a:t>指出证据缺口与待补材料，为人工复核提供明确线索。</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8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过程可追踪：</a:t>
            </a:r>
            <a:r>
              <a:rPr sz="1400">
                <a:solidFill>
                  <a:schemeClr val="tx1"/>
                </a:solidFill>
                <a:latin typeface="OPPOSans R" panose="00020600040101010101" charset="-122"/>
                <a:ea typeface="OPPOSans R" panose="00020600040101010101" charset="-122"/>
                <a:cs typeface="OPPOSans R" panose="00020600040101010101" charset="-122"/>
              </a:rPr>
              <a:t>关联答案、引用来源与处理状态，支持审计和问题定位。</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8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质量可验证：</a:t>
            </a:r>
            <a:r>
              <a:rPr sz="1400">
                <a:solidFill>
                  <a:schemeClr val="tx1"/>
                </a:solidFill>
                <a:latin typeface="OPPOSans R" panose="00020600040101010101" charset="-122"/>
                <a:ea typeface="OPPOSans R" panose="00020600040101010101" charset="-122"/>
                <a:cs typeface="OPPOSans R" panose="00020600040101010101" charset="-122"/>
              </a:rPr>
              <a:t>通过固定题集回归检验问答质量与拒答边界。</a:t>
            </a:r>
            <a:endParaRPr sz="1400">
              <a:solidFill>
                <a:schemeClr val="tx1"/>
              </a:solidFill>
              <a:latin typeface="OPPOSans R" panose="00020600040101010101" charset="-122"/>
              <a:ea typeface="OPPOSans R" panose="00020600040101010101" charset="-122"/>
              <a:cs typeface="OPPOSans R" panose="00020600040101010101" charset="-122"/>
            </a:endParaRPr>
          </a:p>
        </p:txBody>
      </p:sp>
      <p:grpSp>
        <p:nvGrpSpPr>
          <p:cNvPr id="55" name="组合 54"/>
          <p:cNvGrpSpPr/>
          <p:nvPr/>
        </p:nvGrpSpPr>
        <p:grpSpPr>
          <a:xfrm>
            <a:off x="502920" y="5219700"/>
            <a:ext cx="11182350" cy="612000"/>
            <a:chOff x="792" y="7776"/>
            <a:chExt cx="17610" cy="1440"/>
          </a:xfrm>
        </p:grpSpPr>
        <p:sp>
          <p:nvSpPr>
            <p:cNvPr id="49" name="Rectangle 18"/>
            <p:cNvSpPr/>
            <p:nvPr/>
          </p:nvSpPr>
          <p:spPr>
            <a:xfrm>
              <a:off x="792" y="7776"/>
              <a:ext cx="17611" cy="1440"/>
            </a:xfrm>
            <a:prstGeom prst="rect">
              <a:avLst/>
            </a:prstGeom>
            <a:solidFill>
              <a:srgbClr val="FBF3F3"/>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50" name="Rectangle 19"/>
            <p:cNvSpPr/>
            <p:nvPr/>
          </p:nvSpPr>
          <p:spPr>
            <a:xfrm>
              <a:off x="792" y="7776"/>
              <a:ext cx="130" cy="144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grpSp>
      <p:sp>
        <p:nvSpPr>
          <p:cNvPr id="51" name="TextBox 20"/>
          <p:cNvSpPr txBox="1"/>
          <p:nvPr/>
        </p:nvSpPr>
        <p:spPr>
          <a:xfrm>
            <a:off x="653415" y="5392420"/>
            <a:ext cx="10984230" cy="263525"/>
          </a:xfrm>
          <a:prstGeom prst="rect">
            <a:avLst/>
          </a:prstGeom>
          <a:noFill/>
        </p:spPr>
        <p:txBody>
          <a:bodyPr wrap="square" lIns="18288" tIns="9144" rIns="18288" bIns="9144" anchor="ctr">
            <a:spAutoFit/>
          </a:bodyPr>
          <a:p>
            <a:pPr algn="l">
              <a:spcAft>
                <a:spcPts val="400"/>
              </a:spcAft>
            </a:pPr>
            <a:r>
              <a:rPr sz="1600">
                <a:solidFill>
                  <a:srgbClr val="1F3864"/>
                </a:solidFill>
                <a:latin typeface="OPPOSans B" panose="00020600040101010101" charset="-122"/>
                <a:ea typeface="OPPOSans B" panose="00020600040101010101" charset="-122"/>
                <a:cs typeface="OPPOSans R" panose="00020600040101010101" charset="-122"/>
              </a:rPr>
              <a:t>可信交付：</a:t>
            </a:r>
            <a:r>
              <a:rPr sz="1600">
                <a:solidFill>
                  <a:schemeClr val="tx1"/>
                </a:solidFill>
                <a:latin typeface="OPPOSans R" panose="00020600040101010101" charset="-122"/>
                <a:ea typeface="OPPOSans R" panose="00020600040101010101" charset="-122"/>
                <a:cs typeface="OPPOSans R" panose="00020600040101010101" charset="-122"/>
              </a:rPr>
              <a:t>同时核对</a:t>
            </a:r>
            <a:r>
              <a:rPr sz="1600">
                <a:solidFill>
                  <a:srgbClr val="CE0000"/>
                </a:solidFill>
                <a:latin typeface="OPPOSans B" panose="00020600040101010101" charset="-122"/>
                <a:ea typeface="OPPOSans B" panose="00020600040101010101" charset="-122"/>
                <a:cs typeface="OPPOSans B" panose="00020600040101010101" charset="-122"/>
              </a:rPr>
              <a:t>事实一致性与监管含义</a:t>
            </a:r>
            <a:r>
              <a:rPr sz="1600">
                <a:solidFill>
                  <a:schemeClr val="tx1"/>
                </a:solidFill>
                <a:latin typeface="OPPOSans R" panose="00020600040101010101" charset="-122"/>
                <a:ea typeface="OPPOSans R" panose="00020600040101010101" charset="-122"/>
                <a:cs typeface="OPPOSans R" panose="00020600040101010101" charset="-122"/>
              </a:rPr>
              <a:t>，保留依据和处理记录，让答案能够被业务人员复核。</a:t>
            </a:r>
            <a:endParaRPr sz="1600">
              <a:solidFill>
                <a:schemeClr val="tx1"/>
              </a:solidFill>
              <a:latin typeface="OPPOSans R" panose="00020600040101010101" charset="-122"/>
              <a:ea typeface="OPPOSans R" panose="00020600040101010101" charset="-122"/>
              <a:cs typeface="OPPOSans R" panose="00020600040101010101" charset="-122"/>
            </a:endParaRPr>
          </a:p>
        </p:txBody>
      </p:sp>
      <p:sp>
        <p:nvSpPr>
          <p:cNvPr id="52" name="Rectangle 5"/>
          <p:cNvSpPr/>
          <p:nvPr/>
        </p:nvSpPr>
        <p:spPr>
          <a:xfrm>
            <a:off x="502920" y="1840230"/>
            <a:ext cx="11196000" cy="20320"/>
          </a:xfrm>
          <a:prstGeom prst="rect">
            <a:avLst/>
          </a:prstGeom>
          <a:solidFill>
            <a:srgbClr val="D9DEE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文本框 14"/>
          <p:cNvSpPr txBox="1"/>
          <p:nvPr/>
        </p:nvSpPr>
        <p:spPr>
          <a:xfrm>
            <a:off x="4191318" y="1942677"/>
            <a:ext cx="3798570" cy="221488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3800" b="0"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05</a:t>
            </a:r>
            <a:endParaRPr kumimoji="0" lang="en-US" altLang="zh-CN" sz="13800" b="0"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endParaRPr>
          </a:p>
        </p:txBody>
      </p:sp>
      <p:sp>
        <p:nvSpPr>
          <p:cNvPr id="16" name="文本框 15"/>
          <p:cNvSpPr txBox="1"/>
          <p:nvPr/>
        </p:nvSpPr>
        <p:spPr>
          <a:xfrm>
            <a:off x="3449637" y="3869267"/>
            <a:ext cx="5283200" cy="777875"/>
          </a:xfrm>
          <a:prstGeom prst="rect">
            <a:avLst/>
          </a:prstGeom>
          <a:noFill/>
        </p:spPr>
        <p:txBody>
          <a:bodyPr anchor="ctr"/>
          <a:lstStyle/>
          <a:p>
            <a:pPr marL="0" marR="0" lvl="0" indent="0" algn="ctr" defTabSz="914400" rtl="0" eaLnBrk="1" fontAlgn="t" latinLnBrk="0" hangingPunct="1">
              <a:lnSpc>
                <a:spcPct val="100000"/>
              </a:lnSpc>
              <a:spcBef>
                <a:spcPts val="0"/>
              </a:spcBef>
              <a:spcAft>
                <a:spcPts val="0"/>
              </a:spcAft>
              <a:buClrTx/>
              <a:buSzTx/>
              <a:buFontTx/>
              <a:buNone/>
              <a:defRPr/>
            </a:pPr>
            <a:r>
              <a:rPr kumimoji="0" lang="zh-CN" altLang="en-US" sz="36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评测结果与性能</a:t>
            </a:r>
            <a:endParaRPr kumimoji="0" lang="zh-CN" altLang="en-US" sz="36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nvGrpSpPr>
          <p:cNvPr id="18" name="组合 8"/>
          <p:cNvGrpSpPr/>
          <p:nvPr/>
        </p:nvGrpSpPr>
        <p:grpSpPr>
          <a:xfrm>
            <a:off x="3671887" y="1422930"/>
            <a:ext cx="4848225" cy="350837"/>
            <a:chOff x="5783" y="848"/>
            <a:chExt cx="7636" cy="551"/>
          </a:xfrm>
        </p:grpSpPr>
        <p:sp>
          <p:nvSpPr>
            <p:cNvPr id="19" name="任意多边形: 形状 187"/>
            <p:cNvSpPr/>
            <p:nvPr/>
          </p:nvSpPr>
          <p:spPr>
            <a:xfrm>
              <a:off x="5783" y="848"/>
              <a:ext cx="7637" cy="510"/>
            </a:xfrm>
            <a:custGeom>
              <a:avLst/>
              <a:gdLst/>
              <a:ahLst/>
              <a:cxnLst>
                <a:cxn ang="0">
                  <a:pos x="2326" y="31"/>
                </a:cxn>
                <a:cxn ang="0">
                  <a:pos x="3433" y="31"/>
                </a:cxn>
                <a:cxn ang="0">
                  <a:pos x="4216" y="31"/>
                </a:cxn>
                <a:cxn ang="0">
                  <a:pos x="5259" y="31"/>
                </a:cxn>
                <a:cxn ang="0">
                  <a:pos x="5738" y="512"/>
                </a:cxn>
                <a:cxn ang="0">
                  <a:pos x="7637" y="512"/>
                </a:cxn>
                <a:cxn ang="0">
                  <a:pos x="7637" y="494"/>
                </a:cxn>
                <a:cxn ang="0">
                  <a:pos x="5747" y="494"/>
                </a:cxn>
                <a:cxn ang="0">
                  <a:pos x="5266" y="13"/>
                </a:cxn>
                <a:cxn ang="0">
                  <a:pos x="4216" y="13"/>
                </a:cxn>
                <a:cxn ang="0">
                  <a:pos x="3433" y="13"/>
                </a:cxn>
                <a:cxn ang="0">
                  <a:pos x="2319" y="13"/>
                </a:cxn>
                <a:cxn ang="0">
                  <a:pos x="1838" y="494"/>
                </a:cxn>
                <a:cxn ang="0">
                  <a:pos x="13" y="494"/>
                </a:cxn>
                <a:cxn ang="0">
                  <a:pos x="13" y="512"/>
                </a:cxn>
                <a:cxn ang="0">
                  <a:pos x="1845" y="512"/>
                </a:cxn>
              </a:cxnLst>
              <a:rect l="0" t="0" r="0" b="0"/>
              <a:pathLst>
                <a:path w="4849342" h="324061">
                  <a:moveTo>
                    <a:pt x="1477371" y="20254"/>
                  </a:moveTo>
                  <a:lnTo>
                    <a:pt x="2179890" y="20254"/>
                  </a:lnTo>
                  <a:lnTo>
                    <a:pt x="2677555" y="20254"/>
                  </a:lnTo>
                  <a:lnTo>
                    <a:pt x="3339565" y="20254"/>
                  </a:lnTo>
                  <a:lnTo>
                    <a:pt x="3643951" y="325797"/>
                  </a:lnTo>
                  <a:lnTo>
                    <a:pt x="4849922" y="325797"/>
                  </a:lnTo>
                  <a:lnTo>
                    <a:pt x="4849922" y="314224"/>
                  </a:lnTo>
                  <a:lnTo>
                    <a:pt x="3649738" y="314224"/>
                  </a:lnTo>
                  <a:lnTo>
                    <a:pt x="3344195" y="8680"/>
                  </a:lnTo>
                  <a:lnTo>
                    <a:pt x="2677555" y="8680"/>
                  </a:lnTo>
                  <a:lnTo>
                    <a:pt x="2179890" y="8680"/>
                  </a:lnTo>
                  <a:lnTo>
                    <a:pt x="1472742" y="8680"/>
                  </a:lnTo>
                  <a:lnTo>
                    <a:pt x="1167199" y="314224"/>
                  </a:lnTo>
                  <a:lnTo>
                    <a:pt x="8680" y="314224"/>
                  </a:lnTo>
                  <a:lnTo>
                    <a:pt x="8680" y="325797"/>
                  </a:lnTo>
                  <a:lnTo>
                    <a:pt x="1171828" y="325797"/>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20" name="任意多边形: 形状 188"/>
            <p:cNvSpPr/>
            <p:nvPr/>
          </p:nvSpPr>
          <p:spPr>
            <a:xfrm>
              <a:off x="7826" y="1017"/>
              <a:ext cx="3536" cy="383"/>
            </a:xfrm>
            <a:custGeom>
              <a:avLst/>
              <a:gdLst/>
              <a:ahLst/>
              <a:cxnLst>
                <a:cxn ang="0">
                  <a:pos x="3192" y="13"/>
                </a:cxn>
                <a:cxn ang="0">
                  <a:pos x="1845" y="13"/>
                </a:cxn>
                <a:cxn ang="0">
                  <a:pos x="1705" y="13"/>
                </a:cxn>
                <a:cxn ang="0">
                  <a:pos x="356" y="13"/>
                </a:cxn>
                <a:cxn ang="0">
                  <a:pos x="13" y="358"/>
                </a:cxn>
                <a:cxn ang="0">
                  <a:pos x="24" y="371"/>
                </a:cxn>
                <a:cxn ang="0">
                  <a:pos x="363" y="31"/>
                </a:cxn>
                <a:cxn ang="0">
                  <a:pos x="1705" y="31"/>
                </a:cxn>
                <a:cxn ang="0">
                  <a:pos x="1845" y="31"/>
                </a:cxn>
                <a:cxn ang="0">
                  <a:pos x="3185" y="31"/>
                </a:cxn>
                <a:cxn ang="0">
                  <a:pos x="3516" y="362"/>
                </a:cxn>
                <a:cxn ang="0">
                  <a:pos x="3529" y="351"/>
                </a:cxn>
              </a:cxnLst>
              <a:rect l="0" t="0" r="0" b="0"/>
              <a:pathLst>
                <a:path w="2245280" h="243045">
                  <a:moveTo>
                    <a:pt x="2027118" y="8680"/>
                  </a:moveTo>
                  <a:lnTo>
                    <a:pt x="1171828" y="8680"/>
                  </a:lnTo>
                  <a:lnTo>
                    <a:pt x="1082711" y="8680"/>
                  </a:lnTo>
                  <a:lnTo>
                    <a:pt x="226264" y="8680"/>
                  </a:lnTo>
                  <a:lnTo>
                    <a:pt x="8680" y="227421"/>
                  </a:lnTo>
                  <a:lnTo>
                    <a:pt x="15624" y="235523"/>
                  </a:lnTo>
                  <a:lnTo>
                    <a:pt x="230894" y="20254"/>
                  </a:lnTo>
                  <a:lnTo>
                    <a:pt x="1082711" y="20254"/>
                  </a:lnTo>
                  <a:lnTo>
                    <a:pt x="1171828" y="20254"/>
                  </a:lnTo>
                  <a:lnTo>
                    <a:pt x="2022488" y="20254"/>
                  </a:lnTo>
                  <a:lnTo>
                    <a:pt x="2233128" y="229736"/>
                  </a:lnTo>
                  <a:lnTo>
                    <a:pt x="2241230" y="222792"/>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grpSp>
      <p:grpSp>
        <p:nvGrpSpPr>
          <p:cNvPr id="21" name="组合 7"/>
          <p:cNvGrpSpPr/>
          <p:nvPr/>
        </p:nvGrpSpPr>
        <p:grpSpPr>
          <a:xfrm flipV="1">
            <a:off x="3671887" y="4972580"/>
            <a:ext cx="4849813" cy="336550"/>
            <a:chOff x="5975" y="1069"/>
            <a:chExt cx="7636" cy="530"/>
          </a:xfrm>
        </p:grpSpPr>
        <p:sp>
          <p:nvSpPr>
            <p:cNvPr id="22" name="任意多边形: 形状 187"/>
            <p:cNvSpPr/>
            <p:nvPr/>
          </p:nvSpPr>
          <p:spPr>
            <a:xfrm>
              <a:off x="5975" y="1069"/>
              <a:ext cx="7637" cy="510"/>
            </a:xfrm>
            <a:custGeom>
              <a:avLst/>
              <a:gdLst/>
              <a:ahLst/>
              <a:cxnLst>
                <a:cxn ang="0">
                  <a:pos x="2326" y="31"/>
                </a:cxn>
                <a:cxn ang="0">
                  <a:pos x="3433" y="31"/>
                </a:cxn>
                <a:cxn ang="0">
                  <a:pos x="4216" y="31"/>
                </a:cxn>
                <a:cxn ang="0">
                  <a:pos x="5259" y="31"/>
                </a:cxn>
                <a:cxn ang="0">
                  <a:pos x="5738" y="512"/>
                </a:cxn>
                <a:cxn ang="0">
                  <a:pos x="7637" y="512"/>
                </a:cxn>
                <a:cxn ang="0">
                  <a:pos x="7637" y="494"/>
                </a:cxn>
                <a:cxn ang="0">
                  <a:pos x="5747" y="494"/>
                </a:cxn>
                <a:cxn ang="0">
                  <a:pos x="5266" y="13"/>
                </a:cxn>
                <a:cxn ang="0">
                  <a:pos x="4216" y="13"/>
                </a:cxn>
                <a:cxn ang="0">
                  <a:pos x="3433" y="13"/>
                </a:cxn>
                <a:cxn ang="0">
                  <a:pos x="2319" y="13"/>
                </a:cxn>
                <a:cxn ang="0">
                  <a:pos x="1838" y="494"/>
                </a:cxn>
                <a:cxn ang="0">
                  <a:pos x="13" y="494"/>
                </a:cxn>
                <a:cxn ang="0">
                  <a:pos x="13" y="512"/>
                </a:cxn>
                <a:cxn ang="0">
                  <a:pos x="1845" y="512"/>
                </a:cxn>
              </a:cxnLst>
              <a:rect l="0" t="0" r="0" b="0"/>
              <a:pathLst>
                <a:path w="4849342" h="324061">
                  <a:moveTo>
                    <a:pt x="1477371" y="20254"/>
                  </a:moveTo>
                  <a:lnTo>
                    <a:pt x="2179890" y="20254"/>
                  </a:lnTo>
                  <a:lnTo>
                    <a:pt x="2677555" y="20254"/>
                  </a:lnTo>
                  <a:lnTo>
                    <a:pt x="3339565" y="20254"/>
                  </a:lnTo>
                  <a:lnTo>
                    <a:pt x="3643951" y="325797"/>
                  </a:lnTo>
                  <a:lnTo>
                    <a:pt x="4849922" y="325797"/>
                  </a:lnTo>
                  <a:lnTo>
                    <a:pt x="4849922" y="314224"/>
                  </a:lnTo>
                  <a:lnTo>
                    <a:pt x="3649738" y="314224"/>
                  </a:lnTo>
                  <a:lnTo>
                    <a:pt x="3344195" y="8680"/>
                  </a:lnTo>
                  <a:lnTo>
                    <a:pt x="2677555" y="8680"/>
                  </a:lnTo>
                  <a:lnTo>
                    <a:pt x="2179890" y="8680"/>
                  </a:lnTo>
                  <a:lnTo>
                    <a:pt x="1472742" y="8680"/>
                  </a:lnTo>
                  <a:lnTo>
                    <a:pt x="1167199" y="314224"/>
                  </a:lnTo>
                  <a:lnTo>
                    <a:pt x="8680" y="314224"/>
                  </a:lnTo>
                  <a:lnTo>
                    <a:pt x="8680" y="325797"/>
                  </a:lnTo>
                  <a:lnTo>
                    <a:pt x="1171828" y="325797"/>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23" name="任意多边形: 形状 188"/>
            <p:cNvSpPr/>
            <p:nvPr/>
          </p:nvSpPr>
          <p:spPr>
            <a:xfrm>
              <a:off x="8026" y="1217"/>
              <a:ext cx="3536" cy="383"/>
            </a:xfrm>
            <a:custGeom>
              <a:avLst/>
              <a:gdLst/>
              <a:ahLst/>
              <a:cxnLst>
                <a:cxn ang="0">
                  <a:pos x="3192" y="13"/>
                </a:cxn>
                <a:cxn ang="0">
                  <a:pos x="1845" y="13"/>
                </a:cxn>
                <a:cxn ang="0">
                  <a:pos x="1705" y="13"/>
                </a:cxn>
                <a:cxn ang="0">
                  <a:pos x="356" y="13"/>
                </a:cxn>
                <a:cxn ang="0">
                  <a:pos x="13" y="358"/>
                </a:cxn>
                <a:cxn ang="0">
                  <a:pos x="24" y="371"/>
                </a:cxn>
                <a:cxn ang="0">
                  <a:pos x="363" y="31"/>
                </a:cxn>
                <a:cxn ang="0">
                  <a:pos x="1705" y="31"/>
                </a:cxn>
                <a:cxn ang="0">
                  <a:pos x="1845" y="31"/>
                </a:cxn>
                <a:cxn ang="0">
                  <a:pos x="3185" y="31"/>
                </a:cxn>
                <a:cxn ang="0">
                  <a:pos x="3516" y="362"/>
                </a:cxn>
                <a:cxn ang="0">
                  <a:pos x="3529" y="351"/>
                </a:cxn>
              </a:cxnLst>
              <a:rect l="0" t="0" r="0" b="0"/>
              <a:pathLst>
                <a:path w="2245280" h="243045">
                  <a:moveTo>
                    <a:pt x="2027118" y="8680"/>
                  </a:moveTo>
                  <a:lnTo>
                    <a:pt x="1171828" y="8680"/>
                  </a:lnTo>
                  <a:lnTo>
                    <a:pt x="1082711" y="8680"/>
                  </a:lnTo>
                  <a:lnTo>
                    <a:pt x="226264" y="8680"/>
                  </a:lnTo>
                  <a:lnTo>
                    <a:pt x="8680" y="227421"/>
                  </a:lnTo>
                  <a:lnTo>
                    <a:pt x="15624" y="235523"/>
                  </a:lnTo>
                  <a:lnTo>
                    <a:pt x="230894" y="20254"/>
                  </a:lnTo>
                  <a:lnTo>
                    <a:pt x="1082711" y="20254"/>
                  </a:lnTo>
                  <a:lnTo>
                    <a:pt x="1171828" y="20254"/>
                  </a:lnTo>
                  <a:lnTo>
                    <a:pt x="2022488" y="20254"/>
                  </a:lnTo>
                  <a:lnTo>
                    <a:pt x="2233128" y="229736"/>
                  </a:lnTo>
                  <a:lnTo>
                    <a:pt x="2241230" y="222792"/>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337185" y="648335"/>
            <a:ext cx="12862560" cy="5641340"/>
          </a:xfrm>
          <a:prstGeom prst="rect">
            <a:avLst/>
          </a:prstGeom>
          <a:solidFill>
            <a:schemeClr val="bg1"/>
          </a:solidFill>
          <a:ln>
            <a:noFill/>
          </a:ln>
          <a:effectLst>
            <a:outerShdw blurRad="50800" dist="38100" dir="10800000" algn="r" rotWithShape="0">
              <a:prstClr val="black">
                <a:alpha val="40000"/>
              </a:prstClr>
            </a:outerShdw>
            <a:softEdge rad="317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2" name="Rectangle 2"/>
          <p:cNvSpPr/>
          <p:nvPr/>
        </p:nvSpPr>
        <p:spPr>
          <a:xfrm>
            <a:off x="502920" y="1018413"/>
            <a:ext cx="82296" cy="566928"/>
          </a:xfrm>
          <a:prstGeom prst="rect">
            <a:avLst/>
          </a:prstGeom>
          <a:solidFill>
            <a:srgbClr val="1C41A9"/>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5" name="TextBox 3"/>
          <p:cNvSpPr txBox="1"/>
          <p:nvPr/>
        </p:nvSpPr>
        <p:spPr>
          <a:xfrm>
            <a:off x="713232" y="1066736"/>
            <a:ext cx="10058400" cy="479425"/>
          </a:xfrm>
          <a:prstGeom prst="rect">
            <a:avLst/>
          </a:prstGeom>
          <a:noFill/>
        </p:spPr>
        <p:txBody>
          <a:bodyPr wrap="square" lIns="18288" tIns="9144" rIns="18288" bIns="9144" anchor="ctr">
            <a:noAutofit/>
          </a:bodyPr>
          <a:p>
            <a:pPr algn="l">
              <a:spcAft>
                <a:spcPts val="200"/>
              </a:spcAft>
            </a:pPr>
            <a:r>
              <a:rPr sz="3000">
                <a:solidFill>
                  <a:srgbClr val="195CC4"/>
                </a:solidFill>
                <a:latin typeface="OPPOSans B" panose="00020600040101010101" charset="-122"/>
                <a:ea typeface="OPPOSans B" panose="00020600040101010101" charset="-122"/>
                <a:cs typeface="OPPOSans B" panose="00020600040101010101" charset="-122"/>
              </a:rPr>
              <a:t>案例一：资本工具发行前的合规口径核验</a:t>
            </a:r>
            <a:endParaRPr sz="3000">
              <a:solidFill>
                <a:srgbClr val="195CC4"/>
              </a:solidFill>
              <a:latin typeface="OPPOSans B" panose="00020600040101010101" charset="-122"/>
              <a:ea typeface="OPPOSans B" panose="00020600040101010101" charset="-122"/>
              <a:cs typeface="OPPOSans B" panose="00020600040101010101" charset="-122"/>
            </a:endParaRPr>
          </a:p>
        </p:txBody>
      </p:sp>
      <p:sp>
        <p:nvSpPr>
          <p:cNvPr id="7" name="TextBox 4"/>
          <p:cNvSpPr txBox="1"/>
          <p:nvPr/>
        </p:nvSpPr>
        <p:spPr>
          <a:xfrm>
            <a:off x="713232" y="1575054"/>
            <a:ext cx="10789920" cy="233045"/>
          </a:xfrm>
          <a:prstGeom prst="rect">
            <a:avLst/>
          </a:prstGeom>
          <a:noFill/>
        </p:spPr>
        <p:txBody>
          <a:bodyPr wrap="square" lIns="18288" tIns="9144" rIns="18288" bIns="9144" anchor="ctr">
            <a:noAutofit/>
          </a:bodyPr>
          <a:p>
            <a:pPr algn="l">
              <a:spcAft>
                <a:spcPts val="200"/>
              </a:spcAft>
            </a:pPr>
            <a:r>
              <a:rPr sz="1400">
                <a:solidFill>
                  <a:srgbClr val="000000"/>
                </a:solidFill>
                <a:latin typeface="OPPOSans R" panose="00020600040101010101" charset="-122"/>
                <a:ea typeface="OPPOSans R" panose="00020600040101010101" charset="-122"/>
                <a:cs typeface="OPPOSans R" panose="00020600040101010101" charset="-122"/>
              </a:rPr>
              <a:t>模拟业务场景，2026-10-16 接口实测：关联同一附件的多项条款，保留赎回条件与例外关系。</a:t>
            </a:r>
            <a:endParaRPr sz="1400">
              <a:solidFill>
                <a:srgbClr val="000000"/>
              </a:solidFill>
              <a:latin typeface="OPPOSans R" panose="00020600040101010101" charset="-122"/>
              <a:ea typeface="OPPOSans R" panose="00020600040101010101" charset="-122"/>
              <a:cs typeface="OPPOSans R" panose="00020600040101010101" charset="-122"/>
            </a:endParaRPr>
          </a:p>
        </p:txBody>
      </p:sp>
      <p:sp>
        <p:nvSpPr>
          <p:cNvPr id="52" name="Rectangle 5"/>
          <p:cNvSpPr/>
          <p:nvPr/>
        </p:nvSpPr>
        <p:spPr>
          <a:xfrm>
            <a:off x="502920" y="1840230"/>
            <a:ext cx="11196000" cy="20320"/>
          </a:xfrm>
          <a:prstGeom prst="rect">
            <a:avLst/>
          </a:prstGeom>
          <a:solidFill>
            <a:srgbClr val="D9DEE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75" name="Rectangle 6"/>
          <p:cNvSpPr/>
          <p:nvPr/>
        </p:nvSpPr>
        <p:spPr>
          <a:xfrm>
            <a:off x="502920" y="1916430"/>
            <a:ext cx="1737360"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76" name="TextBox 7"/>
          <p:cNvSpPr txBox="1"/>
          <p:nvPr/>
        </p:nvSpPr>
        <p:spPr>
          <a:xfrm>
            <a:off x="566928" y="2116582"/>
            <a:ext cx="1609344" cy="294640"/>
          </a:xfrm>
          <a:prstGeom prst="rect">
            <a:avLst/>
          </a:prstGeom>
          <a:noFill/>
        </p:spPr>
        <p:txBody>
          <a:bodyPr wrap="square" lIns="18288" tIns="9144" rIns="18288" bIns="9144" anchor="ctr">
            <a:noAutofit/>
          </a:bodyPr>
          <a:p>
            <a:pPr algn="ctr">
              <a:spcAft>
                <a:spcPts val="200"/>
              </a:spcAft>
            </a:pPr>
            <a:r>
              <a:rPr sz="1800">
                <a:solidFill>
                  <a:srgbClr val="FFFFFF"/>
                </a:solidFill>
                <a:latin typeface="OPPOSans B" panose="00020600040101010101" charset="-122"/>
                <a:ea typeface="OPPOSans B" panose="00020600040101010101" charset="-122"/>
                <a:cs typeface="OPPOSans B" panose="00020600040101010101" charset="-122"/>
              </a:rPr>
              <a:t>业务提问</a:t>
            </a:r>
            <a:endParaRPr sz="1800">
              <a:solidFill>
                <a:srgbClr val="FFFFFF"/>
              </a:solidFill>
              <a:latin typeface="OPPOSans B" panose="00020600040101010101" charset="-122"/>
              <a:ea typeface="OPPOSans B" panose="00020600040101010101" charset="-122"/>
              <a:cs typeface="OPPOSans B" panose="00020600040101010101" charset="-122"/>
            </a:endParaRPr>
          </a:p>
        </p:txBody>
      </p:sp>
      <p:sp>
        <p:nvSpPr>
          <p:cNvPr id="77" name="Rectangle 8"/>
          <p:cNvSpPr/>
          <p:nvPr/>
        </p:nvSpPr>
        <p:spPr>
          <a:xfrm>
            <a:off x="2240280" y="1916430"/>
            <a:ext cx="9445752" cy="713232"/>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78" name="TextBox 9"/>
          <p:cNvSpPr txBox="1"/>
          <p:nvPr/>
        </p:nvSpPr>
        <p:spPr>
          <a:xfrm>
            <a:off x="2423160" y="1981430"/>
            <a:ext cx="9144000" cy="580000"/>
          </a:xfrm>
          <a:prstGeom prst="rect">
            <a:avLst/>
          </a:prstGeom>
          <a:noFill/>
        </p:spPr>
        <p:txBody>
          <a:bodyPr wrap="square" lIns="18288" tIns="9144" rIns="18288" bIns="9144" anchor="ctr">
            <a:noAutofit/>
          </a:bodyPr>
          <a:p>
            <a:pPr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其他一级资本工具的期限、利率跳升、赎回条件及损失吸收顺序，有哪些监管要求？</a:t>
            </a:r>
            <a:endParaRPr sz="1600">
              <a:solidFill>
                <a:srgbClr val="000000"/>
              </a:solidFill>
              <a:latin typeface="OPPOSans R" panose="00020600040101010101" charset="-122"/>
              <a:ea typeface="OPPOSans R" panose="00020600040101010101" charset="-122"/>
              <a:cs typeface="OPPOSans R" panose="00020600040101010101" charset="-122"/>
            </a:endParaRPr>
          </a:p>
        </p:txBody>
      </p:sp>
      <p:sp>
        <p:nvSpPr>
          <p:cNvPr id="79" name="Rectangle 10"/>
          <p:cNvSpPr/>
          <p:nvPr>
            <p:custDataLst>
              <p:tags r:id="rId1"/>
            </p:custDataLst>
          </p:nvPr>
        </p:nvSpPr>
        <p:spPr>
          <a:xfrm>
            <a:off x="502920" y="2721102"/>
            <a:ext cx="1737360" cy="713232"/>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80" name="TextBox 11"/>
          <p:cNvSpPr txBox="1"/>
          <p:nvPr>
            <p:custDataLst>
              <p:tags r:id="rId2"/>
            </p:custDataLst>
          </p:nvPr>
        </p:nvSpPr>
        <p:spPr>
          <a:xfrm>
            <a:off x="566928" y="2921254"/>
            <a:ext cx="1609344" cy="294640"/>
          </a:xfrm>
          <a:prstGeom prst="rect">
            <a:avLst/>
          </a:prstGeom>
          <a:noFill/>
        </p:spPr>
        <p:txBody>
          <a:bodyPr wrap="square" lIns="18288" tIns="9144" rIns="18288" bIns="9144" anchor="ctr">
            <a:noAutofit/>
          </a:bodyPr>
          <a:p>
            <a:pPr algn="ctr">
              <a:spcAft>
                <a:spcPts val="200"/>
              </a:spcAft>
            </a:pPr>
            <a:r>
              <a:rPr sz="1800">
                <a:solidFill>
                  <a:srgbClr val="FFFFFF"/>
                </a:solidFill>
                <a:latin typeface="OPPOSans B" panose="00020600040101010101" charset="-122"/>
                <a:ea typeface="OPPOSans B" panose="00020600040101010101" charset="-122"/>
                <a:cs typeface="OPPOSans B" panose="00020600040101010101" charset="-122"/>
              </a:rPr>
              <a:t>期限与定价</a:t>
            </a:r>
            <a:endParaRPr sz="1800">
              <a:solidFill>
                <a:srgbClr val="FFFFFF"/>
              </a:solidFill>
              <a:latin typeface="OPPOSans B" panose="00020600040101010101" charset="-122"/>
              <a:ea typeface="OPPOSans B" panose="00020600040101010101" charset="-122"/>
              <a:cs typeface="OPPOSans B" panose="00020600040101010101" charset="-122"/>
            </a:endParaRPr>
          </a:p>
        </p:txBody>
      </p:sp>
      <p:sp>
        <p:nvSpPr>
          <p:cNvPr id="81" name="Rectangle 12"/>
          <p:cNvSpPr/>
          <p:nvPr>
            <p:custDataLst>
              <p:tags r:id="rId3"/>
            </p:custDataLst>
          </p:nvPr>
        </p:nvSpPr>
        <p:spPr>
          <a:xfrm>
            <a:off x="2240280" y="2721102"/>
            <a:ext cx="9445752" cy="713232"/>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82" name="TextBox 13"/>
          <p:cNvSpPr txBox="1"/>
          <p:nvPr>
            <p:custDataLst>
              <p:tags r:id="rId4"/>
            </p:custDataLst>
          </p:nvPr>
        </p:nvSpPr>
        <p:spPr>
          <a:xfrm>
            <a:off x="2423160" y="2786102"/>
            <a:ext cx="9144000" cy="580000"/>
          </a:xfrm>
          <a:prstGeom prst="rect">
            <a:avLst/>
          </a:prstGeom>
          <a:noFill/>
        </p:spPr>
        <p:txBody>
          <a:bodyPr wrap="square" lIns="18288" tIns="9144" rIns="18288" bIns="9144" anchor="ctr">
            <a:noAutofit/>
          </a:bodyPr>
          <a:p>
            <a:pPr lvl="0"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没有到期日，不得含有利率跳升机制及其他赎回激励。[5]</a:t>
            </a:r>
            <a:endParaRPr sz="1600">
              <a:solidFill>
                <a:srgbClr val="000000"/>
              </a:solidFill>
              <a:latin typeface="OPPOSans R" panose="00020600040101010101" charset="-122"/>
              <a:ea typeface="OPPOSans R" panose="00020600040101010101" charset="-122"/>
              <a:cs typeface="OPPOSans R" panose="00020600040101010101" charset="-122"/>
            </a:endParaRPr>
          </a:p>
          <a:p>
            <a:pPr lvl="0"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依据：《商业银行资本管理办法》附件1，第二部分（四）。</a:t>
            </a:r>
            <a:endParaRPr sz="1600">
              <a:solidFill>
                <a:srgbClr val="000000"/>
              </a:solidFill>
              <a:latin typeface="OPPOSans R" panose="00020600040101010101" charset="-122"/>
              <a:ea typeface="OPPOSans R" panose="00020600040101010101" charset="-122"/>
              <a:cs typeface="OPPOSans R" panose="00020600040101010101" charset="-122"/>
            </a:endParaRPr>
          </a:p>
        </p:txBody>
      </p:sp>
      <p:sp>
        <p:nvSpPr>
          <p:cNvPr id="83" name="Rectangle 14"/>
          <p:cNvSpPr/>
          <p:nvPr>
            <p:custDataLst>
              <p:tags r:id="rId5"/>
            </p:custDataLst>
          </p:nvPr>
        </p:nvSpPr>
        <p:spPr>
          <a:xfrm>
            <a:off x="502920" y="3525774"/>
            <a:ext cx="1737360" cy="713232"/>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84" name="TextBox 15"/>
          <p:cNvSpPr txBox="1"/>
          <p:nvPr>
            <p:custDataLst>
              <p:tags r:id="rId6"/>
            </p:custDataLst>
          </p:nvPr>
        </p:nvSpPr>
        <p:spPr>
          <a:xfrm>
            <a:off x="566928" y="3725926"/>
            <a:ext cx="1609344" cy="294640"/>
          </a:xfrm>
          <a:prstGeom prst="rect">
            <a:avLst/>
          </a:prstGeom>
          <a:noFill/>
        </p:spPr>
        <p:txBody>
          <a:bodyPr wrap="square" lIns="18288" tIns="9144" rIns="18288" bIns="9144" anchor="ctr">
            <a:noAutofit/>
          </a:bodyPr>
          <a:p>
            <a:pPr lvl="0" algn="ctr">
              <a:spcAft>
                <a:spcPts val="200"/>
              </a:spcAft>
            </a:pPr>
            <a:r>
              <a:rPr sz="1800">
                <a:solidFill>
                  <a:srgbClr val="FFFFFF"/>
                </a:solidFill>
                <a:latin typeface="OPPOSans B" panose="00020600040101010101" charset="-122"/>
                <a:ea typeface="OPPOSans B" panose="00020600040101010101" charset="-122"/>
                <a:cs typeface="OPPOSans B" panose="00020600040101010101" charset="-122"/>
              </a:rPr>
              <a:t>赎回门槛</a:t>
            </a:r>
            <a:endParaRPr sz="1800">
              <a:solidFill>
                <a:srgbClr val="FFFFFF"/>
              </a:solidFill>
              <a:latin typeface="OPPOSans B" panose="00020600040101010101" charset="-122"/>
              <a:ea typeface="OPPOSans B" panose="00020600040101010101" charset="-122"/>
              <a:cs typeface="OPPOSans B" panose="00020600040101010101" charset="-122"/>
            </a:endParaRPr>
          </a:p>
        </p:txBody>
      </p:sp>
      <p:sp>
        <p:nvSpPr>
          <p:cNvPr id="85" name="Rectangle 16"/>
          <p:cNvSpPr/>
          <p:nvPr>
            <p:custDataLst>
              <p:tags r:id="rId7"/>
            </p:custDataLst>
          </p:nvPr>
        </p:nvSpPr>
        <p:spPr>
          <a:xfrm>
            <a:off x="2240280" y="3525774"/>
            <a:ext cx="9445752" cy="713232"/>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86" name="TextBox 17"/>
          <p:cNvSpPr txBox="1"/>
          <p:nvPr>
            <p:custDataLst>
              <p:tags r:id="rId8"/>
            </p:custDataLst>
          </p:nvPr>
        </p:nvSpPr>
        <p:spPr>
          <a:xfrm>
            <a:off x="2423160" y="3590774"/>
            <a:ext cx="9144000" cy="580000"/>
          </a:xfrm>
          <a:prstGeom prst="rect">
            <a:avLst/>
          </a:prstGeom>
          <a:noFill/>
        </p:spPr>
        <p:txBody>
          <a:bodyPr wrap="square" lIns="18288" tIns="9144" rIns="18288" bIns="9144" anchor="ctr">
            <a:noAutofit/>
          </a:bodyPr>
          <a:p>
            <a:pPr lvl="0"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至少发行满 5 年，不得形成必赎预期，行权前须经金融监管总局或其派出机构认可。[5]</a:t>
            </a:r>
            <a:endParaRPr sz="1600">
              <a:solidFill>
                <a:srgbClr val="000000"/>
              </a:solidFill>
              <a:latin typeface="OPPOSans R" panose="00020600040101010101" charset="-122"/>
              <a:ea typeface="OPPOSans R" panose="00020600040101010101" charset="-122"/>
              <a:cs typeface="OPPOSans R" panose="00020600040101010101" charset="-122"/>
            </a:endParaRPr>
          </a:p>
          <a:p>
            <a:pPr lvl="0"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依据：附件1，第二部分（五）。</a:t>
            </a:r>
            <a:endParaRPr sz="1600">
              <a:solidFill>
                <a:srgbClr val="000000"/>
              </a:solidFill>
              <a:latin typeface="OPPOSans R" panose="00020600040101010101" charset="-122"/>
              <a:ea typeface="OPPOSans R" panose="00020600040101010101" charset="-122"/>
              <a:cs typeface="OPPOSans R" panose="00020600040101010101" charset="-122"/>
            </a:endParaRPr>
          </a:p>
        </p:txBody>
      </p:sp>
      <p:sp>
        <p:nvSpPr>
          <p:cNvPr id="87" name="Rectangle 18"/>
          <p:cNvSpPr/>
          <p:nvPr>
            <p:custDataLst>
              <p:tags r:id="rId9"/>
            </p:custDataLst>
          </p:nvPr>
        </p:nvSpPr>
        <p:spPr>
          <a:xfrm>
            <a:off x="502920" y="4330446"/>
            <a:ext cx="1737360" cy="713232"/>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88" name="TextBox 19"/>
          <p:cNvSpPr txBox="1"/>
          <p:nvPr>
            <p:custDataLst>
              <p:tags r:id="rId10"/>
            </p:custDataLst>
          </p:nvPr>
        </p:nvSpPr>
        <p:spPr>
          <a:xfrm>
            <a:off x="566928" y="4530598"/>
            <a:ext cx="1609344" cy="294640"/>
          </a:xfrm>
          <a:prstGeom prst="rect">
            <a:avLst/>
          </a:prstGeom>
          <a:noFill/>
        </p:spPr>
        <p:txBody>
          <a:bodyPr wrap="square" lIns="18288" tIns="9144" rIns="18288" bIns="9144" anchor="ctr">
            <a:noAutofit/>
          </a:bodyPr>
          <a:p>
            <a:pPr lvl="0" algn="ctr">
              <a:spcAft>
                <a:spcPts val="200"/>
              </a:spcAft>
            </a:pPr>
            <a:r>
              <a:rPr sz="1800">
                <a:solidFill>
                  <a:srgbClr val="FFFFFF"/>
                </a:solidFill>
                <a:latin typeface="OPPOSans B" panose="00020600040101010101" charset="-122"/>
                <a:ea typeface="OPPOSans B" panose="00020600040101010101" charset="-122"/>
                <a:cs typeface="OPPOSans B" panose="00020600040101010101" charset="-122"/>
              </a:rPr>
              <a:t>资本约束</a:t>
            </a:r>
            <a:endParaRPr sz="1800">
              <a:solidFill>
                <a:srgbClr val="FFFFFF"/>
              </a:solidFill>
              <a:latin typeface="OPPOSans B" panose="00020600040101010101" charset="-122"/>
              <a:ea typeface="OPPOSans B" panose="00020600040101010101" charset="-122"/>
              <a:cs typeface="OPPOSans B" panose="00020600040101010101" charset="-122"/>
            </a:endParaRPr>
          </a:p>
        </p:txBody>
      </p:sp>
      <p:sp>
        <p:nvSpPr>
          <p:cNvPr id="89" name="Rectangle 20"/>
          <p:cNvSpPr/>
          <p:nvPr>
            <p:custDataLst>
              <p:tags r:id="rId11"/>
            </p:custDataLst>
          </p:nvPr>
        </p:nvSpPr>
        <p:spPr>
          <a:xfrm>
            <a:off x="2240280" y="4330446"/>
            <a:ext cx="9445752" cy="713232"/>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90" name="TextBox 21"/>
          <p:cNvSpPr txBox="1"/>
          <p:nvPr>
            <p:custDataLst>
              <p:tags r:id="rId12"/>
            </p:custDataLst>
          </p:nvPr>
        </p:nvSpPr>
        <p:spPr>
          <a:xfrm>
            <a:off x="2423160" y="4395446"/>
            <a:ext cx="9144000" cy="580000"/>
          </a:xfrm>
          <a:prstGeom prst="rect">
            <a:avLst/>
          </a:prstGeom>
          <a:noFill/>
        </p:spPr>
        <p:txBody>
          <a:bodyPr wrap="square" lIns="18288" tIns="9144" rIns="18288" bIns="9144" anchor="ctr">
            <a:noAutofit/>
          </a:bodyPr>
          <a:p>
            <a:pPr lvl="0"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以同等或更高质量资本替换，且收入能力可持续；或者赎回后资本水平仍明显高于监管要求。[5]</a:t>
            </a:r>
            <a:endParaRPr sz="1600">
              <a:solidFill>
                <a:srgbClr val="000000"/>
              </a:solidFill>
              <a:latin typeface="OPPOSans R" panose="00020600040101010101" charset="-122"/>
              <a:ea typeface="OPPOSans R" panose="00020600040101010101" charset="-122"/>
              <a:cs typeface="OPPOSans R" panose="00020600040101010101" charset="-122"/>
            </a:endParaRPr>
          </a:p>
          <a:p>
            <a:pPr lvl="0"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依据：附件1，第二部分（六）；两项条件为“或者”关系。</a:t>
            </a:r>
            <a:endParaRPr sz="1600">
              <a:solidFill>
                <a:srgbClr val="000000"/>
              </a:solidFill>
              <a:latin typeface="OPPOSans R" panose="00020600040101010101" charset="-122"/>
              <a:ea typeface="OPPOSans R" panose="00020600040101010101" charset="-122"/>
              <a:cs typeface="OPPOSans R" panose="00020600040101010101" charset="-122"/>
            </a:endParaRPr>
          </a:p>
        </p:txBody>
      </p:sp>
      <p:sp>
        <p:nvSpPr>
          <p:cNvPr id="91" name="Rectangle 22"/>
          <p:cNvSpPr/>
          <p:nvPr>
            <p:custDataLst>
              <p:tags r:id="rId13"/>
            </p:custDataLst>
          </p:nvPr>
        </p:nvSpPr>
        <p:spPr>
          <a:xfrm>
            <a:off x="502920" y="5135118"/>
            <a:ext cx="1737360" cy="713232"/>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92" name="TextBox 23"/>
          <p:cNvSpPr txBox="1"/>
          <p:nvPr>
            <p:custDataLst>
              <p:tags r:id="rId14"/>
            </p:custDataLst>
          </p:nvPr>
        </p:nvSpPr>
        <p:spPr>
          <a:xfrm>
            <a:off x="566928" y="5335270"/>
            <a:ext cx="1609344" cy="294640"/>
          </a:xfrm>
          <a:prstGeom prst="rect">
            <a:avLst/>
          </a:prstGeom>
          <a:noFill/>
        </p:spPr>
        <p:txBody>
          <a:bodyPr wrap="square" lIns="18288" tIns="9144" rIns="18288" bIns="9144" anchor="ctr">
            <a:noAutofit/>
          </a:bodyPr>
          <a:p>
            <a:pPr lvl="0" algn="ctr">
              <a:spcAft>
                <a:spcPts val="200"/>
              </a:spcAft>
            </a:pPr>
            <a:r>
              <a:rPr sz="1800">
                <a:solidFill>
                  <a:srgbClr val="FFFFFF"/>
                </a:solidFill>
                <a:latin typeface="OPPOSans B" panose="00020600040101010101" charset="-122"/>
                <a:ea typeface="OPPOSans B" panose="00020600040101010101" charset="-122"/>
                <a:cs typeface="OPPOSans B" panose="00020600040101010101" charset="-122"/>
              </a:rPr>
              <a:t>吸收顺序</a:t>
            </a:r>
            <a:endParaRPr sz="1800">
              <a:solidFill>
                <a:srgbClr val="FFFFFF"/>
              </a:solidFill>
              <a:latin typeface="OPPOSans B" panose="00020600040101010101" charset="-122"/>
              <a:ea typeface="OPPOSans B" panose="00020600040101010101" charset="-122"/>
              <a:cs typeface="OPPOSans B" panose="00020600040101010101" charset="-122"/>
            </a:endParaRPr>
          </a:p>
        </p:txBody>
      </p:sp>
      <p:sp>
        <p:nvSpPr>
          <p:cNvPr id="93" name="Rectangle 24"/>
          <p:cNvSpPr/>
          <p:nvPr>
            <p:custDataLst>
              <p:tags r:id="rId15"/>
            </p:custDataLst>
          </p:nvPr>
        </p:nvSpPr>
        <p:spPr>
          <a:xfrm>
            <a:off x="2240280" y="5135118"/>
            <a:ext cx="9445752" cy="713232"/>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94" name="TextBox 25"/>
          <p:cNvSpPr txBox="1"/>
          <p:nvPr>
            <p:custDataLst>
              <p:tags r:id="rId16"/>
            </p:custDataLst>
          </p:nvPr>
        </p:nvSpPr>
        <p:spPr>
          <a:xfrm>
            <a:off x="2423160" y="5200118"/>
            <a:ext cx="9144000" cy="580000"/>
          </a:xfrm>
          <a:prstGeom prst="rect">
            <a:avLst/>
          </a:prstGeom>
          <a:noFill/>
        </p:spPr>
        <p:txBody>
          <a:bodyPr wrap="square" lIns="18288" tIns="9144" rIns="18288" bIns="9144" anchor="ctr">
            <a:noAutofit/>
          </a:bodyPr>
          <a:p>
            <a:pPr lvl="0"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所有其他一级资本工具全部吸收损失后，再启动二级资本工具吸收损失。[2][11]</a:t>
            </a:r>
            <a:endParaRPr sz="1600">
              <a:solidFill>
                <a:srgbClr val="000000"/>
              </a:solidFill>
              <a:latin typeface="OPPOSans R" panose="00020600040101010101" charset="-122"/>
              <a:ea typeface="OPPOSans R" panose="00020600040101010101" charset="-122"/>
              <a:cs typeface="OPPOSans R" panose="00020600040101010101" charset="-122"/>
            </a:endParaRPr>
          </a:p>
          <a:p>
            <a:pPr lvl="0"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依据：附件1，第二部分（十二）。</a:t>
            </a:r>
            <a:endParaRPr sz="1600">
              <a:solidFill>
                <a:srgbClr val="000000"/>
              </a:solidFill>
              <a:latin typeface="OPPOSans R" panose="00020600040101010101" charset="-122"/>
              <a:ea typeface="OPPOSans R" panose="00020600040101010101" charset="-122"/>
              <a:cs typeface="OPPOSans R" panose="00020600040101010101" charset="-122"/>
            </a:endParaRPr>
          </a:p>
        </p:txBody>
      </p:sp>
      <p:sp>
        <p:nvSpPr>
          <p:cNvPr id="101" name="TextBox 50"/>
          <p:cNvSpPr txBox="1"/>
          <p:nvPr/>
        </p:nvSpPr>
        <p:spPr>
          <a:xfrm>
            <a:off x="11384280" y="6748780"/>
            <a:ext cx="640080" cy="320040"/>
          </a:xfrm>
          <a:prstGeom prst="rect">
            <a:avLst/>
          </a:prstGeom>
          <a:noFill/>
        </p:spPr>
        <p:txBody>
          <a:bodyPr wrap="square" lIns="18288" tIns="9144" rIns="18288" bIns="9144" anchor="t">
            <a:spAutoFit/>
          </a:bodyPr>
          <a:p>
            <a:pPr algn="r">
              <a:spcAft>
                <a:spcPts val="400"/>
              </a:spcAft>
            </a:pPr>
          </a:p>
        </p:txBody>
      </p:sp>
      <p:sp>
        <p:nvSpPr>
          <p:cNvPr id="102" name="Rectangle 26"/>
          <p:cNvSpPr/>
          <p:nvPr/>
        </p:nvSpPr>
        <p:spPr>
          <a:xfrm>
            <a:off x="502920" y="5951220"/>
            <a:ext cx="11183112" cy="685800"/>
          </a:xfrm>
          <a:prstGeom prst="rect">
            <a:avLst/>
          </a:prstGeom>
          <a:solidFill>
            <a:srgbClr val="FBF3F3"/>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03" name="Rectangle 27"/>
          <p:cNvSpPr/>
          <p:nvPr/>
        </p:nvSpPr>
        <p:spPr>
          <a:xfrm>
            <a:off x="502920" y="5951220"/>
            <a:ext cx="82296" cy="6858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04" name="TextBox 28"/>
          <p:cNvSpPr txBox="1"/>
          <p:nvPr/>
        </p:nvSpPr>
        <p:spPr>
          <a:xfrm>
            <a:off x="674370" y="6160135"/>
            <a:ext cx="10950575" cy="294640"/>
          </a:xfrm>
          <a:prstGeom prst="rect">
            <a:avLst/>
          </a:prstGeom>
          <a:noFill/>
        </p:spPr>
        <p:txBody>
          <a:bodyPr wrap="square" lIns="18288" tIns="9144" rIns="18288" bIns="9144" anchor="ctr">
            <a:noAutofit/>
          </a:bodyPr>
          <a:p>
            <a:pPr algn="l">
              <a:spcAft>
                <a:spcPts val="200"/>
              </a:spcAft>
            </a:pPr>
            <a:r>
              <a:rPr sz="1800">
                <a:solidFill>
                  <a:srgbClr val="1F3864"/>
                </a:solidFill>
                <a:latin typeface="OPPOSans B" panose="00020600040101010101" charset="-122"/>
                <a:ea typeface="OPPOSans B" panose="00020600040101010101" charset="-122"/>
                <a:cs typeface="OPPOSans B" panose="00020600040101010101" charset="-122"/>
              </a:rPr>
              <a:t>资本管理与合规岗位：一次查询关联多项约束，按条款复核发行方案。</a:t>
            </a:r>
            <a:endParaRPr sz="1800">
              <a:solidFill>
                <a:srgbClr val="1F3864"/>
              </a:solidFill>
              <a:latin typeface="OPPOSans B" panose="00020600040101010101" charset="-122"/>
              <a:ea typeface="OPPOSans B" panose="00020600040101010101" charset="-122"/>
              <a:cs typeface="OPPOSans B" panose="00020600040101010101"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p:nvPr/>
        </p:nvSpPr>
        <p:spPr>
          <a:xfrm>
            <a:off x="-337185" y="648335"/>
            <a:ext cx="12862560" cy="5641340"/>
          </a:xfrm>
          <a:prstGeom prst="rect">
            <a:avLst/>
          </a:prstGeom>
          <a:solidFill>
            <a:schemeClr val="bg1"/>
          </a:solidFill>
          <a:ln>
            <a:noFill/>
          </a:ln>
          <a:effectLst>
            <a:outerShdw blurRad="50800" dist="38100" dir="10800000" algn="r" rotWithShape="0">
              <a:prstClr val="black">
                <a:alpha val="40000"/>
              </a:prstClr>
            </a:outerShdw>
            <a:softEdge rad="317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2" name="Rectangle 2"/>
          <p:cNvSpPr/>
          <p:nvPr/>
        </p:nvSpPr>
        <p:spPr>
          <a:xfrm>
            <a:off x="502920" y="1018413"/>
            <a:ext cx="82296" cy="566928"/>
          </a:xfrm>
          <a:prstGeom prst="rect">
            <a:avLst/>
          </a:prstGeom>
          <a:solidFill>
            <a:srgbClr val="1C41A9"/>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5" name="TextBox 3"/>
          <p:cNvSpPr txBox="1"/>
          <p:nvPr/>
        </p:nvSpPr>
        <p:spPr>
          <a:xfrm>
            <a:off x="713232" y="1066736"/>
            <a:ext cx="10058400" cy="479425"/>
          </a:xfrm>
          <a:prstGeom prst="rect">
            <a:avLst/>
          </a:prstGeom>
          <a:noFill/>
        </p:spPr>
        <p:txBody>
          <a:bodyPr wrap="square" lIns="18288" tIns="9144" rIns="18288" bIns="9144" anchor="ctr">
            <a:noAutofit/>
          </a:bodyPr>
          <a:p>
            <a:pPr algn="l">
              <a:spcAft>
                <a:spcPts val="200"/>
              </a:spcAft>
            </a:pPr>
            <a:r>
              <a:rPr sz="3000">
                <a:solidFill>
                  <a:srgbClr val="195CC4"/>
                </a:solidFill>
                <a:latin typeface="OPPOSans B" panose="00020600040101010101" charset="-122"/>
                <a:ea typeface="OPPOSans B" panose="00020600040101010101" charset="-122"/>
                <a:cs typeface="OPPOSans B" panose="00020600040101010101" charset="-122"/>
              </a:rPr>
              <a:t>案例二：保险监管报表的跨表勾稽核验</a:t>
            </a:r>
            <a:endParaRPr sz="3000">
              <a:solidFill>
                <a:srgbClr val="195CC4"/>
              </a:solidFill>
              <a:latin typeface="OPPOSans B" panose="00020600040101010101" charset="-122"/>
              <a:ea typeface="OPPOSans B" panose="00020600040101010101" charset="-122"/>
              <a:cs typeface="OPPOSans B" panose="00020600040101010101" charset="-122"/>
            </a:endParaRPr>
          </a:p>
        </p:txBody>
      </p:sp>
      <p:sp>
        <p:nvSpPr>
          <p:cNvPr id="7" name="TextBox 4"/>
          <p:cNvSpPr txBox="1"/>
          <p:nvPr/>
        </p:nvSpPr>
        <p:spPr>
          <a:xfrm>
            <a:off x="713232" y="1575054"/>
            <a:ext cx="10789920" cy="233045"/>
          </a:xfrm>
          <a:prstGeom prst="rect">
            <a:avLst/>
          </a:prstGeom>
          <a:noFill/>
        </p:spPr>
        <p:txBody>
          <a:bodyPr wrap="square" lIns="18288" tIns="9144" rIns="18288" bIns="9144" anchor="ctr">
            <a:noAutofit/>
          </a:bodyPr>
          <a:p>
            <a:pPr algn="l">
              <a:spcAft>
                <a:spcPts val="200"/>
              </a:spcAft>
            </a:pPr>
            <a:r>
              <a:rPr sz="1400">
                <a:solidFill>
                  <a:srgbClr val="000000"/>
                </a:solidFill>
                <a:latin typeface="OPPOSans R" panose="00020600040101010101" charset="-122"/>
                <a:ea typeface="OPPOSans R" panose="00020600040101010101" charset="-122"/>
                <a:cs typeface="OPPOSans R" panose="00020600040101010101" charset="-122"/>
              </a:rPr>
              <a:t>历史成功回归案例（2026-07-23）：跨三份报表统一期间、累计口径与单位，保留有符号差额。</a:t>
            </a:r>
            <a:endParaRPr sz="1400">
              <a:solidFill>
                <a:srgbClr val="000000"/>
              </a:solidFill>
              <a:latin typeface="OPPOSans R" panose="00020600040101010101" charset="-122"/>
              <a:ea typeface="OPPOSans R" panose="00020600040101010101" charset="-122"/>
              <a:cs typeface="OPPOSans R" panose="00020600040101010101" charset="-122"/>
            </a:endParaRPr>
          </a:p>
        </p:txBody>
      </p:sp>
      <p:sp>
        <p:nvSpPr>
          <p:cNvPr id="52" name="Rectangle 5"/>
          <p:cNvSpPr/>
          <p:nvPr/>
        </p:nvSpPr>
        <p:spPr>
          <a:xfrm>
            <a:off x="502920" y="1840230"/>
            <a:ext cx="11196000" cy="20320"/>
          </a:xfrm>
          <a:prstGeom prst="rect">
            <a:avLst/>
          </a:prstGeom>
          <a:solidFill>
            <a:srgbClr val="D9DEE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75" name="Rectangle 6"/>
          <p:cNvSpPr/>
          <p:nvPr/>
        </p:nvSpPr>
        <p:spPr>
          <a:xfrm>
            <a:off x="502920" y="1916430"/>
            <a:ext cx="1737360" cy="71323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76" name="TextBox 7"/>
          <p:cNvSpPr txBox="1"/>
          <p:nvPr/>
        </p:nvSpPr>
        <p:spPr>
          <a:xfrm>
            <a:off x="566928" y="2116582"/>
            <a:ext cx="1609344" cy="294640"/>
          </a:xfrm>
          <a:prstGeom prst="rect">
            <a:avLst/>
          </a:prstGeom>
          <a:noFill/>
        </p:spPr>
        <p:txBody>
          <a:bodyPr wrap="square" lIns="18288" tIns="9144" rIns="18288" bIns="9144" anchor="ctr">
            <a:noAutofit/>
          </a:bodyPr>
          <a:p>
            <a:pPr algn="ctr">
              <a:spcAft>
                <a:spcPts val="200"/>
              </a:spcAft>
            </a:pPr>
            <a:r>
              <a:rPr sz="1800">
                <a:solidFill>
                  <a:srgbClr val="FFFFFF"/>
                </a:solidFill>
                <a:latin typeface="OPPOSans B" panose="00020600040101010101" charset="-122"/>
                <a:ea typeface="OPPOSans B" panose="00020600040101010101" charset="-122"/>
                <a:cs typeface="OPPOSans B" panose="00020600040101010101" charset="-122"/>
              </a:rPr>
              <a:t>业务提问</a:t>
            </a:r>
            <a:endParaRPr sz="1800">
              <a:solidFill>
                <a:srgbClr val="FFFFFF"/>
              </a:solidFill>
              <a:latin typeface="OPPOSans B" panose="00020600040101010101" charset="-122"/>
              <a:ea typeface="OPPOSans B" panose="00020600040101010101" charset="-122"/>
              <a:cs typeface="OPPOSans B" panose="00020600040101010101" charset="-122"/>
            </a:endParaRPr>
          </a:p>
        </p:txBody>
      </p:sp>
      <p:sp>
        <p:nvSpPr>
          <p:cNvPr id="77" name="Rectangle 8"/>
          <p:cNvSpPr/>
          <p:nvPr/>
        </p:nvSpPr>
        <p:spPr>
          <a:xfrm>
            <a:off x="2240280" y="1916430"/>
            <a:ext cx="9445752" cy="713232"/>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78" name="TextBox 9"/>
          <p:cNvSpPr txBox="1"/>
          <p:nvPr/>
        </p:nvSpPr>
        <p:spPr>
          <a:xfrm>
            <a:off x="2423160" y="1981430"/>
            <a:ext cx="9144000" cy="580000"/>
          </a:xfrm>
          <a:prstGeom prst="rect">
            <a:avLst/>
          </a:prstGeom>
          <a:noFill/>
        </p:spPr>
        <p:txBody>
          <a:bodyPr wrap="square" lIns="18288" tIns="9144" rIns="18288" bIns="9144" anchor="ctr">
            <a:noAutofit/>
          </a:bodyPr>
          <a:p>
            <a:pPr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2025 年 3 月原保险保费收入：保险业合计减去人身险、再减去财产险，差额是多少？</a:t>
            </a:r>
            <a:endParaRPr sz="1600">
              <a:solidFill>
                <a:srgbClr val="000000"/>
              </a:solidFill>
              <a:latin typeface="OPPOSans R" panose="00020600040101010101" charset="-122"/>
              <a:ea typeface="OPPOSans R" panose="00020600040101010101" charset="-122"/>
              <a:cs typeface="OPPOSans R" panose="00020600040101010101" charset="-122"/>
            </a:endParaRPr>
          </a:p>
        </p:txBody>
      </p:sp>
      <p:sp>
        <p:nvSpPr>
          <p:cNvPr id="79" name="Rectangle 10"/>
          <p:cNvSpPr/>
          <p:nvPr/>
        </p:nvSpPr>
        <p:spPr>
          <a:xfrm>
            <a:off x="502920" y="2721102"/>
            <a:ext cx="1737360" cy="713232"/>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80" name="TextBox 11"/>
          <p:cNvSpPr txBox="1"/>
          <p:nvPr/>
        </p:nvSpPr>
        <p:spPr>
          <a:xfrm>
            <a:off x="566928" y="2921254"/>
            <a:ext cx="1609344" cy="294640"/>
          </a:xfrm>
          <a:prstGeom prst="rect">
            <a:avLst/>
          </a:prstGeom>
          <a:noFill/>
        </p:spPr>
        <p:txBody>
          <a:bodyPr wrap="square" lIns="18288" tIns="9144" rIns="18288" bIns="9144" anchor="ctr">
            <a:noAutofit/>
          </a:bodyPr>
          <a:p>
            <a:pPr algn="ctr">
              <a:spcAft>
                <a:spcPts val="200"/>
              </a:spcAft>
            </a:pPr>
            <a:r>
              <a:rPr sz="1800">
                <a:solidFill>
                  <a:srgbClr val="FFFFFF"/>
                </a:solidFill>
                <a:latin typeface="OPPOSans B" panose="00020600040101010101" charset="-122"/>
                <a:ea typeface="OPPOSans B" panose="00020600040101010101" charset="-122"/>
                <a:cs typeface="OPPOSans B" panose="00020600040101010101" charset="-122"/>
              </a:rPr>
              <a:t>对齐口径</a:t>
            </a:r>
            <a:endParaRPr sz="1800">
              <a:solidFill>
                <a:srgbClr val="FFFFFF"/>
              </a:solidFill>
              <a:latin typeface="OPPOSans B" panose="00020600040101010101" charset="-122"/>
              <a:ea typeface="OPPOSans B" panose="00020600040101010101" charset="-122"/>
              <a:cs typeface="OPPOSans B" panose="00020600040101010101" charset="-122"/>
            </a:endParaRPr>
          </a:p>
        </p:txBody>
      </p:sp>
      <p:sp>
        <p:nvSpPr>
          <p:cNvPr id="81" name="Rectangle 12"/>
          <p:cNvSpPr/>
          <p:nvPr/>
        </p:nvSpPr>
        <p:spPr>
          <a:xfrm>
            <a:off x="2240280" y="2721102"/>
            <a:ext cx="9445752" cy="713232"/>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82" name="TextBox 13"/>
          <p:cNvSpPr txBox="1"/>
          <p:nvPr/>
        </p:nvSpPr>
        <p:spPr>
          <a:xfrm>
            <a:off x="2423160" y="2786102"/>
            <a:ext cx="9144000" cy="580000"/>
          </a:xfrm>
          <a:prstGeom prst="rect">
            <a:avLst/>
          </a:prstGeom>
          <a:noFill/>
        </p:spPr>
        <p:txBody>
          <a:bodyPr wrap="square" lIns="18288" tIns="9144" rIns="18288" bIns="9144" anchor="ctr">
            <a:noAutofit/>
          </a:bodyPr>
          <a:p>
            <a:pPr lvl="0"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同一期：2025 年 3 月；同一指标：原保险保费收入；同一口径：本年累计；单位：亿元。</a:t>
            </a:r>
            <a:endParaRPr sz="1600">
              <a:solidFill>
                <a:srgbClr val="000000"/>
              </a:solidFill>
              <a:latin typeface="OPPOSans R" panose="00020600040101010101" charset="-122"/>
              <a:ea typeface="OPPOSans R" panose="00020600040101010101" charset="-122"/>
              <a:cs typeface="OPPOSans R" panose="00020600040101010101" charset="-122"/>
            </a:endParaRPr>
          </a:p>
          <a:p>
            <a:pPr lvl="0"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跨文件匹配总表与两份分表，核对指标及表头，避免错行和混用当月值。</a:t>
            </a:r>
            <a:endParaRPr sz="1600">
              <a:solidFill>
                <a:srgbClr val="000000"/>
              </a:solidFill>
              <a:latin typeface="OPPOSans R" panose="00020600040101010101" charset="-122"/>
              <a:ea typeface="OPPOSans R" panose="00020600040101010101" charset="-122"/>
              <a:cs typeface="OPPOSans R" panose="00020600040101010101" charset="-122"/>
            </a:endParaRPr>
          </a:p>
        </p:txBody>
      </p:sp>
      <p:sp>
        <p:nvSpPr>
          <p:cNvPr id="83" name="Rectangle 14"/>
          <p:cNvSpPr/>
          <p:nvPr/>
        </p:nvSpPr>
        <p:spPr>
          <a:xfrm>
            <a:off x="502920" y="3525774"/>
            <a:ext cx="1737360" cy="713232"/>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84" name="TextBox 15"/>
          <p:cNvSpPr txBox="1"/>
          <p:nvPr/>
        </p:nvSpPr>
        <p:spPr>
          <a:xfrm>
            <a:off x="566928" y="3725926"/>
            <a:ext cx="1609344" cy="294640"/>
          </a:xfrm>
          <a:prstGeom prst="rect">
            <a:avLst/>
          </a:prstGeom>
          <a:noFill/>
        </p:spPr>
        <p:txBody>
          <a:bodyPr wrap="square" lIns="18288" tIns="9144" rIns="18288" bIns="9144" anchor="ctr">
            <a:noAutofit/>
          </a:bodyPr>
          <a:p>
            <a:pPr lvl="0" algn="ctr">
              <a:spcAft>
                <a:spcPts val="200"/>
              </a:spcAft>
            </a:pPr>
            <a:r>
              <a:rPr sz="1800">
                <a:solidFill>
                  <a:srgbClr val="FFFFFF"/>
                </a:solidFill>
                <a:latin typeface="OPPOSans B" panose="00020600040101010101" charset="-122"/>
                <a:ea typeface="OPPOSans B" panose="00020600040101010101" charset="-122"/>
                <a:cs typeface="OPPOSans B" panose="00020600040101010101" charset="-122"/>
              </a:rPr>
              <a:t>三表取数</a:t>
            </a:r>
            <a:endParaRPr sz="1800">
              <a:solidFill>
                <a:srgbClr val="FFFFFF"/>
              </a:solidFill>
              <a:latin typeface="OPPOSans B" panose="00020600040101010101" charset="-122"/>
              <a:ea typeface="OPPOSans B" panose="00020600040101010101" charset="-122"/>
              <a:cs typeface="OPPOSans B" panose="00020600040101010101" charset="-122"/>
            </a:endParaRPr>
          </a:p>
        </p:txBody>
      </p:sp>
      <p:sp>
        <p:nvSpPr>
          <p:cNvPr id="85" name="Rectangle 16"/>
          <p:cNvSpPr/>
          <p:nvPr/>
        </p:nvSpPr>
        <p:spPr>
          <a:xfrm>
            <a:off x="2240280" y="3525774"/>
            <a:ext cx="9445752" cy="713232"/>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86" name="TextBox 17"/>
          <p:cNvSpPr txBox="1"/>
          <p:nvPr/>
        </p:nvSpPr>
        <p:spPr>
          <a:xfrm>
            <a:off x="2423160" y="3590774"/>
            <a:ext cx="9144000" cy="580000"/>
          </a:xfrm>
          <a:prstGeom prst="rect">
            <a:avLst/>
          </a:prstGeom>
          <a:noFill/>
        </p:spPr>
        <p:txBody>
          <a:bodyPr wrap="square" lIns="18288" tIns="9144" rIns="18288" bIns="9144" anchor="ctr">
            <a:noAutofit/>
          </a:bodyPr>
          <a:p>
            <a:pPr lvl="0"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保险业经营数据（月度）!C6 = 21,745；人身保险公司（月度）!C6 = 16,590.18。</a:t>
            </a:r>
            <a:endParaRPr sz="1600">
              <a:solidFill>
                <a:srgbClr val="000000"/>
              </a:solidFill>
              <a:latin typeface="OPPOSans R" panose="00020600040101010101" charset="-122"/>
              <a:ea typeface="OPPOSans R" panose="00020600040101010101" charset="-122"/>
              <a:cs typeface="OPPOSans R" panose="00020600040101010101" charset="-122"/>
            </a:endParaRPr>
          </a:p>
          <a:p>
            <a:pPr lvl="0"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产险公司数据（月度）!C7 = 5,155；对应三份 2025 年 3 月经营情况表。[1]</a:t>
            </a:r>
            <a:endParaRPr sz="1600">
              <a:solidFill>
                <a:srgbClr val="000000"/>
              </a:solidFill>
              <a:latin typeface="OPPOSans R" panose="00020600040101010101" charset="-122"/>
              <a:ea typeface="OPPOSans R" panose="00020600040101010101" charset="-122"/>
              <a:cs typeface="OPPOSans R" panose="00020600040101010101" charset="-122"/>
            </a:endParaRPr>
          </a:p>
        </p:txBody>
      </p:sp>
      <p:sp>
        <p:nvSpPr>
          <p:cNvPr id="87" name="Rectangle 18"/>
          <p:cNvSpPr/>
          <p:nvPr/>
        </p:nvSpPr>
        <p:spPr>
          <a:xfrm>
            <a:off x="502920" y="4330446"/>
            <a:ext cx="1737360" cy="713232"/>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88" name="TextBox 19"/>
          <p:cNvSpPr txBox="1"/>
          <p:nvPr/>
        </p:nvSpPr>
        <p:spPr>
          <a:xfrm>
            <a:off x="566928" y="4530598"/>
            <a:ext cx="1609344" cy="294640"/>
          </a:xfrm>
          <a:prstGeom prst="rect">
            <a:avLst/>
          </a:prstGeom>
          <a:noFill/>
        </p:spPr>
        <p:txBody>
          <a:bodyPr wrap="square" lIns="18288" tIns="9144" rIns="18288" bIns="9144" anchor="ctr">
            <a:noAutofit/>
          </a:bodyPr>
          <a:p>
            <a:pPr lvl="0" algn="ctr">
              <a:spcAft>
                <a:spcPts val="200"/>
              </a:spcAft>
            </a:pPr>
            <a:r>
              <a:rPr sz="1800">
                <a:solidFill>
                  <a:srgbClr val="FFFFFF"/>
                </a:solidFill>
                <a:latin typeface="OPPOSans B" panose="00020600040101010101" charset="-122"/>
                <a:ea typeface="OPPOSans B" panose="00020600040101010101" charset="-122"/>
                <a:cs typeface="OPPOSans B" panose="00020600040101010101" charset="-122"/>
              </a:rPr>
              <a:t>勾稽结果</a:t>
            </a:r>
            <a:endParaRPr sz="1800">
              <a:solidFill>
                <a:srgbClr val="FFFFFF"/>
              </a:solidFill>
              <a:latin typeface="OPPOSans B" panose="00020600040101010101" charset="-122"/>
              <a:ea typeface="OPPOSans B" panose="00020600040101010101" charset="-122"/>
              <a:cs typeface="OPPOSans B" panose="00020600040101010101" charset="-122"/>
            </a:endParaRPr>
          </a:p>
        </p:txBody>
      </p:sp>
      <p:sp>
        <p:nvSpPr>
          <p:cNvPr id="89" name="Rectangle 20"/>
          <p:cNvSpPr/>
          <p:nvPr/>
        </p:nvSpPr>
        <p:spPr>
          <a:xfrm>
            <a:off x="2240280" y="4330446"/>
            <a:ext cx="9445752" cy="713232"/>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90" name="TextBox 21"/>
          <p:cNvSpPr txBox="1"/>
          <p:nvPr/>
        </p:nvSpPr>
        <p:spPr>
          <a:xfrm>
            <a:off x="2423160" y="4395446"/>
            <a:ext cx="9144000" cy="580000"/>
          </a:xfrm>
          <a:prstGeom prst="rect">
            <a:avLst/>
          </a:prstGeom>
          <a:noFill/>
        </p:spPr>
        <p:txBody>
          <a:bodyPr wrap="square" lIns="18288" tIns="9144" rIns="18288" bIns="9144" anchor="ctr">
            <a:noAutofit/>
          </a:bodyPr>
          <a:p>
            <a:pPr lvl="0" algn="l">
              <a:spcAft>
                <a:spcPts val="200"/>
              </a:spcAft>
            </a:pPr>
            <a:r>
              <a:rPr sz="1600">
                <a:solidFill>
                  <a:srgbClr val="CE0000"/>
                </a:solidFill>
                <a:latin typeface="OPPOSans R" panose="00020600040101010101" charset="-122"/>
                <a:ea typeface="OPPOSans R" panose="00020600040101010101" charset="-122"/>
                <a:cs typeface="OPPOSans R" panose="00020600040101010101" charset="-122"/>
              </a:rPr>
              <a:t>21,745 − 16,590.18 − 5,155 = −0.18 亿元。[1]</a:t>
            </a:r>
            <a:endParaRPr sz="1600">
              <a:solidFill>
                <a:srgbClr val="CE0000"/>
              </a:solidFill>
              <a:latin typeface="OPPOSans R" panose="00020600040101010101" charset="-122"/>
              <a:ea typeface="OPPOSans R" panose="00020600040101010101" charset="-122"/>
              <a:cs typeface="OPPOSans R" panose="00020600040101010101" charset="-122"/>
            </a:endParaRPr>
          </a:p>
          <a:p>
            <a:pPr lvl="0"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总表比两分表合计少 0.18 亿元，差额符号完整保留。</a:t>
            </a:r>
            <a:endParaRPr sz="1600">
              <a:solidFill>
                <a:srgbClr val="000000"/>
              </a:solidFill>
              <a:latin typeface="OPPOSans R" panose="00020600040101010101" charset="-122"/>
              <a:ea typeface="OPPOSans R" panose="00020600040101010101" charset="-122"/>
              <a:cs typeface="OPPOSans R" panose="00020600040101010101" charset="-122"/>
            </a:endParaRPr>
          </a:p>
        </p:txBody>
      </p:sp>
      <p:sp>
        <p:nvSpPr>
          <p:cNvPr id="91" name="Rectangle 22"/>
          <p:cNvSpPr/>
          <p:nvPr/>
        </p:nvSpPr>
        <p:spPr>
          <a:xfrm>
            <a:off x="502920" y="5135118"/>
            <a:ext cx="1737360" cy="713232"/>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92" name="TextBox 23"/>
          <p:cNvSpPr txBox="1"/>
          <p:nvPr/>
        </p:nvSpPr>
        <p:spPr>
          <a:xfrm>
            <a:off x="566928" y="5335270"/>
            <a:ext cx="1609344" cy="294640"/>
          </a:xfrm>
          <a:prstGeom prst="rect">
            <a:avLst/>
          </a:prstGeom>
          <a:noFill/>
        </p:spPr>
        <p:txBody>
          <a:bodyPr wrap="square" lIns="18288" tIns="9144" rIns="18288" bIns="9144" anchor="ctr">
            <a:noAutofit/>
          </a:bodyPr>
          <a:p>
            <a:pPr lvl="0" algn="ctr">
              <a:spcAft>
                <a:spcPts val="200"/>
              </a:spcAft>
            </a:pPr>
            <a:r>
              <a:rPr sz="1800">
                <a:solidFill>
                  <a:srgbClr val="FFFFFF"/>
                </a:solidFill>
                <a:latin typeface="OPPOSans B" panose="00020600040101010101" charset="-122"/>
                <a:ea typeface="OPPOSans B" panose="00020600040101010101" charset="-122"/>
                <a:cs typeface="OPPOSans B" panose="00020600040101010101" charset="-122"/>
              </a:rPr>
              <a:t>核验边界</a:t>
            </a:r>
            <a:endParaRPr sz="1800">
              <a:solidFill>
                <a:srgbClr val="FFFFFF"/>
              </a:solidFill>
              <a:latin typeface="OPPOSans B" panose="00020600040101010101" charset="-122"/>
              <a:ea typeface="OPPOSans B" panose="00020600040101010101" charset="-122"/>
              <a:cs typeface="OPPOSans B" panose="00020600040101010101" charset="-122"/>
            </a:endParaRPr>
          </a:p>
        </p:txBody>
      </p:sp>
      <p:sp>
        <p:nvSpPr>
          <p:cNvPr id="93" name="Rectangle 24"/>
          <p:cNvSpPr/>
          <p:nvPr/>
        </p:nvSpPr>
        <p:spPr>
          <a:xfrm>
            <a:off x="2240280" y="5135118"/>
            <a:ext cx="9445752" cy="713232"/>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94" name="TextBox 25"/>
          <p:cNvSpPr txBox="1"/>
          <p:nvPr/>
        </p:nvSpPr>
        <p:spPr>
          <a:xfrm>
            <a:off x="2423160" y="5200118"/>
            <a:ext cx="9144000" cy="580000"/>
          </a:xfrm>
          <a:prstGeom prst="rect">
            <a:avLst/>
          </a:prstGeom>
          <a:noFill/>
        </p:spPr>
        <p:txBody>
          <a:bodyPr wrap="square" lIns="18288" tIns="9144" rIns="18288" bIns="9144" anchor="ctr">
            <a:noAutofit/>
          </a:bodyPr>
          <a:p>
            <a:pPr lvl="0"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答复同时保留算式、单位、三表原值与单元格坐标，支持报送复核人员复算。</a:t>
            </a:r>
            <a:endParaRPr sz="1600">
              <a:solidFill>
                <a:srgbClr val="000000"/>
              </a:solidFill>
              <a:latin typeface="OPPOSans R" panose="00020600040101010101" charset="-122"/>
              <a:ea typeface="OPPOSans R" panose="00020600040101010101" charset="-122"/>
              <a:cs typeface="OPPOSans R" panose="00020600040101010101" charset="-122"/>
            </a:endParaRPr>
          </a:p>
          <a:p>
            <a:pPr lvl="0" algn="l">
              <a:spcAft>
                <a:spcPts val="200"/>
              </a:spcAft>
            </a:pPr>
            <a:r>
              <a:rPr sz="1600">
                <a:solidFill>
                  <a:srgbClr val="000000"/>
                </a:solidFill>
                <a:latin typeface="OPPOSans R" panose="00020600040101010101" charset="-122"/>
                <a:ea typeface="OPPOSans R" panose="00020600040101010101" charset="-122"/>
                <a:cs typeface="OPPOSans R" panose="00020600040101010101" charset="-122"/>
              </a:rPr>
              <a:t>差额原因尚无证据，不能据此认定为四舍五入、报送错误或机构不合规。</a:t>
            </a:r>
            <a:endParaRPr sz="1600">
              <a:solidFill>
                <a:srgbClr val="000000"/>
              </a:solidFill>
              <a:latin typeface="OPPOSans R" panose="00020600040101010101" charset="-122"/>
              <a:ea typeface="OPPOSans R" panose="00020600040101010101" charset="-122"/>
              <a:cs typeface="OPPOSans R" panose="00020600040101010101" charset="-122"/>
            </a:endParaRPr>
          </a:p>
        </p:txBody>
      </p:sp>
      <p:sp>
        <p:nvSpPr>
          <p:cNvPr id="101" name="TextBox 50"/>
          <p:cNvSpPr txBox="1"/>
          <p:nvPr/>
        </p:nvSpPr>
        <p:spPr>
          <a:xfrm>
            <a:off x="11384280" y="6748780"/>
            <a:ext cx="640080" cy="320040"/>
          </a:xfrm>
          <a:prstGeom prst="rect">
            <a:avLst/>
          </a:prstGeom>
          <a:noFill/>
        </p:spPr>
        <p:txBody>
          <a:bodyPr wrap="square" lIns="18288" tIns="9144" rIns="18288" bIns="9144" anchor="t">
            <a:spAutoFit/>
          </a:bodyPr>
          <a:p>
            <a:pPr algn="r">
              <a:spcAft>
                <a:spcPts val="400"/>
              </a:spcAft>
            </a:pPr>
          </a:p>
        </p:txBody>
      </p:sp>
      <p:sp>
        <p:nvSpPr>
          <p:cNvPr id="102" name="Rectangle 26"/>
          <p:cNvSpPr/>
          <p:nvPr/>
        </p:nvSpPr>
        <p:spPr>
          <a:xfrm>
            <a:off x="502920" y="5951220"/>
            <a:ext cx="11183112" cy="685800"/>
          </a:xfrm>
          <a:prstGeom prst="rect">
            <a:avLst/>
          </a:prstGeom>
          <a:solidFill>
            <a:srgbClr val="FBF3F3"/>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03" name="Rectangle 27"/>
          <p:cNvSpPr/>
          <p:nvPr/>
        </p:nvSpPr>
        <p:spPr>
          <a:xfrm>
            <a:off x="502920" y="5951220"/>
            <a:ext cx="82296" cy="6858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04" name="TextBox 28"/>
          <p:cNvSpPr txBox="1"/>
          <p:nvPr/>
        </p:nvSpPr>
        <p:spPr>
          <a:xfrm>
            <a:off x="674370" y="6160135"/>
            <a:ext cx="10950575" cy="294640"/>
          </a:xfrm>
          <a:prstGeom prst="rect">
            <a:avLst/>
          </a:prstGeom>
          <a:noFill/>
        </p:spPr>
        <p:txBody>
          <a:bodyPr wrap="square" lIns="18288" tIns="9144" rIns="18288" bIns="9144" anchor="ctr">
            <a:noAutofit/>
          </a:bodyPr>
          <a:p>
            <a:pPr algn="l">
              <a:spcAft>
                <a:spcPts val="200"/>
              </a:spcAft>
            </a:pPr>
            <a:r>
              <a:rPr sz="1800">
                <a:solidFill>
                  <a:srgbClr val="1F3864"/>
                </a:solidFill>
                <a:latin typeface="OPPOSans B" panose="00020600040101010101" charset="-122"/>
                <a:ea typeface="OPPOSans B" panose="00020600040101010101" charset="-122"/>
                <a:cs typeface="OPPOSans B" panose="00020600040101010101" charset="-122"/>
              </a:rPr>
              <a:t>监管报送与统计复核岗位：跨表定位真实差异，再依据证据开展核查。</a:t>
            </a:r>
            <a:endParaRPr sz="1800">
              <a:solidFill>
                <a:srgbClr val="1F3864"/>
              </a:solidFill>
              <a:latin typeface="OPPOSans B" panose="00020600040101010101" charset="-122"/>
              <a:ea typeface="OPPOSans B" panose="00020600040101010101" charset="-122"/>
              <a:cs typeface="OPPOSans B" panose="00020600040101010101"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矩形 14"/>
          <p:cNvSpPr/>
          <p:nvPr/>
        </p:nvSpPr>
        <p:spPr>
          <a:xfrm>
            <a:off x="-337185" y="648335"/>
            <a:ext cx="12862560" cy="5641340"/>
          </a:xfrm>
          <a:prstGeom prst="rect">
            <a:avLst/>
          </a:prstGeom>
          <a:solidFill>
            <a:schemeClr val="bg1"/>
          </a:solidFill>
          <a:ln>
            <a:noFill/>
          </a:ln>
          <a:effectLst>
            <a:outerShdw blurRad="50800" dist="38100" dir="10800000" algn="r" rotWithShape="0">
              <a:prstClr val="black">
                <a:alpha val="40000"/>
              </a:prstClr>
            </a:outerShdw>
            <a:softEdge rad="317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2" name="Rectangle 2"/>
          <p:cNvSpPr/>
          <p:nvPr/>
        </p:nvSpPr>
        <p:spPr>
          <a:xfrm>
            <a:off x="502920" y="1018413"/>
            <a:ext cx="82296" cy="566928"/>
          </a:xfrm>
          <a:prstGeom prst="rect">
            <a:avLst/>
          </a:prstGeom>
          <a:solidFill>
            <a:srgbClr val="1C41A9"/>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5" name="TextBox 3"/>
          <p:cNvSpPr txBox="1"/>
          <p:nvPr/>
        </p:nvSpPr>
        <p:spPr>
          <a:xfrm>
            <a:off x="713232" y="1066736"/>
            <a:ext cx="10058400" cy="479425"/>
          </a:xfrm>
          <a:prstGeom prst="rect">
            <a:avLst/>
          </a:prstGeom>
          <a:noFill/>
        </p:spPr>
        <p:txBody>
          <a:bodyPr wrap="square" lIns="18288" tIns="9144" rIns="18288" bIns="9144" anchor="ctr">
            <a:spAutoFit/>
          </a:bodyPr>
          <a:p>
            <a:pPr algn="l">
              <a:spcAft>
                <a:spcPts val="400"/>
              </a:spcAft>
            </a:pPr>
            <a:r>
              <a:rPr sz="3000">
                <a:solidFill>
                  <a:srgbClr val="195CC4"/>
                </a:solidFill>
                <a:latin typeface="OPPOSans B" panose="00020600040101010101" charset="-122"/>
                <a:ea typeface="OPPOSans B" panose="00020600040101010101" charset="-122"/>
                <a:sym typeface="+mn-ea"/>
              </a:rPr>
              <a:t>测评验证：官方任务与开放场景双层评估</a:t>
            </a:r>
            <a:endParaRPr sz="3000">
              <a:solidFill>
                <a:srgbClr val="195CC4"/>
              </a:solidFill>
              <a:latin typeface="OPPOSans B" panose="00020600040101010101" charset="-122"/>
              <a:ea typeface="OPPOSans B" panose="00020600040101010101" charset="-122"/>
              <a:sym typeface="+mn-ea"/>
            </a:endParaRPr>
          </a:p>
        </p:txBody>
      </p:sp>
      <p:sp>
        <p:nvSpPr>
          <p:cNvPr id="7" name="TextBox 4"/>
          <p:cNvSpPr txBox="1"/>
          <p:nvPr/>
        </p:nvSpPr>
        <p:spPr>
          <a:xfrm>
            <a:off x="713232" y="1575054"/>
            <a:ext cx="10789920" cy="233045"/>
          </a:xfrm>
          <a:prstGeom prst="rect">
            <a:avLst/>
          </a:prstGeom>
          <a:noFill/>
        </p:spPr>
        <p:txBody>
          <a:bodyPr wrap="square" lIns="18288" tIns="9144" rIns="18288" bIns="9144" anchor="t">
            <a:spAutoFit/>
          </a:bodyPr>
          <a:p>
            <a:pPr algn="l">
              <a:spcAft>
                <a:spcPts val="400"/>
              </a:spcAft>
            </a:pPr>
            <a:r>
              <a:rPr sz="1400">
                <a:solidFill>
                  <a:schemeClr val="tx1"/>
                </a:solidFill>
                <a:latin typeface="OPPOSans R" panose="00020600040101010101" charset="-122"/>
                <a:ea typeface="OPPOSans R" panose="00020600040101010101" charset="-122"/>
                <a:cs typeface="OPPOSans R" panose="00020600040101010101" charset="-122"/>
                <a:sym typeface="+mn-ea"/>
              </a:rPr>
              <a:t>官方 300 道选择题 + 自建 200 道开放题，分别验证赛题任务与制度事实、表格计算、来源覆盖及拒答边界。</a:t>
            </a:r>
            <a:endParaRPr sz="1400">
              <a:solidFill>
                <a:schemeClr val="tx1"/>
              </a:solidFill>
              <a:latin typeface="OPPOSans R" panose="00020600040101010101" charset="-122"/>
              <a:ea typeface="OPPOSans R" panose="00020600040101010101" charset="-122"/>
              <a:cs typeface="OPPOSans R" panose="00020600040101010101" charset="-122"/>
              <a:sym typeface="+mn-ea"/>
            </a:endParaRPr>
          </a:p>
        </p:txBody>
      </p:sp>
      <p:sp>
        <p:nvSpPr>
          <p:cNvPr id="52" name="Rectangle 5"/>
          <p:cNvSpPr/>
          <p:nvPr/>
        </p:nvSpPr>
        <p:spPr>
          <a:xfrm>
            <a:off x="502920" y="1840230"/>
            <a:ext cx="11196000" cy="20320"/>
          </a:xfrm>
          <a:prstGeom prst="rect">
            <a:avLst/>
          </a:prstGeom>
          <a:solidFill>
            <a:srgbClr val="D9DEE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 name="Rectangle 6"/>
          <p:cNvSpPr/>
          <p:nvPr/>
        </p:nvSpPr>
        <p:spPr>
          <a:xfrm>
            <a:off x="511810" y="1939290"/>
            <a:ext cx="3840480" cy="502920"/>
          </a:xfrm>
          <a:prstGeom prst="rect">
            <a:avLst/>
          </a:prstGeom>
          <a:solidFill>
            <a:srgbClr val="2E5AA8"/>
          </a:solidFill>
          <a:ln>
            <a:solidFill>
              <a:srgbClr val="D9DEE8"/>
            </a:solid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9" name="Rectangle 8"/>
          <p:cNvSpPr/>
          <p:nvPr/>
        </p:nvSpPr>
        <p:spPr>
          <a:xfrm>
            <a:off x="4352290" y="1939290"/>
            <a:ext cx="2377440" cy="502920"/>
          </a:xfrm>
          <a:prstGeom prst="rect">
            <a:avLst/>
          </a:prstGeom>
          <a:solidFill>
            <a:srgbClr val="2E5AA8"/>
          </a:solidFill>
          <a:ln>
            <a:solidFill>
              <a:srgbClr val="D9DEE8"/>
            </a:solid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11" name="Rectangle 10"/>
          <p:cNvSpPr/>
          <p:nvPr/>
        </p:nvSpPr>
        <p:spPr>
          <a:xfrm>
            <a:off x="6729730" y="1939290"/>
            <a:ext cx="4949825" cy="502920"/>
          </a:xfrm>
          <a:prstGeom prst="rect">
            <a:avLst/>
          </a:prstGeom>
          <a:solidFill>
            <a:srgbClr val="2E5AA8"/>
          </a:solidFill>
          <a:ln>
            <a:solidFill>
              <a:srgbClr val="D9DEE8"/>
            </a:solid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13" name="Rectangle 12"/>
          <p:cNvSpPr/>
          <p:nvPr/>
        </p:nvSpPr>
        <p:spPr>
          <a:xfrm>
            <a:off x="511810" y="2442210"/>
            <a:ext cx="3840480" cy="566928"/>
          </a:xfrm>
          <a:prstGeom prst="rect">
            <a:avLst/>
          </a:prstGeom>
          <a:solidFill>
            <a:srgbClr val="F2F5FA"/>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4" name="TextBox 13"/>
          <p:cNvSpPr txBox="1"/>
          <p:nvPr/>
        </p:nvSpPr>
        <p:spPr>
          <a:xfrm>
            <a:off x="621538" y="2609152"/>
            <a:ext cx="3621024" cy="233045"/>
          </a:xfrm>
          <a:prstGeom prst="rect">
            <a:avLst/>
          </a:prstGeom>
          <a:noFill/>
        </p:spPr>
        <p:txBody>
          <a:bodyPr wrap="square" lIns="18288" tIns="9144" rIns="18288" bIns="9144" anchor="ctr">
            <a:spAutoFit/>
          </a:bodyPr>
          <a:p>
            <a:pPr algn="l">
              <a:spcAft>
                <a:spcPts val="400"/>
              </a:spcAft>
            </a:pPr>
            <a:r>
              <a:rPr sz="1400">
                <a:solidFill>
                  <a:srgbClr val="1F3864"/>
                </a:solidFill>
                <a:latin typeface="OPPOSans B" panose="00020600040101010101" charset="-122"/>
                <a:ea typeface="OPPOSans B" panose="00020600040101010101" charset="-122"/>
                <a:cs typeface="OPPOSans B" panose="00020600040101010101" charset="-122"/>
              </a:rPr>
              <a:t>官方 300 题准确率</a:t>
            </a:r>
            <a:endParaRPr sz="1400">
              <a:solidFill>
                <a:srgbClr val="1F3864"/>
              </a:solidFill>
              <a:latin typeface="OPPOSans B" panose="00020600040101010101" charset="-122"/>
              <a:ea typeface="OPPOSans B" panose="00020600040101010101" charset="-122"/>
              <a:cs typeface="OPPOSans B" panose="00020600040101010101" charset="-122"/>
            </a:endParaRPr>
          </a:p>
        </p:txBody>
      </p:sp>
      <p:sp>
        <p:nvSpPr>
          <p:cNvPr id="4" name="Rectangle 14"/>
          <p:cNvSpPr/>
          <p:nvPr/>
        </p:nvSpPr>
        <p:spPr>
          <a:xfrm>
            <a:off x="4352290" y="2442210"/>
            <a:ext cx="2377440" cy="566928"/>
          </a:xfrm>
          <a:prstGeom prst="rect">
            <a:avLst/>
          </a:prstGeom>
          <a:solidFill>
            <a:srgbClr val="F2F5FA"/>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6" name="TextBox 15"/>
          <p:cNvSpPr txBox="1"/>
          <p:nvPr/>
        </p:nvSpPr>
        <p:spPr>
          <a:xfrm>
            <a:off x="4462018" y="2624709"/>
            <a:ext cx="2157984" cy="201930"/>
          </a:xfrm>
          <a:prstGeom prst="rect">
            <a:avLst/>
          </a:prstGeom>
          <a:noFill/>
        </p:spPr>
        <p:txBody>
          <a:bodyPr wrap="square" lIns="18288" tIns="9144" rIns="18288" bIns="9144" anchor="ctr">
            <a:spAutoFit/>
          </a:bodyPr>
          <a:p>
            <a:pPr algn="ctr">
              <a:spcAft>
                <a:spcPts val="400"/>
              </a:spcAft>
            </a:pPr>
            <a:r>
              <a:rPr sz="1400" b="0">
                <a:solidFill>
                  <a:srgbClr val="595959"/>
                </a:solidFill>
                <a:latin typeface="OPPOSans B" panose="00020600040101010101" charset="-122"/>
                <a:ea typeface="OPPOSans B" panose="00020600040101010101" charset="-122"/>
              </a:rPr>
              <a:t>—</a:t>
            </a:r>
            <a:endParaRPr sz="1200" b="0">
              <a:solidFill>
                <a:schemeClr val="tx1"/>
              </a:solidFill>
              <a:latin typeface="OPPOSans B" panose="00020600040101010101" charset="-122"/>
              <a:ea typeface="OPPOSans B" panose="00020600040101010101" charset="-122"/>
            </a:endParaRPr>
          </a:p>
        </p:txBody>
      </p:sp>
      <p:sp>
        <p:nvSpPr>
          <p:cNvPr id="17" name="Rectangle 16"/>
          <p:cNvSpPr/>
          <p:nvPr/>
        </p:nvSpPr>
        <p:spPr>
          <a:xfrm>
            <a:off x="6729730" y="2442210"/>
            <a:ext cx="4949825" cy="567055"/>
          </a:xfrm>
          <a:prstGeom prst="rect">
            <a:avLst/>
          </a:prstGeom>
          <a:solidFill>
            <a:srgbClr val="F2F5FA"/>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9" name="Rectangle 18"/>
          <p:cNvSpPr/>
          <p:nvPr/>
        </p:nvSpPr>
        <p:spPr>
          <a:xfrm>
            <a:off x="511810" y="3009138"/>
            <a:ext cx="3840480" cy="566928"/>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0" name="TextBox 19"/>
          <p:cNvSpPr txBox="1"/>
          <p:nvPr/>
        </p:nvSpPr>
        <p:spPr>
          <a:xfrm>
            <a:off x="621538" y="3176080"/>
            <a:ext cx="3621024" cy="233045"/>
          </a:xfrm>
          <a:prstGeom prst="rect">
            <a:avLst/>
          </a:prstGeom>
          <a:noFill/>
        </p:spPr>
        <p:txBody>
          <a:bodyPr wrap="square" lIns="18288" tIns="9144" rIns="18288" bIns="9144" anchor="ctr">
            <a:spAutoFit/>
          </a:bodyPr>
          <a:p>
            <a:pPr lvl="0" algn="l">
              <a:spcAft>
                <a:spcPts val="400"/>
              </a:spcAft>
              <a:buClrTx/>
              <a:buSzTx/>
              <a:buFontTx/>
            </a:pPr>
            <a:r>
              <a:rPr sz="1400">
                <a:solidFill>
                  <a:srgbClr val="1F3864"/>
                </a:solidFill>
                <a:latin typeface="OPPOSans B" panose="00020600040101010101" charset="-122"/>
                <a:ea typeface="OPPOSans B" panose="00020600040101010101" charset="-122"/>
                <a:cs typeface="OPPOSans B" panose="00020600040101010101" charset="-122"/>
                <a:sym typeface="+mn-ea"/>
              </a:rPr>
              <a:t>制度事实类准确率</a:t>
            </a:r>
            <a:endParaRPr sz="1400">
              <a:solidFill>
                <a:srgbClr val="1F3864"/>
              </a:solidFill>
              <a:latin typeface="OPPOSans B" panose="00020600040101010101" charset="-122"/>
              <a:ea typeface="OPPOSans B" panose="00020600040101010101" charset="-122"/>
              <a:cs typeface="OPPOSans B" panose="00020600040101010101" charset="-122"/>
              <a:sym typeface="+mn-ea"/>
            </a:endParaRPr>
          </a:p>
        </p:txBody>
      </p:sp>
      <p:sp>
        <p:nvSpPr>
          <p:cNvPr id="21" name="Rectangle 20"/>
          <p:cNvSpPr/>
          <p:nvPr/>
        </p:nvSpPr>
        <p:spPr>
          <a:xfrm>
            <a:off x="4352290" y="3009138"/>
            <a:ext cx="2377440" cy="566928"/>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2" name="TextBox 21"/>
          <p:cNvSpPr txBox="1"/>
          <p:nvPr/>
        </p:nvSpPr>
        <p:spPr>
          <a:xfrm>
            <a:off x="4462018" y="3176080"/>
            <a:ext cx="2157984" cy="233045"/>
          </a:xfrm>
          <a:prstGeom prst="rect">
            <a:avLst/>
          </a:prstGeom>
          <a:noFill/>
        </p:spPr>
        <p:txBody>
          <a:bodyPr wrap="square" lIns="18288" tIns="9144" rIns="18288" bIns="9144" anchor="ctr">
            <a:spAutoFit/>
          </a:bodyPr>
          <a:p>
            <a:pPr algn="ctr">
              <a:spcAft>
                <a:spcPts val="400"/>
              </a:spcAft>
            </a:pPr>
            <a:r>
              <a:rPr sz="1400" b="0">
                <a:solidFill>
                  <a:srgbClr val="595959"/>
                </a:solidFill>
                <a:latin typeface="OPPOSans B" panose="00020600040101010101" charset="-122"/>
                <a:ea typeface="OPPOSans B" panose="00020600040101010101" charset="-122"/>
              </a:rPr>
              <a:t>≥85%</a:t>
            </a:r>
            <a:endParaRPr sz="1400" b="0">
              <a:solidFill>
                <a:srgbClr val="595959"/>
              </a:solidFill>
              <a:latin typeface="OPPOSans B" panose="00020600040101010101" charset="-122"/>
              <a:ea typeface="OPPOSans B" panose="00020600040101010101" charset="-122"/>
            </a:endParaRPr>
          </a:p>
        </p:txBody>
      </p:sp>
      <p:sp>
        <p:nvSpPr>
          <p:cNvPr id="23" name="Rectangle 22"/>
          <p:cNvSpPr/>
          <p:nvPr/>
        </p:nvSpPr>
        <p:spPr>
          <a:xfrm>
            <a:off x="6729730" y="3009265"/>
            <a:ext cx="4949825" cy="567055"/>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5" name="Rectangle 24"/>
          <p:cNvSpPr/>
          <p:nvPr/>
        </p:nvSpPr>
        <p:spPr>
          <a:xfrm>
            <a:off x="511810" y="3576066"/>
            <a:ext cx="3840480" cy="566928"/>
          </a:xfrm>
          <a:prstGeom prst="rect">
            <a:avLst/>
          </a:prstGeom>
          <a:solidFill>
            <a:srgbClr val="F2F5FA"/>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6" name="TextBox 25"/>
          <p:cNvSpPr txBox="1"/>
          <p:nvPr/>
        </p:nvSpPr>
        <p:spPr>
          <a:xfrm>
            <a:off x="621538" y="3743008"/>
            <a:ext cx="3621024" cy="233045"/>
          </a:xfrm>
          <a:prstGeom prst="rect">
            <a:avLst/>
          </a:prstGeom>
          <a:noFill/>
        </p:spPr>
        <p:txBody>
          <a:bodyPr wrap="square" lIns="18288" tIns="9144" rIns="18288" bIns="9144" anchor="ctr">
            <a:spAutoFit/>
          </a:bodyPr>
          <a:p>
            <a:pPr lvl="0" algn="l">
              <a:spcAft>
                <a:spcPts val="400"/>
              </a:spcAft>
              <a:buClrTx/>
              <a:buSzTx/>
              <a:buFontTx/>
            </a:pPr>
            <a:r>
              <a:rPr sz="1400">
                <a:solidFill>
                  <a:srgbClr val="1F3864"/>
                </a:solidFill>
                <a:latin typeface="OPPOSans B" panose="00020600040101010101" charset="-122"/>
                <a:ea typeface="OPPOSans B" panose="00020600040101010101" charset="-122"/>
                <a:cs typeface="OPPOSans B" panose="00020600040101010101" charset="-122"/>
                <a:sym typeface="+mn-ea"/>
              </a:rPr>
              <a:t>表格取数 / 计算准确率</a:t>
            </a:r>
            <a:endParaRPr sz="1400">
              <a:solidFill>
                <a:srgbClr val="1F3864"/>
              </a:solidFill>
              <a:latin typeface="OPPOSans B" panose="00020600040101010101" charset="-122"/>
              <a:ea typeface="OPPOSans B" panose="00020600040101010101" charset="-122"/>
              <a:cs typeface="OPPOSans B" panose="00020600040101010101" charset="-122"/>
              <a:sym typeface="+mn-ea"/>
            </a:endParaRPr>
          </a:p>
        </p:txBody>
      </p:sp>
      <p:sp>
        <p:nvSpPr>
          <p:cNvPr id="27" name="Rectangle 26"/>
          <p:cNvSpPr/>
          <p:nvPr/>
        </p:nvSpPr>
        <p:spPr>
          <a:xfrm>
            <a:off x="4352290" y="3576066"/>
            <a:ext cx="2377440" cy="566928"/>
          </a:xfrm>
          <a:prstGeom prst="rect">
            <a:avLst/>
          </a:prstGeom>
          <a:solidFill>
            <a:srgbClr val="F2F5FA"/>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8" name="TextBox 27"/>
          <p:cNvSpPr txBox="1"/>
          <p:nvPr/>
        </p:nvSpPr>
        <p:spPr>
          <a:xfrm>
            <a:off x="4462018" y="3743008"/>
            <a:ext cx="2157984" cy="233045"/>
          </a:xfrm>
          <a:prstGeom prst="rect">
            <a:avLst/>
          </a:prstGeom>
          <a:noFill/>
        </p:spPr>
        <p:txBody>
          <a:bodyPr wrap="square" lIns="18288" tIns="9144" rIns="18288" bIns="9144" anchor="ctr">
            <a:spAutoFit/>
          </a:bodyPr>
          <a:p>
            <a:pPr algn="ctr">
              <a:spcAft>
                <a:spcPts val="400"/>
              </a:spcAft>
              <a:buClrTx/>
              <a:buSzTx/>
              <a:buFontTx/>
            </a:pPr>
            <a:r>
              <a:rPr sz="1400" b="0">
                <a:solidFill>
                  <a:srgbClr val="595959"/>
                </a:solidFill>
                <a:latin typeface="OPPOSans B" panose="00020600040101010101" charset="-122"/>
                <a:ea typeface="OPPOSans B" panose="00020600040101010101" charset="-122"/>
              </a:rPr>
              <a:t>≥80%</a:t>
            </a:r>
            <a:endParaRPr sz="1400" b="0">
              <a:solidFill>
                <a:srgbClr val="595959"/>
              </a:solidFill>
              <a:latin typeface="OPPOSans B" panose="00020600040101010101" charset="-122"/>
              <a:ea typeface="OPPOSans B" panose="00020600040101010101" charset="-122"/>
            </a:endParaRPr>
          </a:p>
        </p:txBody>
      </p:sp>
      <p:sp>
        <p:nvSpPr>
          <p:cNvPr id="6" name="Rectangle 28"/>
          <p:cNvSpPr/>
          <p:nvPr/>
        </p:nvSpPr>
        <p:spPr>
          <a:xfrm>
            <a:off x="6729730" y="3576320"/>
            <a:ext cx="4949825" cy="567055"/>
          </a:xfrm>
          <a:prstGeom prst="rect">
            <a:avLst/>
          </a:prstGeom>
          <a:solidFill>
            <a:srgbClr val="F2F5FA"/>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1" name="Rectangle 30"/>
          <p:cNvSpPr/>
          <p:nvPr/>
        </p:nvSpPr>
        <p:spPr>
          <a:xfrm>
            <a:off x="511810" y="4142994"/>
            <a:ext cx="3840480" cy="566928"/>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2" name="TextBox 31"/>
          <p:cNvSpPr txBox="1"/>
          <p:nvPr/>
        </p:nvSpPr>
        <p:spPr>
          <a:xfrm>
            <a:off x="621538" y="4309936"/>
            <a:ext cx="3621024" cy="233045"/>
          </a:xfrm>
          <a:prstGeom prst="rect">
            <a:avLst/>
          </a:prstGeom>
          <a:noFill/>
        </p:spPr>
        <p:txBody>
          <a:bodyPr wrap="square" lIns="18288" tIns="9144" rIns="18288" bIns="9144" anchor="ctr">
            <a:spAutoFit/>
          </a:bodyPr>
          <a:p>
            <a:pPr lvl="0" algn="l">
              <a:spcAft>
                <a:spcPts val="400"/>
              </a:spcAft>
              <a:buClrTx/>
              <a:buSzTx/>
              <a:buFontTx/>
            </a:pPr>
            <a:r>
              <a:rPr sz="1400">
                <a:solidFill>
                  <a:srgbClr val="1F3864"/>
                </a:solidFill>
                <a:latin typeface="OPPOSans B" panose="00020600040101010101" charset="-122"/>
                <a:ea typeface="OPPOSans B" panose="00020600040101010101" charset="-122"/>
                <a:cs typeface="OPPOSans B" panose="00020600040101010101" charset="-122"/>
                <a:sym typeface="+mn-ea"/>
              </a:rPr>
              <a:t>证据来源覆盖率（文件级）</a:t>
            </a:r>
            <a:endParaRPr sz="1400">
              <a:solidFill>
                <a:srgbClr val="1F3864"/>
              </a:solidFill>
              <a:latin typeface="OPPOSans B" panose="00020600040101010101" charset="-122"/>
              <a:ea typeface="OPPOSans B" panose="00020600040101010101" charset="-122"/>
              <a:cs typeface="OPPOSans B" panose="00020600040101010101" charset="-122"/>
              <a:sym typeface="+mn-ea"/>
            </a:endParaRPr>
          </a:p>
        </p:txBody>
      </p:sp>
      <p:sp>
        <p:nvSpPr>
          <p:cNvPr id="33" name="Rectangle 32"/>
          <p:cNvSpPr/>
          <p:nvPr/>
        </p:nvSpPr>
        <p:spPr>
          <a:xfrm>
            <a:off x="4352290" y="4142994"/>
            <a:ext cx="2377440" cy="566928"/>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4" name="TextBox 33"/>
          <p:cNvSpPr txBox="1"/>
          <p:nvPr/>
        </p:nvSpPr>
        <p:spPr>
          <a:xfrm>
            <a:off x="4462018" y="4309936"/>
            <a:ext cx="2157984" cy="233045"/>
          </a:xfrm>
          <a:prstGeom prst="rect">
            <a:avLst/>
          </a:prstGeom>
          <a:noFill/>
        </p:spPr>
        <p:txBody>
          <a:bodyPr wrap="square" lIns="18288" tIns="9144" rIns="18288" bIns="9144" anchor="ctr">
            <a:spAutoFit/>
          </a:bodyPr>
          <a:p>
            <a:pPr algn="ctr">
              <a:spcAft>
                <a:spcPts val="400"/>
              </a:spcAft>
              <a:buClrTx/>
              <a:buSzTx/>
              <a:buFontTx/>
            </a:pPr>
            <a:r>
              <a:rPr sz="1400" b="0">
                <a:solidFill>
                  <a:srgbClr val="595959"/>
                </a:solidFill>
                <a:latin typeface="OPPOSans B" panose="00020600040101010101" charset="-122"/>
                <a:ea typeface="OPPOSans B" panose="00020600040101010101" charset="-122"/>
              </a:rPr>
              <a:t>≥90%</a:t>
            </a:r>
            <a:endParaRPr sz="1400" b="0">
              <a:solidFill>
                <a:srgbClr val="595959"/>
              </a:solidFill>
              <a:latin typeface="OPPOSans B" panose="00020600040101010101" charset="-122"/>
              <a:ea typeface="OPPOSans B" panose="00020600040101010101" charset="-122"/>
            </a:endParaRPr>
          </a:p>
        </p:txBody>
      </p:sp>
      <p:sp>
        <p:nvSpPr>
          <p:cNvPr id="35" name="Rectangle 34"/>
          <p:cNvSpPr/>
          <p:nvPr/>
        </p:nvSpPr>
        <p:spPr>
          <a:xfrm>
            <a:off x="6729730" y="4142740"/>
            <a:ext cx="4949825" cy="567055"/>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7" name="Rectangle 36"/>
          <p:cNvSpPr/>
          <p:nvPr/>
        </p:nvSpPr>
        <p:spPr>
          <a:xfrm>
            <a:off x="511810" y="4709922"/>
            <a:ext cx="3840480" cy="566928"/>
          </a:xfrm>
          <a:prstGeom prst="rect">
            <a:avLst/>
          </a:prstGeom>
          <a:solidFill>
            <a:srgbClr val="F2F5FA"/>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53" name="TextBox 37"/>
          <p:cNvSpPr txBox="1"/>
          <p:nvPr/>
        </p:nvSpPr>
        <p:spPr>
          <a:xfrm>
            <a:off x="621538" y="4876864"/>
            <a:ext cx="3621024" cy="233045"/>
          </a:xfrm>
          <a:prstGeom prst="rect">
            <a:avLst/>
          </a:prstGeom>
          <a:noFill/>
        </p:spPr>
        <p:txBody>
          <a:bodyPr wrap="square" lIns="18288" tIns="9144" rIns="18288" bIns="9144" anchor="ctr">
            <a:spAutoFit/>
          </a:bodyPr>
          <a:p>
            <a:pPr lvl="0" algn="l">
              <a:spcAft>
                <a:spcPts val="400"/>
              </a:spcAft>
              <a:buClrTx/>
              <a:buSzTx/>
              <a:buFontTx/>
            </a:pPr>
            <a:r>
              <a:rPr sz="1400">
                <a:solidFill>
                  <a:srgbClr val="1F3864"/>
                </a:solidFill>
                <a:latin typeface="OPPOSans B" panose="00020600040101010101" charset="-122"/>
                <a:ea typeface="OPPOSans B" panose="00020600040101010101" charset="-122"/>
                <a:cs typeface="OPPOSans B" panose="00020600040101010101" charset="-122"/>
                <a:sym typeface="+mn-ea"/>
              </a:rPr>
              <a:t>关键数字 / 日期 / 机构 / 文号错误率</a:t>
            </a:r>
            <a:endParaRPr sz="1400">
              <a:solidFill>
                <a:srgbClr val="1F3864"/>
              </a:solidFill>
              <a:latin typeface="OPPOSans B" panose="00020600040101010101" charset="-122"/>
              <a:ea typeface="OPPOSans B" panose="00020600040101010101" charset="-122"/>
              <a:cs typeface="OPPOSans B" panose="00020600040101010101" charset="-122"/>
              <a:sym typeface="+mn-ea"/>
            </a:endParaRPr>
          </a:p>
        </p:txBody>
      </p:sp>
      <p:sp>
        <p:nvSpPr>
          <p:cNvPr id="54" name="Rectangle 38"/>
          <p:cNvSpPr/>
          <p:nvPr/>
        </p:nvSpPr>
        <p:spPr>
          <a:xfrm>
            <a:off x="4352290" y="4709922"/>
            <a:ext cx="2377440" cy="566928"/>
          </a:xfrm>
          <a:prstGeom prst="rect">
            <a:avLst/>
          </a:prstGeom>
          <a:solidFill>
            <a:srgbClr val="F2F5FA"/>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56" name="TextBox 39"/>
          <p:cNvSpPr txBox="1"/>
          <p:nvPr/>
        </p:nvSpPr>
        <p:spPr>
          <a:xfrm>
            <a:off x="4462018" y="4876864"/>
            <a:ext cx="2157984" cy="233045"/>
          </a:xfrm>
          <a:prstGeom prst="rect">
            <a:avLst/>
          </a:prstGeom>
          <a:noFill/>
        </p:spPr>
        <p:txBody>
          <a:bodyPr wrap="square" lIns="18288" tIns="9144" rIns="18288" bIns="9144" anchor="ctr">
            <a:spAutoFit/>
          </a:bodyPr>
          <a:p>
            <a:pPr algn="ctr">
              <a:spcAft>
                <a:spcPts val="400"/>
              </a:spcAft>
              <a:buClrTx/>
              <a:buSzTx/>
              <a:buFontTx/>
            </a:pPr>
            <a:r>
              <a:rPr sz="1400" b="0">
                <a:solidFill>
                  <a:srgbClr val="595959"/>
                </a:solidFill>
                <a:latin typeface="OPPOSans B" panose="00020600040101010101" charset="-122"/>
                <a:ea typeface="OPPOSans B" panose="00020600040101010101" charset="-122"/>
              </a:rPr>
              <a:t>≤5%</a:t>
            </a:r>
            <a:endParaRPr sz="1400" b="0">
              <a:solidFill>
                <a:srgbClr val="595959"/>
              </a:solidFill>
              <a:latin typeface="OPPOSans B" panose="00020600040101010101" charset="-122"/>
              <a:ea typeface="OPPOSans B" panose="00020600040101010101" charset="-122"/>
            </a:endParaRPr>
          </a:p>
        </p:txBody>
      </p:sp>
      <p:sp>
        <p:nvSpPr>
          <p:cNvPr id="57" name="Rectangle 40"/>
          <p:cNvSpPr/>
          <p:nvPr/>
        </p:nvSpPr>
        <p:spPr>
          <a:xfrm>
            <a:off x="6729730" y="4709795"/>
            <a:ext cx="4949825" cy="567055"/>
          </a:xfrm>
          <a:prstGeom prst="rect">
            <a:avLst/>
          </a:prstGeom>
          <a:solidFill>
            <a:srgbClr val="F2F5FA"/>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59" name="Rectangle 42"/>
          <p:cNvSpPr/>
          <p:nvPr/>
        </p:nvSpPr>
        <p:spPr>
          <a:xfrm>
            <a:off x="511810" y="5276850"/>
            <a:ext cx="3840480" cy="566928"/>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60" name="TextBox 43"/>
          <p:cNvSpPr txBox="1"/>
          <p:nvPr/>
        </p:nvSpPr>
        <p:spPr>
          <a:xfrm>
            <a:off x="621538" y="5443792"/>
            <a:ext cx="3621024" cy="233045"/>
          </a:xfrm>
          <a:prstGeom prst="rect">
            <a:avLst/>
          </a:prstGeom>
          <a:noFill/>
        </p:spPr>
        <p:txBody>
          <a:bodyPr wrap="square" lIns="18288" tIns="9144" rIns="18288" bIns="9144" anchor="ctr">
            <a:spAutoFit/>
          </a:bodyPr>
          <a:p>
            <a:pPr lvl="0" algn="l">
              <a:spcAft>
                <a:spcPts val="400"/>
              </a:spcAft>
              <a:buClrTx/>
              <a:buSzTx/>
              <a:buFontTx/>
            </a:pPr>
            <a:r>
              <a:rPr sz="1400">
                <a:solidFill>
                  <a:srgbClr val="1F3864"/>
                </a:solidFill>
                <a:latin typeface="OPPOSans B" panose="00020600040101010101" charset="-122"/>
                <a:ea typeface="OPPOSans B" panose="00020600040101010101" charset="-122"/>
                <a:cs typeface="OPPOSans B" panose="00020600040101010101" charset="-122"/>
                <a:sym typeface="+mn-ea"/>
              </a:rPr>
              <a:t>应拒答题处理正确率</a:t>
            </a:r>
            <a:endParaRPr sz="1400">
              <a:solidFill>
                <a:srgbClr val="1F3864"/>
              </a:solidFill>
              <a:latin typeface="OPPOSans B" panose="00020600040101010101" charset="-122"/>
              <a:ea typeface="OPPOSans B" panose="00020600040101010101" charset="-122"/>
              <a:cs typeface="OPPOSans B" panose="00020600040101010101" charset="-122"/>
              <a:sym typeface="+mn-ea"/>
            </a:endParaRPr>
          </a:p>
        </p:txBody>
      </p:sp>
      <p:sp>
        <p:nvSpPr>
          <p:cNvPr id="61" name="Rectangle 44"/>
          <p:cNvSpPr/>
          <p:nvPr/>
        </p:nvSpPr>
        <p:spPr>
          <a:xfrm>
            <a:off x="4352290" y="5276850"/>
            <a:ext cx="2377440" cy="566928"/>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62" name="TextBox 45"/>
          <p:cNvSpPr txBox="1"/>
          <p:nvPr/>
        </p:nvSpPr>
        <p:spPr>
          <a:xfrm>
            <a:off x="4462018" y="5443792"/>
            <a:ext cx="2157984" cy="233045"/>
          </a:xfrm>
          <a:prstGeom prst="rect">
            <a:avLst/>
          </a:prstGeom>
          <a:noFill/>
        </p:spPr>
        <p:txBody>
          <a:bodyPr wrap="square" lIns="18288" tIns="9144" rIns="18288" bIns="9144" anchor="ctr">
            <a:spAutoFit/>
          </a:bodyPr>
          <a:p>
            <a:pPr algn="ctr">
              <a:spcAft>
                <a:spcPts val="400"/>
              </a:spcAft>
              <a:buClrTx/>
              <a:buSzTx/>
              <a:buFontTx/>
            </a:pPr>
            <a:r>
              <a:rPr sz="1400" b="0">
                <a:solidFill>
                  <a:srgbClr val="595959"/>
                </a:solidFill>
                <a:latin typeface="OPPOSans B" panose="00020600040101010101" charset="-122"/>
                <a:ea typeface="OPPOSans B" panose="00020600040101010101" charset="-122"/>
              </a:rPr>
              <a:t>≥80%</a:t>
            </a:r>
            <a:endParaRPr sz="1400" b="0">
              <a:solidFill>
                <a:srgbClr val="595959"/>
              </a:solidFill>
              <a:latin typeface="OPPOSans B" panose="00020600040101010101" charset="-122"/>
              <a:ea typeface="OPPOSans B" panose="00020600040101010101" charset="-122"/>
            </a:endParaRPr>
          </a:p>
        </p:txBody>
      </p:sp>
      <p:sp>
        <p:nvSpPr>
          <p:cNvPr id="63" name="Rectangle 46"/>
          <p:cNvSpPr/>
          <p:nvPr/>
        </p:nvSpPr>
        <p:spPr>
          <a:xfrm>
            <a:off x="6729730" y="5276850"/>
            <a:ext cx="4949825" cy="567055"/>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72" name="TextBox 7"/>
          <p:cNvSpPr txBox="1"/>
          <p:nvPr/>
        </p:nvSpPr>
        <p:spPr>
          <a:xfrm>
            <a:off x="511810" y="2047240"/>
            <a:ext cx="3840480" cy="233045"/>
          </a:xfrm>
          <a:prstGeom prst="rect">
            <a:avLst/>
          </a:prstGeom>
          <a:noFill/>
        </p:spPr>
        <p:txBody>
          <a:bodyPr wrap="square" lIns="18288" tIns="9144" rIns="18288" bIns="9144" anchor="t">
            <a:spAutoFit/>
          </a:bodyPr>
          <a:p>
            <a:pPr algn="ctr">
              <a:spcAft>
                <a:spcPts val="400"/>
              </a:spcAft>
            </a:pPr>
            <a:r>
              <a:rPr sz="1400">
                <a:solidFill>
                  <a:srgbClr val="FFFFFF"/>
                </a:solidFill>
                <a:latin typeface="OPPOSans B" panose="00020600040101010101" charset="-122"/>
                <a:ea typeface="OPPOSans B" panose="00020600040101010101" charset="-122"/>
              </a:rPr>
              <a:t>指标</a:t>
            </a:r>
            <a:endParaRPr sz="1400">
              <a:solidFill>
                <a:srgbClr val="FFFFFF"/>
              </a:solidFill>
              <a:latin typeface="OPPOSans B" panose="00020600040101010101" charset="-122"/>
              <a:ea typeface="OPPOSans B" panose="00020600040101010101" charset="-122"/>
            </a:endParaRPr>
          </a:p>
        </p:txBody>
      </p:sp>
      <p:sp>
        <p:nvSpPr>
          <p:cNvPr id="73" name="TextBox 9"/>
          <p:cNvSpPr txBox="1"/>
          <p:nvPr/>
        </p:nvSpPr>
        <p:spPr>
          <a:xfrm>
            <a:off x="4352290" y="2047240"/>
            <a:ext cx="2377440" cy="233045"/>
          </a:xfrm>
          <a:prstGeom prst="rect">
            <a:avLst/>
          </a:prstGeom>
          <a:noFill/>
        </p:spPr>
        <p:txBody>
          <a:bodyPr wrap="square" lIns="18288" tIns="9144" rIns="18288" bIns="9144" anchor="t">
            <a:spAutoFit/>
          </a:bodyPr>
          <a:p>
            <a:pPr algn="ctr">
              <a:spcAft>
                <a:spcPts val="400"/>
              </a:spcAft>
            </a:pPr>
            <a:r>
              <a:rPr sz="1400">
                <a:solidFill>
                  <a:srgbClr val="FFFFFF"/>
                </a:solidFill>
                <a:latin typeface="OPPOSans B" panose="00020600040101010101" charset="-122"/>
                <a:ea typeface="OPPOSans B" panose="00020600040101010101" charset="-122"/>
              </a:rPr>
              <a:t>赛题要求</a:t>
            </a:r>
            <a:endParaRPr sz="1400">
              <a:solidFill>
                <a:srgbClr val="FFFFFF"/>
              </a:solidFill>
              <a:latin typeface="OPPOSans B" panose="00020600040101010101" charset="-122"/>
              <a:ea typeface="OPPOSans B" panose="00020600040101010101" charset="-122"/>
            </a:endParaRPr>
          </a:p>
        </p:txBody>
      </p:sp>
      <p:sp>
        <p:nvSpPr>
          <p:cNvPr id="8" name="TextBox 17"/>
          <p:cNvSpPr txBox="1"/>
          <p:nvPr/>
        </p:nvSpPr>
        <p:spPr>
          <a:xfrm>
            <a:off x="6839458" y="2609152"/>
            <a:ext cx="3986783" cy="233045"/>
          </a:xfrm>
          <a:prstGeom prst="rect">
            <a:avLst/>
          </a:prstGeom>
          <a:noFill/>
        </p:spPr>
        <p:txBody>
          <a:bodyPr wrap="square" lIns="18288" tIns="9144" rIns="18288" bIns="9144" anchor="ctr">
            <a:spAutoFit/>
          </a:bodyPr>
          <a:p>
            <a:pPr algn="l">
              <a:spcAft>
                <a:spcPts val="400"/>
              </a:spcAft>
              <a:buClrTx/>
              <a:buSzTx/>
              <a:buFontTx/>
            </a:pPr>
            <a:r>
              <a:rPr sz="1400">
                <a:solidFill>
                  <a:srgbClr val="CE0000"/>
                </a:solidFill>
                <a:latin typeface="OPPOSans B" panose="00020600040101010101" charset="-122"/>
                <a:ea typeface="OPPOSans B" panose="00020600040101010101" charset="-122"/>
                <a:cs typeface="OPPOSans B" panose="00020600040101010101" charset="-122"/>
              </a:rPr>
              <a:t>300/300（100%），0 运行错误</a:t>
            </a:r>
            <a:endParaRPr sz="1400">
              <a:solidFill>
                <a:srgbClr val="CE0000"/>
              </a:solidFill>
              <a:latin typeface="OPPOSans B" panose="00020600040101010101" charset="-122"/>
              <a:ea typeface="OPPOSans B" panose="00020600040101010101" charset="-122"/>
              <a:cs typeface="OPPOSans B" panose="00020600040101010101" charset="-122"/>
            </a:endParaRPr>
          </a:p>
        </p:txBody>
      </p:sp>
      <p:sp>
        <p:nvSpPr>
          <p:cNvPr id="10" name="TextBox 23"/>
          <p:cNvSpPr txBox="1"/>
          <p:nvPr/>
        </p:nvSpPr>
        <p:spPr>
          <a:xfrm>
            <a:off x="6839458" y="3176080"/>
            <a:ext cx="3986783" cy="233045"/>
          </a:xfrm>
          <a:prstGeom prst="rect">
            <a:avLst/>
          </a:prstGeom>
          <a:noFill/>
        </p:spPr>
        <p:txBody>
          <a:bodyPr wrap="square" lIns="18288" tIns="9144" rIns="18288" bIns="9144" anchor="ctr">
            <a:spAutoFit/>
          </a:bodyPr>
          <a:p>
            <a:pPr lvl="0" algn="l">
              <a:spcAft>
                <a:spcPts val="400"/>
              </a:spcAft>
              <a:buClrTx/>
              <a:buSzTx/>
              <a:buFontTx/>
            </a:pPr>
            <a:r>
              <a:rPr sz="1400">
                <a:solidFill>
                  <a:srgbClr val="CE0000"/>
                </a:solidFill>
                <a:latin typeface="OPPOSans B" panose="00020600040101010101" charset="-122"/>
                <a:ea typeface="OPPOSans B" panose="00020600040101010101" charset="-122"/>
                <a:cs typeface="OPPOSans B" panose="00020600040101010101" charset="-122"/>
                <a:sym typeface="+mn-ea"/>
              </a:rPr>
              <a:t>99/112（88.4%）</a:t>
            </a:r>
            <a:endParaRPr sz="1400">
              <a:solidFill>
                <a:srgbClr val="CE0000"/>
              </a:solidFill>
              <a:latin typeface="OPPOSans B" panose="00020600040101010101" charset="-122"/>
              <a:ea typeface="OPPOSans B" panose="00020600040101010101" charset="-122"/>
              <a:cs typeface="OPPOSans B" panose="00020600040101010101" charset="-122"/>
              <a:sym typeface="+mn-ea"/>
            </a:endParaRPr>
          </a:p>
        </p:txBody>
      </p:sp>
      <p:sp>
        <p:nvSpPr>
          <p:cNvPr id="12" name="TextBox 29"/>
          <p:cNvSpPr txBox="1"/>
          <p:nvPr/>
        </p:nvSpPr>
        <p:spPr>
          <a:xfrm>
            <a:off x="6839585" y="3743008"/>
            <a:ext cx="5010785" cy="233045"/>
          </a:xfrm>
          <a:prstGeom prst="rect">
            <a:avLst/>
          </a:prstGeom>
          <a:noFill/>
        </p:spPr>
        <p:txBody>
          <a:bodyPr wrap="square" lIns="18288" tIns="9144" rIns="18288" bIns="9144" anchor="ctr">
            <a:spAutoFit/>
          </a:bodyPr>
          <a:p>
            <a:pPr lvl="0" algn="l">
              <a:spcAft>
                <a:spcPts val="400"/>
              </a:spcAft>
              <a:buClrTx/>
              <a:buSzTx/>
              <a:buFontTx/>
            </a:pPr>
            <a:r>
              <a:rPr sz="1400">
                <a:solidFill>
                  <a:srgbClr val="CE0000"/>
                </a:solidFill>
                <a:latin typeface="OPPOSans B" panose="00020600040101010101" charset="-122"/>
                <a:ea typeface="OPPOSans B" panose="00020600040101010101" charset="-122"/>
                <a:cs typeface="OPPOSans B" panose="00020600040101010101" charset="-122"/>
                <a:sym typeface="+mn-ea"/>
              </a:rPr>
              <a:t>取数 20/20，计算 20/20，合计 100%</a:t>
            </a:r>
            <a:endParaRPr sz="1400">
              <a:solidFill>
                <a:srgbClr val="CE0000"/>
              </a:solidFill>
              <a:latin typeface="OPPOSans B" panose="00020600040101010101" charset="-122"/>
              <a:ea typeface="OPPOSans B" panose="00020600040101010101" charset="-122"/>
              <a:cs typeface="OPPOSans B" panose="00020600040101010101" charset="-122"/>
              <a:sym typeface="+mn-ea"/>
            </a:endParaRPr>
          </a:p>
        </p:txBody>
      </p:sp>
      <p:sp>
        <p:nvSpPr>
          <p:cNvPr id="29" name="TextBox 35"/>
          <p:cNvSpPr txBox="1"/>
          <p:nvPr/>
        </p:nvSpPr>
        <p:spPr>
          <a:xfrm>
            <a:off x="6839585" y="4310063"/>
            <a:ext cx="4766310" cy="233045"/>
          </a:xfrm>
          <a:prstGeom prst="rect">
            <a:avLst/>
          </a:prstGeom>
          <a:noFill/>
        </p:spPr>
        <p:txBody>
          <a:bodyPr wrap="square" lIns="18288" tIns="9144" rIns="18288" bIns="9144" anchor="ctr">
            <a:spAutoFit/>
          </a:bodyPr>
          <a:p>
            <a:pPr lvl="0" algn="l">
              <a:spcAft>
                <a:spcPts val="400"/>
              </a:spcAft>
              <a:buClrTx/>
              <a:buSzTx/>
              <a:buFontTx/>
            </a:pPr>
            <a:r>
              <a:rPr sz="1400">
                <a:solidFill>
                  <a:srgbClr val="CE0000"/>
                </a:solidFill>
                <a:latin typeface="OPPOSans B" panose="00020600040101010101" charset="-122"/>
                <a:ea typeface="OPPOSans B" panose="00020600040101010101" charset="-122"/>
                <a:cs typeface="OPPOSans B" panose="00020600040101010101" charset="-122"/>
                <a:sym typeface="+mn-ea"/>
              </a:rPr>
              <a:t>149/160（93.1%，来源文件级）</a:t>
            </a:r>
            <a:endParaRPr sz="1400">
              <a:solidFill>
                <a:srgbClr val="CE0000"/>
              </a:solidFill>
              <a:latin typeface="OPPOSans B" panose="00020600040101010101" charset="-122"/>
              <a:ea typeface="OPPOSans B" panose="00020600040101010101" charset="-122"/>
              <a:cs typeface="OPPOSans B" panose="00020600040101010101" charset="-122"/>
              <a:sym typeface="+mn-ea"/>
            </a:endParaRPr>
          </a:p>
        </p:txBody>
      </p:sp>
      <p:sp>
        <p:nvSpPr>
          <p:cNvPr id="38" name="TextBox 41"/>
          <p:cNvSpPr txBox="1"/>
          <p:nvPr/>
        </p:nvSpPr>
        <p:spPr>
          <a:xfrm>
            <a:off x="6839458" y="4876864"/>
            <a:ext cx="3986783" cy="233045"/>
          </a:xfrm>
          <a:prstGeom prst="rect">
            <a:avLst/>
          </a:prstGeom>
          <a:noFill/>
        </p:spPr>
        <p:txBody>
          <a:bodyPr wrap="square" lIns="18288" tIns="9144" rIns="18288" bIns="9144" anchor="ctr">
            <a:spAutoFit/>
          </a:bodyPr>
          <a:p>
            <a:pPr lvl="0" algn="l">
              <a:spcAft>
                <a:spcPts val="400"/>
              </a:spcAft>
              <a:buClrTx/>
              <a:buSzTx/>
              <a:buFontTx/>
            </a:pPr>
            <a:r>
              <a:rPr sz="1400">
                <a:solidFill>
                  <a:srgbClr val="CE0000"/>
                </a:solidFill>
                <a:latin typeface="OPPOSans B" panose="00020600040101010101" charset="-122"/>
                <a:ea typeface="OPPOSans B" panose="00020600040101010101" charset="-122"/>
                <a:cs typeface="OPPOSans B" panose="00020600040101010101" charset="-122"/>
                <a:sym typeface="+mn-ea"/>
              </a:rPr>
              <a:t>2.4%（2026-08-05 专项统计）</a:t>
            </a:r>
            <a:endParaRPr sz="1400">
              <a:solidFill>
                <a:srgbClr val="CE0000"/>
              </a:solidFill>
              <a:latin typeface="OPPOSans B" panose="00020600040101010101" charset="-122"/>
              <a:ea typeface="OPPOSans B" panose="00020600040101010101" charset="-122"/>
              <a:cs typeface="OPPOSans B" panose="00020600040101010101" charset="-122"/>
              <a:sym typeface="+mn-ea"/>
            </a:endParaRPr>
          </a:p>
        </p:txBody>
      </p:sp>
      <p:sp>
        <p:nvSpPr>
          <p:cNvPr id="40" name="TextBox 11"/>
          <p:cNvSpPr txBox="1"/>
          <p:nvPr/>
        </p:nvSpPr>
        <p:spPr>
          <a:xfrm>
            <a:off x="6729730" y="2047240"/>
            <a:ext cx="4206240" cy="233045"/>
          </a:xfrm>
          <a:prstGeom prst="rect">
            <a:avLst/>
          </a:prstGeom>
          <a:noFill/>
        </p:spPr>
        <p:txBody>
          <a:bodyPr wrap="square" lIns="18288" tIns="9144" rIns="18288" bIns="9144" anchor="t">
            <a:spAutoFit/>
          </a:bodyPr>
          <a:p>
            <a:pPr algn="ctr">
              <a:spcAft>
                <a:spcPts val="400"/>
              </a:spcAft>
            </a:pPr>
            <a:r>
              <a:rPr sz="1400">
                <a:solidFill>
                  <a:srgbClr val="FFFFFF"/>
                </a:solidFill>
                <a:latin typeface="OPPOSans B" panose="00020600040101010101" charset="-122"/>
                <a:ea typeface="OPPOSans B" panose="00020600040101010101" charset="-122"/>
              </a:rPr>
              <a:t>实测结果</a:t>
            </a:r>
            <a:endParaRPr sz="1400">
              <a:solidFill>
                <a:srgbClr val="FFFFFF"/>
              </a:solidFill>
              <a:latin typeface="OPPOSans B" panose="00020600040101010101" charset="-122"/>
              <a:ea typeface="OPPOSans B" panose="00020600040101010101" charset="-122"/>
            </a:endParaRPr>
          </a:p>
        </p:txBody>
      </p:sp>
      <p:sp>
        <p:nvSpPr>
          <p:cNvPr id="42" name="TextBox 47"/>
          <p:cNvSpPr txBox="1"/>
          <p:nvPr/>
        </p:nvSpPr>
        <p:spPr>
          <a:xfrm>
            <a:off x="6839458" y="5443792"/>
            <a:ext cx="3986783" cy="233045"/>
          </a:xfrm>
          <a:prstGeom prst="rect">
            <a:avLst/>
          </a:prstGeom>
          <a:noFill/>
        </p:spPr>
        <p:txBody>
          <a:bodyPr wrap="square" lIns="18288" tIns="9144" rIns="18288" bIns="9144" anchor="ctr">
            <a:spAutoFit/>
          </a:bodyPr>
          <a:p>
            <a:pPr lvl="0" algn="l">
              <a:spcAft>
                <a:spcPts val="400"/>
              </a:spcAft>
              <a:buClrTx/>
              <a:buSzTx/>
              <a:buFontTx/>
            </a:pPr>
            <a:r>
              <a:rPr sz="1400">
                <a:solidFill>
                  <a:srgbClr val="CE0000"/>
                </a:solidFill>
                <a:latin typeface="OPPOSans B" panose="00020600040101010101" charset="-122"/>
                <a:ea typeface="OPPOSans B" panose="00020600040101010101" charset="-122"/>
                <a:cs typeface="OPPOSans B" panose="00020600040101010101" charset="-122"/>
                <a:sym typeface="+mn-ea"/>
              </a:rPr>
              <a:t>40/40（100%，预设应拒答题）</a:t>
            </a:r>
            <a:endParaRPr sz="1400">
              <a:solidFill>
                <a:srgbClr val="CE0000"/>
              </a:solidFill>
              <a:latin typeface="OPPOSans B" panose="00020600040101010101" charset="-122"/>
              <a:ea typeface="OPPOSans B" panose="00020600040101010101" charset="-122"/>
              <a:cs typeface="OPPOSans B" panose="00020600040101010101" charset="-122"/>
              <a:sym typeface="+mn-ea"/>
            </a:endParaRPr>
          </a:p>
        </p:txBody>
      </p:sp>
      <p:sp>
        <p:nvSpPr>
          <p:cNvPr id="95" name="Rectangle 26"/>
          <p:cNvSpPr/>
          <p:nvPr/>
        </p:nvSpPr>
        <p:spPr>
          <a:xfrm>
            <a:off x="502920" y="5951220"/>
            <a:ext cx="11183112" cy="685800"/>
          </a:xfrm>
          <a:prstGeom prst="rect">
            <a:avLst/>
          </a:prstGeom>
          <a:solidFill>
            <a:srgbClr val="FBF3F3"/>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96" name="Rectangle 27"/>
          <p:cNvSpPr/>
          <p:nvPr/>
        </p:nvSpPr>
        <p:spPr>
          <a:xfrm>
            <a:off x="502920" y="5951220"/>
            <a:ext cx="82296" cy="685800"/>
          </a:xfrm>
          <a:prstGeom prst="rect">
            <a:avLst/>
          </a:prstGeom>
          <a:solidFill>
            <a:srgbClr val="C00000"/>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97" name="TextBox 28"/>
          <p:cNvSpPr txBox="1"/>
          <p:nvPr/>
        </p:nvSpPr>
        <p:spPr>
          <a:xfrm>
            <a:off x="674370" y="6160135"/>
            <a:ext cx="10950575" cy="294640"/>
          </a:xfrm>
          <a:prstGeom prst="rect">
            <a:avLst/>
          </a:prstGeom>
          <a:noFill/>
        </p:spPr>
        <p:txBody>
          <a:bodyPr wrap="square" lIns="18288" tIns="9144" rIns="18288" bIns="9144" anchor="ctr">
            <a:spAutoFit/>
          </a:bodyPr>
          <a:p>
            <a:pPr algn="l">
              <a:spcAft>
                <a:spcPts val="400"/>
              </a:spcAft>
            </a:pPr>
            <a:r>
              <a:rPr sz="1800">
                <a:solidFill>
                  <a:srgbClr val="1F3864"/>
                </a:solidFill>
                <a:latin typeface="OPPOSans B" panose="00020600040101010101" charset="-122"/>
                <a:ea typeface="OPPOSans B" panose="00020600040101010101" charset="-122"/>
                <a:cs typeface="OPPOSans R" panose="00020600040101010101" charset="-122"/>
              </a:rPr>
              <a:t>开放题最终回归：</a:t>
            </a:r>
            <a:r>
              <a:rPr sz="1800">
                <a:solidFill>
                  <a:srgbClr val="CE0000"/>
                </a:solidFill>
                <a:latin typeface="OPPOSans B" panose="00020600040101010101" charset="-122"/>
                <a:ea typeface="OPPOSans B" panose="00020600040101010101" charset="-122"/>
                <a:cs typeface="OPPOSans B" panose="00020600040101010101" charset="-122"/>
              </a:rPr>
              <a:t>181/200（90.5%）</a:t>
            </a:r>
            <a:r>
              <a:rPr sz="1800">
                <a:solidFill>
                  <a:srgbClr val="C00000"/>
                </a:solidFill>
                <a:latin typeface="OPPOSans B" panose="00020600040101010101" charset="-122"/>
                <a:ea typeface="OPPOSans B" panose="00020600040101010101" charset="-122"/>
                <a:cs typeface="OPPOSans B" panose="00020600040101010101" charset="-122"/>
                <a:sym typeface="+mn-ea"/>
              </a:rPr>
              <a:t>，0 运行错误。</a:t>
            </a:r>
            <a:r>
              <a:rPr sz="1800">
                <a:solidFill>
                  <a:srgbClr val="1F3864"/>
                </a:solidFill>
                <a:latin typeface="OPPOSans B" panose="00020600040101010101" charset="-122"/>
                <a:ea typeface="OPPOSans B" panose="00020600040101010101" charset="-122"/>
                <a:cs typeface="OPPOSans R" panose="00020600040101010101" charset="-122"/>
              </a:rPr>
              <a:t>除实体错误率外，采用 2026-10-02 记录。</a:t>
            </a:r>
            <a:endParaRPr sz="1800">
              <a:solidFill>
                <a:srgbClr val="1F3864"/>
              </a:solidFill>
              <a:latin typeface="OPPOSans B" panose="00020600040101010101" charset="-122"/>
              <a:ea typeface="OPPOSans B" panose="00020600040101010101" charset="-122"/>
              <a:cs typeface="OPPOSans R" panose="00020600040101010101"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文本框 14"/>
          <p:cNvSpPr txBox="1"/>
          <p:nvPr/>
        </p:nvSpPr>
        <p:spPr>
          <a:xfrm>
            <a:off x="4191318" y="1942677"/>
            <a:ext cx="3798570" cy="221488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3800" b="0"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04</a:t>
            </a:r>
            <a:endParaRPr kumimoji="0" lang="en-US" altLang="zh-CN" sz="13800" b="0"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endParaRPr>
          </a:p>
        </p:txBody>
      </p:sp>
      <p:sp>
        <p:nvSpPr>
          <p:cNvPr id="16" name="文本框 15"/>
          <p:cNvSpPr txBox="1"/>
          <p:nvPr/>
        </p:nvSpPr>
        <p:spPr>
          <a:xfrm>
            <a:off x="3449637" y="3869267"/>
            <a:ext cx="5283200" cy="777875"/>
          </a:xfrm>
          <a:prstGeom prst="rect">
            <a:avLst/>
          </a:prstGeom>
          <a:noFill/>
        </p:spPr>
        <p:txBody>
          <a:bodyPr anchor="ctr"/>
          <a:lstStyle/>
          <a:p>
            <a:pPr marL="0" marR="0" lvl="0" indent="0" algn="ctr" defTabSz="914400" rtl="0" eaLnBrk="1" fontAlgn="t" latinLnBrk="0" hangingPunct="1">
              <a:lnSpc>
                <a:spcPct val="100000"/>
              </a:lnSpc>
              <a:spcBef>
                <a:spcPts val="0"/>
              </a:spcBef>
              <a:spcAft>
                <a:spcPts val="0"/>
              </a:spcAft>
              <a:buClrTx/>
              <a:buSzTx/>
              <a:buFontTx/>
              <a:buNone/>
              <a:defRPr/>
            </a:pPr>
            <a:r>
              <a:rPr kumimoji="0" lang="zh-CN" altLang="en-US" sz="36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业务场景实测</a:t>
            </a:r>
            <a:endParaRPr kumimoji="0" lang="zh-CN" altLang="en-US" sz="36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nvGrpSpPr>
          <p:cNvPr id="18" name="组合 8"/>
          <p:cNvGrpSpPr/>
          <p:nvPr/>
        </p:nvGrpSpPr>
        <p:grpSpPr>
          <a:xfrm>
            <a:off x="3671887" y="1422930"/>
            <a:ext cx="4848225" cy="350837"/>
            <a:chOff x="5783" y="848"/>
            <a:chExt cx="7636" cy="551"/>
          </a:xfrm>
        </p:grpSpPr>
        <p:sp>
          <p:nvSpPr>
            <p:cNvPr id="19" name="任意多边形: 形状 187"/>
            <p:cNvSpPr/>
            <p:nvPr/>
          </p:nvSpPr>
          <p:spPr>
            <a:xfrm>
              <a:off x="5783" y="848"/>
              <a:ext cx="7637" cy="510"/>
            </a:xfrm>
            <a:custGeom>
              <a:avLst/>
              <a:gdLst/>
              <a:ahLst/>
              <a:cxnLst>
                <a:cxn ang="0">
                  <a:pos x="2326" y="31"/>
                </a:cxn>
                <a:cxn ang="0">
                  <a:pos x="3433" y="31"/>
                </a:cxn>
                <a:cxn ang="0">
                  <a:pos x="4216" y="31"/>
                </a:cxn>
                <a:cxn ang="0">
                  <a:pos x="5259" y="31"/>
                </a:cxn>
                <a:cxn ang="0">
                  <a:pos x="5738" y="512"/>
                </a:cxn>
                <a:cxn ang="0">
                  <a:pos x="7637" y="512"/>
                </a:cxn>
                <a:cxn ang="0">
                  <a:pos x="7637" y="494"/>
                </a:cxn>
                <a:cxn ang="0">
                  <a:pos x="5747" y="494"/>
                </a:cxn>
                <a:cxn ang="0">
                  <a:pos x="5266" y="13"/>
                </a:cxn>
                <a:cxn ang="0">
                  <a:pos x="4216" y="13"/>
                </a:cxn>
                <a:cxn ang="0">
                  <a:pos x="3433" y="13"/>
                </a:cxn>
                <a:cxn ang="0">
                  <a:pos x="2319" y="13"/>
                </a:cxn>
                <a:cxn ang="0">
                  <a:pos x="1838" y="494"/>
                </a:cxn>
                <a:cxn ang="0">
                  <a:pos x="13" y="494"/>
                </a:cxn>
                <a:cxn ang="0">
                  <a:pos x="13" y="512"/>
                </a:cxn>
                <a:cxn ang="0">
                  <a:pos x="1845" y="512"/>
                </a:cxn>
              </a:cxnLst>
              <a:rect l="0" t="0" r="0" b="0"/>
              <a:pathLst>
                <a:path w="4849342" h="324061">
                  <a:moveTo>
                    <a:pt x="1477371" y="20254"/>
                  </a:moveTo>
                  <a:lnTo>
                    <a:pt x="2179890" y="20254"/>
                  </a:lnTo>
                  <a:lnTo>
                    <a:pt x="2677555" y="20254"/>
                  </a:lnTo>
                  <a:lnTo>
                    <a:pt x="3339565" y="20254"/>
                  </a:lnTo>
                  <a:lnTo>
                    <a:pt x="3643951" y="325797"/>
                  </a:lnTo>
                  <a:lnTo>
                    <a:pt x="4849922" y="325797"/>
                  </a:lnTo>
                  <a:lnTo>
                    <a:pt x="4849922" y="314224"/>
                  </a:lnTo>
                  <a:lnTo>
                    <a:pt x="3649738" y="314224"/>
                  </a:lnTo>
                  <a:lnTo>
                    <a:pt x="3344195" y="8680"/>
                  </a:lnTo>
                  <a:lnTo>
                    <a:pt x="2677555" y="8680"/>
                  </a:lnTo>
                  <a:lnTo>
                    <a:pt x="2179890" y="8680"/>
                  </a:lnTo>
                  <a:lnTo>
                    <a:pt x="1472742" y="8680"/>
                  </a:lnTo>
                  <a:lnTo>
                    <a:pt x="1167199" y="314224"/>
                  </a:lnTo>
                  <a:lnTo>
                    <a:pt x="8680" y="314224"/>
                  </a:lnTo>
                  <a:lnTo>
                    <a:pt x="8680" y="325797"/>
                  </a:lnTo>
                  <a:lnTo>
                    <a:pt x="1171828" y="325797"/>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20" name="任意多边形: 形状 188"/>
            <p:cNvSpPr/>
            <p:nvPr/>
          </p:nvSpPr>
          <p:spPr>
            <a:xfrm>
              <a:off x="7826" y="1017"/>
              <a:ext cx="3536" cy="383"/>
            </a:xfrm>
            <a:custGeom>
              <a:avLst/>
              <a:gdLst/>
              <a:ahLst/>
              <a:cxnLst>
                <a:cxn ang="0">
                  <a:pos x="3192" y="13"/>
                </a:cxn>
                <a:cxn ang="0">
                  <a:pos x="1845" y="13"/>
                </a:cxn>
                <a:cxn ang="0">
                  <a:pos x="1705" y="13"/>
                </a:cxn>
                <a:cxn ang="0">
                  <a:pos x="356" y="13"/>
                </a:cxn>
                <a:cxn ang="0">
                  <a:pos x="13" y="358"/>
                </a:cxn>
                <a:cxn ang="0">
                  <a:pos x="24" y="371"/>
                </a:cxn>
                <a:cxn ang="0">
                  <a:pos x="363" y="31"/>
                </a:cxn>
                <a:cxn ang="0">
                  <a:pos x="1705" y="31"/>
                </a:cxn>
                <a:cxn ang="0">
                  <a:pos x="1845" y="31"/>
                </a:cxn>
                <a:cxn ang="0">
                  <a:pos x="3185" y="31"/>
                </a:cxn>
                <a:cxn ang="0">
                  <a:pos x="3516" y="362"/>
                </a:cxn>
                <a:cxn ang="0">
                  <a:pos x="3529" y="351"/>
                </a:cxn>
              </a:cxnLst>
              <a:rect l="0" t="0" r="0" b="0"/>
              <a:pathLst>
                <a:path w="2245280" h="243045">
                  <a:moveTo>
                    <a:pt x="2027118" y="8680"/>
                  </a:moveTo>
                  <a:lnTo>
                    <a:pt x="1171828" y="8680"/>
                  </a:lnTo>
                  <a:lnTo>
                    <a:pt x="1082711" y="8680"/>
                  </a:lnTo>
                  <a:lnTo>
                    <a:pt x="226264" y="8680"/>
                  </a:lnTo>
                  <a:lnTo>
                    <a:pt x="8680" y="227421"/>
                  </a:lnTo>
                  <a:lnTo>
                    <a:pt x="15624" y="235523"/>
                  </a:lnTo>
                  <a:lnTo>
                    <a:pt x="230894" y="20254"/>
                  </a:lnTo>
                  <a:lnTo>
                    <a:pt x="1082711" y="20254"/>
                  </a:lnTo>
                  <a:lnTo>
                    <a:pt x="1171828" y="20254"/>
                  </a:lnTo>
                  <a:lnTo>
                    <a:pt x="2022488" y="20254"/>
                  </a:lnTo>
                  <a:lnTo>
                    <a:pt x="2233128" y="229736"/>
                  </a:lnTo>
                  <a:lnTo>
                    <a:pt x="2241230" y="222792"/>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grpSp>
      <p:grpSp>
        <p:nvGrpSpPr>
          <p:cNvPr id="21" name="组合 7"/>
          <p:cNvGrpSpPr/>
          <p:nvPr/>
        </p:nvGrpSpPr>
        <p:grpSpPr>
          <a:xfrm flipV="1">
            <a:off x="3671887" y="4972580"/>
            <a:ext cx="4849813" cy="336550"/>
            <a:chOff x="5975" y="1069"/>
            <a:chExt cx="7636" cy="530"/>
          </a:xfrm>
        </p:grpSpPr>
        <p:sp>
          <p:nvSpPr>
            <p:cNvPr id="22" name="任意多边形: 形状 187"/>
            <p:cNvSpPr/>
            <p:nvPr/>
          </p:nvSpPr>
          <p:spPr>
            <a:xfrm>
              <a:off x="5975" y="1069"/>
              <a:ext cx="7637" cy="510"/>
            </a:xfrm>
            <a:custGeom>
              <a:avLst/>
              <a:gdLst/>
              <a:ahLst/>
              <a:cxnLst>
                <a:cxn ang="0">
                  <a:pos x="2326" y="31"/>
                </a:cxn>
                <a:cxn ang="0">
                  <a:pos x="3433" y="31"/>
                </a:cxn>
                <a:cxn ang="0">
                  <a:pos x="4216" y="31"/>
                </a:cxn>
                <a:cxn ang="0">
                  <a:pos x="5259" y="31"/>
                </a:cxn>
                <a:cxn ang="0">
                  <a:pos x="5738" y="512"/>
                </a:cxn>
                <a:cxn ang="0">
                  <a:pos x="7637" y="512"/>
                </a:cxn>
                <a:cxn ang="0">
                  <a:pos x="7637" y="494"/>
                </a:cxn>
                <a:cxn ang="0">
                  <a:pos x="5747" y="494"/>
                </a:cxn>
                <a:cxn ang="0">
                  <a:pos x="5266" y="13"/>
                </a:cxn>
                <a:cxn ang="0">
                  <a:pos x="4216" y="13"/>
                </a:cxn>
                <a:cxn ang="0">
                  <a:pos x="3433" y="13"/>
                </a:cxn>
                <a:cxn ang="0">
                  <a:pos x="2319" y="13"/>
                </a:cxn>
                <a:cxn ang="0">
                  <a:pos x="1838" y="494"/>
                </a:cxn>
                <a:cxn ang="0">
                  <a:pos x="13" y="494"/>
                </a:cxn>
                <a:cxn ang="0">
                  <a:pos x="13" y="512"/>
                </a:cxn>
                <a:cxn ang="0">
                  <a:pos x="1845" y="512"/>
                </a:cxn>
              </a:cxnLst>
              <a:rect l="0" t="0" r="0" b="0"/>
              <a:pathLst>
                <a:path w="4849342" h="324061">
                  <a:moveTo>
                    <a:pt x="1477371" y="20254"/>
                  </a:moveTo>
                  <a:lnTo>
                    <a:pt x="2179890" y="20254"/>
                  </a:lnTo>
                  <a:lnTo>
                    <a:pt x="2677555" y="20254"/>
                  </a:lnTo>
                  <a:lnTo>
                    <a:pt x="3339565" y="20254"/>
                  </a:lnTo>
                  <a:lnTo>
                    <a:pt x="3643951" y="325797"/>
                  </a:lnTo>
                  <a:lnTo>
                    <a:pt x="4849922" y="325797"/>
                  </a:lnTo>
                  <a:lnTo>
                    <a:pt x="4849922" y="314224"/>
                  </a:lnTo>
                  <a:lnTo>
                    <a:pt x="3649738" y="314224"/>
                  </a:lnTo>
                  <a:lnTo>
                    <a:pt x="3344195" y="8680"/>
                  </a:lnTo>
                  <a:lnTo>
                    <a:pt x="2677555" y="8680"/>
                  </a:lnTo>
                  <a:lnTo>
                    <a:pt x="2179890" y="8680"/>
                  </a:lnTo>
                  <a:lnTo>
                    <a:pt x="1472742" y="8680"/>
                  </a:lnTo>
                  <a:lnTo>
                    <a:pt x="1167199" y="314224"/>
                  </a:lnTo>
                  <a:lnTo>
                    <a:pt x="8680" y="314224"/>
                  </a:lnTo>
                  <a:lnTo>
                    <a:pt x="8680" y="325797"/>
                  </a:lnTo>
                  <a:lnTo>
                    <a:pt x="1171828" y="325797"/>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23" name="任意多边形: 形状 188"/>
            <p:cNvSpPr/>
            <p:nvPr/>
          </p:nvSpPr>
          <p:spPr>
            <a:xfrm>
              <a:off x="8026" y="1217"/>
              <a:ext cx="3536" cy="383"/>
            </a:xfrm>
            <a:custGeom>
              <a:avLst/>
              <a:gdLst/>
              <a:ahLst/>
              <a:cxnLst>
                <a:cxn ang="0">
                  <a:pos x="3192" y="13"/>
                </a:cxn>
                <a:cxn ang="0">
                  <a:pos x="1845" y="13"/>
                </a:cxn>
                <a:cxn ang="0">
                  <a:pos x="1705" y="13"/>
                </a:cxn>
                <a:cxn ang="0">
                  <a:pos x="356" y="13"/>
                </a:cxn>
                <a:cxn ang="0">
                  <a:pos x="13" y="358"/>
                </a:cxn>
                <a:cxn ang="0">
                  <a:pos x="24" y="371"/>
                </a:cxn>
                <a:cxn ang="0">
                  <a:pos x="363" y="31"/>
                </a:cxn>
                <a:cxn ang="0">
                  <a:pos x="1705" y="31"/>
                </a:cxn>
                <a:cxn ang="0">
                  <a:pos x="1845" y="31"/>
                </a:cxn>
                <a:cxn ang="0">
                  <a:pos x="3185" y="31"/>
                </a:cxn>
                <a:cxn ang="0">
                  <a:pos x="3516" y="362"/>
                </a:cxn>
                <a:cxn ang="0">
                  <a:pos x="3529" y="351"/>
                </a:cxn>
              </a:cxnLst>
              <a:rect l="0" t="0" r="0" b="0"/>
              <a:pathLst>
                <a:path w="2245280" h="243045">
                  <a:moveTo>
                    <a:pt x="2027118" y="8680"/>
                  </a:moveTo>
                  <a:lnTo>
                    <a:pt x="1171828" y="8680"/>
                  </a:lnTo>
                  <a:lnTo>
                    <a:pt x="1082711" y="8680"/>
                  </a:lnTo>
                  <a:lnTo>
                    <a:pt x="226264" y="8680"/>
                  </a:lnTo>
                  <a:lnTo>
                    <a:pt x="8680" y="227421"/>
                  </a:lnTo>
                  <a:lnTo>
                    <a:pt x="15624" y="235523"/>
                  </a:lnTo>
                  <a:lnTo>
                    <a:pt x="230894" y="20254"/>
                  </a:lnTo>
                  <a:lnTo>
                    <a:pt x="1082711" y="20254"/>
                  </a:lnTo>
                  <a:lnTo>
                    <a:pt x="1171828" y="20254"/>
                  </a:lnTo>
                  <a:lnTo>
                    <a:pt x="2022488" y="20254"/>
                  </a:lnTo>
                  <a:lnTo>
                    <a:pt x="2233128" y="229736"/>
                  </a:lnTo>
                  <a:lnTo>
                    <a:pt x="2241230" y="222792"/>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矩形 14"/>
          <p:cNvSpPr/>
          <p:nvPr/>
        </p:nvSpPr>
        <p:spPr>
          <a:xfrm>
            <a:off x="-304800" y="587375"/>
            <a:ext cx="12862560" cy="5641340"/>
          </a:xfrm>
          <a:prstGeom prst="rect">
            <a:avLst/>
          </a:prstGeom>
          <a:solidFill>
            <a:schemeClr val="bg1"/>
          </a:solidFill>
          <a:ln>
            <a:noFill/>
          </a:ln>
          <a:effectLst>
            <a:outerShdw blurRad="50800" dist="38100" dir="10800000" algn="r" rotWithShape="0">
              <a:prstClr val="black">
                <a:alpha val="40000"/>
              </a:prstClr>
            </a:outerShdw>
            <a:softEdge rad="317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2" name="Rectangle 2"/>
          <p:cNvSpPr/>
          <p:nvPr/>
        </p:nvSpPr>
        <p:spPr>
          <a:xfrm>
            <a:off x="502920" y="1018413"/>
            <a:ext cx="82296" cy="566928"/>
          </a:xfrm>
          <a:prstGeom prst="rect">
            <a:avLst/>
          </a:prstGeom>
          <a:solidFill>
            <a:srgbClr val="1C41A9"/>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5" name="TextBox 3"/>
          <p:cNvSpPr txBox="1"/>
          <p:nvPr/>
        </p:nvSpPr>
        <p:spPr>
          <a:xfrm>
            <a:off x="713232" y="1066736"/>
            <a:ext cx="10058400" cy="479425"/>
          </a:xfrm>
          <a:prstGeom prst="rect">
            <a:avLst/>
          </a:prstGeom>
          <a:noFill/>
        </p:spPr>
        <p:txBody>
          <a:bodyPr wrap="square" lIns="18288" tIns="9144" rIns="18288" bIns="9144" anchor="ctr">
            <a:spAutoFit/>
          </a:bodyPr>
          <a:p>
            <a:pPr algn="l">
              <a:spcAft>
                <a:spcPts val="400"/>
              </a:spcAft>
            </a:pPr>
            <a:r>
              <a:rPr sz="3000">
                <a:solidFill>
                  <a:srgbClr val="195CC4"/>
                </a:solidFill>
                <a:latin typeface="OPPOSans B" panose="00020600040101010101" charset="-122"/>
                <a:ea typeface="OPPOSans B" panose="00020600040101010101" charset="-122"/>
                <a:sym typeface="+mn-ea"/>
              </a:rPr>
              <a:t>工程验证：CPU/GPU部署适配与稳定性保障</a:t>
            </a:r>
            <a:endParaRPr sz="3000">
              <a:solidFill>
                <a:srgbClr val="195CC4"/>
              </a:solidFill>
              <a:latin typeface="OPPOSans B" panose="00020600040101010101" charset="-122"/>
              <a:ea typeface="OPPOSans B" panose="00020600040101010101" charset="-122"/>
              <a:sym typeface="+mn-ea"/>
            </a:endParaRPr>
          </a:p>
        </p:txBody>
      </p:sp>
      <p:sp>
        <p:nvSpPr>
          <p:cNvPr id="7" name="TextBox 4"/>
          <p:cNvSpPr txBox="1"/>
          <p:nvPr/>
        </p:nvSpPr>
        <p:spPr>
          <a:xfrm>
            <a:off x="713232" y="1575054"/>
            <a:ext cx="10789920" cy="499745"/>
          </a:xfrm>
          <a:prstGeom prst="rect">
            <a:avLst/>
          </a:prstGeom>
          <a:noFill/>
        </p:spPr>
        <p:txBody>
          <a:bodyPr wrap="square" lIns="18288" tIns="9144" rIns="18288" bIns="9144" anchor="t">
            <a:spAutoFit/>
          </a:bodyPr>
          <a:p>
            <a:pPr algn="l">
              <a:spcAft>
                <a:spcPts val="400"/>
              </a:spcAft>
            </a:pPr>
            <a:r>
              <a:rPr sz="1400">
                <a:latin typeface="OPPOSans R" panose="00020600040101010101" charset="-122"/>
                <a:ea typeface="OPPOSans R" panose="00020600040101010101" charset="-122"/>
                <a:cs typeface="OPPOSans R" panose="00020600040101010101" charset="-122"/>
                <a:sym typeface="+mn-ea"/>
              </a:rPr>
              <a:t>CPU/GPU 双配置成对实验：两轮各 500 题（300+200），均为 0 运行错误（2026-08-05）。</a:t>
            </a:r>
            <a:endParaRPr sz="1400">
              <a:latin typeface="OPPOSans R" panose="00020600040101010101" charset="-122"/>
              <a:ea typeface="OPPOSans R" panose="00020600040101010101" charset="-122"/>
              <a:cs typeface="OPPOSans R" panose="00020600040101010101" charset="-122"/>
              <a:sym typeface="+mn-ea"/>
            </a:endParaRPr>
          </a:p>
        </p:txBody>
      </p:sp>
      <p:sp>
        <p:nvSpPr>
          <p:cNvPr id="52" name="Rectangle 5"/>
          <p:cNvSpPr/>
          <p:nvPr/>
        </p:nvSpPr>
        <p:spPr>
          <a:xfrm>
            <a:off x="502920" y="1840230"/>
            <a:ext cx="11196000" cy="20320"/>
          </a:xfrm>
          <a:prstGeom prst="rect">
            <a:avLst/>
          </a:prstGeom>
          <a:solidFill>
            <a:srgbClr val="D9DEE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 name="TextBox 6"/>
          <p:cNvSpPr txBox="1"/>
          <p:nvPr/>
        </p:nvSpPr>
        <p:spPr>
          <a:xfrm>
            <a:off x="502920" y="1903730"/>
            <a:ext cx="6400800" cy="263525"/>
          </a:xfrm>
          <a:prstGeom prst="rect">
            <a:avLst/>
          </a:prstGeom>
          <a:noFill/>
        </p:spPr>
        <p:txBody>
          <a:bodyPr wrap="square" lIns="18288" tIns="9144" rIns="18288" bIns="9144" anchor="t">
            <a:spAutoFit/>
          </a:bodyPr>
          <a:p>
            <a:pPr algn="l">
              <a:spcAft>
                <a:spcPts val="400"/>
              </a:spcAft>
            </a:pPr>
            <a:r>
              <a:rPr sz="1600">
                <a:solidFill>
                  <a:srgbClr val="195CC4"/>
                </a:solidFill>
                <a:latin typeface="OPPOSans B" panose="00020600040101010101" charset="-122"/>
                <a:ea typeface="OPPOSans B" panose="00020600040101010101" charset="-122"/>
                <a:cs typeface="OPPOSans B" panose="00020600040101010101" charset="-122"/>
              </a:rPr>
              <a:t>单轮问答实测（串行，RTX 5070 Laptop / Ryzen 9 8945HX）</a:t>
            </a:r>
            <a:endParaRPr sz="1600">
              <a:solidFill>
                <a:srgbClr val="195CC4"/>
              </a:solidFill>
              <a:latin typeface="OPPOSans B" panose="00020600040101010101" charset="-122"/>
              <a:ea typeface="OPPOSans B" panose="00020600040101010101" charset="-122"/>
              <a:cs typeface="OPPOSans B" panose="00020600040101010101" charset="-122"/>
            </a:endParaRPr>
          </a:p>
        </p:txBody>
      </p:sp>
      <p:sp>
        <p:nvSpPr>
          <p:cNvPr id="8" name="Rectangle 7"/>
          <p:cNvSpPr/>
          <p:nvPr/>
        </p:nvSpPr>
        <p:spPr>
          <a:xfrm>
            <a:off x="502920" y="2201418"/>
            <a:ext cx="2651760" cy="457200"/>
          </a:xfrm>
          <a:prstGeom prst="rect">
            <a:avLst/>
          </a:prstGeom>
          <a:solidFill>
            <a:srgbClr val="2E5AA8"/>
          </a:solidFill>
          <a:ln>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0" name="Rectangle 9"/>
          <p:cNvSpPr/>
          <p:nvPr/>
        </p:nvSpPr>
        <p:spPr>
          <a:xfrm>
            <a:off x="3154680" y="2201418"/>
            <a:ext cx="1417320" cy="457200"/>
          </a:xfrm>
          <a:prstGeom prst="rect">
            <a:avLst/>
          </a:prstGeom>
          <a:solidFill>
            <a:srgbClr val="2E5AA8"/>
          </a:solidFill>
          <a:ln>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2" name="Rectangle 11"/>
          <p:cNvSpPr/>
          <p:nvPr/>
        </p:nvSpPr>
        <p:spPr>
          <a:xfrm>
            <a:off x="4572000" y="2201418"/>
            <a:ext cx="1417320" cy="457200"/>
          </a:xfrm>
          <a:prstGeom prst="rect">
            <a:avLst/>
          </a:prstGeom>
          <a:solidFill>
            <a:srgbClr val="2E5AA8"/>
          </a:solidFill>
          <a:ln>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4" name="Rectangle 13"/>
          <p:cNvSpPr/>
          <p:nvPr/>
        </p:nvSpPr>
        <p:spPr>
          <a:xfrm>
            <a:off x="502920" y="2658618"/>
            <a:ext cx="2651760" cy="502920"/>
          </a:xfrm>
          <a:prstGeom prst="rect">
            <a:avLst/>
          </a:prstGeom>
          <a:solidFill>
            <a:srgbClr val="F2F5FA"/>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4" name="TextBox 14"/>
          <p:cNvSpPr txBox="1"/>
          <p:nvPr/>
        </p:nvSpPr>
        <p:spPr>
          <a:xfrm>
            <a:off x="502920" y="2788983"/>
            <a:ext cx="2651760" cy="233045"/>
          </a:xfrm>
          <a:prstGeom prst="rect">
            <a:avLst/>
          </a:prstGeom>
          <a:noFill/>
        </p:spPr>
        <p:txBody>
          <a:bodyPr wrap="square" lIns="18288" tIns="9144" rIns="18288" bIns="9144" anchor="ctr">
            <a:spAutoFit/>
          </a:bodyPr>
          <a:p>
            <a:pPr algn="ctr">
              <a:spcAft>
                <a:spcPts val="400"/>
              </a:spcAft>
            </a:pPr>
            <a:r>
              <a:rPr sz="1400">
                <a:solidFill>
                  <a:schemeClr val="accent1"/>
                </a:solidFill>
                <a:latin typeface="OPPOSans B" panose="00020600040101010101" charset="-122"/>
                <a:ea typeface="OPPOSans B" panose="00020600040101010101" charset="-122"/>
                <a:cs typeface="OPPOSans B" panose="00020600040101010101" charset="-122"/>
              </a:rPr>
              <a:t>官方 300 题（选择题）</a:t>
            </a:r>
            <a:endParaRPr sz="1400">
              <a:solidFill>
                <a:schemeClr val="accent1"/>
              </a:solidFill>
              <a:latin typeface="OPPOSans B" panose="00020600040101010101" charset="-122"/>
              <a:ea typeface="OPPOSans B" panose="00020600040101010101" charset="-122"/>
              <a:cs typeface="OPPOSans B" panose="00020600040101010101" charset="-122"/>
            </a:endParaRPr>
          </a:p>
        </p:txBody>
      </p:sp>
      <p:sp>
        <p:nvSpPr>
          <p:cNvPr id="16" name="Rectangle 15"/>
          <p:cNvSpPr/>
          <p:nvPr/>
        </p:nvSpPr>
        <p:spPr>
          <a:xfrm>
            <a:off x="3154680" y="2658618"/>
            <a:ext cx="1417320" cy="502920"/>
          </a:xfrm>
          <a:prstGeom prst="rect">
            <a:avLst/>
          </a:prstGeom>
          <a:solidFill>
            <a:srgbClr val="F2F5FA"/>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7" name="TextBox 16"/>
          <p:cNvSpPr txBox="1"/>
          <p:nvPr/>
        </p:nvSpPr>
        <p:spPr>
          <a:xfrm>
            <a:off x="3154680" y="2788983"/>
            <a:ext cx="1417320" cy="233045"/>
          </a:xfrm>
          <a:prstGeom prst="rect">
            <a:avLst/>
          </a:prstGeom>
          <a:noFill/>
        </p:spPr>
        <p:txBody>
          <a:bodyPr wrap="square" lIns="18288" tIns="9144" rIns="18288" bIns="9144" anchor="ctr">
            <a:spAutoFit/>
          </a:bodyPr>
          <a:p>
            <a:pPr algn="ctr">
              <a:spcAft>
                <a:spcPts val="400"/>
              </a:spcAft>
            </a:pPr>
            <a:r>
              <a:rPr sz="1400" b="0">
                <a:solidFill>
                  <a:schemeClr val="tx1"/>
                </a:solidFill>
                <a:latin typeface="OPPOSans R" panose="00020600040101010101" charset="-122"/>
                <a:ea typeface="OPPOSans R" panose="00020600040101010101" charset="-122"/>
              </a:rPr>
              <a:t>7.03 s</a:t>
            </a:r>
            <a:endParaRPr sz="1400" b="0">
              <a:solidFill>
                <a:schemeClr val="tx1"/>
              </a:solidFill>
              <a:latin typeface="OPPOSans R" panose="00020600040101010101" charset="-122"/>
              <a:ea typeface="OPPOSans R" panose="00020600040101010101" charset="-122"/>
            </a:endParaRPr>
          </a:p>
        </p:txBody>
      </p:sp>
      <p:sp>
        <p:nvSpPr>
          <p:cNvPr id="18" name="Rectangle 17"/>
          <p:cNvSpPr/>
          <p:nvPr/>
        </p:nvSpPr>
        <p:spPr>
          <a:xfrm>
            <a:off x="4572000" y="2658618"/>
            <a:ext cx="1417320" cy="502920"/>
          </a:xfrm>
          <a:prstGeom prst="rect">
            <a:avLst/>
          </a:prstGeom>
          <a:solidFill>
            <a:srgbClr val="F2F5FA"/>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19" name="TextBox 18"/>
          <p:cNvSpPr txBox="1"/>
          <p:nvPr/>
        </p:nvSpPr>
        <p:spPr>
          <a:xfrm>
            <a:off x="4572000" y="2788983"/>
            <a:ext cx="1417320" cy="233045"/>
          </a:xfrm>
          <a:prstGeom prst="rect">
            <a:avLst/>
          </a:prstGeom>
          <a:noFill/>
        </p:spPr>
        <p:txBody>
          <a:bodyPr wrap="square" lIns="18288" tIns="9144" rIns="18288" bIns="9144" anchor="ctr">
            <a:spAutoFit/>
          </a:bodyPr>
          <a:p>
            <a:pPr algn="ctr">
              <a:spcAft>
                <a:spcPts val="400"/>
              </a:spcAft>
            </a:pPr>
            <a:r>
              <a:rPr sz="1400" b="0">
                <a:solidFill>
                  <a:srgbClr val="595959"/>
                </a:solidFill>
                <a:latin typeface="OPPOSans R" panose="00020600040101010101" charset="-122"/>
                <a:ea typeface="OPPOSans R" panose="00020600040101010101" charset="-122"/>
              </a:rPr>
              <a:t>0.54 </a:t>
            </a:r>
            <a:r>
              <a:rPr sz="1400" b="0">
                <a:latin typeface="OPPOSans R" panose="00020600040101010101" charset="-122"/>
                <a:ea typeface="OPPOSans R" panose="00020600040101010101" charset="-122"/>
              </a:rPr>
              <a:t>s</a:t>
            </a:r>
            <a:endParaRPr sz="1400" b="0">
              <a:solidFill>
                <a:srgbClr val="595959"/>
              </a:solidFill>
              <a:latin typeface="OPPOSans R" panose="00020600040101010101" charset="-122"/>
              <a:ea typeface="OPPOSans R" panose="00020600040101010101" charset="-122"/>
            </a:endParaRPr>
          </a:p>
        </p:txBody>
      </p:sp>
      <p:sp>
        <p:nvSpPr>
          <p:cNvPr id="20" name="Rectangle 19"/>
          <p:cNvSpPr/>
          <p:nvPr/>
        </p:nvSpPr>
        <p:spPr>
          <a:xfrm>
            <a:off x="502920" y="3161538"/>
            <a:ext cx="2651760" cy="5029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1" name="TextBox 20"/>
          <p:cNvSpPr txBox="1"/>
          <p:nvPr/>
        </p:nvSpPr>
        <p:spPr>
          <a:xfrm>
            <a:off x="502920" y="3291904"/>
            <a:ext cx="2651760" cy="233045"/>
          </a:xfrm>
          <a:prstGeom prst="rect">
            <a:avLst/>
          </a:prstGeom>
          <a:noFill/>
        </p:spPr>
        <p:txBody>
          <a:bodyPr wrap="square" lIns="18288" tIns="9144" rIns="18288" bIns="9144" anchor="ctr">
            <a:spAutoFit/>
          </a:bodyPr>
          <a:p>
            <a:pPr lvl="0" algn="ctr">
              <a:spcAft>
                <a:spcPts val="400"/>
              </a:spcAft>
              <a:buClrTx/>
              <a:buSzTx/>
              <a:buFontTx/>
            </a:pPr>
            <a:r>
              <a:rPr sz="1400">
                <a:solidFill>
                  <a:schemeClr val="accent1"/>
                </a:solidFill>
                <a:latin typeface="OPPOSans B" panose="00020600040101010101" charset="-122"/>
                <a:ea typeface="OPPOSans B" panose="00020600040101010101" charset="-122"/>
                <a:cs typeface="OPPOSans B" panose="00020600040101010101" charset="-122"/>
                <a:sym typeface="+mn-ea"/>
              </a:rPr>
              <a:t>自命题 200 题（开放问答）</a:t>
            </a:r>
            <a:endParaRPr sz="1400">
              <a:solidFill>
                <a:schemeClr val="accent1"/>
              </a:solidFill>
              <a:latin typeface="OPPOSans B" panose="00020600040101010101" charset="-122"/>
              <a:ea typeface="OPPOSans B" panose="00020600040101010101" charset="-122"/>
              <a:cs typeface="OPPOSans B" panose="00020600040101010101" charset="-122"/>
              <a:sym typeface="+mn-ea"/>
            </a:endParaRPr>
          </a:p>
        </p:txBody>
      </p:sp>
      <p:sp>
        <p:nvSpPr>
          <p:cNvPr id="22" name="Rectangle 21"/>
          <p:cNvSpPr/>
          <p:nvPr/>
        </p:nvSpPr>
        <p:spPr>
          <a:xfrm>
            <a:off x="3154680" y="3161538"/>
            <a:ext cx="1417320" cy="5029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3" name="TextBox 22"/>
          <p:cNvSpPr txBox="1"/>
          <p:nvPr/>
        </p:nvSpPr>
        <p:spPr>
          <a:xfrm>
            <a:off x="3154680" y="3291904"/>
            <a:ext cx="1417320" cy="233045"/>
          </a:xfrm>
          <a:prstGeom prst="rect">
            <a:avLst/>
          </a:prstGeom>
          <a:noFill/>
        </p:spPr>
        <p:txBody>
          <a:bodyPr wrap="square" lIns="18288" tIns="9144" rIns="18288" bIns="9144" anchor="ctr">
            <a:spAutoFit/>
          </a:bodyPr>
          <a:p>
            <a:pPr algn="ctr">
              <a:spcAft>
                <a:spcPts val="400"/>
              </a:spcAft>
            </a:pPr>
            <a:r>
              <a:rPr sz="1400" b="0">
                <a:solidFill>
                  <a:srgbClr val="595959"/>
                </a:solidFill>
                <a:latin typeface="OPPOSans R" panose="00020600040101010101" charset="-122"/>
                <a:ea typeface="OPPOSans R" panose="00020600040101010101" charset="-122"/>
              </a:rPr>
              <a:t>28.</a:t>
            </a:r>
            <a:r>
              <a:rPr sz="1400" b="0">
                <a:latin typeface="OPPOSans R" panose="00020600040101010101" charset="-122"/>
                <a:ea typeface="OPPOSans R" panose="00020600040101010101" charset="-122"/>
              </a:rPr>
              <a:t>4 </a:t>
            </a:r>
            <a:r>
              <a:rPr sz="1400" b="0">
                <a:solidFill>
                  <a:srgbClr val="595959"/>
                </a:solidFill>
                <a:latin typeface="OPPOSans R" panose="00020600040101010101" charset="-122"/>
                <a:ea typeface="OPPOSans R" panose="00020600040101010101" charset="-122"/>
              </a:rPr>
              <a:t>s</a:t>
            </a:r>
            <a:endParaRPr sz="1400" b="0">
              <a:solidFill>
                <a:srgbClr val="595959"/>
              </a:solidFill>
              <a:latin typeface="OPPOSans R" panose="00020600040101010101" charset="-122"/>
              <a:ea typeface="OPPOSans R" panose="00020600040101010101" charset="-122"/>
            </a:endParaRPr>
          </a:p>
        </p:txBody>
      </p:sp>
      <p:sp>
        <p:nvSpPr>
          <p:cNvPr id="24" name="Rectangle 23"/>
          <p:cNvSpPr/>
          <p:nvPr/>
        </p:nvSpPr>
        <p:spPr>
          <a:xfrm>
            <a:off x="4572000" y="3161538"/>
            <a:ext cx="1417320" cy="502920"/>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5" name="TextBox 24"/>
          <p:cNvSpPr txBox="1"/>
          <p:nvPr/>
        </p:nvSpPr>
        <p:spPr>
          <a:xfrm>
            <a:off x="4572000" y="3291904"/>
            <a:ext cx="1417320" cy="233045"/>
          </a:xfrm>
          <a:prstGeom prst="rect">
            <a:avLst/>
          </a:prstGeom>
          <a:noFill/>
        </p:spPr>
        <p:txBody>
          <a:bodyPr wrap="square" lIns="18288" tIns="9144" rIns="18288" bIns="9144" anchor="ctr">
            <a:spAutoFit/>
          </a:bodyPr>
          <a:p>
            <a:pPr algn="ctr">
              <a:spcAft>
                <a:spcPts val="400"/>
              </a:spcAft>
            </a:pPr>
            <a:r>
              <a:rPr sz="1400" b="0">
                <a:solidFill>
                  <a:srgbClr val="595959"/>
                </a:solidFill>
                <a:latin typeface="OPPOSans R" panose="00020600040101010101" charset="-122"/>
                <a:ea typeface="OPPOSans R" panose="00020600040101010101" charset="-122"/>
              </a:rPr>
              <a:t>17.9 s</a:t>
            </a:r>
            <a:endParaRPr sz="1400" b="0">
              <a:solidFill>
                <a:srgbClr val="595959"/>
              </a:solidFill>
              <a:latin typeface="OPPOSans R" panose="00020600040101010101" charset="-122"/>
              <a:ea typeface="OPPOSans R" panose="00020600040101010101" charset="-122"/>
            </a:endParaRPr>
          </a:p>
        </p:txBody>
      </p:sp>
      <p:sp>
        <p:nvSpPr>
          <p:cNvPr id="26" name="TextBox 25"/>
          <p:cNvSpPr txBox="1"/>
          <p:nvPr/>
        </p:nvSpPr>
        <p:spPr>
          <a:xfrm>
            <a:off x="502920" y="3681729"/>
            <a:ext cx="6400800" cy="1412875"/>
          </a:xfrm>
          <a:prstGeom prst="rect">
            <a:avLst/>
          </a:prstGeom>
          <a:noFill/>
        </p:spPr>
        <p:txBody>
          <a:bodyPr wrap="square" lIns="18288" tIns="9144" rIns="18288" bIns="9144" anchor="t">
            <a:spAutoFit/>
          </a:bodyPr>
          <a:p>
            <a:pPr algn="l">
              <a:lnSpc>
                <a:spcPct val="150000"/>
              </a:lnSpc>
              <a:spcAft>
                <a:spcPts val="4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双引擎分工：</a:t>
            </a:r>
            <a:r>
              <a:rPr sz="1400">
                <a:solidFill>
                  <a:schemeClr val="tx1"/>
                </a:solidFill>
                <a:latin typeface="OPPOSans R" panose="00020600040101010101" charset="-122"/>
                <a:ea typeface="OPPOSans R" panose="00020600040101010101" charset="-122"/>
                <a:cs typeface="OPPOSans R" panose="00020600040101010101" charset="-122"/>
              </a:rPr>
              <a:t>检索、重排与表格计算本地执行，复杂文本按需调用模型。</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a:lnSpc>
                <a:spcPct val="150000"/>
              </a:lnSpc>
              <a:spcAft>
                <a:spcPts val="4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GPU 加速：</a:t>
            </a:r>
            <a:r>
              <a:rPr sz="1400">
                <a:solidFill>
                  <a:schemeClr val="tx1"/>
                </a:solidFill>
                <a:latin typeface="OPPOSans R" panose="00020600040101010101" charset="-122"/>
                <a:ea typeface="OPPOSans R" panose="00020600040101010101" charset="-122"/>
                <a:cs typeface="OPPOSans R" panose="00020600040101010101" charset="-122"/>
              </a:rPr>
              <a:t>历史开放题平均 </a:t>
            </a:r>
            <a:r>
              <a:rPr sz="1400">
                <a:solidFill>
                  <a:schemeClr val="accent1"/>
                </a:solidFill>
                <a:latin typeface="OPPOSans B" panose="00020600040101010101" charset="-122"/>
                <a:ea typeface="OPPOSans B" panose="00020600040101010101" charset="-122"/>
                <a:cs typeface="OPPOSans R" panose="00020600040101010101" charset="-122"/>
                <a:sym typeface="+mn-ea"/>
              </a:rPr>
              <a:t>28.4s 降至 17.9s</a:t>
            </a:r>
            <a:r>
              <a:rPr sz="1400">
                <a:solidFill>
                  <a:schemeClr val="tx1"/>
                </a:solidFill>
                <a:latin typeface="OPPOSans R" panose="00020600040101010101" charset="-122"/>
                <a:ea typeface="OPPOSans R" panose="00020600040101010101" charset="-122"/>
                <a:cs typeface="OPPOSans R" panose="00020600040101010101" charset="-122"/>
              </a:rPr>
              <a:t>，约 1.6 倍；长尾受外部 API 波动影响。</a:t>
            </a:r>
            <a:endParaRPr sz="1400">
              <a:solidFill>
                <a:schemeClr val="tx1"/>
              </a:solidFill>
              <a:latin typeface="OPPOSans R" panose="00020600040101010101" charset="-122"/>
              <a:ea typeface="OPPOSans R" panose="00020600040101010101" charset="-122"/>
              <a:cs typeface="OPPOSans R" panose="00020600040101010101" charset="-122"/>
            </a:endParaRPr>
          </a:p>
          <a:p>
            <a:pPr algn="l">
              <a:lnSpc>
                <a:spcPct val="150000"/>
              </a:lnSpc>
              <a:spcAft>
                <a:spcPts val="4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2E5AA8"/>
                </a:solidFill>
                <a:latin typeface="OPPOSans B" panose="00020600040101010101" charset="-122"/>
                <a:ea typeface="OPPOSans B" panose="00020600040101010101" charset="-122"/>
                <a:cs typeface="OPPOSans B" panose="00020600040101010101" charset="-122"/>
              </a:rPr>
              <a:t>离线与在线分工：</a:t>
            </a:r>
            <a:r>
              <a:rPr sz="1400">
                <a:solidFill>
                  <a:schemeClr val="tx1"/>
                </a:solidFill>
                <a:latin typeface="OPPOSans R" panose="00020600040101010101" charset="-122"/>
                <a:ea typeface="OPPOSans R" panose="00020600040101010101" charset="-122"/>
                <a:cs typeface="OPPOSans R" panose="00020600040101010101" charset="-122"/>
              </a:rPr>
              <a:t>知识构建独立执行，在线服务复用索引，支持持续维护。</a:t>
            </a:r>
            <a:endParaRPr sz="1400">
              <a:solidFill>
                <a:schemeClr val="tx1"/>
              </a:solidFill>
              <a:latin typeface="OPPOSans R" panose="00020600040101010101" charset="-122"/>
              <a:ea typeface="OPPOSans R" panose="00020600040101010101" charset="-122"/>
              <a:cs typeface="OPPOSans R" panose="00020600040101010101" charset="-122"/>
            </a:endParaRPr>
          </a:p>
        </p:txBody>
      </p:sp>
      <p:sp>
        <p:nvSpPr>
          <p:cNvPr id="27" name="Rectangle 26"/>
          <p:cNvSpPr/>
          <p:nvPr/>
        </p:nvSpPr>
        <p:spPr>
          <a:xfrm>
            <a:off x="7236460" y="1974850"/>
            <a:ext cx="4462145" cy="3119755"/>
          </a:xfrm>
          <a:prstGeom prst="rect">
            <a:avLst/>
          </a:prstGeom>
          <a:solidFill>
            <a:srgbClr val="F2F5FA"/>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28" name="TextBox 27"/>
          <p:cNvSpPr txBox="1"/>
          <p:nvPr/>
        </p:nvSpPr>
        <p:spPr>
          <a:xfrm>
            <a:off x="7424927" y="2110740"/>
            <a:ext cx="4023360" cy="411480"/>
          </a:xfrm>
          <a:prstGeom prst="rect">
            <a:avLst/>
          </a:prstGeom>
          <a:noFill/>
        </p:spPr>
        <p:txBody>
          <a:bodyPr wrap="square" lIns="18288" tIns="9144" rIns="18288" bIns="9144" anchor="t">
            <a:spAutoFit/>
          </a:bodyPr>
          <a:p>
            <a:pPr algn="l">
              <a:spcAft>
                <a:spcPts val="400"/>
              </a:spcAft>
            </a:pPr>
            <a:r>
              <a:rPr sz="1500" b="1">
                <a:solidFill>
                  <a:srgbClr val="1F3864"/>
                </a:solidFill>
                <a:latin typeface="微软雅黑" panose="020B0503020204020204" pitchFamily="34" charset="-122"/>
                <a:ea typeface="微软雅黑" panose="020B0503020204020204" pitchFamily="34" charset="-122"/>
              </a:rPr>
              <a:t>部署、稳定与运行保障</a:t>
            </a:r>
            <a:endParaRPr sz="1500" b="1">
              <a:solidFill>
                <a:srgbClr val="1F3864"/>
              </a:solidFill>
              <a:latin typeface="微软雅黑" panose="020B0503020204020204" pitchFamily="34" charset="-122"/>
              <a:ea typeface="微软雅黑" panose="020B0503020204020204" pitchFamily="34" charset="-122"/>
            </a:endParaRPr>
          </a:p>
        </p:txBody>
      </p:sp>
      <p:sp>
        <p:nvSpPr>
          <p:cNvPr id="29" name="TextBox 28"/>
          <p:cNvSpPr txBox="1"/>
          <p:nvPr/>
        </p:nvSpPr>
        <p:spPr>
          <a:xfrm>
            <a:off x="7424927" y="2435098"/>
            <a:ext cx="4069080" cy="571500"/>
          </a:xfrm>
          <a:prstGeom prst="rect">
            <a:avLst/>
          </a:prstGeom>
          <a:noFill/>
        </p:spPr>
        <p:txBody>
          <a:bodyPr wrap="square" lIns="18288" tIns="9144" rIns="18288" bIns="9144" anchor="t">
            <a:spAutoFit/>
          </a:bodyPr>
          <a:p>
            <a:pPr algn="l">
              <a:lnSpc>
                <a:spcPct val="150000"/>
              </a:lnSpc>
              <a:spcAft>
                <a:spcPts val="300"/>
              </a:spcAft>
            </a:pPr>
            <a:r>
              <a:rPr sz="1200" b="1">
                <a:solidFill>
                  <a:srgbClr val="C00000"/>
                </a:solidFill>
                <a:latin typeface="OPPOSans R" panose="00020600040101010101" charset="-122"/>
                <a:ea typeface="OPPOSans R" panose="00020600040101010101" charset="-122"/>
                <a:cs typeface="OPPOSans R" panose="00020600040101010101" charset="-122"/>
              </a:rPr>
              <a:t>▪ </a:t>
            </a:r>
            <a:r>
              <a:rPr sz="1200">
                <a:solidFill>
                  <a:srgbClr val="2E5AA8"/>
                </a:solidFill>
                <a:latin typeface="OPPOSans B" panose="00020600040101010101" charset="-122"/>
                <a:ea typeface="OPPOSans B" panose="00020600040101010101" charset="-122"/>
                <a:cs typeface="OPPOSans B" panose="00020600040101010101" charset="-122"/>
              </a:rPr>
              <a:t>部署适配：</a:t>
            </a:r>
            <a:r>
              <a:rPr sz="1200">
                <a:solidFill>
                  <a:schemeClr val="tx1"/>
                </a:solidFill>
                <a:latin typeface="OPPOSans R" panose="00020600040101010101" charset="-122"/>
                <a:ea typeface="OPPOSans R" panose="00020600040101010101" charset="-122"/>
                <a:cs typeface="OPPOSans R" panose="00020600040101010101" charset="-122"/>
              </a:rPr>
              <a:t>Docker CPU/GPU 双配置；候选预算 CPU 12 / GPU 24，10 月 GPU 重排微基准约 0.30–0.53s。</a:t>
            </a:r>
            <a:endParaRPr sz="1200">
              <a:solidFill>
                <a:schemeClr val="tx1"/>
              </a:solidFill>
              <a:latin typeface="OPPOSans R" panose="00020600040101010101" charset="-122"/>
              <a:ea typeface="OPPOSans R" panose="00020600040101010101" charset="-122"/>
              <a:cs typeface="OPPOSans R" panose="00020600040101010101" charset="-122"/>
            </a:endParaRPr>
          </a:p>
        </p:txBody>
      </p:sp>
      <p:sp>
        <p:nvSpPr>
          <p:cNvPr id="30" name="TextBox 29"/>
          <p:cNvSpPr txBox="1"/>
          <p:nvPr/>
        </p:nvSpPr>
        <p:spPr>
          <a:xfrm>
            <a:off x="7424927" y="3116453"/>
            <a:ext cx="4069080" cy="571500"/>
          </a:xfrm>
          <a:prstGeom prst="rect">
            <a:avLst/>
          </a:prstGeom>
          <a:noFill/>
        </p:spPr>
        <p:txBody>
          <a:bodyPr wrap="square" lIns="18288" tIns="9144" rIns="18288" bIns="9144" anchor="t">
            <a:spAutoFit/>
          </a:bodyPr>
          <a:p>
            <a:pPr algn="l">
              <a:lnSpc>
                <a:spcPct val="150000"/>
              </a:lnSpc>
              <a:spcAft>
                <a:spcPts val="300"/>
              </a:spcAft>
            </a:pPr>
            <a:r>
              <a:rPr sz="1200" b="1">
                <a:solidFill>
                  <a:srgbClr val="C00000"/>
                </a:solidFill>
                <a:latin typeface="OPPOSans R" panose="00020600040101010101" charset="-122"/>
                <a:ea typeface="OPPOSans R" panose="00020600040101010101" charset="-122"/>
                <a:cs typeface="OPPOSans R" panose="00020600040101010101" charset="-122"/>
              </a:rPr>
              <a:t>▪ </a:t>
            </a:r>
            <a:r>
              <a:rPr sz="1200">
                <a:solidFill>
                  <a:srgbClr val="2E5AA8"/>
                </a:solidFill>
                <a:latin typeface="OPPOSans B" panose="00020600040101010101" charset="-122"/>
                <a:ea typeface="OPPOSans B" panose="00020600040101010101" charset="-122"/>
                <a:cs typeface="OPPOSans B" panose="00020600040101010101" charset="-122"/>
              </a:rPr>
              <a:t>并发稳定：</a:t>
            </a:r>
            <a:r>
              <a:rPr sz="1200">
                <a:solidFill>
                  <a:schemeClr val="tx1"/>
                </a:solidFill>
                <a:latin typeface="OPPOSans R" panose="00020600040101010101" charset="-122"/>
                <a:ea typeface="OPPOSans R" panose="00020600040101010101" charset="-122"/>
                <a:cs typeface="OPPOSans R" panose="00020600040101010101" charset="-122"/>
              </a:rPr>
              <a:t>锁优化与瞬态重试；历史 4 个 worker 处理 40 题的并发测试，0 运行错误。</a:t>
            </a:r>
            <a:endParaRPr sz="1200">
              <a:solidFill>
                <a:schemeClr val="tx1"/>
              </a:solidFill>
              <a:latin typeface="OPPOSans R" panose="00020600040101010101" charset="-122"/>
              <a:ea typeface="OPPOSans R" panose="00020600040101010101" charset="-122"/>
              <a:cs typeface="OPPOSans R" panose="00020600040101010101" charset="-122"/>
            </a:endParaRPr>
          </a:p>
        </p:txBody>
      </p:sp>
      <p:sp>
        <p:nvSpPr>
          <p:cNvPr id="31" name="TextBox 30"/>
          <p:cNvSpPr txBox="1"/>
          <p:nvPr/>
        </p:nvSpPr>
        <p:spPr>
          <a:xfrm>
            <a:off x="7424927" y="3797808"/>
            <a:ext cx="4069080" cy="571500"/>
          </a:xfrm>
          <a:prstGeom prst="rect">
            <a:avLst/>
          </a:prstGeom>
          <a:noFill/>
        </p:spPr>
        <p:txBody>
          <a:bodyPr wrap="square" lIns="18288" tIns="9144" rIns="18288" bIns="9144" anchor="t">
            <a:spAutoFit/>
          </a:bodyPr>
          <a:p>
            <a:pPr algn="l">
              <a:lnSpc>
                <a:spcPct val="150000"/>
              </a:lnSpc>
              <a:spcAft>
                <a:spcPts val="300"/>
              </a:spcAft>
            </a:pPr>
            <a:r>
              <a:rPr sz="1200" b="1">
                <a:solidFill>
                  <a:srgbClr val="C00000"/>
                </a:solidFill>
                <a:latin typeface="OPPOSans R" panose="00020600040101010101" charset="-122"/>
                <a:ea typeface="OPPOSans R" panose="00020600040101010101" charset="-122"/>
                <a:cs typeface="OPPOSans R" panose="00020600040101010101" charset="-122"/>
              </a:rPr>
              <a:t>▪ </a:t>
            </a:r>
            <a:r>
              <a:rPr sz="1200">
                <a:solidFill>
                  <a:srgbClr val="2E5AA8"/>
                </a:solidFill>
                <a:latin typeface="OPPOSans B" panose="00020600040101010101" charset="-122"/>
                <a:ea typeface="OPPOSans B" panose="00020600040101010101" charset="-122"/>
                <a:cs typeface="OPPOSans B" panose="00020600040101010101" charset="-122"/>
              </a:rPr>
              <a:t>故障恢复：</a:t>
            </a:r>
            <a:r>
              <a:rPr sz="1200">
                <a:solidFill>
                  <a:schemeClr val="tx1"/>
                </a:solidFill>
                <a:latin typeface="OPPOSans R" panose="00020600040101010101" charset="-122"/>
                <a:ea typeface="OPPOSans R" panose="00020600040101010101" charset="-122"/>
                <a:cs typeface="OPPOSans R" panose="00020600040101010101" charset="-122"/>
              </a:rPr>
              <a:t>规划超时降级、外部调用重试；SQLite WAL 容错与 busy timeout 缓解存储异常。</a:t>
            </a:r>
            <a:endParaRPr sz="1200">
              <a:solidFill>
                <a:schemeClr val="tx1"/>
              </a:solidFill>
              <a:latin typeface="OPPOSans R" panose="00020600040101010101" charset="-122"/>
              <a:ea typeface="OPPOSans R" panose="00020600040101010101" charset="-122"/>
              <a:cs typeface="OPPOSans R" panose="00020600040101010101" charset="-122"/>
            </a:endParaRPr>
          </a:p>
        </p:txBody>
      </p:sp>
      <p:sp>
        <p:nvSpPr>
          <p:cNvPr id="32" name="TextBox 31"/>
          <p:cNvSpPr txBox="1"/>
          <p:nvPr/>
        </p:nvSpPr>
        <p:spPr>
          <a:xfrm>
            <a:off x="7425055" y="4479163"/>
            <a:ext cx="4204970" cy="571500"/>
          </a:xfrm>
          <a:prstGeom prst="rect">
            <a:avLst/>
          </a:prstGeom>
          <a:noFill/>
        </p:spPr>
        <p:txBody>
          <a:bodyPr wrap="square" lIns="18288" tIns="9144" rIns="18288" bIns="9144" anchor="t">
            <a:spAutoFit/>
          </a:bodyPr>
          <a:p>
            <a:pPr algn="l">
              <a:lnSpc>
                <a:spcPct val="150000"/>
              </a:lnSpc>
              <a:spcAft>
                <a:spcPts val="300"/>
              </a:spcAft>
            </a:pPr>
            <a:r>
              <a:rPr sz="1200" b="1">
                <a:solidFill>
                  <a:srgbClr val="C00000"/>
                </a:solidFill>
                <a:latin typeface="OPPOSans R" panose="00020600040101010101" charset="-122"/>
                <a:ea typeface="OPPOSans R" panose="00020600040101010101" charset="-122"/>
                <a:cs typeface="OPPOSans R" panose="00020600040101010101" charset="-122"/>
              </a:rPr>
              <a:t>▪ </a:t>
            </a:r>
            <a:r>
              <a:rPr sz="1200">
                <a:solidFill>
                  <a:srgbClr val="2E5AA8"/>
                </a:solidFill>
                <a:latin typeface="OPPOSans B" panose="00020600040101010101" charset="-122"/>
                <a:ea typeface="OPPOSans B" panose="00020600040101010101" charset="-122"/>
                <a:cs typeface="OPPOSans B" panose="00020600040101010101" charset="-122"/>
              </a:rPr>
              <a:t>过程可观测：</a:t>
            </a:r>
            <a:r>
              <a:rPr sz="1200">
                <a:solidFill>
                  <a:schemeClr val="tx1"/>
                </a:solidFill>
                <a:latin typeface="OPPOSans R" panose="00020600040101010101" charset="-122"/>
                <a:ea typeface="OPPOSans R" panose="00020600040101010101" charset="-122"/>
                <a:cs typeface="OPPOSans R" panose="00020600040101010101" charset="-122"/>
              </a:rPr>
              <a:t>展示阶段进度、已核验内容与引用，关联诊断记录，支持业务复核和异常定位。</a:t>
            </a:r>
            <a:endParaRPr sz="1200">
              <a:solidFill>
                <a:schemeClr val="tx1"/>
              </a:solidFill>
              <a:latin typeface="OPPOSans R" panose="00020600040101010101" charset="-122"/>
              <a:ea typeface="OPPOSans R" panose="00020600040101010101" charset="-122"/>
              <a:cs typeface="OPPOSans R" panose="00020600040101010101" charset="-122"/>
            </a:endParaRPr>
          </a:p>
        </p:txBody>
      </p:sp>
      <p:sp>
        <p:nvSpPr>
          <p:cNvPr id="35" name="Rectangle 34"/>
          <p:cNvSpPr/>
          <p:nvPr/>
        </p:nvSpPr>
        <p:spPr>
          <a:xfrm>
            <a:off x="502920" y="5215890"/>
            <a:ext cx="11183112" cy="548640"/>
          </a:xfrm>
          <a:prstGeom prst="rect">
            <a:avLst/>
          </a:prstGeom>
          <a:solidFill>
            <a:srgbClr val="FBF3F3"/>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6" name="TextBox 35"/>
          <p:cNvSpPr txBox="1"/>
          <p:nvPr/>
        </p:nvSpPr>
        <p:spPr>
          <a:xfrm>
            <a:off x="777240" y="5349304"/>
            <a:ext cx="10698480" cy="263525"/>
          </a:xfrm>
          <a:prstGeom prst="rect">
            <a:avLst/>
          </a:prstGeom>
          <a:noFill/>
        </p:spPr>
        <p:txBody>
          <a:bodyPr wrap="square" lIns="18288" tIns="9144" rIns="18288" bIns="9144" anchor="ctr">
            <a:spAutoFit/>
          </a:bodyPr>
          <a:p>
            <a:pPr algn="l">
              <a:spcAft>
                <a:spcPts val="400"/>
              </a:spcAft>
            </a:pPr>
            <a:r>
              <a:rPr sz="1600">
                <a:solidFill>
                  <a:srgbClr val="CE0000"/>
                </a:solidFill>
                <a:latin typeface="OPPOSans B" panose="00020600040101010101" charset="-122"/>
                <a:ea typeface="OPPOSans B" panose="00020600040101010101" charset="-122"/>
                <a:cs typeface="OPPOSans B" panose="00020600040101010101" charset="-122"/>
              </a:rPr>
              <a:t>知识构建：</a:t>
            </a:r>
            <a:r>
              <a:rPr sz="1600">
                <a:solidFill>
                  <a:schemeClr val="tx1"/>
                </a:solidFill>
                <a:latin typeface="OPPOSans R" panose="00020600040101010101" charset="-122"/>
                <a:ea typeface="OPPOSans R" panose="00020600040101010101" charset="-122"/>
                <a:cs typeface="OPPOSans R" panose="00020600040101010101" charset="-122"/>
              </a:rPr>
              <a:t>500 份文件解析、切分与持久化约 34 分钟；离线构建、在线问答分工，支持知识更新与环境复现。</a:t>
            </a:r>
            <a:endParaRPr sz="1600">
              <a:solidFill>
                <a:schemeClr val="tx1"/>
              </a:solidFill>
              <a:latin typeface="OPPOSans R" panose="00020600040101010101" charset="-122"/>
              <a:ea typeface="OPPOSans R" panose="00020600040101010101" charset="-122"/>
              <a:cs typeface="OPPOSans R" panose="00020600040101010101" charset="-122"/>
            </a:endParaRPr>
          </a:p>
        </p:txBody>
      </p:sp>
      <p:sp>
        <p:nvSpPr>
          <p:cNvPr id="40" name="TextBox 12"/>
          <p:cNvSpPr txBox="1"/>
          <p:nvPr/>
        </p:nvSpPr>
        <p:spPr>
          <a:xfrm>
            <a:off x="4572000" y="2291334"/>
            <a:ext cx="1417320" cy="233045"/>
          </a:xfrm>
          <a:prstGeom prst="rect">
            <a:avLst/>
          </a:prstGeom>
          <a:noFill/>
        </p:spPr>
        <p:txBody>
          <a:bodyPr wrap="square" lIns="18288" tIns="9144" rIns="18288" bIns="9144" anchor="t">
            <a:spAutoFit/>
          </a:bodyPr>
          <a:p>
            <a:pPr lvl="0" algn="ctr">
              <a:spcAft>
                <a:spcPts val="400"/>
              </a:spcAft>
              <a:buClrTx/>
              <a:buSzTx/>
              <a:buFontTx/>
            </a:pPr>
            <a:r>
              <a:rPr sz="1400">
                <a:solidFill>
                  <a:srgbClr val="FFFFFF"/>
                </a:solidFill>
                <a:latin typeface="OPPOSans B" panose="00020600040101010101" charset="-122"/>
                <a:ea typeface="OPPOSans B" panose="00020600040101010101" charset="-122"/>
                <a:sym typeface="+mn-ea"/>
              </a:rPr>
              <a:t>GPU 平均</a:t>
            </a:r>
            <a:endParaRPr sz="1400">
              <a:solidFill>
                <a:srgbClr val="FFFFFF"/>
              </a:solidFill>
              <a:latin typeface="OPPOSans B" panose="00020600040101010101" charset="-122"/>
              <a:ea typeface="OPPOSans B" panose="00020600040101010101" charset="-122"/>
              <a:sym typeface="+mn-ea"/>
            </a:endParaRPr>
          </a:p>
        </p:txBody>
      </p:sp>
      <p:sp>
        <p:nvSpPr>
          <p:cNvPr id="41" name="TextBox 8"/>
          <p:cNvSpPr txBox="1"/>
          <p:nvPr/>
        </p:nvSpPr>
        <p:spPr>
          <a:xfrm>
            <a:off x="502920" y="2291969"/>
            <a:ext cx="2651760" cy="233045"/>
          </a:xfrm>
          <a:prstGeom prst="rect">
            <a:avLst/>
          </a:prstGeom>
          <a:noFill/>
        </p:spPr>
        <p:txBody>
          <a:bodyPr wrap="square" lIns="18288" tIns="9144" rIns="18288" bIns="9144" anchor="t">
            <a:spAutoFit/>
          </a:bodyPr>
          <a:p>
            <a:pPr algn="ctr">
              <a:spcAft>
                <a:spcPts val="400"/>
              </a:spcAft>
            </a:pPr>
            <a:r>
              <a:rPr sz="1400">
                <a:solidFill>
                  <a:srgbClr val="FFFFFF"/>
                </a:solidFill>
                <a:latin typeface="OPPOSans B" panose="00020600040101010101" charset="-122"/>
                <a:ea typeface="OPPOSans B" panose="00020600040101010101" charset="-122"/>
              </a:rPr>
              <a:t>评测集</a:t>
            </a:r>
            <a:endParaRPr sz="1400">
              <a:solidFill>
                <a:srgbClr val="FFFFFF"/>
              </a:solidFill>
              <a:latin typeface="OPPOSans B" panose="00020600040101010101" charset="-122"/>
              <a:ea typeface="OPPOSans B" panose="00020600040101010101" charset="-122"/>
            </a:endParaRPr>
          </a:p>
        </p:txBody>
      </p:sp>
      <p:sp>
        <p:nvSpPr>
          <p:cNvPr id="42" name="TextBox 10"/>
          <p:cNvSpPr txBox="1"/>
          <p:nvPr/>
        </p:nvSpPr>
        <p:spPr>
          <a:xfrm>
            <a:off x="3154680" y="2291969"/>
            <a:ext cx="1417320" cy="233045"/>
          </a:xfrm>
          <a:prstGeom prst="rect">
            <a:avLst/>
          </a:prstGeom>
          <a:noFill/>
        </p:spPr>
        <p:txBody>
          <a:bodyPr wrap="square" lIns="18288" tIns="9144" rIns="18288" bIns="9144" anchor="t">
            <a:spAutoFit/>
          </a:bodyPr>
          <a:p>
            <a:pPr lvl="0" algn="ctr">
              <a:spcAft>
                <a:spcPts val="400"/>
              </a:spcAft>
              <a:buClrTx/>
              <a:buSzTx/>
              <a:buFontTx/>
            </a:pPr>
            <a:r>
              <a:rPr sz="1400">
                <a:solidFill>
                  <a:srgbClr val="FFFFFF"/>
                </a:solidFill>
                <a:latin typeface="OPPOSans B" panose="00020600040101010101" charset="-122"/>
                <a:ea typeface="OPPOSans B" panose="00020600040101010101" charset="-122"/>
                <a:sym typeface="+mn-ea"/>
              </a:rPr>
              <a:t>CPU 平均</a:t>
            </a:r>
            <a:endParaRPr sz="1400">
              <a:solidFill>
                <a:srgbClr val="FFFFFF"/>
              </a:solidFill>
              <a:latin typeface="OPPOSans B" panose="00020600040101010101" charset="-122"/>
              <a:ea typeface="OPPOSans B" panose="00020600040101010101" charset="-122"/>
              <a:sym typeface="+mn-ea"/>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文本框 14"/>
          <p:cNvSpPr txBox="1"/>
          <p:nvPr/>
        </p:nvSpPr>
        <p:spPr>
          <a:xfrm>
            <a:off x="4191318" y="1942677"/>
            <a:ext cx="3798570" cy="221488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3800" b="0"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06</a:t>
            </a:r>
            <a:endParaRPr kumimoji="0" lang="en-US" altLang="zh-CN" sz="13800" b="0"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endParaRPr>
          </a:p>
        </p:txBody>
      </p:sp>
      <p:sp>
        <p:nvSpPr>
          <p:cNvPr id="16" name="文本框 15"/>
          <p:cNvSpPr txBox="1"/>
          <p:nvPr/>
        </p:nvSpPr>
        <p:spPr>
          <a:xfrm>
            <a:off x="3449637" y="3869267"/>
            <a:ext cx="5283200" cy="777875"/>
          </a:xfrm>
          <a:prstGeom prst="rect">
            <a:avLst/>
          </a:prstGeom>
          <a:noFill/>
        </p:spPr>
        <p:txBody>
          <a:bodyPr anchor="ctr"/>
          <a:lstStyle/>
          <a:p>
            <a:pPr marL="0" marR="0" lvl="0" indent="0" algn="ctr" defTabSz="914400" rtl="0" eaLnBrk="1" fontAlgn="t" latinLnBrk="0" hangingPunct="1">
              <a:lnSpc>
                <a:spcPct val="100000"/>
              </a:lnSpc>
              <a:spcBef>
                <a:spcPts val="0"/>
              </a:spcBef>
              <a:spcAft>
                <a:spcPts val="0"/>
              </a:spcAft>
              <a:buClrTx/>
              <a:buSzTx/>
              <a:buFontTx/>
              <a:buNone/>
              <a:defRPr/>
            </a:pPr>
            <a:r>
              <a:rPr kumimoji="0" lang="zh-CN" altLang="en-US" sz="36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rPr>
              <a:t>落地价值</a:t>
            </a:r>
            <a:endParaRPr kumimoji="0" lang="zh-CN" altLang="en-US" sz="36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sym typeface="+mn-ea"/>
            </a:endParaRPr>
          </a:p>
        </p:txBody>
      </p:sp>
      <p:grpSp>
        <p:nvGrpSpPr>
          <p:cNvPr id="18" name="组合 8"/>
          <p:cNvGrpSpPr/>
          <p:nvPr/>
        </p:nvGrpSpPr>
        <p:grpSpPr>
          <a:xfrm>
            <a:off x="3671887" y="1422930"/>
            <a:ext cx="4848225" cy="350837"/>
            <a:chOff x="5783" y="848"/>
            <a:chExt cx="7636" cy="551"/>
          </a:xfrm>
        </p:grpSpPr>
        <p:sp>
          <p:nvSpPr>
            <p:cNvPr id="19" name="任意多边形: 形状 187"/>
            <p:cNvSpPr/>
            <p:nvPr/>
          </p:nvSpPr>
          <p:spPr>
            <a:xfrm>
              <a:off x="5783" y="848"/>
              <a:ext cx="7637" cy="510"/>
            </a:xfrm>
            <a:custGeom>
              <a:avLst/>
              <a:gdLst/>
              <a:ahLst/>
              <a:cxnLst>
                <a:cxn ang="0">
                  <a:pos x="2326" y="31"/>
                </a:cxn>
                <a:cxn ang="0">
                  <a:pos x="3433" y="31"/>
                </a:cxn>
                <a:cxn ang="0">
                  <a:pos x="4216" y="31"/>
                </a:cxn>
                <a:cxn ang="0">
                  <a:pos x="5259" y="31"/>
                </a:cxn>
                <a:cxn ang="0">
                  <a:pos x="5738" y="512"/>
                </a:cxn>
                <a:cxn ang="0">
                  <a:pos x="7637" y="512"/>
                </a:cxn>
                <a:cxn ang="0">
                  <a:pos x="7637" y="494"/>
                </a:cxn>
                <a:cxn ang="0">
                  <a:pos x="5747" y="494"/>
                </a:cxn>
                <a:cxn ang="0">
                  <a:pos x="5266" y="13"/>
                </a:cxn>
                <a:cxn ang="0">
                  <a:pos x="4216" y="13"/>
                </a:cxn>
                <a:cxn ang="0">
                  <a:pos x="3433" y="13"/>
                </a:cxn>
                <a:cxn ang="0">
                  <a:pos x="2319" y="13"/>
                </a:cxn>
                <a:cxn ang="0">
                  <a:pos x="1838" y="494"/>
                </a:cxn>
                <a:cxn ang="0">
                  <a:pos x="13" y="494"/>
                </a:cxn>
                <a:cxn ang="0">
                  <a:pos x="13" y="512"/>
                </a:cxn>
                <a:cxn ang="0">
                  <a:pos x="1845" y="512"/>
                </a:cxn>
              </a:cxnLst>
              <a:rect l="0" t="0" r="0" b="0"/>
              <a:pathLst>
                <a:path w="4849342" h="324061">
                  <a:moveTo>
                    <a:pt x="1477371" y="20254"/>
                  </a:moveTo>
                  <a:lnTo>
                    <a:pt x="2179890" y="20254"/>
                  </a:lnTo>
                  <a:lnTo>
                    <a:pt x="2677555" y="20254"/>
                  </a:lnTo>
                  <a:lnTo>
                    <a:pt x="3339565" y="20254"/>
                  </a:lnTo>
                  <a:lnTo>
                    <a:pt x="3643951" y="325797"/>
                  </a:lnTo>
                  <a:lnTo>
                    <a:pt x="4849922" y="325797"/>
                  </a:lnTo>
                  <a:lnTo>
                    <a:pt x="4849922" y="314224"/>
                  </a:lnTo>
                  <a:lnTo>
                    <a:pt x="3649738" y="314224"/>
                  </a:lnTo>
                  <a:lnTo>
                    <a:pt x="3344195" y="8680"/>
                  </a:lnTo>
                  <a:lnTo>
                    <a:pt x="2677555" y="8680"/>
                  </a:lnTo>
                  <a:lnTo>
                    <a:pt x="2179890" y="8680"/>
                  </a:lnTo>
                  <a:lnTo>
                    <a:pt x="1472742" y="8680"/>
                  </a:lnTo>
                  <a:lnTo>
                    <a:pt x="1167199" y="314224"/>
                  </a:lnTo>
                  <a:lnTo>
                    <a:pt x="8680" y="314224"/>
                  </a:lnTo>
                  <a:lnTo>
                    <a:pt x="8680" y="325797"/>
                  </a:lnTo>
                  <a:lnTo>
                    <a:pt x="1171828" y="325797"/>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20" name="任意多边形: 形状 188"/>
            <p:cNvSpPr/>
            <p:nvPr/>
          </p:nvSpPr>
          <p:spPr>
            <a:xfrm>
              <a:off x="7826" y="1017"/>
              <a:ext cx="3536" cy="383"/>
            </a:xfrm>
            <a:custGeom>
              <a:avLst/>
              <a:gdLst/>
              <a:ahLst/>
              <a:cxnLst>
                <a:cxn ang="0">
                  <a:pos x="3192" y="13"/>
                </a:cxn>
                <a:cxn ang="0">
                  <a:pos x="1845" y="13"/>
                </a:cxn>
                <a:cxn ang="0">
                  <a:pos x="1705" y="13"/>
                </a:cxn>
                <a:cxn ang="0">
                  <a:pos x="356" y="13"/>
                </a:cxn>
                <a:cxn ang="0">
                  <a:pos x="13" y="358"/>
                </a:cxn>
                <a:cxn ang="0">
                  <a:pos x="24" y="371"/>
                </a:cxn>
                <a:cxn ang="0">
                  <a:pos x="363" y="31"/>
                </a:cxn>
                <a:cxn ang="0">
                  <a:pos x="1705" y="31"/>
                </a:cxn>
                <a:cxn ang="0">
                  <a:pos x="1845" y="31"/>
                </a:cxn>
                <a:cxn ang="0">
                  <a:pos x="3185" y="31"/>
                </a:cxn>
                <a:cxn ang="0">
                  <a:pos x="3516" y="362"/>
                </a:cxn>
                <a:cxn ang="0">
                  <a:pos x="3529" y="351"/>
                </a:cxn>
              </a:cxnLst>
              <a:rect l="0" t="0" r="0" b="0"/>
              <a:pathLst>
                <a:path w="2245280" h="243045">
                  <a:moveTo>
                    <a:pt x="2027118" y="8680"/>
                  </a:moveTo>
                  <a:lnTo>
                    <a:pt x="1171828" y="8680"/>
                  </a:lnTo>
                  <a:lnTo>
                    <a:pt x="1082711" y="8680"/>
                  </a:lnTo>
                  <a:lnTo>
                    <a:pt x="226264" y="8680"/>
                  </a:lnTo>
                  <a:lnTo>
                    <a:pt x="8680" y="227421"/>
                  </a:lnTo>
                  <a:lnTo>
                    <a:pt x="15624" y="235523"/>
                  </a:lnTo>
                  <a:lnTo>
                    <a:pt x="230894" y="20254"/>
                  </a:lnTo>
                  <a:lnTo>
                    <a:pt x="1082711" y="20254"/>
                  </a:lnTo>
                  <a:lnTo>
                    <a:pt x="1171828" y="20254"/>
                  </a:lnTo>
                  <a:lnTo>
                    <a:pt x="2022488" y="20254"/>
                  </a:lnTo>
                  <a:lnTo>
                    <a:pt x="2233128" y="229736"/>
                  </a:lnTo>
                  <a:lnTo>
                    <a:pt x="2241230" y="222792"/>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grpSp>
      <p:grpSp>
        <p:nvGrpSpPr>
          <p:cNvPr id="21" name="组合 7"/>
          <p:cNvGrpSpPr/>
          <p:nvPr/>
        </p:nvGrpSpPr>
        <p:grpSpPr>
          <a:xfrm flipV="1">
            <a:off x="3671887" y="4972580"/>
            <a:ext cx="4849813" cy="336550"/>
            <a:chOff x="5975" y="1069"/>
            <a:chExt cx="7636" cy="530"/>
          </a:xfrm>
        </p:grpSpPr>
        <p:sp>
          <p:nvSpPr>
            <p:cNvPr id="22" name="任意多边形: 形状 187"/>
            <p:cNvSpPr/>
            <p:nvPr/>
          </p:nvSpPr>
          <p:spPr>
            <a:xfrm>
              <a:off x="5975" y="1069"/>
              <a:ext cx="7637" cy="510"/>
            </a:xfrm>
            <a:custGeom>
              <a:avLst/>
              <a:gdLst/>
              <a:ahLst/>
              <a:cxnLst>
                <a:cxn ang="0">
                  <a:pos x="2326" y="31"/>
                </a:cxn>
                <a:cxn ang="0">
                  <a:pos x="3433" y="31"/>
                </a:cxn>
                <a:cxn ang="0">
                  <a:pos x="4216" y="31"/>
                </a:cxn>
                <a:cxn ang="0">
                  <a:pos x="5259" y="31"/>
                </a:cxn>
                <a:cxn ang="0">
                  <a:pos x="5738" y="512"/>
                </a:cxn>
                <a:cxn ang="0">
                  <a:pos x="7637" y="512"/>
                </a:cxn>
                <a:cxn ang="0">
                  <a:pos x="7637" y="494"/>
                </a:cxn>
                <a:cxn ang="0">
                  <a:pos x="5747" y="494"/>
                </a:cxn>
                <a:cxn ang="0">
                  <a:pos x="5266" y="13"/>
                </a:cxn>
                <a:cxn ang="0">
                  <a:pos x="4216" y="13"/>
                </a:cxn>
                <a:cxn ang="0">
                  <a:pos x="3433" y="13"/>
                </a:cxn>
                <a:cxn ang="0">
                  <a:pos x="2319" y="13"/>
                </a:cxn>
                <a:cxn ang="0">
                  <a:pos x="1838" y="494"/>
                </a:cxn>
                <a:cxn ang="0">
                  <a:pos x="13" y="494"/>
                </a:cxn>
                <a:cxn ang="0">
                  <a:pos x="13" y="512"/>
                </a:cxn>
                <a:cxn ang="0">
                  <a:pos x="1845" y="512"/>
                </a:cxn>
              </a:cxnLst>
              <a:rect l="0" t="0" r="0" b="0"/>
              <a:pathLst>
                <a:path w="4849342" h="324061">
                  <a:moveTo>
                    <a:pt x="1477371" y="20254"/>
                  </a:moveTo>
                  <a:lnTo>
                    <a:pt x="2179890" y="20254"/>
                  </a:lnTo>
                  <a:lnTo>
                    <a:pt x="2677555" y="20254"/>
                  </a:lnTo>
                  <a:lnTo>
                    <a:pt x="3339565" y="20254"/>
                  </a:lnTo>
                  <a:lnTo>
                    <a:pt x="3643951" y="325797"/>
                  </a:lnTo>
                  <a:lnTo>
                    <a:pt x="4849922" y="325797"/>
                  </a:lnTo>
                  <a:lnTo>
                    <a:pt x="4849922" y="314224"/>
                  </a:lnTo>
                  <a:lnTo>
                    <a:pt x="3649738" y="314224"/>
                  </a:lnTo>
                  <a:lnTo>
                    <a:pt x="3344195" y="8680"/>
                  </a:lnTo>
                  <a:lnTo>
                    <a:pt x="2677555" y="8680"/>
                  </a:lnTo>
                  <a:lnTo>
                    <a:pt x="2179890" y="8680"/>
                  </a:lnTo>
                  <a:lnTo>
                    <a:pt x="1472742" y="8680"/>
                  </a:lnTo>
                  <a:lnTo>
                    <a:pt x="1167199" y="314224"/>
                  </a:lnTo>
                  <a:lnTo>
                    <a:pt x="8680" y="314224"/>
                  </a:lnTo>
                  <a:lnTo>
                    <a:pt x="8680" y="325797"/>
                  </a:lnTo>
                  <a:lnTo>
                    <a:pt x="1171828" y="325797"/>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sp>
          <p:nvSpPr>
            <p:cNvPr id="23" name="任意多边形: 形状 188"/>
            <p:cNvSpPr/>
            <p:nvPr/>
          </p:nvSpPr>
          <p:spPr>
            <a:xfrm>
              <a:off x="8026" y="1217"/>
              <a:ext cx="3536" cy="383"/>
            </a:xfrm>
            <a:custGeom>
              <a:avLst/>
              <a:gdLst/>
              <a:ahLst/>
              <a:cxnLst>
                <a:cxn ang="0">
                  <a:pos x="3192" y="13"/>
                </a:cxn>
                <a:cxn ang="0">
                  <a:pos x="1845" y="13"/>
                </a:cxn>
                <a:cxn ang="0">
                  <a:pos x="1705" y="13"/>
                </a:cxn>
                <a:cxn ang="0">
                  <a:pos x="356" y="13"/>
                </a:cxn>
                <a:cxn ang="0">
                  <a:pos x="13" y="358"/>
                </a:cxn>
                <a:cxn ang="0">
                  <a:pos x="24" y="371"/>
                </a:cxn>
                <a:cxn ang="0">
                  <a:pos x="363" y="31"/>
                </a:cxn>
                <a:cxn ang="0">
                  <a:pos x="1705" y="31"/>
                </a:cxn>
                <a:cxn ang="0">
                  <a:pos x="1845" y="31"/>
                </a:cxn>
                <a:cxn ang="0">
                  <a:pos x="3185" y="31"/>
                </a:cxn>
                <a:cxn ang="0">
                  <a:pos x="3516" y="362"/>
                </a:cxn>
                <a:cxn ang="0">
                  <a:pos x="3529" y="351"/>
                </a:cxn>
              </a:cxnLst>
              <a:rect l="0" t="0" r="0" b="0"/>
              <a:pathLst>
                <a:path w="2245280" h="243045">
                  <a:moveTo>
                    <a:pt x="2027118" y="8680"/>
                  </a:moveTo>
                  <a:lnTo>
                    <a:pt x="1171828" y="8680"/>
                  </a:lnTo>
                  <a:lnTo>
                    <a:pt x="1082711" y="8680"/>
                  </a:lnTo>
                  <a:lnTo>
                    <a:pt x="226264" y="8680"/>
                  </a:lnTo>
                  <a:lnTo>
                    <a:pt x="8680" y="227421"/>
                  </a:lnTo>
                  <a:lnTo>
                    <a:pt x="15624" y="235523"/>
                  </a:lnTo>
                  <a:lnTo>
                    <a:pt x="230894" y="20254"/>
                  </a:lnTo>
                  <a:lnTo>
                    <a:pt x="1082711" y="20254"/>
                  </a:lnTo>
                  <a:lnTo>
                    <a:pt x="1171828" y="20254"/>
                  </a:lnTo>
                  <a:lnTo>
                    <a:pt x="2022488" y="20254"/>
                  </a:lnTo>
                  <a:lnTo>
                    <a:pt x="2233128" y="229736"/>
                  </a:lnTo>
                  <a:lnTo>
                    <a:pt x="2241230" y="222792"/>
                  </a:lnTo>
                  <a:close/>
                </a:path>
              </a:pathLst>
            </a:custGeom>
            <a:gradFill rotWithShape="1">
              <a:gsLst>
                <a:gs pos="0">
                  <a:srgbClr val="F7FAFD"/>
                </a:gs>
                <a:gs pos="100000">
                  <a:srgbClr val="AAECFB"/>
                </a:gs>
              </a:gsLst>
              <a:lin ang="5400000"/>
              <a:tileRect/>
            </a:gradFill>
            <a:ln w="9525">
              <a:noFill/>
            </a:ln>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Calibri" panose="020F0502020204030204"/>
                <a:ea typeface="微软雅黑" panose="020B0503020204020204" pitchFamily="34" charset="-122"/>
                <a:cs typeface="+mn-cs"/>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5" name="矩形 14"/>
          <p:cNvSpPr/>
          <p:nvPr/>
        </p:nvSpPr>
        <p:spPr>
          <a:xfrm>
            <a:off x="-323215" y="608330"/>
            <a:ext cx="12862560" cy="5641340"/>
          </a:xfrm>
          <a:prstGeom prst="rect">
            <a:avLst/>
          </a:prstGeom>
          <a:solidFill>
            <a:schemeClr val="bg1"/>
          </a:solidFill>
          <a:ln>
            <a:noFill/>
          </a:ln>
          <a:effectLst>
            <a:outerShdw blurRad="50800" dist="38100" dir="10800000" algn="r" rotWithShape="0">
              <a:prstClr val="black">
                <a:alpha val="40000"/>
              </a:prstClr>
            </a:outerShdw>
            <a:softEdge rad="317500"/>
          </a:effec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微软雅黑" panose="020B0503020204020204" pitchFamily="34" charset="-122"/>
              <a:cs typeface="+mn-cs"/>
            </a:endParaRPr>
          </a:p>
        </p:txBody>
      </p:sp>
      <p:sp>
        <p:nvSpPr>
          <p:cNvPr id="2" name="Rectangle 2"/>
          <p:cNvSpPr/>
          <p:nvPr/>
        </p:nvSpPr>
        <p:spPr>
          <a:xfrm>
            <a:off x="502920" y="1018413"/>
            <a:ext cx="82296" cy="566928"/>
          </a:xfrm>
          <a:prstGeom prst="rect">
            <a:avLst/>
          </a:prstGeom>
          <a:solidFill>
            <a:srgbClr val="1C41A9"/>
          </a:solidFill>
          <a:ln>
            <a:noFill/>
          </a:ln>
          <a:effectLst/>
        </p:spPr>
        <p:style>
          <a:lnRef idx="1">
            <a:schemeClr val="accent1"/>
          </a:lnRef>
          <a:fillRef idx="3">
            <a:schemeClr val="accent1"/>
          </a:fillRef>
          <a:effectRef idx="2">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a:sym typeface="+mn-ea"/>
            </a:endParaRPr>
          </a:p>
        </p:txBody>
      </p:sp>
      <p:sp>
        <p:nvSpPr>
          <p:cNvPr id="5" name="TextBox 3"/>
          <p:cNvSpPr txBox="1"/>
          <p:nvPr/>
        </p:nvSpPr>
        <p:spPr>
          <a:xfrm>
            <a:off x="713232" y="1066736"/>
            <a:ext cx="10058400" cy="479425"/>
          </a:xfrm>
          <a:prstGeom prst="rect">
            <a:avLst/>
          </a:prstGeom>
          <a:noFill/>
        </p:spPr>
        <p:txBody>
          <a:bodyPr wrap="square" lIns="18288" tIns="9144" rIns="18288" bIns="9144" anchor="ctr">
            <a:spAutoFit/>
          </a:bodyPr>
          <a:p>
            <a:pPr algn="l">
              <a:spcAft>
                <a:spcPts val="400"/>
              </a:spcAft>
            </a:pPr>
            <a:r>
              <a:rPr sz="3000">
                <a:solidFill>
                  <a:srgbClr val="195CC4"/>
                </a:solidFill>
                <a:latin typeface="OPPOSans B" panose="00020600040101010101" charset="-122"/>
                <a:ea typeface="OPPOSans B" panose="00020600040101010101" charset="-122"/>
                <a:sym typeface="+mn-ea"/>
              </a:rPr>
              <a:t>落地价值：构建银行可复用的监管知识服务底座</a:t>
            </a:r>
            <a:endParaRPr sz="3000">
              <a:solidFill>
                <a:srgbClr val="195CC4"/>
              </a:solidFill>
              <a:latin typeface="OPPOSans B" panose="00020600040101010101" charset="-122"/>
              <a:ea typeface="OPPOSans B" panose="00020600040101010101" charset="-122"/>
              <a:sym typeface="+mn-ea"/>
            </a:endParaRPr>
          </a:p>
        </p:txBody>
      </p:sp>
      <p:sp>
        <p:nvSpPr>
          <p:cNvPr id="7" name="TextBox 4"/>
          <p:cNvSpPr txBox="1"/>
          <p:nvPr/>
        </p:nvSpPr>
        <p:spPr>
          <a:xfrm>
            <a:off x="713232" y="1575054"/>
            <a:ext cx="10789920" cy="233045"/>
          </a:xfrm>
          <a:prstGeom prst="rect">
            <a:avLst/>
          </a:prstGeom>
          <a:noFill/>
        </p:spPr>
        <p:txBody>
          <a:bodyPr wrap="square" lIns="18288" tIns="9144" rIns="18288" bIns="9144" anchor="t">
            <a:spAutoFit/>
          </a:bodyPr>
          <a:p>
            <a:pPr algn="l">
              <a:spcAft>
                <a:spcPts val="400"/>
              </a:spcAft>
            </a:pPr>
            <a:r>
              <a:rPr sz="1400">
                <a:latin typeface="OPPOSans R" panose="00020600040101010101" charset="-122"/>
                <a:ea typeface="OPPOSans R" panose="00020600040101010101" charset="-122"/>
                <a:cs typeface="OPPOSans R" panose="00020600040101010101" charset="-122"/>
                <a:sym typeface="+mn-ea"/>
              </a:rPr>
              <a:t>面向合规、报送与审计岗位，将带依据的制度答复、可复算的指标结果与处理记录嵌入日常业务流程。</a:t>
            </a:r>
            <a:endParaRPr sz="1400">
              <a:latin typeface="OPPOSans R" panose="00020600040101010101" charset="-122"/>
              <a:ea typeface="OPPOSans R" panose="00020600040101010101" charset="-122"/>
              <a:cs typeface="OPPOSans R" panose="00020600040101010101" charset="-122"/>
              <a:sym typeface="+mn-ea"/>
            </a:endParaRPr>
          </a:p>
        </p:txBody>
      </p:sp>
      <p:sp>
        <p:nvSpPr>
          <p:cNvPr id="52" name="Rectangle 5"/>
          <p:cNvSpPr/>
          <p:nvPr/>
        </p:nvSpPr>
        <p:spPr>
          <a:xfrm>
            <a:off x="502920" y="1840230"/>
            <a:ext cx="11124000" cy="20320"/>
          </a:xfrm>
          <a:prstGeom prst="rect">
            <a:avLst/>
          </a:prstGeom>
          <a:solidFill>
            <a:srgbClr val="D9DEE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53" name="Rectangle 22"/>
          <p:cNvSpPr/>
          <p:nvPr/>
        </p:nvSpPr>
        <p:spPr>
          <a:xfrm>
            <a:off x="502920" y="5131435"/>
            <a:ext cx="11313160" cy="822960"/>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54" name="TextBox 23"/>
          <p:cNvSpPr txBox="1"/>
          <p:nvPr/>
        </p:nvSpPr>
        <p:spPr>
          <a:xfrm>
            <a:off x="612140" y="5349558"/>
            <a:ext cx="11442700" cy="386715"/>
          </a:xfrm>
          <a:prstGeom prst="rect">
            <a:avLst/>
          </a:prstGeom>
          <a:noFill/>
        </p:spPr>
        <p:txBody>
          <a:bodyPr wrap="square" lIns="18288" tIns="9144" rIns="18288" bIns="9144" anchor="ctr">
            <a:spAutoFit/>
          </a:bodyPr>
          <a:p>
            <a:pPr algn="l">
              <a:spcAft>
                <a:spcPts val="400"/>
              </a:spcAft>
            </a:pPr>
            <a:r>
              <a:rPr sz="2000" b="1">
                <a:solidFill>
                  <a:srgbClr val="FFFFFF"/>
                </a:solidFill>
                <a:latin typeface="OPPOSans R" panose="00020600040101010101" charset="-122"/>
                <a:ea typeface="OPPOSans R" panose="00020600040101010101" charset="-122"/>
              </a:rPr>
              <a:t>建议推广路径：</a:t>
            </a:r>
            <a:r>
              <a:rPr sz="2400">
                <a:solidFill>
                  <a:srgbClr val="F0C800"/>
                </a:solidFill>
                <a:latin typeface="OPPOSans B" panose="00020600040101010101" charset="-122"/>
                <a:ea typeface="OPPOSans B" panose="00020600040101010101" charset="-122"/>
              </a:rPr>
              <a:t>合规查询试点</a:t>
            </a:r>
            <a:r>
              <a:rPr sz="2000" b="1">
                <a:solidFill>
                  <a:srgbClr val="FFFFFF"/>
                </a:solidFill>
                <a:latin typeface="OPPOSans R" panose="00020600040101010101" charset="-122"/>
                <a:ea typeface="OPPOSans R" panose="00020600040101010101" charset="-122"/>
              </a:rPr>
              <a:t> → </a:t>
            </a:r>
            <a:r>
              <a:rPr sz="2400">
                <a:solidFill>
                  <a:srgbClr val="F0C800"/>
                </a:solidFill>
                <a:latin typeface="OPPOSans B" panose="00020600040101010101" charset="-122"/>
                <a:ea typeface="OPPOSans B" panose="00020600040101010101" charset="-122"/>
              </a:rPr>
              <a:t>内规与报送附件扩展</a:t>
            </a:r>
            <a:r>
              <a:rPr sz="2000" b="1">
                <a:solidFill>
                  <a:srgbClr val="FFFFFF"/>
                </a:solidFill>
                <a:latin typeface="OPPOSans R" panose="00020600040101010101" charset="-122"/>
                <a:ea typeface="OPPOSans R" panose="00020600040101010101" charset="-122"/>
              </a:rPr>
              <a:t> → </a:t>
            </a:r>
            <a:r>
              <a:rPr sz="2400">
                <a:solidFill>
                  <a:srgbClr val="F0C800"/>
                </a:solidFill>
                <a:latin typeface="OPPOSans B" panose="00020600040101010101" charset="-122"/>
                <a:ea typeface="OPPOSans B" panose="00020600040101010101" charset="-122"/>
              </a:rPr>
              <a:t>业务门户集成</a:t>
            </a:r>
            <a:endParaRPr sz="2400">
              <a:solidFill>
                <a:srgbClr val="F0C800"/>
              </a:solidFill>
              <a:latin typeface="OPPOSans B" panose="00020600040101010101" charset="-122"/>
              <a:ea typeface="OPPOSans B" panose="00020600040101010101" charset="-122"/>
            </a:endParaRPr>
          </a:p>
        </p:txBody>
      </p:sp>
      <p:grpSp>
        <p:nvGrpSpPr>
          <p:cNvPr id="3" name="组合 2"/>
          <p:cNvGrpSpPr/>
          <p:nvPr>
            <p:custDataLst>
              <p:tags r:id="rId1"/>
            </p:custDataLst>
          </p:nvPr>
        </p:nvGrpSpPr>
        <p:grpSpPr>
          <a:xfrm>
            <a:off x="737870" y="1988185"/>
            <a:ext cx="3401695" cy="3031490"/>
            <a:chOff x="812" y="3129"/>
            <a:chExt cx="5357" cy="4774"/>
          </a:xfrm>
        </p:grpSpPr>
        <p:sp>
          <p:nvSpPr>
            <p:cNvPr id="13" name="Rectangle 7"/>
            <p:cNvSpPr/>
            <p:nvPr>
              <p:custDataLst>
                <p:tags r:id="rId2"/>
              </p:custDataLst>
            </p:nvPr>
          </p:nvSpPr>
          <p:spPr>
            <a:xfrm>
              <a:off x="812" y="3129"/>
              <a:ext cx="5357" cy="4774"/>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33" name="Rectangle 8"/>
            <p:cNvSpPr/>
            <p:nvPr>
              <p:custDataLst>
                <p:tags r:id="rId3"/>
              </p:custDataLst>
            </p:nvPr>
          </p:nvSpPr>
          <p:spPr>
            <a:xfrm>
              <a:off x="812" y="3129"/>
              <a:ext cx="5357" cy="1224"/>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endParaRPr>
                <a:solidFill>
                  <a:srgbClr val="195CC4"/>
                </a:solidFill>
              </a:endParaRPr>
            </a:p>
          </p:txBody>
        </p:sp>
        <p:sp>
          <p:nvSpPr>
            <p:cNvPr id="38" name="TextBox 11"/>
            <p:cNvSpPr txBox="1"/>
            <p:nvPr>
              <p:custDataLst>
                <p:tags r:id="rId4"/>
              </p:custDataLst>
            </p:nvPr>
          </p:nvSpPr>
          <p:spPr>
            <a:xfrm>
              <a:off x="1100" y="4459"/>
              <a:ext cx="4824" cy="3280"/>
            </a:xfrm>
            <a:prstGeom prst="rect">
              <a:avLst/>
            </a:prstGeom>
            <a:noFill/>
          </p:spPr>
          <p:txBody>
            <a:bodyPr wrap="square" lIns="18288" tIns="9144" rIns="18288" bIns="9144" anchor="t">
              <a:spAutoFit/>
            </a:bodyPr>
            <a:p>
              <a:pPr algn="l" fontAlgn="auto">
                <a:lnSpc>
                  <a:spcPct val="120000"/>
                </a:lnSpc>
                <a:spcAft>
                  <a:spcPts val="10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1F3864"/>
                  </a:solidFill>
                  <a:latin typeface="OPPOSans B" panose="00020600040101010101" charset="-122"/>
                  <a:ea typeface="OPPOSans B" panose="00020600040101010101" charset="-122"/>
                  <a:cs typeface="OPPOSans R" panose="00020600040101010101" charset="-122"/>
                </a:rPr>
                <a:t>合规岗：</a:t>
              </a:r>
              <a:r>
                <a:rPr sz="1400" b="0">
                  <a:solidFill>
                    <a:srgbClr val="595959"/>
                  </a:solidFill>
                  <a:latin typeface="OPPOSans R" panose="00020600040101010101" charset="-122"/>
                  <a:ea typeface="OPPOSans R" panose="00020600040101010101" charset="-122"/>
                  <a:cs typeface="OPPOSans R" panose="00020600040101010101" charset="-122"/>
                </a:rPr>
                <a:t>查询条款、适用条件与例外，交付</a:t>
              </a:r>
              <a:r>
                <a:rPr sz="1400">
                  <a:solidFill>
                    <a:schemeClr val="accent1"/>
                  </a:solidFill>
                  <a:latin typeface="OPPOSans B" panose="00020600040101010101" charset="-122"/>
                  <a:ea typeface="OPPOSans B" panose="00020600040101010101" charset="-122"/>
                  <a:cs typeface="OPPOSans R" panose="00020600040101010101" charset="-122"/>
                  <a:sym typeface="+mn-ea"/>
                </a:rPr>
                <a:t>结论及原文依据</a:t>
              </a:r>
              <a:r>
                <a:rPr sz="1400" b="0">
                  <a:solidFill>
                    <a:srgbClr val="595959"/>
                  </a:solidFill>
                  <a:latin typeface="OPPOSans R" panose="00020600040101010101" charset="-122"/>
                  <a:ea typeface="OPPOSans R" panose="00020600040101010101" charset="-122"/>
                  <a:cs typeface="OPPOSans R" panose="00020600040101010101" charset="-122"/>
                </a:rPr>
                <a:t>，辅助业务判断。</a:t>
              </a:r>
              <a:endParaRPr sz="1400" b="0">
                <a:solidFill>
                  <a:srgbClr val="595959"/>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10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1F3864"/>
                  </a:solidFill>
                  <a:latin typeface="OPPOSans B" panose="00020600040101010101" charset="-122"/>
                  <a:ea typeface="OPPOSans B" panose="00020600040101010101" charset="-122"/>
                  <a:cs typeface="OPPOSans R" panose="00020600040101010101" charset="-122"/>
                </a:rPr>
                <a:t>报送岗：</a:t>
              </a:r>
              <a:r>
                <a:rPr sz="1400" b="0">
                  <a:solidFill>
                    <a:srgbClr val="595959"/>
                  </a:solidFill>
                  <a:latin typeface="OPPOSans R" panose="00020600040101010101" charset="-122"/>
                  <a:ea typeface="OPPOSans R" panose="00020600040101010101" charset="-122"/>
                  <a:cs typeface="OPPOSans R" panose="00020600040101010101" charset="-122"/>
                </a:rPr>
                <a:t>核对指标、期间与单位，交付</a:t>
              </a:r>
              <a:r>
                <a:rPr sz="1400">
                  <a:solidFill>
                    <a:schemeClr val="accent1"/>
                  </a:solidFill>
                  <a:latin typeface="OPPOSans B" panose="00020600040101010101" charset="-122"/>
                  <a:ea typeface="OPPOSans B" panose="00020600040101010101" charset="-122"/>
                  <a:cs typeface="OPPOSans R" panose="00020600040101010101" charset="-122"/>
                  <a:sym typeface="+mn-ea"/>
                </a:rPr>
                <a:t>可复算结果及坐标</a:t>
              </a:r>
              <a:r>
                <a:rPr sz="1400" b="0">
                  <a:solidFill>
                    <a:srgbClr val="595959"/>
                  </a:solidFill>
                  <a:latin typeface="OPPOSans R" panose="00020600040101010101" charset="-122"/>
                  <a:ea typeface="OPPOSans R" panose="00020600040101010101" charset="-122"/>
                  <a:cs typeface="OPPOSans R" panose="00020600040101010101" charset="-122"/>
                </a:rPr>
                <a:t>，减少口径核对。</a:t>
              </a:r>
              <a:endParaRPr sz="1400" b="0">
                <a:solidFill>
                  <a:srgbClr val="595959"/>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10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1F3864"/>
                  </a:solidFill>
                  <a:latin typeface="OPPOSans B" panose="00020600040101010101" charset="-122"/>
                  <a:ea typeface="OPPOSans B" panose="00020600040101010101" charset="-122"/>
                  <a:cs typeface="OPPOSans R" panose="00020600040101010101" charset="-122"/>
                </a:rPr>
                <a:t>审计岗：</a:t>
              </a:r>
              <a:r>
                <a:rPr sz="1400" b="0">
                  <a:solidFill>
                    <a:srgbClr val="595959"/>
                  </a:solidFill>
                  <a:latin typeface="OPPOSans R" panose="00020600040101010101" charset="-122"/>
                  <a:ea typeface="OPPOSans R" panose="00020600040101010101" charset="-122"/>
                  <a:cs typeface="OPPOSans R" panose="00020600040101010101" charset="-122"/>
                </a:rPr>
                <a:t>复核结论和原始依据，通过问答记录</a:t>
              </a:r>
              <a:r>
                <a:rPr sz="1400">
                  <a:solidFill>
                    <a:schemeClr val="accent1"/>
                  </a:solidFill>
                  <a:latin typeface="OPPOSans B" panose="00020600040101010101" charset="-122"/>
                  <a:ea typeface="OPPOSans B" panose="00020600040101010101" charset="-122"/>
                  <a:cs typeface="OPPOSans R" panose="00020600040101010101" charset="-122"/>
                  <a:sym typeface="+mn-ea"/>
                </a:rPr>
                <a:t>追踪来源与处理过程</a:t>
              </a:r>
              <a:r>
                <a:rPr sz="1400" b="0">
                  <a:solidFill>
                    <a:srgbClr val="595959"/>
                  </a:solidFill>
                  <a:latin typeface="OPPOSans R" panose="00020600040101010101" charset="-122"/>
                  <a:ea typeface="OPPOSans R" panose="00020600040101010101" charset="-122"/>
                  <a:cs typeface="OPPOSans R" panose="00020600040101010101" charset="-122"/>
                </a:rPr>
                <a:t>。</a:t>
              </a:r>
              <a:endParaRPr sz="1400" b="0">
                <a:solidFill>
                  <a:srgbClr val="595959"/>
                </a:solidFill>
                <a:latin typeface="OPPOSans R" panose="00020600040101010101" charset="-122"/>
                <a:ea typeface="OPPOSans R" panose="00020600040101010101" charset="-122"/>
                <a:cs typeface="OPPOSans R" panose="00020600040101010101" charset="-122"/>
              </a:endParaRPr>
            </a:p>
          </p:txBody>
        </p:sp>
        <p:sp>
          <p:nvSpPr>
            <p:cNvPr id="68" name="TextBox 9"/>
            <p:cNvSpPr txBox="1"/>
            <p:nvPr>
              <p:custDataLst>
                <p:tags r:id="rId5"/>
              </p:custDataLst>
            </p:nvPr>
          </p:nvSpPr>
          <p:spPr>
            <a:xfrm>
              <a:off x="1071" y="3201"/>
              <a:ext cx="4896" cy="512"/>
            </a:xfrm>
            <a:prstGeom prst="rect">
              <a:avLst/>
            </a:prstGeom>
            <a:noFill/>
          </p:spPr>
          <p:txBody>
            <a:bodyPr wrap="square" lIns="18288" tIns="9144" rIns="18288" bIns="9144" anchor="t">
              <a:spAutoFit/>
            </a:bodyPr>
            <a:p>
              <a:pPr algn="l">
                <a:spcAft>
                  <a:spcPts val="400"/>
                </a:spcAft>
              </a:pPr>
              <a:r>
                <a:rPr sz="2000">
                  <a:solidFill>
                    <a:srgbClr val="FFFFFF"/>
                  </a:solidFill>
                  <a:latin typeface="OPPOSans B" panose="00020600040101010101" charset="-122"/>
                  <a:ea typeface="OPPOSans B" panose="00020600040101010101" charset="-122"/>
                </a:rPr>
                <a:t>业务价值</a:t>
              </a:r>
              <a:endParaRPr sz="2000">
                <a:solidFill>
                  <a:srgbClr val="FFFFFF"/>
                </a:solidFill>
                <a:latin typeface="OPPOSans B" panose="00020600040101010101" charset="-122"/>
                <a:ea typeface="OPPOSans B" panose="00020600040101010101" charset="-122"/>
              </a:endParaRPr>
            </a:p>
          </p:txBody>
        </p:sp>
        <p:sp>
          <p:nvSpPr>
            <p:cNvPr id="69" name="TextBox 10"/>
            <p:cNvSpPr txBox="1"/>
            <p:nvPr>
              <p:custDataLst>
                <p:tags r:id="rId6"/>
              </p:custDataLst>
            </p:nvPr>
          </p:nvSpPr>
          <p:spPr>
            <a:xfrm>
              <a:off x="1071" y="3849"/>
              <a:ext cx="4896" cy="367"/>
            </a:xfrm>
            <a:prstGeom prst="rect">
              <a:avLst/>
            </a:prstGeom>
            <a:noFill/>
          </p:spPr>
          <p:txBody>
            <a:bodyPr wrap="square" lIns="18288" tIns="9144" rIns="18288" bIns="9144" anchor="t">
              <a:spAutoFit/>
            </a:bodyPr>
            <a:p>
              <a:pPr algn="l">
                <a:spcAft>
                  <a:spcPts val="400"/>
                </a:spcAft>
              </a:pPr>
              <a:r>
                <a:rPr sz="1400">
                  <a:solidFill>
                    <a:srgbClr val="F0C800"/>
                  </a:solidFill>
                  <a:latin typeface="OPPOSans B" panose="00020600040101010101" charset="-122"/>
                  <a:ea typeface="OPPOSans B" panose="00020600040101010101" charset="-122"/>
                </a:rPr>
                <a:t>岗位明确，成果可复核</a:t>
              </a:r>
              <a:endParaRPr sz="1400">
                <a:solidFill>
                  <a:srgbClr val="F0C800"/>
                </a:solidFill>
                <a:latin typeface="OPPOSans B" panose="00020600040101010101" charset="-122"/>
                <a:ea typeface="OPPOSans B" panose="00020600040101010101" charset="-122"/>
              </a:endParaRPr>
            </a:p>
          </p:txBody>
        </p:sp>
      </p:grpSp>
      <p:grpSp>
        <p:nvGrpSpPr>
          <p:cNvPr id="4" name="组合 3"/>
          <p:cNvGrpSpPr/>
          <p:nvPr>
            <p:custDataLst>
              <p:tags r:id="rId7"/>
            </p:custDataLst>
          </p:nvPr>
        </p:nvGrpSpPr>
        <p:grpSpPr>
          <a:xfrm>
            <a:off x="4366895" y="1987550"/>
            <a:ext cx="3401695" cy="3031490"/>
            <a:chOff x="6442" y="3129"/>
            <a:chExt cx="5357" cy="4774"/>
          </a:xfrm>
        </p:grpSpPr>
        <p:sp>
          <p:nvSpPr>
            <p:cNvPr id="39" name="Rectangle 12"/>
            <p:cNvSpPr/>
            <p:nvPr>
              <p:custDataLst>
                <p:tags r:id="rId8"/>
              </p:custDataLst>
            </p:nvPr>
          </p:nvSpPr>
          <p:spPr>
            <a:xfrm>
              <a:off x="6442" y="3129"/>
              <a:ext cx="5357" cy="4774"/>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43" name="Rectangle 13"/>
            <p:cNvSpPr/>
            <p:nvPr>
              <p:custDataLst>
                <p:tags r:id="rId9"/>
              </p:custDataLst>
            </p:nvPr>
          </p:nvSpPr>
          <p:spPr>
            <a:xfrm>
              <a:off x="6442" y="3129"/>
              <a:ext cx="5357" cy="1224"/>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endParaRPr>
                <a:solidFill>
                  <a:srgbClr val="195CC4"/>
                </a:solidFill>
              </a:endParaRPr>
            </a:p>
          </p:txBody>
        </p:sp>
        <p:sp>
          <p:nvSpPr>
            <p:cNvPr id="46" name="TextBox 16"/>
            <p:cNvSpPr txBox="1"/>
            <p:nvPr>
              <p:custDataLst>
                <p:tags r:id="rId10"/>
              </p:custDataLst>
            </p:nvPr>
          </p:nvSpPr>
          <p:spPr>
            <a:xfrm>
              <a:off x="6730" y="4459"/>
              <a:ext cx="4824" cy="3280"/>
            </a:xfrm>
            <a:prstGeom prst="rect">
              <a:avLst/>
            </a:prstGeom>
            <a:noFill/>
          </p:spPr>
          <p:txBody>
            <a:bodyPr wrap="square" lIns="18288" tIns="9144" rIns="18288" bIns="9144" anchor="t">
              <a:spAutoFit/>
            </a:bodyPr>
            <a:p>
              <a:pPr algn="l" fontAlgn="auto">
                <a:lnSpc>
                  <a:spcPct val="120000"/>
                </a:lnSpc>
                <a:spcAft>
                  <a:spcPts val="10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1F3864"/>
                  </a:solidFill>
                  <a:latin typeface="OPPOSans B" panose="00020600040101010101" charset="-122"/>
                  <a:ea typeface="OPPOSans B" panose="00020600040101010101" charset="-122"/>
                  <a:cs typeface="OPPOSans R" panose="00020600040101010101" charset="-122"/>
                </a:rPr>
                <a:t>组件复用：</a:t>
              </a:r>
              <a:r>
                <a:rPr sz="1400">
                  <a:solidFill>
                    <a:schemeClr val="accent1"/>
                  </a:solidFill>
                  <a:latin typeface="OPPOSans B" panose="00020600040101010101" charset="-122"/>
                  <a:ea typeface="OPPOSans B" panose="00020600040101010101" charset="-122"/>
                  <a:cs typeface="OPPOSans R" panose="00020600040101010101" charset="-122"/>
                  <a:sym typeface="+mn-ea"/>
                </a:rPr>
                <a:t>解析、检索、计算与校验</a:t>
              </a:r>
              <a:r>
                <a:rPr sz="1400" b="0">
                  <a:solidFill>
                    <a:srgbClr val="595959"/>
                  </a:solidFill>
                  <a:latin typeface="OPPOSans R" panose="00020600040101010101" charset="-122"/>
                  <a:ea typeface="OPPOSans R" panose="00020600040101010101" charset="-122"/>
                  <a:cs typeface="OPPOSans R" panose="00020600040101010101" charset="-122"/>
                </a:rPr>
                <a:t>统一服务，便于接入内部制度与统计附件。</a:t>
              </a:r>
              <a:endParaRPr sz="1400" b="0">
                <a:solidFill>
                  <a:srgbClr val="595959"/>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10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1F3864"/>
                  </a:solidFill>
                  <a:latin typeface="OPPOSans B" panose="00020600040101010101" charset="-122"/>
                  <a:ea typeface="OPPOSans B" panose="00020600040101010101" charset="-122"/>
                  <a:cs typeface="OPPOSans R" panose="00020600040101010101" charset="-122"/>
                </a:rPr>
                <a:t>部署适配：</a:t>
              </a:r>
              <a:r>
                <a:rPr sz="1400">
                  <a:solidFill>
                    <a:schemeClr val="accent1"/>
                  </a:solidFill>
                  <a:latin typeface="OPPOSans B" panose="00020600040101010101" charset="-122"/>
                  <a:ea typeface="OPPOSans B" panose="00020600040101010101" charset="-122"/>
                  <a:cs typeface="OPPOSans R" panose="00020600040101010101" charset="-122"/>
                  <a:sym typeface="+mn-ea"/>
                </a:rPr>
                <a:t>Docker + CPU/GPU 双配置</a:t>
              </a:r>
              <a:r>
                <a:rPr sz="1400" b="0">
                  <a:solidFill>
                    <a:srgbClr val="595959"/>
                  </a:solidFill>
                  <a:latin typeface="OPPOSans R" panose="00020600040101010101" charset="-122"/>
                  <a:ea typeface="OPPOSans R" panose="00020600040101010101" charset="-122"/>
                  <a:cs typeface="OPPOSans R" panose="00020600040101010101" charset="-122"/>
                </a:rPr>
                <a:t>，本地处理与外部模型协同。</a:t>
              </a:r>
              <a:endParaRPr sz="1400" b="0">
                <a:solidFill>
                  <a:srgbClr val="595959"/>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10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1F3864"/>
                  </a:solidFill>
                  <a:latin typeface="OPPOSans B" panose="00020600040101010101" charset="-122"/>
                  <a:ea typeface="OPPOSans B" panose="00020600040101010101" charset="-122"/>
                  <a:cs typeface="OPPOSans R" panose="00020600040101010101" charset="-122"/>
                </a:rPr>
                <a:t>接口集成：</a:t>
              </a:r>
              <a:r>
                <a:rPr sz="1400" b="0">
                  <a:solidFill>
                    <a:srgbClr val="595959"/>
                  </a:solidFill>
                  <a:latin typeface="OPPOSans R" panose="00020600040101010101" charset="-122"/>
                  <a:ea typeface="OPPOSans R" panose="00020600040101010101" charset="-122"/>
                  <a:cs typeface="OPPOSans R" panose="00020600040101010101" charset="-122"/>
                </a:rPr>
                <a:t>通过 API 对接</a:t>
              </a:r>
              <a:r>
                <a:rPr sz="1400">
                  <a:solidFill>
                    <a:schemeClr val="accent1"/>
                  </a:solidFill>
                  <a:latin typeface="OPPOSans B" panose="00020600040101010101" charset="-122"/>
                  <a:ea typeface="OPPOSans B" panose="00020600040101010101" charset="-122"/>
                  <a:cs typeface="OPPOSans R" panose="00020600040101010101" charset="-122"/>
                  <a:sym typeface="+mn-ea"/>
                </a:rPr>
                <a:t>业务门户与工作台</a:t>
              </a:r>
              <a:r>
                <a:rPr sz="1400" b="0">
                  <a:solidFill>
                    <a:srgbClr val="595959"/>
                  </a:solidFill>
                  <a:latin typeface="OPPOSans R" panose="00020600040101010101" charset="-122"/>
                  <a:ea typeface="OPPOSans R" panose="00020600040101010101" charset="-122"/>
                  <a:cs typeface="OPPOSans R" panose="00020600040101010101" charset="-122"/>
                </a:rPr>
                <a:t>，形成可复用的知识服务入口。</a:t>
              </a:r>
              <a:endParaRPr sz="1400" b="0">
                <a:solidFill>
                  <a:srgbClr val="595959"/>
                </a:solidFill>
                <a:latin typeface="OPPOSans R" panose="00020600040101010101" charset="-122"/>
                <a:ea typeface="OPPOSans R" panose="00020600040101010101" charset="-122"/>
                <a:cs typeface="OPPOSans R" panose="00020600040101010101" charset="-122"/>
              </a:endParaRPr>
            </a:p>
          </p:txBody>
        </p:sp>
        <p:sp>
          <p:nvSpPr>
            <p:cNvPr id="70" name="TextBox 14"/>
            <p:cNvSpPr txBox="1"/>
            <p:nvPr>
              <p:custDataLst>
                <p:tags r:id="rId11"/>
              </p:custDataLst>
            </p:nvPr>
          </p:nvSpPr>
          <p:spPr>
            <a:xfrm>
              <a:off x="6702" y="3201"/>
              <a:ext cx="4896" cy="512"/>
            </a:xfrm>
            <a:prstGeom prst="rect">
              <a:avLst/>
            </a:prstGeom>
            <a:noFill/>
          </p:spPr>
          <p:txBody>
            <a:bodyPr wrap="square" lIns="18288" tIns="9144" rIns="18288" bIns="9144" anchor="t">
              <a:spAutoFit/>
            </a:bodyPr>
            <a:p>
              <a:pPr lvl="0" algn="l">
                <a:spcAft>
                  <a:spcPts val="400"/>
                </a:spcAft>
                <a:buClrTx/>
                <a:buSzTx/>
                <a:buFontTx/>
              </a:pPr>
              <a:r>
                <a:rPr sz="2000">
                  <a:solidFill>
                    <a:srgbClr val="FFFFFF"/>
                  </a:solidFill>
                  <a:latin typeface="OPPOSans B" panose="00020600040101010101" charset="-122"/>
                  <a:ea typeface="OPPOSans B" panose="00020600040101010101" charset="-122"/>
                  <a:sym typeface="+mn-ea"/>
                </a:rPr>
                <a:t>技术价值</a:t>
              </a:r>
              <a:endParaRPr sz="2000">
                <a:solidFill>
                  <a:srgbClr val="FFFFFF"/>
                </a:solidFill>
                <a:latin typeface="OPPOSans B" panose="00020600040101010101" charset="-122"/>
                <a:ea typeface="OPPOSans B" panose="00020600040101010101" charset="-122"/>
                <a:sym typeface="+mn-ea"/>
              </a:endParaRPr>
            </a:p>
          </p:txBody>
        </p:sp>
        <p:sp>
          <p:nvSpPr>
            <p:cNvPr id="71" name="TextBox 15"/>
            <p:cNvSpPr txBox="1"/>
            <p:nvPr>
              <p:custDataLst>
                <p:tags r:id="rId12"/>
              </p:custDataLst>
            </p:nvPr>
          </p:nvSpPr>
          <p:spPr>
            <a:xfrm>
              <a:off x="6702" y="3849"/>
              <a:ext cx="4896" cy="367"/>
            </a:xfrm>
            <a:prstGeom prst="rect">
              <a:avLst/>
            </a:prstGeom>
            <a:noFill/>
          </p:spPr>
          <p:txBody>
            <a:bodyPr wrap="square" lIns="18288" tIns="9144" rIns="18288" bIns="9144" anchor="t">
              <a:spAutoFit/>
            </a:bodyPr>
            <a:p>
              <a:pPr lvl="0" algn="l">
                <a:spcAft>
                  <a:spcPts val="400"/>
                </a:spcAft>
                <a:buClrTx/>
                <a:buSzTx/>
                <a:buFontTx/>
              </a:pPr>
              <a:r>
                <a:rPr sz="1400">
                  <a:solidFill>
                    <a:srgbClr val="F0C800"/>
                  </a:solidFill>
                  <a:latin typeface="OPPOSans B" panose="00020600040101010101" charset="-122"/>
                  <a:ea typeface="OPPOSans B" panose="00020600040101010101" charset="-122"/>
                  <a:sym typeface="+mn-ea"/>
                </a:rPr>
                <a:t>能力复用，部署可行</a:t>
              </a:r>
              <a:endParaRPr sz="1400">
                <a:solidFill>
                  <a:srgbClr val="F0C800"/>
                </a:solidFill>
                <a:latin typeface="OPPOSans B" panose="00020600040101010101" charset="-122"/>
                <a:ea typeface="OPPOSans B" panose="00020600040101010101" charset="-122"/>
                <a:sym typeface="+mn-ea"/>
              </a:endParaRPr>
            </a:p>
          </p:txBody>
        </p:sp>
      </p:grpSp>
      <p:grpSp>
        <p:nvGrpSpPr>
          <p:cNvPr id="77" name="组合 76"/>
          <p:cNvGrpSpPr/>
          <p:nvPr>
            <p:custDataLst>
              <p:tags r:id="rId13"/>
            </p:custDataLst>
          </p:nvPr>
        </p:nvGrpSpPr>
        <p:grpSpPr>
          <a:xfrm>
            <a:off x="7995920" y="1988185"/>
            <a:ext cx="3401695" cy="3031490"/>
            <a:chOff x="12073" y="3129"/>
            <a:chExt cx="5357" cy="4774"/>
          </a:xfrm>
        </p:grpSpPr>
        <p:sp>
          <p:nvSpPr>
            <p:cNvPr id="47" name="Rectangle 17"/>
            <p:cNvSpPr/>
            <p:nvPr>
              <p:custDataLst>
                <p:tags r:id="rId14"/>
              </p:custDataLst>
            </p:nvPr>
          </p:nvSpPr>
          <p:spPr>
            <a:xfrm>
              <a:off x="12073" y="3129"/>
              <a:ext cx="5357" cy="4774"/>
            </a:xfrm>
            <a:prstGeom prst="rect">
              <a:avLst/>
            </a:prstGeom>
            <a:solidFill>
              <a:srgbClr val="FFFFFF"/>
            </a:solidFill>
            <a:ln w="12700">
              <a:solidFill>
                <a:srgbClr val="D9DEE8"/>
              </a:solidFill>
            </a:ln>
            <a:effectLst/>
          </p:spPr>
          <p:style>
            <a:lnRef idx="1">
              <a:schemeClr val="accent1"/>
            </a:lnRef>
            <a:fillRef idx="3">
              <a:schemeClr val="accent1"/>
            </a:fillRef>
            <a:effectRef idx="2">
              <a:schemeClr val="accent1"/>
            </a:effectRef>
            <a:fontRef idx="minor">
              <a:schemeClr val="lt1"/>
            </a:fontRef>
          </p:style>
          <p:txBody>
            <a:bodyPr rtlCol="0" anchor="ctr"/>
            <a:p>
              <a:pPr algn="ctr"/>
            </a:p>
          </p:txBody>
        </p:sp>
        <p:sp>
          <p:nvSpPr>
            <p:cNvPr id="48" name="Rectangle 18"/>
            <p:cNvSpPr/>
            <p:nvPr>
              <p:custDataLst>
                <p:tags r:id="rId15"/>
              </p:custDataLst>
            </p:nvPr>
          </p:nvSpPr>
          <p:spPr>
            <a:xfrm>
              <a:off x="12073" y="3129"/>
              <a:ext cx="5357" cy="1224"/>
            </a:xfrm>
            <a:prstGeom prst="rect">
              <a:avLst/>
            </a:prstGeom>
            <a:solidFill>
              <a:srgbClr val="2E5AA8"/>
            </a:solidFill>
            <a:ln>
              <a:noFill/>
            </a:ln>
            <a:effectLst/>
          </p:spPr>
          <p:style>
            <a:lnRef idx="1">
              <a:schemeClr val="accent1"/>
            </a:lnRef>
            <a:fillRef idx="3">
              <a:schemeClr val="accent1"/>
            </a:fillRef>
            <a:effectRef idx="2">
              <a:schemeClr val="accent1"/>
            </a:effectRef>
            <a:fontRef idx="minor">
              <a:schemeClr val="lt1"/>
            </a:fontRef>
          </p:style>
          <p:txBody>
            <a:bodyPr rtlCol="0" anchor="ctr"/>
            <a:p>
              <a:pPr algn="ctr"/>
              <a:endParaRPr>
                <a:solidFill>
                  <a:srgbClr val="195CC4"/>
                </a:solidFill>
              </a:endParaRPr>
            </a:p>
          </p:txBody>
        </p:sp>
        <p:sp>
          <p:nvSpPr>
            <p:cNvPr id="51" name="TextBox 21"/>
            <p:cNvSpPr txBox="1"/>
            <p:nvPr>
              <p:custDataLst>
                <p:tags r:id="rId16"/>
              </p:custDataLst>
            </p:nvPr>
          </p:nvSpPr>
          <p:spPr>
            <a:xfrm>
              <a:off x="12361" y="4460"/>
              <a:ext cx="4824" cy="2873"/>
            </a:xfrm>
            <a:prstGeom prst="rect">
              <a:avLst/>
            </a:prstGeom>
            <a:noFill/>
          </p:spPr>
          <p:txBody>
            <a:bodyPr wrap="square" lIns="18288" tIns="9144" rIns="18288" bIns="9144" anchor="t">
              <a:spAutoFit/>
            </a:bodyPr>
            <a:p>
              <a:pPr algn="l" fontAlgn="auto">
                <a:lnSpc>
                  <a:spcPct val="120000"/>
                </a:lnSpc>
                <a:spcAft>
                  <a:spcPts val="10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1F3864"/>
                  </a:solidFill>
                  <a:latin typeface="OPPOSans B" panose="00020600040101010101" charset="-122"/>
                  <a:ea typeface="OPPOSans B" panose="00020600040101010101" charset="-122"/>
                  <a:cs typeface="OPPOSans R" panose="00020600040101010101" charset="-122"/>
                </a:rPr>
                <a:t>知识维护：</a:t>
              </a:r>
              <a:r>
                <a:rPr sz="1400" b="0">
                  <a:solidFill>
                    <a:srgbClr val="595959"/>
                  </a:solidFill>
                  <a:latin typeface="OPPOSans R" panose="00020600040101010101" charset="-122"/>
                  <a:ea typeface="OPPOSans R" panose="00020600040101010101" charset="-122"/>
                  <a:cs typeface="OPPOSans R" panose="00020600040101010101" charset="-122"/>
                </a:rPr>
                <a:t>接入文档、核对身份并重建索引，维护</a:t>
              </a:r>
              <a:r>
                <a:rPr sz="1400">
                  <a:solidFill>
                    <a:schemeClr val="accent1"/>
                  </a:solidFill>
                  <a:latin typeface="OPPOSans B" panose="00020600040101010101" charset="-122"/>
                  <a:ea typeface="OPPOSans B" panose="00020600040101010101" charset="-122"/>
                  <a:cs typeface="OPPOSans R" panose="00020600040101010101" charset="-122"/>
                  <a:sym typeface="+mn-ea"/>
                </a:rPr>
                <a:t>可更新的知识资产</a:t>
              </a:r>
              <a:r>
                <a:rPr sz="1400" b="0">
                  <a:solidFill>
                    <a:srgbClr val="595959"/>
                  </a:solidFill>
                  <a:latin typeface="OPPOSans R" panose="00020600040101010101" charset="-122"/>
                  <a:ea typeface="OPPOSans R" panose="00020600040101010101" charset="-122"/>
                  <a:cs typeface="OPPOSans R" panose="00020600040101010101" charset="-122"/>
                </a:rPr>
                <a:t>。</a:t>
              </a:r>
              <a:endParaRPr sz="1400" b="0">
                <a:solidFill>
                  <a:srgbClr val="595959"/>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10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1F3864"/>
                  </a:solidFill>
                  <a:latin typeface="OPPOSans B" panose="00020600040101010101" charset="-122"/>
                  <a:ea typeface="OPPOSans B" panose="00020600040101010101" charset="-122"/>
                  <a:cs typeface="OPPOSans R" panose="00020600040101010101" charset="-122"/>
                </a:rPr>
                <a:t>质量运营：</a:t>
              </a:r>
              <a:r>
                <a:rPr sz="1400" b="0">
                  <a:solidFill>
                    <a:srgbClr val="595959"/>
                  </a:solidFill>
                  <a:latin typeface="OPPOSans R" panose="00020600040101010101" charset="-122"/>
                  <a:ea typeface="OPPOSans R" panose="00020600040101010101" charset="-122"/>
                  <a:cs typeface="OPPOSans R" panose="00020600040101010101" charset="-122"/>
                </a:rPr>
                <a:t>问题留痕与题集回归结合，支持</a:t>
              </a:r>
              <a:r>
                <a:rPr sz="1400">
                  <a:solidFill>
                    <a:schemeClr val="accent1"/>
                  </a:solidFill>
                  <a:latin typeface="OPPOSans B" panose="00020600040101010101" charset="-122"/>
                  <a:ea typeface="OPPOSans B" panose="00020600040101010101" charset="-122"/>
                  <a:cs typeface="OPPOSans R" panose="00020600040101010101" charset="-122"/>
                  <a:sym typeface="+mn-ea"/>
                </a:rPr>
                <a:t>来源追踪和持续改进</a:t>
              </a:r>
              <a:r>
                <a:rPr sz="1400" b="0">
                  <a:solidFill>
                    <a:srgbClr val="595959"/>
                  </a:solidFill>
                  <a:latin typeface="OPPOSans R" panose="00020600040101010101" charset="-122"/>
                  <a:ea typeface="OPPOSans R" panose="00020600040101010101" charset="-122"/>
                  <a:cs typeface="OPPOSans R" panose="00020600040101010101" charset="-122"/>
                </a:rPr>
                <a:t>。</a:t>
              </a:r>
              <a:endParaRPr sz="1400" b="0">
                <a:solidFill>
                  <a:srgbClr val="595959"/>
                </a:solidFill>
                <a:latin typeface="OPPOSans R" panose="00020600040101010101" charset="-122"/>
                <a:ea typeface="OPPOSans R" panose="00020600040101010101" charset="-122"/>
                <a:cs typeface="OPPOSans R" panose="00020600040101010101" charset="-122"/>
              </a:endParaRPr>
            </a:p>
            <a:p>
              <a:pPr algn="l" fontAlgn="auto">
                <a:lnSpc>
                  <a:spcPct val="120000"/>
                </a:lnSpc>
                <a:spcAft>
                  <a:spcPts val="1000"/>
                </a:spcAft>
              </a:pPr>
              <a:r>
                <a:rPr sz="1400" b="1">
                  <a:solidFill>
                    <a:srgbClr val="C00000"/>
                  </a:solidFill>
                  <a:latin typeface="OPPOSans R" panose="00020600040101010101" charset="-122"/>
                  <a:ea typeface="OPPOSans R" panose="00020600040101010101" charset="-122"/>
                  <a:cs typeface="OPPOSans R" panose="00020600040101010101" charset="-122"/>
                </a:rPr>
                <a:t>▪ </a:t>
              </a:r>
              <a:r>
                <a:rPr sz="1400">
                  <a:solidFill>
                    <a:srgbClr val="1F3864"/>
                  </a:solidFill>
                  <a:latin typeface="OPPOSans B" panose="00020600040101010101" charset="-122"/>
                  <a:ea typeface="OPPOSans B" panose="00020600040101010101" charset="-122"/>
                  <a:cs typeface="OPPOSans R" panose="00020600040101010101" charset="-122"/>
                </a:rPr>
                <a:t>试点衡量：</a:t>
              </a:r>
              <a:r>
                <a:rPr sz="1400" b="0">
                  <a:solidFill>
                    <a:srgbClr val="595959"/>
                  </a:solidFill>
                  <a:latin typeface="OPPOSans R" panose="00020600040101010101" charset="-122"/>
                  <a:ea typeface="OPPOSans R" panose="00020600040101010101" charset="-122"/>
                  <a:cs typeface="OPPOSans R" panose="00020600040101010101" charset="-122"/>
                </a:rPr>
                <a:t>跟踪查询与复核耗时、人工修订率、单次服务成本，评估推广成效。</a:t>
              </a:r>
              <a:endParaRPr sz="1400" b="0">
                <a:solidFill>
                  <a:srgbClr val="595959"/>
                </a:solidFill>
                <a:latin typeface="OPPOSans R" panose="00020600040101010101" charset="-122"/>
                <a:ea typeface="OPPOSans R" panose="00020600040101010101" charset="-122"/>
                <a:cs typeface="OPPOSans R" panose="00020600040101010101" charset="-122"/>
              </a:endParaRPr>
            </a:p>
          </p:txBody>
        </p:sp>
        <p:sp>
          <p:nvSpPr>
            <p:cNvPr id="72" name="TextBox 19"/>
            <p:cNvSpPr txBox="1"/>
            <p:nvPr>
              <p:custDataLst>
                <p:tags r:id="rId17"/>
              </p:custDataLst>
            </p:nvPr>
          </p:nvSpPr>
          <p:spPr>
            <a:xfrm>
              <a:off x="12332" y="3201"/>
              <a:ext cx="4896" cy="512"/>
            </a:xfrm>
            <a:prstGeom prst="rect">
              <a:avLst/>
            </a:prstGeom>
            <a:noFill/>
          </p:spPr>
          <p:txBody>
            <a:bodyPr wrap="square" lIns="18288" tIns="9144" rIns="18288" bIns="9144" anchor="t">
              <a:spAutoFit/>
            </a:bodyPr>
            <a:p>
              <a:pPr lvl="0" algn="l">
                <a:spcAft>
                  <a:spcPts val="400"/>
                </a:spcAft>
                <a:buClrTx/>
                <a:buSzTx/>
                <a:buFontTx/>
              </a:pPr>
              <a:r>
                <a:rPr sz="2000">
                  <a:solidFill>
                    <a:srgbClr val="FFFFFF"/>
                  </a:solidFill>
                  <a:latin typeface="OPPOSans B" panose="00020600040101010101" charset="-122"/>
                  <a:ea typeface="OPPOSans B" panose="00020600040101010101" charset="-122"/>
                  <a:sym typeface="+mn-ea"/>
                </a:rPr>
                <a:t>运营价值</a:t>
              </a:r>
              <a:endParaRPr sz="2000">
                <a:solidFill>
                  <a:srgbClr val="FFFFFF"/>
                </a:solidFill>
                <a:latin typeface="OPPOSans B" panose="00020600040101010101" charset="-122"/>
                <a:ea typeface="OPPOSans B" panose="00020600040101010101" charset="-122"/>
                <a:sym typeface="+mn-ea"/>
              </a:endParaRPr>
            </a:p>
          </p:txBody>
        </p:sp>
        <p:sp>
          <p:nvSpPr>
            <p:cNvPr id="73" name="TextBox 20"/>
            <p:cNvSpPr txBox="1"/>
            <p:nvPr>
              <p:custDataLst>
                <p:tags r:id="rId18"/>
              </p:custDataLst>
            </p:nvPr>
          </p:nvSpPr>
          <p:spPr>
            <a:xfrm>
              <a:off x="12332" y="3849"/>
              <a:ext cx="4896" cy="367"/>
            </a:xfrm>
            <a:prstGeom prst="rect">
              <a:avLst/>
            </a:prstGeom>
            <a:noFill/>
          </p:spPr>
          <p:txBody>
            <a:bodyPr wrap="square" lIns="18288" tIns="9144" rIns="18288" bIns="9144" anchor="t">
              <a:spAutoFit/>
            </a:bodyPr>
            <a:p>
              <a:pPr lvl="0" algn="l">
                <a:spcAft>
                  <a:spcPts val="400"/>
                </a:spcAft>
                <a:buClrTx/>
                <a:buSzTx/>
                <a:buFontTx/>
              </a:pPr>
              <a:r>
                <a:rPr sz="1400">
                  <a:solidFill>
                    <a:srgbClr val="F0C800"/>
                  </a:solidFill>
                  <a:latin typeface="OPPOSans B" panose="00020600040101010101" charset="-122"/>
                  <a:ea typeface="OPPOSans B" panose="00020600040101010101" charset="-122"/>
                  <a:sym typeface="+mn-ea"/>
                </a:rPr>
                <a:t>持续运营，成效可量化</a:t>
              </a:r>
              <a:endParaRPr sz="1400">
                <a:solidFill>
                  <a:srgbClr val="F0C800"/>
                </a:solidFill>
                <a:latin typeface="OPPOSans B" panose="00020600040101010101" charset="-122"/>
                <a:ea typeface="OPPOSans B" panose="00020600040101010101" charset="-122"/>
                <a:sym typeface="+mn-ea"/>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 name="文本框 1"/>
          <p:cNvSpPr txBox="1"/>
          <p:nvPr/>
        </p:nvSpPr>
        <p:spPr>
          <a:xfrm>
            <a:off x="3118105" y="1445752"/>
            <a:ext cx="6345936" cy="156966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96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谢谢观看！</a:t>
            </a:r>
            <a:endParaRPr kumimoji="0" lang="zh-CN" altLang="en-US" sz="96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endParaRPr>
          </a:p>
        </p:txBody>
      </p:sp>
      <p:sp>
        <p:nvSpPr>
          <p:cNvPr id="8" name="文本框 7"/>
          <p:cNvSpPr txBox="1"/>
          <p:nvPr/>
        </p:nvSpPr>
        <p:spPr>
          <a:xfrm>
            <a:off x="2814955" y="3635375"/>
            <a:ext cx="6557010" cy="7683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V</a:t>
            </a:r>
            <a:r>
              <a:rPr kumimoji="0" lang="en-US" altLang="zh-CN" sz="4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0</a:t>
            </a:r>
            <a:r>
              <a:rPr kumimoji="0" lang="zh-CN" altLang="en-US" sz="4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rtex </a:t>
            </a:r>
            <a:r>
              <a:rPr lang="zh-CN" altLang="en-US" sz="4400" b="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sym typeface="+mn-ea"/>
              </a:rPr>
              <a:t>团队</a:t>
            </a:r>
            <a:endParaRPr kumimoji="0" lang="zh-CN" altLang="en-US" sz="4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sym typeface="+mn-ea"/>
            </a:endParaRPr>
          </a:p>
        </p:txBody>
      </p:sp>
      <p:sp>
        <p:nvSpPr>
          <p:cNvPr id="16" name="文本框 15"/>
          <p:cNvSpPr txBox="1"/>
          <p:nvPr/>
        </p:nvSpPr>
        <p:spPr>
          <a:xfrm>
            <a:off x="6674350" y="4925066"/>
            <a:ext cx="4206238"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队员：李思、刘晨阳</a:t>
            </a:r>
            <a:endParaRPr kumimoji="0" lang="zh-CN" altLang="en-US" sz="2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endParaRPr>
          </a:p>
        </p:txBody>
      </p:sp>
      <p:sp>
        <p:nvSpPr>
          <p:cNvPr id="20" name="文本框 19"/>
          <p:cNvSpPr txBox="1"/>
          <p:nvPr/>
        </p:nvSpPr>
        <p:spPr>
          <a:xfrm>
            <a:off x="2263351" y="4925066"/>
            <a:ext cx="2525267" cy="4603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rPr>
              <a:t>队长：王博震</a:t>
            </a:r>
            <a:endParaRPr kumimoji="0" lang="zh-CN" altLang="en-US" sz="2400" b="1" i="0" u="none" strike="noStrike" kern="1200" cap="none" spc="0" normalizeH="0" baseline="0" noProof="1">
              <a:ln>
                <a:noFill/>
              </a:ln>
              <a:gradFill>
                <a:gsLst>
                  <a:gs pos="32000">
                    <a:srgbClr val="4874CB">
                      <a:lumMod val="5000"/>
                      <a:lumOff val="95000"/>
                    </a:srgbClr>
                  </a:gs>
                  <a:gs pos="100000">
                    <a:srgbClr val="AAECFB"/>
                  </a:gs>
                </a:gsLst>
                <a:lin ang="5400000" scaled="0"/>
              </a:gra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
</file>

<file path=ppt/tags/tag1.xml><?xml version="1.0" encoding="utf-8"?>
<p:tagLst xmlns:p="http://schemas.openxmlformats.org/presentationml/2006/main">
  <p:tag name="KSO_WM_DIAGRAM_VIRTUALLY_FRAME" val="{&quot;height&quot;:146.2,&quot;left&quot;:39.6,&quot;top&quot;:153.85,&quot;width&quot;:880.5599212598424}"/>
</p:tagLst>
</file>

<file path=ppt/tags/tag2.xml><?xml version="1.0" encoding="utf-8"?>
<p:tagLst xmlns:p="http://schemas.openxmlformats.org/presentationml/2006/main">
  <p:tag name="KSO_WM_DIAGRAM_VIRTUALLY_FRAME" val="{&quot;height&quot;:146.2,&quot;left&quot;:39.6,&quot;top&quot;:153.85,&quot;width&quot;:880.5599212598424}"/>
</p:tagLst>
</file>

<file path=ppt/tags/tag3.xml><?xml version="1.0" encoding="utf-8"?>
<p:tagLst xmlns:p="http://schemas.openxmlformats.org/presentationml/2006/main">
  <p:tag name="KSO_WM_DIAGRAM_VIRTUALLY_FRAME" val="{&quot;height&quot;:146.2,&quot;left&quot;:39.6,&quot;top&quot;:153.85,&quot;width&quot;:880.5599212598424}"/>
</p:tagLst>
</file>

<file path=ppt/tags/tag4.xml><?xml version="1.0" encoding="utf-8"?>
<p:tagLst xmlns:p="http://schemas.openxmlformats.org/presentationml/2006/main">
  <p:tag name="KSO_WM_DIAGRAM_VIRTUALLY_FRAME" val="{&quot;height&quot;:146.2,&quot;left&quot;:39.6,&quot;top&quot;:153.85,&quot;width&quot;:880.5599212598424}"/>
</p:tagLst>
</file>

<file path=ppt/tags/tag5.xml><?xml version="1.0" encoding="utf-8"?>
<p:tagLst xmlns:p="http://schemas.openxmlformats.org/presentationml/2006/main">
  <p:tag name="KSO_WM_DIAGRAM_VIRTUALLY_FRAME" val="{&quot;height&quot;:146.2,&quot;left&quot;:39.6,&quot;top&quot;:153.85,&quot;width&quot;:880.5599212598424}"/>
</p:tagLst>
</file>

<file path=ppt/tags/tag6.xml><?xml version="1.0" encoding="utf-8"?>
<p:tagLst xmlns:p="http://schemas.openxmlformats.org/presentationml/2006/main">
  <p:tag name="KSO_WM_DIAGRAM_VIRTUALLY_FRAME" val="{&quot;height&quot;:146.2,&quot;left&quot;:39.6,&quot;top&quot;:153.85,&quot;width&quot;:880.5599212598424}"/>
</p:tagLst>
</file>

<file path=ppt/tags/tag7.xml><?xml version="1.0" encoding="utf-8"?>
<p:tagLst xmlns:p="http://schemas.openxmlformats.org/presentationml/2006/main">
  <p:tag name="KSO_WM_DIAGRAM_VIRTUALLY_FRAME" val="{&quot;height&quot;:146.2,&quot;left&quot;:39.6,&quot;top&quot;:153.85,&quot;width&quot;:880.5599212598424}"/>
</p:tagLst>
</file>

<file path=ppt/tags/tag8.xml><?xml version="1.0" encoding="utf-8"?>
<p:tagLst xmlns:p="http://schemas.openxmlformats.org/presentationml/2006/main">
  <p:tag name="KSO_WM_DIAGRAM_VIRTUALLY_FRAME" val="{&quot;height&quot;:146.2,&quot;left&quot;:39.6,&quot;top&quot;:153.85,&quot;width&quot;:880.5599212598424}"/>
</p:tagLst>
</file>

<file path=ppt/tags/tag9.xml><?xml version="1.0" encoding="utf-8"?>
<p:tagLst xmlns:p="http://schemas.openxmlformats.org/presentationml/2006/main">
  <p:tag name="KSO_WM_DIAGRAM_VIRTUALLY_FRAME" val="{&quot;height&quot;:146.2,&quot;left&quot;:39.6,&quot;top&quot;:153.85,&quot;width&quot;:880.5599212598424}"/>
</p:tagLst>
</file>

<file path=ppt/tags/tag10.xml><?xml version="1.0" encoding="utf-8"?>
<p:tagLst xmlns:p="http://schemas.openxmlformats.org/presentationml/2006/main">
  <p:tag name="KSO_WM_DIAGRAM_VIRTUALLY_FRAME" val="{&quot;height&quot;:146.2,&quot;left&quot;:39.6,&quot;top&quot;:153.85,&quot;width&quot;:880.5599212598424}"/>
</p:tagLst>
</file>

<file path=ppt/tags/tag11.xml><?xml version="1.0" encoding="utf-8"?>
<p:tagLst xmlns:p="http://schemas.openxmlformats.org/presentationml/2006/main">
  <p:tag name="KSO_WM_DIAGRAM_VIRTUALLY_FRAME" val="{&quot;height&quot;:146.2,&quot;left&quot;:39.6,&quot;top&quot;:153.85,&quot;width&quot;:880.5599212598424}"/>
</p:tagLst>
</file>

<file path=ppt/tags/tag12.xml><?xml version="1.0" encoding="utf-8"?>
<p:tagLst xmlns:p="http://schemas.openxmlformats.org/presentationml/2006/main">
  <p:tag name="KSO_WM_DIAGRAM_VIRTUALLY_FRAME" val="{&quot;height&quot;:146.2,&quot;left&quot;:39.6,&quot;top&quot;:153.85,&quot;width&quot;:880.5599212598424}"/>
</p:tagLst>
</file>

<file path=ppt/tags/tag13.xml><?xml version="1.0" encoding="utf-8"?>
<p:tagLst xmlns:p="http://schemas.openxmlformats.org/presentationml/2006/main">
  <p:tag name="KSO_WM_DIAGRAM_VIRTUALLY_FRAME" val="{&quot;height&quot;:326.7,&quot;left&quot;:39.6,&quot;top&quot;:136,&quot;width&quot;:881.55}"/>
</p:tagLst>
</file>

<file path=ppt/tags/tag14.xml><?xml version="1.0" encoding="utf-8"?>
<p:tagLst xmlns:p="http://schemas.openxmlformats.org/presentationml/2006/main">
  <p:tag name="KSO_WM_DIAGRAM_VIRTUALLY_FRAME" val="{&quot;height&quot;:326.7,&quot;left&quot;:39.6,&quot;top&quot;:136,&quot;width&quot;:881.55}"/>
</p:tagLst>
</file>

<file path=ppt/tags/tag15.xml><?xml version="1.0" encoding="utf-8"?>
<p:tagLst xmlns:p="http://schemas.openxmlformats.org/presentationml/2006/main">
  <p:tag name="KSO_WM_DIAGRAM_VIRTUALLY_FRAME" val="{&quot;height&quot;:326.7,&quot;left&quot;:39.6,&quot;top&quot;:136,&quot;width&quot;:881.55}"/>
</p:tagLst>
</file>

<file path=ppt/tags/tag16.xml><?xml version="1.0" encoding="utf-8"?>
<p:tagLst xmlns:p="http://schemas.openxmlformats.org/presentationml/2006/main">
  <p:tag name="KSO_WM_DIAGRAM_VIRTUALLY_FRAME" val="{&quot;height&quot;:326.7,&quot;left&quot;:39.6,&quot;top&quot;:136,&quot;width&quot;:881.55}"/>
</p:tagLst>
</file>

<file path=ppt/tags/tag17.xml><?xml version="1.0" encoding="utf-8"?>
<p:tagLst xmlns:p="http://schemas.openxmlformats.org/presentationml/2006/main">
  <p:tag name="KSO_WM_DIAGRAM_VIRTUALLY_FRAME" val="{&quot;height&quot;:326.7,&quot;left&quot;:39.6,&quot;top&quot;:136,&quot;width&quot;:881.55}"/>
</p:tagLst>
</file>

<file path=ppt/tags/tag18.xml><?xml version="1.0" encoding="utf-8"?>
<p:tagLst xmlns:p="http://schemas.openxmlformats.org/presentationml/2006/main">
  <p:tag name="KSO_WM_DIAGRAM_VIRTUALLY_FRAME" val="{&quot;height&quot;:326.7,&quot;left&quot;:39.6,&quot;top&quot;:136,&quot;width&quot;:881.55}"/>
</p:tagLst>
</file>

<file path=ppt/tags/tag19.xml><?xml version="1.0" encoding="utf-8"?>
<p:tagLst xmlns:p="http://schemas.openxmlformats.org/presentationml/2006/main">
  <p:tag name="KSO_WM_DIAGRAM_VIRTUALLY_FRAME" val="{&quot;height&quot;:326.7,&quot;left&quot;:39.6,&quot;top&quot;:136,&quot;width&quot;:881.55}"/>
</p:tagLst>
</file>

<file path=ppt/tags/tag20.xml><?xml version="1.0" encoding="utf-8"?>
<p:tagLst xmlns:p="http://schemas.openxmlformats.org/presentationml/2006/main">
  <p:tag name="KSO_WM_DIAGRAM_VIRTUALLY_FRAME" val="{&quot;height&quot;:326.7,&quot;left&quot;:39.6,&quot;top&quot;:136,&quot;width&quot;:881.55}"/>
</p:tagLst>
</file>

<file path=ppt/tags/tag21.xml><?xml version="1.0" encoding="utf-8"?>
<p:tagLst xmlns:p="http://schemas.openxmlformats.org/presentationml/2006/main">
  <p:tag name="KSO_WM_DIAGRAM_VIRTUALLY_FRAME" val="{&quot;height&quot;:326.7,&quot;left&quot;:39.6,&quot;top&quot;:136,&quot;width&quot;:881.55}"/>
</p:tagLst>
</file>

<file path=ppt/tags/tag22.xml><?xml version="1.0" encoding="utf-8"?>
<p:tagLst xmlns:p="http://schemas.openxmlformats.org/presentationml/2006/main">
  <p:tag name="KSO_WM_DIAGRAM_VIRTUALLY_FRAME" val="{&quot;height&quot;:326.7,&quot;left&quot;:39.6,&quot;top&quot;:136,&quot;width&quot;:881.55}"/>
</p:tagLst>
</file>

<file path=ppt/tags/tag23.xml><?xml version="1.0" encoding="utf-8"?>
<p:tagLst xmlns:p="http://schemas.openxmlformats.org/presentationml/2006/main">
  <p:tag name="KSO_WM_DIAGRAM_VIRTUALLY_FRAME" val="{&quot;height&quot;:326.7,&quot;left&quot;:39.6,&quot;top&quot;:136,&quot;width&quot;:881.55}"/>
</p:tagLst>
</file>

<file path=ppt/tags/tag24.xml><?xml version="1.0" encoding="utf-8"?>
<p:tagLst xmlns:p="http://schemas.openxmlformats.org/presentationml/2006/main">
  <p:tag name="KSO_WM_DIAGRAM_VIRTUALLY_FRAME" val="{&quot;height&quot;:326.7,&quot;left&quot;:39.6,&quot;top&quot;:136,&quot;width&quot;:881.55}"/>
</p:tagLst>
</file>

<file path=ppt/tags/tag25.xml><?xml version="1.0" encoding="utf-8"?>
<p:tagLst xmlns:p="http://schemas.openxmlformats.org/presentationml/2006/main">
  <p:tag name="KSO_WM_DIAGRAM_VIRTUALLY_FRAME" val="{&quot;height&quot;:326.7,&quot;left&quot;:39.6,&quot;top&quot;:136,&quot;width&quot;:881.55}"/>
</p:tagLst>
</file>

<file path=ppt/tags/tag26.xml><?xml version="1.0" encoding="utf-8"?>
<p:tagLst xmlns:p="http://schemas.openxmlformats.org/presentationml/2006/main">
  <p:tag name="KSO_WM_DIAGRAM_VIRTUALLY_FRAME" val="{&quot;height&quot;:326.7,&quot;left&quot;:39.6,&quot;top&quot;:136,&quot;width&quot;:881.55}"/>
</p:tagLst>
</file>

<file path=ppt/tags/tag27.xml><?xml version="1.0" encoding="utf-8"?>
<p:tagLst xmlns:p="http://schemas.openxmlformats.org/presentationml/2006/main">
  <p:tag name="KSO_WM_DIAGRAM_VIRTUALLY_FRAME" val="{&quot;height&quot;:326.7,&quot;left&quot;:39.6,&quot;top&quot;:136,&quot;width&quot;:881.55}"/>
</p:tagLst>
</file>

<file path=ppt/tags/tag28.xml><?xml version="1.0" encoding="utf-8"?>
<p:tagLst xmlns:p="http://schemas.openxmlformats.org/presentationml/2006/main">
  <p:tag name="KSO_WM_DIAGRAM_VIRTUALLY_FRAME" val="{&quot;height&quot;:326.7,&quot;left&quot;:39.6,&quot;top&quot;:136,&quot;width&quot;:881.55}"/>
</p:tagLst>
</file>

<file path=ppt/tags/tag29.xml><?xml version="1.0" encoding="utf-8"?>
<p:tagLst xmlns:p="http://schemas.openxmlformats.org/presentationml/2006/main">
  <p:tag name="KSO_WM_DIAGRAM_VIRTUALLY_FRAME" val="{&quot;height&quot;:326.7,&quot;left&quot;:39.6,&quot;top&quot;:136,&quot;width&quot;:881.55}"/>
</p:tagLst>
</file>

<file path=ppt/tags/tag30.xml><?xml version="1.0" encoding="utf-8"?>
<p:tagLst xmlns:p="http://schemas.openxmlformats.org/presentationml/2006/main">
  <p:tag name="KSO_WM_DIAGRAM_VIRTUALLY_FRAME" val="{&quot;height&quot;:326.7,&quot;left&quot;:39.6,&quot;top&quot;:136,&quot;width&quot;:881.55}"/>
</p:tagLst>
</file>

<file path=ppt/tags/tag31.xml><?xml version="1.0" encoding="utf-8"?>
<p:tagLst xmlns:p="http://schemas.openxmlformats.org/presentationml/2006/main">
  <p:tag name="KSO_WM_DIAGRAM_VIRTUALLY_FRAME" val="{&quot;height&quot;:326.7,&quot;left&quot;:39.6,&quot;top&quot;:136,&quot;width&quot;:881.55}"/>
</p:tagLst>
</file>

<file path=ppt/tags/tag32.xml><?xml version="1.0" encoding="utf-8"?>
<p:tagLst xmlns:p="http://schemas.openxmlformats.org/presentationml/2006/main">
  <p:tag name="KSO_WM_DIAGRAM_VIRTUALLY_FRAME" val="{&quot;height&quot;:326.7,&quot;left&quot;:39.6,&quot;top&quot;:136,&quot;width&quot;:881.55}"/>
</p:tagLst>
</file>

<file path=ppt/tags/tag33.xml><?xml version="1.0" encoding="utf-8"?>
<p:tagLst xmlns:p="http://schemas.openxmlformats.org/presentationml/2006/main">
  <p:tag name="KSO_WM_DIAGRAM_VIRTUALLY_FRAME" val="{&quot;height&quot;:326.7,&quot;left&quot;:39.6,&quot;top&quot;:136,&quot;width&quot;:881.55}"/>
</p:tagLst>
</file>

<file path=ppt/tags/tag34.xml><?xml version="1.0" encoding="utf-8"?>
<p:tagLst xmlns:p="http://schemas.openxmlformats.org/presentationml/2006/main">
  <p:tag name="KSO_WM_DIAGRAM_VIRTUALLY_FRAME" val="{&quot;height&quot;:326.7,&quot;left&quot;:39.6,&quot;top&quot;:136,&quot;width&quot;:881.55}"/>
</p:tagLst>
</file>

<file path=ppt/tags/tag35.xml><?xml version="1.0" encoding="utf-8"?>
<p:tagLst xmlns:p="http://schemas.openxmlformats.org/presentationml/2006/main">
  <p:tag name="KSO_WM_DIAGRAM_VIRTUALLY_FRAME" val="{&quot;height&quot;:326.7,&quot;left&quot;:39.6,&quot;top&quot;:136,&quot;width&quot;:881.55}"/>
</p:tagLst>
</file>

<file path=ppt/tags/tag36.xml><?xml version="1.0" encoding="utf-8"?>
<p:tagLst xmlns:p="http://schemas.openxmlformats.org/presentationml/2006/main">
  <p:tag name="KSO_WM_DIAGRAM_VIRTUALLY_FRAME" val="{&quot;height&quot;:326.7,&quot;left&quot;:39.6,&quot;top&quot;:136,&quot;width&quot;:881.55}"/>
</p:tagLst>
</file>

<file path=ppt/tags/tag37.xml><?xml version="1.0" encoding="utf-8"?>
<p:tagLst xmlns:p="http://schemas.openxmlformats.org/presentationml/2006/main">
  <p:tag name="KSO_WM_DIAGRAM_VIRTUALLY_FRAME" val="{&quot;height&quot;:310.1,&quot;left&quot;:37.4,&quot;top&quot;:156.55,&quot;width&quot;:878.15}"/>
</p:tagLst>
</file>

<file path=ppt/tags/tag38.xml><?xml version="1.0" encoding="utf-8"?>
<p:tagLst xmlns:p="http://schemas.openxmlformats.org/presentationml/2006/main">
  <p:tag name="KSO_WM_DIAGRAM_VIRTUALLY_FRAME" val="{&quot;height&quot;:310.1,&quot;left&quot;:37.4,&quot;top&quot;:156.55,&quot;width&quot;:878.15}"/>
</p:tagLst>
</file>

<file path=ppt/tags/tag39.xml><?xml version="1.0" encoding="utf-8"?>
<p:tagLst xmlns:p="http://schemas.openxmlformats.org/presentationml/2006/main">
  <p:tag name="KSO_WM_DIAGRAM_VIRTUALLY_FRAME" val="{&quot;height&quot;:310.1,&quot;left&quot;:37.4,&quot;top&quot;:156.55,&quot;width&quot;:878.15}"/>
</p:tagLst>
</file>

<file path=ppt/tags/tag40.xml><?xml version="1.0" encoding="utf-8"?>
<p:tagLst xmlns:p="http://schemas.openxmlformats.org/presentationml/2006/main">
  <p:tag name="KSO_WM_DIAGRAM_VIRTUALLY_FRAME" val="{&quot;height&quot;:310.1,&quot;left&quot;:37.4,&quot;top&quot;:156.55,&quot;width&quot;:878.15}"/>
</p:tagLst>
</file>

<file path=ppt/tags/tag41.xml><?xml version="1.0" encoding="utf-8"?>
<p:tagLst xmlns:p="http://schemas.openxmlformats.org/presentationml/2006/main">
  <p:tag name="KSO_WM_DIAGRAM_VIRTUALLY_FRAME" val="{&quot;height&quot;:310.1,&quot;left&quot;:37.4,&quot;top&quot;:156.55,&quot;width&quot;:878.15}"/>
</p:tagLst>
</file>

<file path=ppt/tags/tag42.xml><?xml version="1.0" encoding="utf-8"?>
<p:tagLst xmlns:p="http://schemas.openxmlformats.org/presentationml/2006/main">
  <p:tag name="KSO_WM_DIAGRAM_VIRTUALLY_FRAME" val="{&quot;height&quot;:310.1,&quot;left&quot;:37.4,&quot;top&quot;:156.55,&quot;width&quot;:878.15}"/>
</p:tagLst>
</file>

<file path=ppt/tags/tag43.xml><?xml version="1.0" encoding="utf-8"?>
<p:tagLst xmlns:p="http://schemas.openxmlformats.org/presentationml/2006/main">
  <p:tag name="KSO_WM_DIAGRAM_VIRTUALLY_FRAME" val="{&quot;height&quot;:310.1,&quot;left&quot;:37.4,&quot;top&quot;:156.55,&quot;width&quot;:878.15}"/>
</p:tagLst>
</file>

<file path=ppt/tags/tag44.xml><?xml version="1.0" encoding="utf-8"?>
<p:tagLst xmlns:p="http://schemas.openxmlformats.org/presentationml/2006/main">
  <p:tag name="KSO_WM_DIAGRAM_VIRTUALLY_FRAME" val="{&quot;height&quot;:310.1,&quot;left&quot;:37.4,&quot;top&quot;:156.55,&quot;width&quot;:878.15}"/>
</p:tagLst>
</file>

<file path=ppt/tags/tag45.xml><?xml version="1.0" encoding="utf-8"?>
<p:tagLst xmlns:p="http://schemas.openxmlformats.org/presentationml/2006/main">
  <p:tag name="KSO_WM_DIAGRAM_VIRTUALLY_FRAME" val="{&quot;height&quot;:310.1,&quot;left&quot;:37.4,&quot;top&quot;:156.55,&quot;width&quot;:878.15}"/>
</p:tagLst>
</file>

<file path=ppt/tags/tag46.xml><?xml version="1.0" encoding="utf-8"?>
<p:tagLst xmlns:p="http://schemas.openxmlformats.org/presentationml/2006/main">
  <p:tag name="KSO_WM_DIAGRAM_VIRTUALLY_FRAME" val="{&quot;height&quot;:310.1,&quot;left&quot;:37.4,&quot;top&quot;:156.55,&quot;width&quot;:878.15}"/>
</p:tagLst>
</file>

<file path=ppt/tags/tag47.xml><?xml version="1.0" encoding="utf-8"?>
<p:tagLst xmlns:p="http://schemas.openxmlformats.org/presentationml/2006/main">
  <p:tag name="KSO_WM_DIAGRAM_VIRTUALLY_FRAME" val="{&quot;height&quot;:310.1,&quot;left&quot;:37.4,&quot;top&quot;:156.55,&quot;width&quot;:878.15}"/>
</p:tagLst>
</file>

<file path=ppt/tags/tag48.xml><?xml version="1.0" encoding="utf-8"?>
<p:tagLst xmlns:p="http://schemas.openxmlformats.org/presentationml/2006/main">
  <p:tag name="KSO_WM_DIAGRAM_VIRTUALLY_FRAME" val="{&quot;height&quot;:310.1,&quot;left&quot;:37.4,&quot;top&quot;:156.55,&quot;width&quot;:878.15}"/>
</p:tagLst>
</file>

<file path=ppt/tags/tag49.xml><?xml version="1.0" encoding="utf-8"?>
<p:tagLst xmlns:p="http://schemas.openxmlformats.org/presentationml/2006/main">
  <p:tag name="KSO_WM_DIAGRAM_VIRTUALLY_FRAME" val="{&quot;height&quot;:310.1,&quot;left&quot;:37.4,&quot;top&quot;:156.55,&quot;width&quot;:878.15}"/>
</p:tagLst>
</file>

<file path=ppt/tags/tag50.xml><?xml version="1.0" encoding="utf-8"?>
<p:tagLst xmlns:p="http://schemas.openxmlformats.org/presentationml/2006/main">
  <p:tag name="KSO_WM_DIAGRAM_VIRTUALLY_FRAME" val="{&quot;height&quot;:310.1,&quot;left&quot;:37.4,&quot;top&quot;:156.55,&quot;width&quot;:878.15}"/>
</p:tagLst>
</file>

<file path=ppt/tags/tag51.xml><?xml version="1.0" encoding="utf-8"?>
<p:tagLst xmlns:p="http://schemas.openxmlformats.org/presentationml/2006/main">
  <p:tag name="KSO_WM_DIAGRAM_VIRTUALLY_FRAME" val="{&quot;height&quot;:310.1,&quot;left&quot;:37.4,&quot;top&quot;:156.55,&quot;width&quot;:878.15}"/>
</p:tagLst>
</file>

<file path=ppt/tags/tag52.xml><?xml version="1.0" encoding="utf-8"?>
<p:tagLst xmlns:p="http://schemas.openxmlformats.org/presentationml/2006/main">
  <p:tag name="KSO_WM_DIAGRAM_VIRTUALLY_FRAME" val="{&quot;height&quot;:310.1,&quot;left&quot;:37.4,&quot;top&quot;:156.55,&quot;width&quot;:878.15}"/>
</p:tagLst>
</file>

<file path=ppt/tags/tag53.xml><?xml version="1.0" encoding="utf-8"?>
<p:tagLst xmlns:p="http://schemas.openxmlformats.org/presentationml/2006/main">
  <p:tag name="KSO_WM_DIAGRAM_VIRTUALLY_FRAME" val="{&quot;height&quot;:310.1,&quot;left&quot;:37.4,&quot;top&quot;:156.55,&quot;width&quot;:878.15}"/>
</p:tagLst>
</file>

<file path=ppt/tags/tag54.xml><?xml version="1.0" encoding="utf-8"?>
<p:tagLst xmlns:p="http://schemas.openxmlformats.org/presentationml/2006/main">
  <p:tag name="KSO_WM_DIAGRAM_VIRTUALLY_FRAME" val="{&quot;height&quot;:310.1,&quot;left&quot;:37.4,&quot;top&quot;:156.55,&quot;width&quot;:878.15}"/>
</p:tagLst>
</file>

<file path=ppt/tags/tag55.xml><?xml version="1.0" encoding="utf-8"?>
<p:tagLst xmlns:p="http://schemas.openxmlformats.org/presentationml/2006/main">
  <p:tag name="KSO_WM_DIAGRAM_VIRTUALLY_FRAME" val="{&quot;height&quot;:310.1,&quot;left&quot;:37.4,&quot;top&quot;:156.55,&quot;width&quot;:878.15}"/>
</p:tagLst>
</file>

<file path=ppt/tags/tag56.xml><?xml version="1.0" encoding="utf-8"?>
<p:tagLst xmlns:p="http://schemas.openxmlformats.org/presentationml/2006/main">
  <p:tag name="KSO_WM_DIAGRAM_VIRTUALLY_FRAME" val="{&quot;height&quot;:310.1,&quot;left&quot;:37.4,&quot;top&quot;:156.55,&quot;width&quot;:878.15}"/>
</p:tagLst>
</file>

<file path=ppt/tags/tag57.xml><?xml version="1.0" encoding="utf-8"?>
<p:tagLst xmlns:p="http://schemas.openxmlformats.org/presentationml/2006/main">
  <p:tag name="KSO_WM_DIAGRAM_VIRTUALLY_FRAME" val="{&quot;height&quot;:310.1,&quot;left&quot;:37.4,&quot;top&quot;:156.55,&quot;width&quot;:878.15}"/>
</p:tagLst>
</file>

<file path=ppt/tags/tag58.xml><?xml version="1.0" encoding="utf-8"?>
<p:tagLst xmlns:p="http://schemas.openxmlformats.org/presentationml/2006/main">
  <p:tag name="KSO_WM_DIAGRAM_VIRTUALLY_FRAME" val="{&quot;height&quot;:310.1,&quot;left&quot;:37.4,&quot;top&quot;:156.55,&quot;width&quot;:878.15}"/>
</p:tagLst>
</file>

<file path=ppt/tags/tag59.xml><?xml version="1.0" encoding="utf-8"?>
<p:tagLst xmlns:p="http://schemas.openxmlformats.org/presentationml/2006/main">
  <p:tag name="KSO_WM_DIAGRAM_VIRTUALLY_FRAME" val="{&quot;height&quot;:310.1,&quot;left&quot;:37.4,&quot;top&quot;:156.55,&quot;width&quot;:878.15}"/>
</p:tagLst>
</file>

<file path=ppt/tags/tag60.xml><?xml version="1.0" encoding="utf-8"?>
<p:tagLst xmlns:p="http://schemas.openxmlformats.org/presentationml/2006/main">
  <p:tag name="KSO_WM_DIAGRAM_VIRTUALLY_FRAME" val="{&quot;height&quot;:310.1,&quot;left&quot;:37.4,&quot;top&quot;:156.55,&quot;width&quot;:878.15}"/>
</p:tagLst>
</file>

<file path=ppt/tags/tag61.xml><?xml version="1.0" encoding="utf-8"?>
<p:tagLst xmlns:p="http://schemas.openxmlformats.org/presentationml/2006/main">
  <p:tag name="KSO_WM_DIAGRAM_VIRTUALLY_FRAME" val="{&quot;height&quot;:310.1,&quot;left&quot;:37.4,&quot;top&quot;:156.55,&quot;width&quot;:878.15}"/>
</p:tagLst>
</file>

<file path=ppt/tags/tag62.xml><?xml version="1.0" encoding="utf-8"?>
<p:tagLst xmlns:p="http://schemas.openxmlformats.org/presentationml/2006/main">
  <p:tag name="KSO_WM_DIAGRAM_VIRTUALLY_FRAME" val="{&quot;height&quot;:310.1,&quot;left&quot;:37.4,&quot;top&quot;:156.55,&quot;width&quot;:878.15}"/>
</p:tagLst>
</file>

<file path=ppt/tags/tag63.xml><?xml version="1.0" encoding="utf-8"?>
<p:tagLst xmlns:p="http://schemas.openxmlformats.org/presentationml/2006/main">
  <p:tag name="KSO_WM_DIAGRAM_VIRTUALLY_FRAME" val="{&quot;height&quot;:310.1,&quot;left&quot;:37.4,&quot;top&quot;:156.55,&quot;width&quot;:878.15}"/>
</p:tagLst>
</file>

<file path=ppt/tags/tag64.xml><?xml version="1.0" encoding="utf-8"?>
<p:tagLst xmlns:p="http://schemas.openxmlformats.org/presentationml/2006/main">
  <p:tag name="KSO_WM_DIAGRAM_VIRTUALLY_FRAME" val="{&quot;height&quot;:310.1,&quot;left&quot;:37.4,&quot;top&quot;:156.55,&quot;width&quot;:878.15}"/>
</p:tagLst>
</file>

<file path=ppt/tags/tag65.xml><?xml version="1.0" encoding="utf-8"?>
<p:tagLst xmlns:p="http://schemas.openxmlformats.org/presentationml/2006/main">
  <p:tag name="KSO_WM_DIAGRAM_VIRTUALLY_FRAME" val="{&quot;height&quot;:310.1,&quot;left&quot;:37.4,&quot;top&quot;:156.55,&quot;width&quot;:878.15}"/>
</p:tagLst>
</file>

<file path=ppt/tags/tag66.xml><?xml version="1.0" encoding="utf-8"?>
<p:tagLst xmlns:p="http://schemas.openxmlformats.org/presentationml/2006/main">
  <p:tag name="KSO_WM_DIAGRAM_VIRTUALLY_FRAME" val="{&quot;height&quot;:310.1,&quot;left&quot;:37.4,&quot;top&quot;:156.55,&quot;width&quot;:878.15}"/>
</p:tagLst>
</file>

<file path=ppt/tags/tag67.xml><?xml version="1.0" encoding="utf-8"?>
<p:tagLst xmlns:p="http://schemas.openxmlformats.org/presentationml/2006/main">
  <p:tag name="KSO_WM_DIAGRAM_VIRTUALLY_FRAME" val="{&quot;height&quot;:246.24,&quot;left&quot;:39.6,&quot;top&quot;:214.26,&quot;width&quot;:880.5599999999998}"/>
</p:tagLst>
</file>

<file path=ppt/tags/tag68.xml><?xml version="1.0" encoding="utf-8"?>
<p:tagLst xmlns:p="http://schemas.openxmlformats.org/presentationml/2006/main">
  <p:tag name="KSO_WM_DIAGRAM_VIRTUALLY_FRAME" val="{&quot;height&quot;:246.24,&quot;left&quot;:39.6,&quot;top&quot;:214.26,&quot;width&quot;:880.5599999999998}"/>
</p:tagLst>
</file>

<file path=ppt/tags/tag69.xml><?xml version="1.0" encoding="utf-8"?>
<p:tagLst xmlns:p="http://schemas.openxmlformats.org/presentationml/2006/main">
  <p:tag name="KSO_WM_DIAGRAM_VIRTUALLY_FRAME" val="{&quot;height&quot;:246.24,&quot;left&quot;:39.6,&quot;top&quot;:214.26,&quot;width&quot;:880.5599999999998}"/>
</p:tagLst>
</file>

<file path=ppt/tags/tag70.xml><?xml version="1.0" encoding="utf-8"?>
<p:tagLst xmlns:p="http://schemas.openxmlformats.org/presentationml/2006/main">
  <p:tag name="KSO_WM_DIAGRAM_VIRTUALLY_FRAME" val="{&quot;height&quot;:246.24,&quot;left&quot;:39.6,&quot;top&quot;:214.26,&quot;width&quot;:880.5599999999998}"/>
</p:tagLst>
</file>

<file path=ppt/tags/tag71.xml><?xml version="1.0" encoding="utf-8"?>
<p:tagLst xmlns:p="http://schemas.openxmlformats.org/presentationml/2006/main">
  <p:tag name="KSO_WM_DIAGRAM_VIRTUALLY_FRAME" val="{&quot;height&quot;:246.24,&quot;left&quot;:39.6,&quot;top&quot;:214.26,&quot;width&quot;:880.5599999999998}"/>
</p:tagLst>
</file>

<file path=ppt/tags/tag72.xml><?xml version="1.0" encoding="utf-8"?>
<p:tagLst xmlns:p="http://schemas.openxmlformats.org/presentationml/2006/main">
  <p:tag name="KSO_WM_DIAGRAM_VIRTUALLY_FRAME" val="{&quot;height&quot;:246.24,&quot;left&quot;:39.6,&quot;top&quot;:214.26,&quot;width&quot;:880.5599999999998}"/>
</p:tagLst>
</file>

<file path=ppt/tags/tag73.xml><?xml version="1.0" encoding="utf-8"?>
<p:tagLst xmlns:p="http://schemas.openxmlformats.org/presentationml/2006/main">
  <p:tag name="KSO_WM_DIAGRAM_VIRTUALLY_FRAME" val="{&quot;height&quot;:246.24,&quot;left&quot;:39.6,&quot;top&quot;:214.26,&quot;width&quot;:880.5599999999998}"/>
</p:tagLst>
</file>

<file path=ppt/tags/tag74.xml><?xml version="1.0" encoding="utf-8"?>
<p:tagLst xmlns:p="http://schemas.openxmlformats.org/presentationml/2006/main">
  <p:tag name="KSO_WM_DIAGRAM_VIRTUALLY_FRAME" val="{&quot;height&quot;:246.24,&quot;left&quot;:39.6,&quot;top&quot;:214.26,&quot;width&quot;:880.5599999999998}"/>
</p:tagLst>
</file>

<file path=ppt/tags/tag75.xml><?xml version="1.0" encoding="utf-8"?>
<p:tagLst xmlns:p="http://schemas.openxmlformats.org/presentationml/2006/main">
  <p:tag name="KSO_WM_DIAGRAM_VIRTUALLY_FRAME" val="{&quot;height&quot;:246.24,&quot;left&quot;:39.6,&quot;top&quot;:214.26,&quot;width&quot;:880.5599999999998}"/>
</p:tagLst>
</file>

<file path=ppt/tags/tag76.xml><?xml version="1.0" encoding="utf-8"?>
<p:tagLst xmlns:p="http://schemas.openxmlformats.org/presentationml/2006/main">
  <p:tag name="KSO_WM_DIAGRAM_VIRTUALLY_FRAME" val="{&quot;height&quot;:246.24,&quot;left&quot;:39.6,&quot;top&quot;:214.26,&quot;width&quot;:880.5599999999998}"/>
</p:tagLst>
</file>

<file path=ppt/tags/tag77.xml><?xml version="1.0" encoding="utf-8"?>
<p:tagLst xmlns:p="http://schemas.openxmlformats.org/presentationml/2006/main">
  <p:tag name="KSO_WM_DIAGRAM_VIRTUALLY_FRAME" val="{&quot;height&quot;:246.24,&quot;left&quot;:39.6,&quot;top&quot;:214.26,&quot;width&quot;:880.5599999999998}"/>
</p:tagLst>
</file>

<file path=ppt/tags/tag78.xml><?xml version="1.0" encoding="utf-8"?>
<p:tagLst xmlns:p="http://schemas.openxmlformats.org/presentationml/2006/main">
  <p:tag name="KSO_WM_DIAGRAM_VIRTUALLY_FRAME" val="{&quot;height&quot;:246.24,&quot;left&quot;:39.6,&quot;top&quot;:214.26,&quot;width&quot;:880.5599999999998}"/>
</p:tagLst>
</file>

<file path=ppt/tags/tag79.xml><?xml version="1.0" encoding="utf-8"?>
<p:tagLst xmlns:p="http://schemas.openxmlformats.org/presentationml/2006/main">
  <p:tag name="KSO_WM_DIAGRAM_VIRTUALLY_FRAME" val="{&quot;height&quot;:246.24,&quot;left&quot;:39.6,&quot;top&quot;:214.26,&quot;width&quot;:880.5599999999998}"/>
</p:tagLst>
</file>

<file path=ppt/tags/tag80.xml><?xml version="1.0" encoding="utf-8"?>
<p:tagLst xmlns:p="http://schemas.openxmlformats.org/presentationml/2006/main">
  <p:tag name="KSO_WM_DIAGRAM_VIRTUALLY_FRAME" val="{&quot;height&quot;:246.24,&quot;left&quot;:39.6,&quot;top&quot;:214.26,&quot;width&quot;:880.5599999999998}"/>
</p:tagLst>
</file>

<file path=ppt/tags/tag81.xml><?xml version="1.0" encoding="utf-8"?>
<p:tagLst xmlns:p="http://schemas.openxmlformats.org/presentationml/2006/main">
  <p:tag name="KSO_WM_DIAGRAM_VIRTUALLY_FRAME" val="{&quot;height&quot;:246.24,&quot;left&quot;:39.6,&quot;top&quot;:214.26,&quot;width&quot;:880.5599999999998}"/>
</p:tagLst>
</file>

<file path=ppt/tags/tag82.xml><?xml version="1.0" encoding="utf-8"?>
<p:tagLst xmlns:p="http://schemas.openxmlformats.org/presentationml/2006/main">
  <p:tag name="KSO_WM_DIAGRAM_VIRTUALLY_FRAME" val="{&quot;height&quot;:246.24,&quot;left&quot;:39.6,&quot;top&quot;:214.26,&quot;width&quot;:880.5599999999998}"/>
</p:tagLst>
</file>

<file path=ppt/tags/tag83.xml><?xml version="1.0" encoding="utf-8"?>
<p:tagLst xmlns:p="http://schemas.openxmlformats.org/presentationml/2006/main">
  <p:tag name="KSO_WM_DIAGRAM_VIRTUALLY_FRAME" val="{&quot;height&quot;:238.75,&quot;left&quot;:58.1,&quot;top&quot;:156.5,&quot;width&quot;:839.35}"/>
</p:tagLst>
</file>

<file path=ppt/tags/tag84.xml><?xml version="1.0" encoding="utf-8"?>
<p:tagLst xmlns:p="http://schemas.openxmlformats.org/presentationml/2006/main">
  <p:tag name="KSO_WM_DIAGRAM_VIRTUALLY_FRAME" val="{&quot;height&quot;:238.75,&quot;left&quot;:58.1,&quot;top&quot;:156.5,&quot;width&quot;:839.35}"/>
</p:tagLst>
</file>

<file path=ppt/tags/tag85.xml><?xml version="1.0" encoding="utf-8"?>
<p:tagLst xmlns:p="http://schemas.openxmlformats.org/presentationml/2006/main">
  <p:tag name="KSO_WM_DIAGRAM_VIRTUALLY_FRAME" val="{&quot;height&quot;:238.75,&quot;left&quot;:58.1,&quot;top&quot;:156.5,&quot;width&quot;:839.35}"/>
</p:tagLst>
</file>

<file path=ppt/tags/tag86.xml><?xml version="1.0" encoding="utf-8"?>
<p:tagLst xmlns:p="http://schemas.openxmlformats.org/presentationml/2006/main">
  <p:tag name="KSO_WM_DIAGRAM_VIRTUALLY_FRAME" val="{&quot;height&quot;:238.75,&quot;left&quot;:58.1,&quot;top&quot;:156.5,&quot;width&quot;:839.35}"/>
</p:tagLst>
</file>

<file path=ppt/tags/tag87.xml><?xml version="1.0" encoding="utf-8"?>
<p:tagLst xmlns:p="http://schemas.openxmlformats.org/presentationml/2006/main">
  <p:tag name="KSO_WM_DIAGRAM_VIRTUALLY_FRAME" val="{&quot;height&quot;:238.75,&quot;left&quot;:58.1,&quot;top&quot;:156.5,&quot;width&quot;:839.35}"/>
</p:tagLst>
</file>

<file path=ppt/tags/tag88.xml><?xml version="1.0" encoding="utf-8"?>
<p:tagLst xmlns:p="http://schemas.openxmlformats.org/presentationml/2006/main">
  <p:tag name="KSO_WM_DIAGRAM_VIRTUALLY_FRAME" val="{&quot;height&quot;:238.75,&quot;left&quot;:58.1,&quot;top&quot;:156.5,&quot;width&quot;:839.35}"/>
</p:tagLst>
</file>

<file path=ppt/tags/tag89.xml><?xml version="1.0" encoding="utf-8"?>
<p:tagLst xmlns:p="http://schemas.openxmlformats.org/presentationml/2006/main">
  <p:tag name="KSO_WM_DIAGRAM_VIRTUALLY_FRAME" val="{&quot;height&quot;:238.75,&quot;left&quot;:58.1,&quot;top&quot;:156.5,&quot;width&quot;:839.35}"/>
</p:tagLst>
</file>

<file path=ppt/tags/tag90.xml><?xml version="1.0" encoding="utf-8"?>
<p:tagLst xmlns:p="http://schemas.openxmlformats.org/presentationml/2006/main">
  <p:tag name="KSO_WM_DIAGRAM_VIRTUALLY_FRAME" val="{&quot;height&quot;:238.75,&quot;left&quot;:58.1,&quot;top&quot;:156.5,&quot;width&quot;:839.35}"/>
</p:tagLst>
</file>

<file path=ppt/tags/tag91.xml><?xml version="1.0" encoding="utf-8"?>
<p:tagLst xmlns:p="http://schemas.openxmlformats.org/presentationml/2006/main">
  <p:tag name="KSO_WM_DIAGRAM_VIRTUALLY_FRAME" val="{&quot;height&quot;:238.75,&quot;left&quot;:58.1,&quot;top&quot;:156.5,&quot;width&quot;:839.35}"/>
</p:tagLst>
</file>

<file path=ppt/tags/tag92.xml><?xml version="1.0" encoding="utf-8"?>
<p:tagLst xmlns:p="http://schemas.openxmlformats.org/presentationml/2006/main">
  <p:tag name="KSO_WM_DIAGRAM_VIRTUALLY_FRAME" val="{&quot;height&quot;:238.75,&quot;left&quot;:58.1,&quot;top&quot;:156.5,&quot;width&quot;:839.35}"/>
</p:tagLst>
</file>

<file path=ppt/tags/tag93.xml><?xml version="1.0" encoding="utf-8"?>
<p:tagLst xmlns:p="http://schemas.openxmlformats.org/presentationml/2006/main">
  <p:tag name="KSO_WM_DIAGRAM_VIRTUALLY_FRAME" val="{&quot;height&quot;:238.75,&quot;left&quot;:58.1,&quot;top&quot;:156.5,&quot;width&quot;:839.35}"/>
</p:tagLst>
</file>

<file path=ppt/tags/tag94.xml><?xml version="1.0" encoding="utf-8"?>
<p:tagLst xmlns:p="http://schemas.openxmlformats.org/presentationml/2006/main">
  <p:tag name="KSO_WM_DIAGRAM_VIRTUALLY_FRAME" val="{&quot;height&quot;:238.75,&quot;left&quot;:58.1,&quot;top&quot;:156.5,&quot;width&quot;:839.35}"/>
</p:tagLst>
</file>

<file path=ppt/tags/tag95.xml><?xml version="1.0" encoding="utf-8"?>
<p:tagLst xmlns:p="http://schemas.openxmlformats.org/presentationml/2006/main">
  <p:tag name="KSO_WM_DIAGRAM_VIRTUALLY_FRAME" val="{&quot;height&quot;:238.75,&quot;left&quot;:58.1,&quot;top&quot;:156.5,&quot;width&quot;:839.35}"/>
</p:tagLst>
</file>

<file path=ppt/tags/tag96.xml><?xml version="1.0" encoding="utf-8"?>
<p:tagLst xmlns:p="http://schemas.openxmlformats.org/presentationml/2006/main">
  <p:tag name="KSO_WM_DIAGRAM_VIRTUALLY_FRAME" val="{&quot;height&quot;:238.75,&quot;left&quot;:58.1,&quot;top&quot;:156.5,&quot;width&quot;:839.35}"/>
</p:tagLst>
</file>

<file path=ppt/tags/tag97.xml><?xml version="1.0" encoding="utf-8"?>
<p:tagLst xmlns:p="http://schemas.openxmlformats.org/presentationml/2006/main">
  <p:tag name="KSO_WM_DIAGRAM_VIRTUALLY_FRAME" val="{&quot;height&quot;:238.75,&quot;left&quot;:58.1,&quot;top&quot;:156.5,&quot;width&quot;:839.35}"/>
</p:tagLst>
</file>

<file path=ppt/tags/tag98.xml><?xml version="1.0" encoding="utf-8"?>
<p:tagLst xmlns:p="http://schemas.openxmlformats.org/presentationml/2006/main">
  <p:tag name="KSO_WM_DIAGRAM_VIRTUALLY_FRAME" val="{&quot;height&quot;:238.75,&quot;left&quot;:58.1,&quot;top&quot;:156.5,&quot;width&quot;:839.35}"/>
</p:tagLst>
</file>

<file path=ppt/tags/tag99.xml><?xml version="1.0" encoding="utf-8"?>
<p:tagLst xmlns:p="http://schemas.openxmlformats.org/presentationml/2006/main">
  <p:tag name="KSO_WM_DIAGRAM_VIRTUALLY_FRAME" val="{&quot;height&quot;:238.75,&quot;left&quot;:58.1,&quot;top&quot;:156.5,&quot;width&quot;:839.35}"/>
</p:tagLst>
</file>

<file path=ppt/tags/tag100.xml><?xml version="1.0" encoding="utf-8"?>
<p:tagLst xmlns:p="http://schemas.openxmlformats.org/presentationml/2006/main">
  <p:tag name="KSO_WM_DIAGRAM_VIRTUALLY_FRAME" val="{&quot;height&quot;:238.75,&quot;left&quot;:58.1,&quot;top&quot;:156.5,&quot;width&quot;:839.35}"/>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gs>
            <a:gs pos="100000">
              <a:schemeClr val="phClr"/>
            </a:gs>
          </a:gsLst>
          <a:lin ang="2700000" scaled="0"/>
        </a:gradFill>
      </a:fillStyleLst>
      <a:lnStyleLst>
        <a:ln w="12700">
          <a:solidFill>
            <a:schemeClr val="phClr"/>
          </a:solidFill>
          <a:prstDash val="solid"/>
        </a:ln>
        <a:ln w="12700">
          <a:solidFill>
            <a:schemeClr val="phClr"/>
          </a:solidFill>
          <a:prstDash val="solid"/>
        </a:ln>
        <a:ln w="12700">
          <a:gradFill>
            <a:gsLst>
              <a:gs pos="0">
                <a:schemeClr val="phClr"/>
              </a:gs>
              <a:gs pos="100000">
                <a:schemeClr val="phClr"/>
              </a:gs>
            </a:gsLst>
            <a:lin ang="2700000" scaled="1"/>
          </a:gradFill>
          <a:prstDash val="solid"/>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5656</Words>
  <Application>WPS 演示</Application>
  <PresentationFormat>宽屏</PresentationFormat>
  <Paragraphs>482</Paragraphs>
  <Slides>25</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22</vt:i4>
      </vt:variant>
    </vt:vector>
  </HeadingPairs>
  <TitlesOfParts>
    <vt:vector size="34" baseType="lpstr">
      <vt:lpstr>Arial</vt:lpstr>
      <vt:lpstr>宋体</vt:lpstr>
      <vt:lpstr>Wingdings</vt:lpstr>
      <vt:lpstr>庞门正道标题体</vt:lpstr>
      <vt:lpstr>Franklin Gothic Book</vt:lpstr>
      <vt:lpstr>微软雅黑</vt:lpstr>
      <vt:lpstr>Calibri</vt:lpstr>
      <vt:lpstr>OPPOSans B</vt:lpstr>
      <vt:lpstr>OPPOSans R</vt:lpstr>
      <vt:lpstr>Arial Unicode MS</vt:lpstr>
      <vt:lpstr>MS PGothic</vt:lpstr>
      <vt:lpstr>WPS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1</dc:creator>
  <cp:lastModifiedBy>博</cp:lastModifiedBy>
  <cp:revision>32</cp:revision>
  <dcterms:created xsi:type="dcterms:W3CDTF">2023-08-09T12:44:00Z</dcterms:created>
  <dcterms:modified xsi:type="dcterms:W3CDTF">2026-10-16T02:36:05Z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2052-12.1.0.29161</vt:lpwstr>
  </property>
  <property fmtid="{D5CDD505-2E9C-101B-9397-08002B2CF9AE}" pid="3" name="ICV">
    <vt:lpwstr>624A8775239844D99DE3F9D5E909B592_12</vt:lpwstr>
  </property>
</Properties>
</file>
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62" r:id="rId4"/>
    <p:sldId id="257" r:id="rId5"/>
    <p:sldId id="258" r:id="rId6"/>
    <p:sldId id="261" r:id="rId7"/>
    <p:sldId id="270" r:id="rId9"/>
    <p:sldId id="267" r:id="rId10"/>
    <p:sldId id="268" r:id="rId11"/>
    <p:sldId id="282" r:id="rId12"/>
    <p:sldId id="286" r:id="rId13"/>
    <p:sldId id="269" r:id="rId14"/>
    <p:sldId id="281" r:id="rId15"/>
    <p:sldId id="272" r:id="rId16"/>
    <p:sldId id="274" r:id="rId17"/>
    <p:sldId id="294" r:id="rId18"/>
    <p:sldId id="293" r:id="rId19"/>
    <p:sldId id="283" r:id="rId20"/>
    <p:sldId id="295" r:id="rId21"/>
    <p:sldId id="284" r:id="rId22"/>
    <p:sldId id="300" r:id="rId23"/>
    <p:sldId id="263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7" userDrawn="1">
          <p15:clr>
            <a:srgbClr val="A4A3A4"/>
          </p15:clr>
        </p15:guide>
        <p15:guide id="2" pos="38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AA8"/>
    <a:srgbClr val="195CC4"/>
    <a:srgbClr val="D9DEE8"/>
    <a:srgbClr val="FBF3F3"/>
    <a:srgbClr val="CE0000"/>
    <a:srgbClr val="1C41A9"/>
    <a:srgbClr val="7FA0C0"/>
    <a:srgbClr val="004182"/>
    <a:srgbClr val="B6C7EA"/>
    <a:srgbClr val="2120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360" y="504"/>
      </p:cViewPr>
      <p:guideLst>
        <p:guide orient="horz" pos="3467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个业务难点分别对应后续知识底座、证据驱动问答与监管可信交付三项核心能力。四项技术挑战覆盖结构解析、证据覆盖、跨文档与表格推理以及监管语义。银行监管问答同时面临资料分散、口径多样与证据复核困难。既有原稿列出了信贷、风控、资本管理、消保、反洗钱、支付结算、普惠与监管报送场景，本页保持原有三类痛点与四项技术挑战结构。来源：docs/开发文档/技术文档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围绕赛题要求的文档处理与可信问答两项任务，构建知识可定位、计算可复核、结论可核验、服务可持续的业务能力。取数和运算由确定性逻辑执行；查询规划、部分语义核验等有模型参与，不声称拒答边界全部程序化。总主线：让监管知识可查询，让报表数据可计算，让业务结论可核验。确定性优先是系统设计原则，实际能力由后续回归指标验证。系统对文件身份和证据进行留存与核对，不依据文件名或日期自动认定法规效力。来源：docs/开发文档/技术文档.md、docs/开发文档/可信能力与发布门禁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本页侧重模块协作：查询规划明确证据需求，混合检索组织依据，文本与表格双引擎完成回答，统一校验和业务交付形成闭环。下一章节展开机制与差异化设计。讲解重点：ReguMate 将文本理解、证据检索和确定性表格计算组织为统一业务服务。双引擎指文本证据链路与结构化单元格计算链路，双存储指 Qdrant 与 SQLite。查询规划、混合检索、生成与可信校验协同工作。来源：docs/开发文档/技术文档.md；backend/app/services/rag_service.py、query_planner_service.py、spreadsheet_retrieval_service.py。部署按试点环境配置，外部模型 API 与本地嵌入和重排协同。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章总览按三行配对：结构感知解析＋多粒度证据索引属于知识底座；覆盖驱动检索与跨文档补证＋确定性计算属于证据驱动问答；事实与监管语义联合校验＋风险边界与审计追踪属于监管可信交付。随后三页依次展开。六项创新属于面向金融监管场景的系统融合与工程设计，不作为相对所有现有方法的性能领先声明。结构与引用扩展来源：docs/开发文档/数据驱动优化执行报告_202610.md；检索补证来源：docs/开发文档/四阶段升级完成报告_20260805.md；表格证据来自最终回归 old_outputs.json/new_outputs.json；监管语义来自 backend/app/services/regulatory_semantic_grounding_service.py。技术参考：HyDE https://arxiv.org/abs/2212.10496；CRAG https://arxiv.org/abs/2401.15884。前沿方法启发了覆盖诊断和假设检索线索的表达，项目特点在于与条款、单元格和监管语义结合。未声称实现 GraphRAG 社区摘要或训练 Self-RAG 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亮点第一项：结构感知解析与多粒度知识索引。定义、条款、邻接片段与单元格分别承担不同问题类型的取证；文件身份不等于法规效力认定。讲解重点：监管文件不能只切成文字块，需要保留条款关系和数字的业务语义。500 份文件与索引规模来源：docs/开发文档/技术文档.md、evaluation/文档解析结果/文档解析结果说明.md。新增 440 条定义、164 行条款索引来源：docs/开发文档/数据驱动优化执行报告_202610.md（阶段二）。本批处理成功率指归档文件处理完成，不代表所有抽取字段均无误。结构索引以实际提取结果为准。外部技术背景：BGE-M3 官方文档 https://bge-model.com/bge/bge_m3.html，支持稠密和稀疏等表示；这里未将模型的全部功能都表述为系统已启用能力。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六个步骤按左列自上而下、右列自上而下阅读；数值计算是问题类型触发的分支，六个阶段为能力组织示意，不表示每个问题都会执行全部机制。HyDE假设线索只用于检索，最终答案仍使用真实原文。讲解顺序：多路召回解决找得到，条款定位解决找得准，覆盖诊断与引用扩展解决证据补全，确定性计算解决数字可复算。真实回归案例：根据《2025年商业银行主要指标分机构类情况表（季度）》，农村商业银行三季度与二季度不良贷款余额差值。商业银行分机构类情况表!G27=8274.705191、G16=8051.364405，差值=223.340786 亿元。来源：evaluation/系统测试结果/自命题200题/GPU_最终回归_20261002/old_outputs.json（BW-TC6）。算法背景：HyDE 原论文 https://arxiv.org/abs/2212.10496；CRAG 原论文 https://arxiv.org/abs/2401.15884；BGE-M3 https://arxiv.org/abs/2402.03216。CRAG-lite 是本项目借鉴检索评估思想的工程化实现，采用受限知识库内的覆盖诊断与补搜，不等同于原论文的互联网检索系统。系统采用词面检索与元数据过滤，未将其强称为标准 BM25。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栏为监管语义校验机制示意，条件A及示例句均为教学示意，非真实法规引文或独立实测案例。检查条件遗漏、主体扩大与规范强度变化。监管语义示例（机制示意）：证据写“符合条件时可以办理”，如果答案变成“必须办理”，即使主体和数字一致，义务强度也已经改变。系统抽取主体、行为、规范强度、条件、例外等监管语义框架，结合确定性检查与风险触发语义核验。来源：backend/app/services/regulatory_semantic_grounding_service.py、grounding_validation_service.py。最终指标来源：evaluation/系统测试结果/自命题200题/GPU_最终回归_20261002/old_outputs_diagnostic.json、new_outputs_diagnostic.json，表格 40/40、预设应拒答题40/40，来源文件覆盖149/160；引用携带率为实际已返回的159个答案均携带引用，不等于每条引用语义均正确，也不等于可回答题160/160。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评测口径：以2026-10-02最终GPU回归为主体。官方选择题300/300，0运行错误；自建开放题181/200=90.5%，包括旧批92/100、新批89/100。制度事实99/112=88.4%；表格取数20/20，计算20/20；预设应拒答题40/40；证据来源149/160=93.1%，为来源文件级覆盖，不能替代逐条引用语义正确率。关键数字、日期、机构、文号错误率2.4%来自2026-08-05历史专项统计，其余不是同一轮数据。来源：evaluation/系统测试结果/自命题200题/GPU_最终回归_20261002/score_summary.json、old_outputs_diagnostic.json、new_outputs_diagnostic.json、official300/official_300_results.json；docs/evaluation/关键指标总结_官方300与自命题200题_20260805.md。自建测试为内部回归，未声称第三方独立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真实回归案例，题号BW-TC6。问题：根据《2025年商业银行主要指标分机构类情况表（季度）》，农村商业银行三季度与二季度不良贷款余额的差值是多少？原始结果商业银行分机构类情况表!G27=8274.705191、G16=8051.364405，差值=223.340786亿元。本页将该结果按业务链路重新组织展示，未声称每一步为界面逐帧截图。案例集中验证结构化表格取数、确定性计算和坐标溯源，不借此宣称验证所有跨文档及监管语义能力。来源：evaluation/系统测试结果/自命题200题/GPU_最终回归_20261002/old_outpu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并发口径为4个worker处理40题的测试，非40并发用户、非4×40题。0.30–0.53s为24候选GPU重排微基准，非端到端问答延迟。端到端CPU/GPU表格沿用2026-08-05同期成对实验：官方300平均7.03s/0.54s，自建200平均28.4s/17.9s。平均速度比28.4/17.9≈1.59。硬件RTX5070 Laptop/Ryzen98945HX，串行测试。10月GPU24候选重排0.30–0.53s为独立微基准，不能代替端到端延迟。来源：docs/evaluation/关键指标总结_官方300与自命题200题_20260805.md；data/evaluation/benchmarks/reranker_v2m3_gpu_20261002.json；docs/开发文档/数据驱动优化执行报告_202610.md。并发与存储修复：docs/开发文档/四阶段升级完成报告_20260805.md。500文件约34分钟指解析、切分与持久化的离线知识构建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三类岗位和推广步骤均为建议应用方案，未声称已与银行客户部署。试点衡量指标为拟跟踪指标，不写入未经验证的提效比例。业务定位：让监管资料成为可调用的业务知识服务。典型流程示意：业务人员提出制度或报表问题，系统定位条款和单元格，给出答复与计算过程，合规人员基于证据复核并留存记录。推进路线是建议的试点方案：部门小范围验证，扩展内部制度，再通过API融入门户或工作台。查找耗时、复核耗时、人工修订率和单次服务成本是拟跟踪的试点指标，未声称已有客户上线或已兑现收益。行业参考：BIS Project Gaia https://www.bis.org/project/gaia 和 https://www.bis.org/publications/project-gaia-enabling-climate-risk-analysis-using-generative-ai，展示从异构报告中提取结构化指标并支持金融分析的应用方向。Gaia是外部行业案例，不属于本项目业绩。项目落地价值基于已具备的文档接入、问答、表格计算、引用展示、审计记录和Docker双配置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37"/>
          <a:stretch>
            <a:fillRect/>
          </a:stretch>
        </p:blipFill>
        <p:spPr>
          <a:xfrm>
            <a:off x="0" y="40"/>
            <a:ext cx="12192000" cy="685791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6080" y="1358900"/>
            <a:ext cx="1151064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200" dirty="0">
                <a:solidFill>
                  <a:schemeClr val="bg1"/>
                </a:solidFill>
                <a:latin typeface="庞门正道标题体" panose="02010600030101010101" charset="-122"/>
                <a:ea typeface="庞门正道标题体" panose="02010600030101010101" charset="-122"/>
              </a:rPr>
              <a:t>第五届中国研究生金融科技创新大赛</a:t>
            </a:r>
            <a:endParaRPr lang="zh-CN" altLang="en-US" sz="5200" dirty="0">
              <a:solidFill>
                <a:schemeClr val="bg1"/>
              </a:solidFill>
              <a:latin typeface="庞门正道标题体" panose="02010600030101010101" charset="-122"/>
              <a:ea typeface="庞门正道标题体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2800" y="2066290"/>
            <a:ext cx="106337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en-US" altLang="zh-CN" sz="2800" dirty="0">
                <a:solidFill>
                  <a:schemeClr val="bg1"/>
                </a:solidFill>
                <a:latin typeface="Franklin Gothic Book" panose="020B0503020102020204" charset="0"/>
                <a:cs typeface="Franklin Gothic Book" panose="020B0503020102020204" charset="0"/>
              </a:rPr>
              <a:t>The 5th CHINA POSTGRADUATE FINTECH INNOVATION COMPETITION</a:t>
            </a:r>
            <a:endParaRPr lang="en-US" altLang="zh-CN" sz="2800" dirty="0">
              <a:solidFill>
                <a:schemeClr val="bg1"/>
              </a:solidFill>
              <a:latin typeface="Franklin Gothic Book" panose="020B0503020102020204" charset="0"/>
              <a:cs typeface="Franklin Gothic Book" panose="020B0503020102020204" charset="0"/>
            </a:endParaRPr>
          </a:p>
        </p:txBody>
      </p:sp>
      <p:pic>
        <p:nvPicPr>
          <p:cNvPr id="6" name="图片 5" descr="未标题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812" y="3054985"/>
            <a:ext cx="9096375" cy="24441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950" y="1979930"/>
            <a:ext cx="1197991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ReguMate 可信RAG问答系统</a:t>
            </a:r>
            <a:endParaRPr kumimoji="0" lang="zh-CN" altLang="en-US" sz="66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14955" y="3635375"/>
            <a:ext cx="65570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</a:t>
            </a: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rtex </a:t>
            </a:r>
            <a:r>
              <a:rPr lang="zh-CN" altLang="en-US" sz="4400" b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团队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74350" y="4925066"/>
            <a:ext cx="42062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队员：李思、刘晨阳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63351" y="4925066"/>
            <a:ext cx="252526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队长：王博震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39247" y="1136396"/>
            <a:ext cx="38779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 kumimoji="0" lang="zh-CN" altLang="en-US" sz="36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903095" y="2504440"/>
            <a:ext cx="3223895" cy="585470"/>
            <a:chOff x="2178" y="5402"/>
            <a:chExt cx="5077" cy="922"/>
          </a:xfrm>
        </p:grpSpPr>
        <p:sp>
          <p:nvSpPr>
            <p:cNvPr id="3" name="文本框 2"/>
            <p:cNvSpPr txBox="1"/>
            <p:nvPr/>
          </p:nvSpPr>
          <p:spPr>
            <a:xfrm>
              <a:off x="3565" y="5402"/>
              <a:ext cx="3690" cy="90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背景与问题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178" y="5419"/>
              <a:ext cx="1715" cy="90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01</a:t>
              </a:r>
              <a:endPara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902968" y="3629660"/>
            <a:ext cx="3224022" cy="585725"/>
            <a:chOff x="2178" y="5402"/>
            <a:chExt cx="5077" cy="922"/>
          </a:xfrm>
        </p:grpSpPr>
        <p:sp>
          <p:nvSpPr>
            <p:cNvPr id="22" name="文本框 21"/>
            <p:cNvSpPr txBox="1"/>
            <p:nvPr/>
          </p:nvSpPr>
          <p:spPr>
            <a:xfrm>
              <a:off x="3565" y="5402"/>
              <a:ext cx="36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解决方案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178" y="5419"/>
              <a:ext cx="12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02</a:t>
              </a:r>
              <a:endPara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902968" y="4767580"/>
            <a:ext cx="3224022" cy="585725"/>
            <a:chOff x="2178" y="5402"/>
            <a:chExt cx="5077" cy="922"/>
          </a:xfrm>
        </p:grpSpPr>
        <p:sp>
          <p:nvSpPr>
            <p:cNvPr id="25" name="文本框 24"/>
            <p:cNvSpPr txBox="1"/>
            <p:nvPr/>
          </p:nvSpPr>
          <p:spPr>
            <a:xfrm>
              <a:off x="3565" y="5402"/>
              <a:ext cx="36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技术亮点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178" y="5419"/>
              <a:ext cx="12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03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384288" y="2515235"/>
            <a:ext cx="3224022" cy="585725"/>
            <a:chOff x="2178" y="5402"/>
            <a:chExt cx="5077" cy="922"/>
          </a:xfrm>
        </p:grpSpPr>
        <p:sp>
          <p:nvSpPr>
            <p:cNvPr id="31" name="文本框 30"/>
            <p:cNvSpPr txBox="1"/>
            <p:nvPr/>
          </p:nvSpPr>
          <p:spPr>
            <a:xfrm>
              <a:off x="3565" y="5402"/>
              <a:ext cx="36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评测结果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178" y="5419"/>
              <a:ext cx="1387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04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7384288" y="3618865"/>
            <a:ext cx="3686955" cy="585725"/>
            <a:chOff x="2178" y="5402"/>
            <a:chExt cx="5806" cy="922"/>
          </a:xfrm>
        </p:grpSpPr>
        <p:sp>
          <p:nvSpPr>
            <p:cNvPr id="34" name="文本框 33"/>
            <p:cNvSpPr txBox="1"/>
            <p:nvPr/>
          </p:nvSpPr>
          <p:spPr>
            <a:xfrm>
              <a:off x="3565" y="5402"/>
              <a:ext cx="4419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性能与稳定性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178" y="5419"/>
              <a:ext cx="1387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05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384288" y="4756785"/>
            <a:ext cx="3224022" cy="585725"/>
            <a:chOff x="2178" y="5402"/>
            <a:chExt cx="5077" cy="922"/>
          </a:xfrm>
        </p:grpSpPr>
        <p:sp>
          <p:nvSpPr>
            <p:cNvPr id="37" name="文本框 36"/>
            <p:cNvSpPr txBox="1"/>
            <p:nvPr/>
          </p:nvSpPr>
          <p:spPr>
            <a:xfrm>
              <a:off x="3565" y="5402"/>
              <a:ext cx="36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落地价值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2178" y="5419"/>
              <a:ext cx="1387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06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背景与问题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23215" y="726440"/>
            <a:ext cx="12862560" cy="5641340"/>
          </a:xfrm>
          <a:prstGeom prst="rect">
            <a:avLst/>
          </a:prstGeom>
          <a:solidFill>
            <a:schemeClr val="bg1"/>
          </a:solidFill>
          <a:ln>
            <a:solidFill>
              <a:srgbClr val="012F8D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</a:rPr>
              <a:t>背景与问题：银行真实业务场景的监管问答之痛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575054"/>
            <a:ext cx="107899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</a:rPr>
              <a:t>信贷审批、风险分类、资本管理、消保投诉、反洗钱、支付结算、普惠金融、监管报送等场景均需快速查询制度依据与指标口径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7" name="Rectangle 6"/>
          <p:cNvSpPr/>
          <p:nvPr>
            <p:custDataLst>
              <p:tags r:id="rId1"/>
            </p:custDataLst>
          </p:nvPr>
        </p:nvSpPr>
        <p:spPr>
          <a:xfrm>
            <a:off x="502920" y="1954530"/>
            <a:ext cx="3611880" cy="185610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502920" y="1954530"/>
            <a:ext cx="3611880" cy="566928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640080" y="2044637"/>
            <a:ext cx="3337560" cy="38671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2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资料难组织</a:t>
            </a:r>
            <a:endParaRPr sz="2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667385" y="2658745"/>
            <a:ext cx="3401060" cy="98679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制度正文、监管附件与统计报表分散，PDF / Word / Excel 格式并存；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条款层级、表头、期间和单位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容易在解析中丢失。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11" name="Rectangle 10"/>
          <p:cNvSpPr/>
          <p:nvPr>
            <p:custDataLst>
              <p:tags r:id="rId5"/>
            </p:custDataLst>
          </p:nvPr>
        </p:nvSpPr>
        <p:spPr>
          <a:xfrm>
            <a:off x="4288790" y="1954530"/>
            <a:ext cx="3611880" cy="185610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6"/>
            </p:custDataLst>
          </p:nvPr>
        </p:nvSpPr>
        <p:spPr>
          <a:xfrm>
            <a:off x="4288536" y="1954530"/>
            <a:ext cx="3611880" cy="566928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4425696" y="2075434"/>
            <a:ext cx="333756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复杂问题难答全</a:t>
            </a:r>
            <a:endParaRPr sz="2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4413250" y="2658745"/>
            <a:ext cx="3517265" cy="98679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一次问询可能涉及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定义、适用条件、例外条款和多张报表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，单次检索难以覆盖全部依据，跨文件与跨表核对依赖人工。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2" name="Rectangle 14"/>
          <p:cNvSpPr/>
          <p:nvPr>
            <p:custDataLst>
              <p:tags r:id="rId9"/>
            </p:custDataLst>
          </p:nvPr>
        </p:nvSpPr>
        <p:spPr>
          <a:xfrm>
            <a:off x="8074025" y="1954530"/>
            <a:ext cx="3611880" cy="185610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6" name="Rectangle 15"/>
          <p:cNvSpPr/>
          <p:nvPr>
            <p:custDataLst>
              <p:tags r:id="rId10"/>
            </p:custDataLst>
          </p:nvPr>
        </p:nvSpPr>
        <p:spPr>
          <a:xfrm>
            <a:off x="8074151" y="1953895"/>
            <a:ext cx="3611880" cy="5669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8211311" y="2075434"/>
            <a:ext cx="333756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答案难复核</a:t>
            </a:r>
            <a:endParaRPr sz="2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8238743" y="2658618"/>
            <a:ext cx="3291840" cy="98679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数字正确仍需核对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监管含义与适用范围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；业务结论必须保留原文依据、条件例外和计算过程，支持复核与追踪。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3915918"/>
            <a:ext cx="11183112" cy="2057400"/>
          </a:xfrm>
          <a:prstGeom prst="rect">
            <a:avLst/>
          </a:prstGeom>
          <a:solidFill>
            <a:srgbClr val="FB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15918"/>
            <a:ext cx="82296" cy="2057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89070"/>
            <a:ext cx="10698480" cy="38671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24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监管知识服务的四项关键挑战</a:t>
            </a:r>
            <a:endParaRPr sz="2400">
              <a:solidFill>
                <a:srgbClr val="C00000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4383405"/>
            <a:ext cx="10698480" cy="16484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▪ 结构解析：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保留标题层级、条款编号、表头关系、期间与单位，避免制度语境和数值口径丢失；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▪ 证据覆盖：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同时定位定义、主体、条件与例外，补齐单次召回遗漏的关键依据；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▪ 跨文档与表格推理：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联动制度正文和统计附件，完成条款关联、维度匹配与可复算的数值计算；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▪ 监管语义校验：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辨别“应当 / 可以 / 不得 / 原则上”，核对关键事实与适用边界，降低表述偏移风险。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23" name="Rectangle 5"/>
          <p:cNvSpPr/>
          <p:nvPr/>
        </p:nvSpPr>
        <p:spPr>
          <a:xfrm>
            <a:off x="502920" y="1840230"/>
            <a:ext cx="11183112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解决方案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50520" y="721360"/>
            <a:ext cx="12862560" cy="5641340"/>
          </a:xfrm>
          <a:prstGeom prst="rect">
            <a:avLst/>
          </a:prstGeom>
          <a:solidFill>
            <a:schemeClr val="bg1"/>
          </a:solidFill>
          <a:ln>
            <a:solidFill>
              <a:srgbClr val="012F8D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总体方案：贯通知识构建与可信问答的业务闭环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23" name="Rectangle 5"/>
          <p:cNvSpPr/>
          <p:nvPr/>
        </p:nvSpPr>
        <p:spPr>
          <a:xfrm>
            <a:off x="713105" y="1553845"/>
            <a:ext cx="1101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3420" y="1686560"/>
            <a:ext cx="11155680" cy="26352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6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围绕文档处理与可信问答两项赛题任务，构建“</a:t>
            </a:r>
            <a:r>
              <a:rPr sz="16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知识可定位、计算可复核、结论可核验、服务可持续</a:t>
            </a:r>
            <a:r>
              <a:rPr sz="16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”的业务能力。</a:t>
            </a:r>
            <a:endParaRPr sz="16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</a:endParaRPr>
          </a:p>
        </p:txBody>
      </p:sp>
      <p:sp>
        <p:nvSpPr>
          <p:cNvPr id="24" name="Pentagon 6"/>
          <p:cNvSpPr/>
          <p:nvPr/>
        </p:nvSpPr>
        <p:spPr>
          <a:xfrm>
            <a:off x="502920" y="2101850"/>
            <a:ext cx="1691640" cy="566928"/>
          </a:xfrm>
          <a:prstGeom prst="homePlat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5" name="TextBox 7"/>
          <p:cNvSpPr txBox="1"/>
          <p:nvPr/>
        </p:nvSpPr>
        <p:spPr>
          <a:xfrm>
            <a:off x="612648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输入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26" name="Chevron 8"/>
          <p:cNvSpPr/>
          <p:nvPr/>
        </p:nvSpPr>
        <p:spPr>
          <a:xfrm>
            <a:off x="2377439" y="2101850"/>
            <a:ext cx="1691640" cy="566928"/>
          </a:xfrm>
          <a:prstGeom prst="chevron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7" name="TextBox 9"/>
          <p:cNvSpPr txBox="1"/>
          <p:nvPr/>
        </p:nvSpPr>
        <p:spPr>
          <a:xfrm>
            <a:off x="2540508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  <a:buClrTx/>
              <a:buSzTx/>
              <a:buFontTx/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结构化处理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28" name="Chevron 10"/>
          <p:cNvSpPr/>
          <p:nvPr/>
        </p:nvSpPr>
        <p:spPr>
          <a:xfrm>
            <a:off x="4251959" y="2101850"/>
            <a:ext cx="1691640" cy="566928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9" name="TextBox 11"/>
          <p:cNvSpPr txBox="1"/>
          <p:nvPr/>
        </p:nvSpPr>
        <p:spPr>
          <a:xfrm>
            <a:off x="4392168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检索推理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0" name="Chevron 12"/>
          <p:cNvSpPr/>
          <p:nvPr/>
        </p:nvSpPr>
        <p:spPr>
          <a:xfrm>
            <a:off x="6126479" y="2101850"/>
            <a:ext cx="1691640" cy="566928"/>
          </a:xfrm>
          <a:prstGeom prst="chevron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1" name="TextBox 13"/>
          <p:cNvSpPr txBox="1"/>
          <p:nvPr/>
        </p:nvSpPr>
        <p:spPr>
          <a:xfrm>
            <a:off x="6266687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可信校验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2" name="Chevron 14"/>
          <p:cNvSpPr/>
          <p:nvPr/>
        </p:nvSpPr>
        <p:spPr>
          <a:xfrm>
            <a:off x="8001000" y="2101850"/>
            <a:ext cx="1691640" cy="566928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3" name="TextBox 15"/>
          <p:cNvSpPr txBox="1"/>
          <p:nvPr/>
        </p:nvSpPr>
        <p:spPr>
          <a:xfrm>
            <a:off x="8179307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可溯源输出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4" name="Chevron 16"/>
          <p:cNvSpPr/>
          <p:nvPr/>
        </p:nvSpPr>
        <p:spPr>
          <a:xfrm>
            <a:off x="9875520" y="2101850"/>
            <a:ext cx="1691640" cy="566928"/>
          </a:xfrm>
          <a:prstGeom prst="chevron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5" name="TextBox 17"/>
          <p:cNvSpPr txBox="1"/>
          <p:nvPr/>
        </p:nvSpPr>
        <p:spPr>
          <a:xfrm>
            <a:off x="10030968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审计评测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6" name="TextBox 18"/>
          <p:cNvSpPr txBox="1"/>
          <p:nvPr/>
        </p:nvSpPr>
        <p:spPr>
          <a:xfrm>
            <a:off x="502920" y="2750820"/>
            <a:ext cx="11155680" cy="38671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24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四项核心能力</a:t>
            </a:r>
            <a:endParaRPr sz="2400">
              <a:solidFill>
                <a:srgbClr val="C00000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7" name="Rectangle 19"/>
          <p:cNvSpPr/>
          <p:nvPr/>
        </p:nvSpPr>
        <p:spPr>
          <a:xfrm>
            <a:off x="502920" y="3238500"/>
            <a:ext cx="548640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8" name="Rectangle 20"/>
          <p:cNvSpPr/>
          <p:nvPr/>
        </p:nvSpPr>
        <p:spPr>
          <a:xfrm>
            <a:off x="502920" y="3238500"/>
            <a:ext cx="82296" cy="105156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9" name="TextBox 21"/>
          <p:cNvSpPr txBox="1"/>
          <p:nvPr/>
        </p:nvSpPr>
        <p:spPr>
          <a:xfrm>
            <a:off x="731520" y="3288792"/>
            <a:ext cx="512064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1. 知识可定位</a:t>
            </a:r>
            <a:endParaRPr sz="20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40" name="TextBox 22"/>
          <p:cNvSpPr txBox="1"/>
          <p:nvPr/>
        </p:nvSpPr>
        <p:spPr>
          <a:xfrm>
            <a:off x="731520" y="3670300"/>
            <a:ext cx="5257800" cy="5340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制度条款、定义与表格单元格统一组织，保留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原始来源与业务维度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41" name="Rectangle 23"/>
          <p:cNvSpPr/>
          <p:nvPr/>
        </p:nvSpPr>
        <p:spPr>
          <a:xfrm>
            <a:off x="6199505" y="3238500"/>
            <a:ext cx="554355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2" name="Rectangle 24"/>
          <p:cNvSpPr/>
          <p:nvPr/>
        </p:nvSpPr>
        <p:spPr>
          <a:xfrm>
            <a:off x="6199632" y="3238500"/>
            <a:ext cx="82296" cy="1051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3" name="TextBox 25"/>
          <p:cNvSpPr txBox="1"/>
          <p:nvPr/>
        </p:nvSpPr>
        <p:spPr>
          <a:xfrm>
            <a:off x="6428232" y="3288792"/>
            <a:ext cx="512064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2. 计算可复核</a:t>
            </a:r>
            <a:endParaRPr sz="20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44" name="TextBox 26"/>
          <p:cNvSpPr txBox="1"/>
          <p:nvPr/>
        </p:nvSpPr>
        <p:spPr>
          <a:xfrm>
            <a:off x="6428105" y="3670300"/>
            <a:ext cx="5120640" cy="5340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表格取数与数值运算由程序执行，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操作数、算式、单位与原表坐标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随结果交付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45" name="Rectangle 27"/>
          <p:cNvSpPr/>
          <p:nvPr/>
        </p:nvSpPr>
        <p:spPr>
          <a:xfrm>
            <a:off x="502920" y="4445508"/>
            <a:ext cx="548640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6" name="Rectangle 28"/>
          <p:cNvSpPr/>
          <p:nvPr/>
        </p:nvSpPr>
        <p:spPr>
          <a:xfrm>
            <a:off x="502920" y="4445508"/>
            <a:ext cx="82296" cy="1051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7" name="TextBox 29"/>
          <p:cNvSpPr txBox="1"/>
          <p:nvPr/>
        </p:nvSpPr>
        <p:spPr>
          <a:xfrm>
            <a:off x="731520" y="4480560"/>
            <a:ext cx="512064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3. 结论可核验</a:t>
            </a:r>
            <a:endParaRPr sz="20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48" name="TextBox 30"/>
          <p:cNvSpPr txBox="1"/>
          <p:nvPr/>
        </p:nvSpPr>
        <p:spPr>
          <a:xfrm>
            <a:off x="731520" y="4862195"/>
            <a:ext cx="5120005" cy="5340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围绕证据生成答复，核对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关键事实、规范强度及条件例外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，支持人工复核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49" name="Rectangle 31"/>
          <p:cNvSpPr/>
          <p:nvPr/>
        </p:nvSpPr>
        <p:spPr>
          <a:xfrm>
            <a:off x="6199505" y="4445635"/>
            <a:ext cx="554355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0" name="Rectangle 32"/>
          <p:cNvSpPr/>
          <p:nvPr/>
        </p:nvSpPr>
        <p:spPr>
          <a:xfrm>
            <a:off x="6199632" y="4445508"/>
            <a:ext cx="82296" cy="1051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1" name="TextBox 33"/>
          <p:cNvSpPr txBox="1"/>
          <p:nvPr/>
        </p:nvSpPr>
        <p:spPr>
          <a:xfrm>
            <a:off x="6428232" y="4480560"/>
            <a:ext cx="512064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4. 服务可持续</a:t>
            </a:r>
            <a:endParaRPr sz="20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52" name="TextBox 34"/>
          <p:cNvSpPr txBox="1"/>
          <p:nvPr/>
        </p:nvSpPr>
        <p:spPr>
          <a:xfrm>
            <a:off x="6428105" y="4862195"/>
            <a:ext cx="5314950" cy="5340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文档更新、问答留痕与题集回归协同，支持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持续维护和质量追踪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53" name="TextBox 35"/>
          <p:cNvSpPr txBox="1"/>
          <p:nvPr/>
        </p:nvSpPr>
        <p:spPr>
          <a:xfrm>
            <a:off x="1369695" y="5614035"/>
            <a:ext cx="9408160" cy="38671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ctr">
              <a:spcAft>
                <a:spcPts val="400"/>
              </a:spcAft>
            </a:pPr>
            <a:r>
              <a:rPr sz="2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让业务人员获得</a:t>
            </a:r>
            <a:r>
              <a:rPr sz="2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带依据、带计算过程、可复核</a:t>
            </a:r>
            <a:r>
              <a:rPr sz="2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的监管答复</a:t>
            </a:r>
            <a:endParaRPr sz="24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50520" y="70294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系统架构：双引擎协同的可信监管知识中枢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4997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sym typeface="+mn-ea"/>
              </a:rPr>
              <a:t>文本问答与表格计算双引擎协同，通过统一检索、可信校验与业务接口，贯通提问、取证和答复。</a:t>
            </a:r>
            <a:endParaRPr sz="1400">
              <a:latin typeface="OPPOSans R" panose="00020600040101010101" charset="-122"/>
              <a:ea typeface="OPPOSans R" panose="00020600040101010101" charset="-122"/>
              <a:sym typeface="+mn-ea"/>
            </a:endParaRPr>
          </a:p>
        </p:txBody>
      </p:sp>
      <p:sp>
        <p:nvSpPr>
          <p:cNvPr id="59" name="Rectangle 8"/>
          <p:cNvSpPr/>
          <p:nvPr/>
        </p:nvSpPr>
        <p:spPr>
          <a:xfrm>
            <a:off x="502920" y="2663190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0" name="Rectangle 9"/>
          <p:cNvSpPr/>
          <p:nvPr/>
        </p:nvSpPr>
        <p:spPr>
          <a:xfrm>
            <a:off x="502920" y="2663190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1" name="TextBox 10"/>
          <p:cNvSpPr txBox="1"/>
          <p:nvPr/>
        </p:nvSpPr>
        <p:spPr>
          <a:xfrm>
            <a:off x="612648" y="2744471"/>
            <a:ext cx="338328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查询规划</a:t>
            </a:r>
            <a:endParaRPr sz="18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62" name="TextBox 11"/>
          <p:cNvSpPr txBox="1"/>
          <p:nvPr/>
        </p:nvSpPr>
        <p:spPr>
          <a:xfrm>
            <a:off x="640080" y="3166872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识别问题类型与业务维度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拆解子问题，明确证据需求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63" name="Rectangle 12"/>
          <p:cNvSpPr/>
          <p:nvPr/>
        </p:nvSpPr>
        <p:spPr>
          <a:xfrm>
            <a:off x="4288536" y="2663190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4" name="Rectangle 13"/>
          <p:cNvSpPr/>
          <p:nvPr/>
        </p:nvSpPr>
        <p:spPr>
          <a:xfrm>
            <a:off x="4288536" y="2663190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5" name="TextBox 14"/>
          <p:cNvSpPr txBox="1"/>
          <p:nvPr/>
        </p:nvSpPr>
        <p:spPr>
          <a:xfrm>
            <a:off x="4398264" y="2760028"/>
            <a:ext cx="338328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混合检索与证据组织</a:t>
            </a:r>
            <a:endParaRPr sz="18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66" name="TextBox 15"/>
          <p:cNvSpPr txBox="1"/>
          <p:nvPr/>
        </p:nvSpPr>
        <p:spPr>
          <a:xfrm>
            <a:off x="4425696" y="3166872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多路召回、条款定位与证据重排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汇聚正文、附件与关联条款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67" name="Rectangle 16"/>
          <p:cNvSpPr/>
          <p:nvPr/>
        </p:nvSpPr>
        <p:spPr>
          <a:xfrm>
            <a:off x="8074151" y="2663190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8" name="Rectangle 17"/>
          <p:cNvSpPr/>
          <p:nvPr/>
        </p:nvSpPr>
        <p:spPr>
          <a:xfrm>
            <a:off x="8074151" y="2663190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9" name="TextBox 18"/>
          <p:cNvSpPr txBox="1"/>
          <p:nvPr/>
        </p:nvSpPr>
        <p:spPr>
          <a:xfrm>
            <a:off x="8183879" y="2760028"/>
            <a:ext cx="338328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文本问答引擎</a:t>
            </a:r>
            <a:endParaRPr sz="18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70" name="TextBox 19"/>
          <p:cNvSpPr txBox="1"/>
          <p:nvPr/>
        </p:nvSpPr>
        <p:spPr>
          <a:xfrm>
            <a:off x="8211311" y="3166872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按证据缺口补全相关依据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证据受限生成与引用修复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71" name="Rectangle 20"/>
          <p:cNvSpPr/>
          <p:nvPr/>
        </p:nvSpPr>
        <p:spPr>
          <a:xfrm>
            <a:off x="502920" y="3961637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2" name="Rectangle 21"/>
          <p:cNvSpPr/>
          <p:nvPr/>
        </p:nvSpPr>
        <p:spPr>
          <a:xfrm>
            <a:off x="502920" y="3961637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3" name="TextBox 22"/>
          <p:cNvSpPr txBox="1"/>
          <p:nvPr/>
        </p:nvSpPr>
        <p:spPr>
          <a:xfrm>
            <a:off x="612648" y="4042917"/>
            <a:ext cx="338328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表格计算引擎</a:t>
            </a:r>
            <a:endParaRPr sz="18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74" name="TextBox 23"/>
          <p:cNvSpPr txBox="1"/>
          <p:nvPr/>
        </p:nvSpPr>
        <p:spPr>
          <a:xfrm>
            <a:off x="640080" y="4465320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按指标 / 期间 / 机构精确取数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确定性运算，绑定原表坐标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75" name="Rectangle 24"/>
          <p:cNvSpPr/>
          <p:nvPr/>
        </p:nvSpPr>
        <p:spPr>
          <a:xfrm>
            <a:off x="4288536" y="3961637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6" name="Rectangle 25"/>
          <p:cNvSpPr/>
          <p:nvPr/>
        </p:nvSpPr>
        <p:spPr>
          <a:xfrm>
            <a:off x="4288536" y="3961637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7" name="TextBox 26"/>
          <p:cNvSpPr txBox="1"/>
          <p:nvPr/>
        </p:nvSpPr>
        <p:spPr>
          <a:xfrm>
            <a:off x="4398264" y="4058475"/>
            <a:ext cx="338328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统一可信校验</a:t>
            </a:r>
            <a:endParaRPr sz="18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78" name="TextBox 27"/>
          <p:cNvSpPr txBox="1"/>
          <p:nvPr/>
        </p:nvSpPr>
        <p:spPr>
          <a:xfrm>
            <a:off x="4425696" y="4465320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核对关键事实与引用一致性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检查规范强度、条件与例外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79" name="Rectangle 28"/>
          <p:cNvSpPr/>
          <p:nvPr/>
        </p:nvSpPr>
        <p:spPr>
          <a:xfrm>
            <a:off x="8074151" y="3961637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0" name="Rectangle 29"/>
          <p:cNvSpPr/>
          <p:nvPr/>
        </p:nvSpPr>
        <p:spPr>
          <a:xfrm>
            <a:off x="8074151" y="3961637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1" name="TextBox 30"/>
          <p:cNvSpPr txBox="1"/>
          <p:nvPr/>
        </p:nvSpPr>
        <p:spPr>
          <a:xfrm>
            <a:off x="8183879" y="4058475"/>
            <a:ext cx="338328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业务交付与风险边界</a:t>
            </a:r>
            <a:endParaRPr sz="18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82" name="TextBox 31"/>
          <p:cNvSpPr txBox="1"/>
          <p:nvPr/>
        </p:nvSpPr>
        <p:spPr>
          <a:xfrm>
            <a:off x="8211311" y="4465320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交付答案、依据与计算过程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不足则澄清或拒答，记录留存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84" name="TextBox 33"/>
          <p:cNvSpPr txBox="1"/>
          <p:nvPr/>
        </p:nvSpPr>
        <p:spPr>
          <a:xfrm>
            <a:off x="433832" y="5367528"/>
            <a:ext cx="201168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Qdrant 向量索引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85" name="TextBox 34"/>
          <p:cNvSpPr txBox="1"/>
          <p:nvPr/>
        </p:nvSpPr>
        <p:spPr>
          <a:xfrm>
            <a:off x="691642" y="5684520"/>
            <a:ext cx="2011680" cy="2019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2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语义 / 稀疏召回</a:t>
            </a:r>
            <a:endParaRPr sz="12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87" name="TextBox 36"/>
          <p:cNvSpPr txBox="1"/>
          <p:nvPr/>
        </p:nvSpPr>
        <p:spPr>
          <a:xfrm>
            <a:off x="2595880" y="5368163"/>
            <a:ext cx="201168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SQLite 双存储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88" name="TextBox 37"/>
          <p:cNvSpPr txBox="1"/>
          <p:nvPr/>
        </p:nvSpPr>
        <p:spPr>
          <a:xfrm>
            <a:off x="2160270" y="5684520"/>
            <a:ext cx="2258695" cy="2019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2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文本元数据 / 结构化单元格</a:t>
            </a:r>
            <a:endParaRPr sz="12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90" name="TextBox 39"/>
          <p:cNvSpPr txBox="1"/>
          <p:nvPr/>
        </p:nvSpPr>
        <p:spPr>
          <a:xfrm>
            <a:off x="4573905" y="5370195"/>
            <a:ext cx="29794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</a:rPr>
              <a:t>BGE-M3 + BGE-reranker-v2-m3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91" name="TextBox 40"/>
          <p:cNvSpPr txBox="1"/>
          <p:nvPr/>
        </p:nvSpPr>
        <p:spPr>
          <a:xfrm>
            <a:off x="5444998" y="5684520"/>
            <a:ext cx="2011680" cy="2019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2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</a:rPr>
              <a:t>本地嵌入与重排</a:t>
            </a:r>
            <a:endParaRPr sz="12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93" name="TextBox 42"/>
          <p:cNvSpPr txBox="1"/>
          <p:nvPr/>
        </p:nvSpPr>
        <p:spPr>
          <a:xfrm>
            <a:off x="7721346" y="5368798"/>
            <a:ext cx="201168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</a:rPr>
              <a:t>DeepSeek API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94" name="TextBox 43"/>
          <p:cNvSpPr txBox="1"/>
          <p:nvPr/>
        </p:nvSpPr>
        <p:spPr>
          <a:xfrm>
            <a:off x="7783576" y="5684520"/>
            <a:ext cx="2011680" cy="2019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2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生成 / 规划 / 校验</a:t>
            </a:r>
            <a:endParaRPr sz="12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96" name="TextBox 45"/>
          <p:cNvSpPr txBox="1"/>
          <p:nvPr/>
        </p:nvSpPr>
        <p:spPr>
          <a:xfrm>
            <a:off x="9316720" y="5369560"/>
            <a:ext cx="256413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</a:rPr>
              <a:t>LibreOffice + pymupdf4llm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97" name="TextBox 46"/>
          <p:cNvSpPr txBox="1"/>
          <p:nvPr/>
        </p:nvSpPr>
        <p:spPr>
          <a:xfrm>
            <a:off x="9610344" y="5684520"/>
            <a:ext cx="2011680" cy="2019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2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PDF / Word / Excel 解析</a:t>
            </a:r>
            <a:endParaRPr sz="12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98" name="Rectangle 5"/>
          <p:cNvSpPr/>
          <p:nvPr/>
        </p:nvSpPr>
        <p:spPr>
          <a:xfrm>
            <a:off x="502920" y="1840230"/>
            <a:ext cx="11183112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1" name="Rectangle 6"/>
          <p:cNvSpPr/>
          <p:nvPr/>
        </p:nvSpPr>
        <p:spPr>
          <a:xfrm>
            <a:off x="502920" y="1924050"/>
            <a:ext cx="11183112" cy="685800"/>
          </a:xfrm>
          <a:prstGeom prst="rect">
            <a:avLst/>
          </a:prstGeom>
          <a:solidFill>
            <a:srgbClr val="19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2" name="TextBox 7"/>
          <p:cNvSpPr txBox="1"/>
          <p:nvPr/>
        </p:nvSpPr>
        <p:spPr>
          <a:xfrm>
            <a:off x="685800" y="2090674"/>
            <a:ext cx="1078992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rPr>
              <a:t>统一业务入口</a:t>
            </a:r>
            <a:r>
              <a:rPr sz="1600" b="0">
                <a:solidFill>
                  <a:schemeClr val="bg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  </a:t>
            </a:r>
            <a:r>
              <a:rPr sz="1600" b="0">
                <a:solidFill>
                  <a:schemeClr val="bg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React + TypeScript + Vite：可信问答 / 文档管理 / 审计记录 / 进度与已核验内容预览</a:t>
            </a:r>
            <a:endParaRPr sz="1600" b="0">
              <a:solidFill>
                <a:schemeClr val="bg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104" name="矩形: 圆角 22"/>
          <p:cNvSpPr/>
          <p:nvPr/>
        </p:nvSpPr>
        <p:spPr>
          <a:xfrm flipV="1">
            <a:off x="294640" y="5268595"/>
            <a:ext cx="11586845" cy="721995"/>
          </a:xfrm>
          <a:prstGeom prst="roundRect">
            <a:avLst>
              <a:gd name="adj" fmla="val 4633"/>
            </a:avLst>
          </a:prstGeom>
          <a:noFill/>
          <a:ln>
            <a:solidFill>
              <a:srgbClr val="00418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技术亮点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37185" y="64833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技术创新全景：三大核心能力、六项关键设计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52" name="Rectangle 5"/>
          <p:cNvSpPr/>
          <p:nvPr/>
        </p:nvSpPr>
        <p:spPr>
          <a:xfrm>
            <a:off x="502920" y="1626870"/>
            <a:ext cx="1119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502920" y="1727200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713105" y="2232660"/>
            <a:ext cx="5120640" cy="68135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知识底座：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联合解析制度正文与统计附件，保留标题层级、条款编号、表头关联、期间和单位。文本与数值均携带业务语义，减少切分带来的语境丢失，支撑后续查询与计算。</a:t>
            </a:r>
            <a:endParaRPr sz="12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60" name="Rectangle 9"/>
          <p:cNvSpPr/>
          <p:nvPr>
            <p:custDataLst>
              <p:tags r:id="rId3"/>
            </p:custDataLst>
          </p:nvPr>
        </p:nvSpPr>
        <p:spPr>
          <a:xfrm>
            <a:off x="505460" y="1727200"/>
            <a:ext cx="288480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1" name="TextBox 10"/>
          <p:cNvSpPr txBox="1"/>
          <p:nvPr>
            <p:custDataLst>
              <p:tags r:id="rId4"/>
            </p:custDataLst>
          </p:nvPr>
        </p:nvSpPr>
        <p:spPr>
          <a:xfrm>
            <a:off x="615315" y="1808480"/>
            <a:ext cx="277558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① 结构感知解析</a:t>
            </a:r>
            <a:endParaRPr sz="1800">
              <a:solidFill>
                <a:schemeClr val="bg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14" name="Rectangle 13"/>
          <p:cNvSpPr/>
          <p:nvPr>
            <p:custDataLst>
              <p:tags r:id="rId5"/>
            </p:custDataLst>
          </p:nvPr>
        </p:nvSpPr>
        <p:spPr>
          <a:xfrm>
            <a:off x="502920" y="3171825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704215" y="3702050"/>
            <a:ext cx="5120640" cy="68135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证据驱动问答：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多视角检索、CRAG-lite 覆盖诊断与 HyDE 缺口补检协同，沿条款引用扩展跨文档依据。围绕问题要点补齐定义、列表、条件与例外，提高复杂问询的证据完整性。</a:t>
            </a:r>
            <a:endParaRPr sz="12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33" name="Rectangle 9"/>
          <p:cNvSpPr/>
          <p:nvPr>
            <p:custDataLst>
              <p:tags r:id="rId7"/>
            </p:custDataLst>
          </p:nvPr>
        </p:nvSpPr>
        <p:spPr>
          <a:xfrm>
            <a:off x="505460" y="3163570"/>
            <a:ext cx="288480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4" name="TextBox 10"/>
          <p:cNvSpPr txBox="1"/>
          <p:nvPr>
            <p:custDataLst>
              <p:tags r:id="rId8"/>
            </p:custDataLst>
          </p:nvPr>
        </p:nvSpPr>
        <p:spPr>
          <a:xfrm>
            <a:off x="615315" y="3244850"/>
            <a:ext cx="277558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③ 覆盖诊断与跨文档补证</a:t>
            </a:r>
            <a:endParaRPr sz="1800">
              <a:solidFill>
                <a:schemeClr val="bg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22" name="Rectangle 21"/>
          <p:cNvSpPr/>
          <p:nvPr>
            <p:custDataLst>
              <p:tags r:id="rId9"/>
            </p:custDataLst>
          </p:nvPr>
        </p:nvSpPr>
        <p:spPr>
          <a:xfrm>
            <a:off x="502920" y="4616450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10"/>
            </p:custDataLst>
          </p:nvPr>
        </p:nvSpPr>
        <p:spPr>
          <a:xfrm>
            <a:off x="713105" y="5139690"/>
            <a:ext cx="5120640" cy="68135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监管可信交付：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核对关键事实与引用一致性，结合主体、规范强度、条件、例外及范围检查监管含义。通过风险触发核验与受限修复，降低数字正确但业务表述失真的风险。</a:t>
            </a:r>
            <a:endParaRPr sz="12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40" name="Rectangle 9"/>
          <p:cNvSpPr/>
          <p:nvPr>
            <p:custDataLst>
              <p:tags r:id="rId11"/>
            </p:custDataLst>
          </p:nvPr>
        </p:nvSpPr>
        <p:spPr>
          <a:xfrm>
            <a:off x="505460" y="4608195"/>
            <a:ext cx="288480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1" name="TextBox 10"/>
          <p:cNvSpPr txBox="1"/>
          <p:nvPr>
            <p:custDataLst>
              <p:tags r:id="rId12"/>
            </p:custDataLst>
          </p:nvPr>
        </p:nvSpPr>
        <p:spPr>
          <a:xfrm>
            <a:off x="615315" y="4689475"/>
            <a:ext cx="277558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⑤ 事实与监管语义校验</a:t>
            </a:r>
            <a:endParaRPr sz="1800">
              <a:solidFill>
                <a:schemeClr val="bg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89" name="Rectangle 17"/>
          <p:cNvSpPr/>
          <p:nvPr>
            <p:custDataLst>
              <p:tags r:id="rId13"/>
            </p:custDataLst>
          </p:nvPr>
        </p:nvSpPr>
        <p:spPr>
          <a:xfrm>
            <a:off x="6199505" y="3154045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0" name="TextBox 20"/>
          <p:cNvSpPr txBox="1"/>
          <p:nvPr>
            <p:custDataLst>
              <p:tags r:id="rId14"/>
            </p:custDataLst>
          </p:nvPr>
        </p:nvSpPr>
        <p:spPr>
          <a:xfrm>
            <a:off x="6400800" y="3663950"/>
            <a:ext cx="5120640" cy="68135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证据驱动问答：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按指标、期间与机构定位结构化单元格，由安全算子执行数值运算。将操作数、算式、单位和原表坐标与结果绑定，连接监管问答和可复核的报表分析。</a:t>
            </a:r>
            <a:endParaRPr sz="12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91" name="Rectangle 9"/>
          <p:cNvSpPr/>
          <p:nvPr>
            <p:custDataLst>
              <p:tags r:id="rId15"/>
            </p:custDataLst>
          </p:nvPr>
        </p:nvSpPr>
        <p:spPr>
          <a:xfrm>
            <a:off x="6207760" y="3145790"/>
            <a:ext cx="312991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2" name="TextBox 10"/>
          <p:cNvSpPr txBox="1"/>
          <p:nvPr>
            <p:custDataLst>
              <p:tags r:id="rId16"/>
            </p:custDataLst>
          </p:nvPr>
        </p:nvSpPr>
        <p:spPr>
          <a:xfrm>
            <a:off x="6317615" y="3227070"/>
            <a:ext cx="288417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④ 证据绑定确定性计算</a:t>
            </a:r>
            <a:endParaRPr sz="1800">
              <a:solidFill>
                <a:schemeClr val="bg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94" name="Rectangle 9"/>
          <p:cNvSpPr/>
          <p:nvPr>
            <p:custDataLst>
              <p:tags r:id="rId17"/>
            </p:custDataLst>
          </p:nvPr>
        </p:nvSpPr>
        <p:spPr>
          <a:xfrm>
            <a:off x="6212205" y="1727200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5" name="TextBox 12"/>
          <p:cNvSpPr txBox="1"/>
          <p:nvPr>
            <p:custDataLst>
              <p:tags r:id="rId18"/>
            </p:custDataLst>
          </p:nvPr>
        </p:nvSpPr>
        <p:spPr>
          <a:xfrm>
            <a:off x="6400800" y="2225040"/>
            <a:ext cx="5120640" cy="68135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知识底座：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条款、定义、邻接片段与单元格分层组织，Qdrant 召回与 SQLite 取证协同。依据问题类型定位概念、规定或数值，原文、结构和文件身份保持关联。</a:t>
            </a:r>
            <a:endParaRPr sz="12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96" name="Rectangle 9"/>
          <p:cNvSpPr/>
          <p:nvPr>
            <p:custDataLst>
              <p:tags r:id="rId19"/>
            </p:custDataLst>
          </p:nvPr>
        </p:nvSpPr>
        <p:spPr>
          <a:xfrm>
            <a:off x="6202680" y="1727200"/>
            <a:ext cx="312991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7" name="TextBox 10"/>
          <p:cNvSpPr txBox="1"/>
          <p:nvPr>
            <p:custDataLst>
              <p:tags r:id="rId20"/>
            </p:custDataLst>
          </p:nvPr>
        </p:nvSpPr>
        <p:spPr>
          <a:xfrm>
            <a:off x="6330315" y="1808480"/>
            <a:ext cx="277558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② 多粒度证据索引</a:t>
            </a:r>
            <a:endParaRPr sz="1800">
              <a:solidFill>
                <a:schemeClr val="bg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99" name="Rectangle 25"/>
          <p:cNvSpPr/>
          <p:nvPr>
            <p:custDataLst>
              <p:tags r:id="rId21"/>
            </p:custDataLst>
          </p:nvPr>
        </p:nvSpPr>
        <p:spPr>
          <a:xfrm>
            <a:off x="6212205" y="4616450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0" name="TextBox 28"/>
          <p:cNvSpPr txBox="1"/>
          <p:nvPr>
            <p:custDataLst>
              <p:tags r:id="rId22"/>
            </p:custDataLst>
          </p:nvPr>
        </p:nvSpPr>
        <p:spPr>
          <a:xfrm>
            <a:off x="6400800" y="5144770"/>
            <a:ext cx="5120640" cy="68135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监管可信交付：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依据不足时说明缺口并澄清或拒答，关联答案、引用、原文与问答记录。将风险边界、业务复核与持续回归纳入交付流程，支持后续审计和知识维护。</a:t>
            </a:r>
            <a:endParaRPr sz="12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101" name="Rectangle 9"/>
          <p:cNvSpPr/>
          <p:nvPr>
            <p:custDataLst>
              <p:tags r:id="rId23"/>
            </p:custDataLst>
          </p:nvPr>
        </p:nvSpPr>
        <p:spPr>
          <a:xfrm>
            <a:off x="6202680" y="4608195"/>
            <a:ext cx="312991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2" name="TextBox 10"/>
          <p:cNvSpPr txBox="1"/>
          <p:nvPr>
            <p:custDataLst>
              <p:tags r:id="rId24"/>
            </p:custDataLst>
          </p:nvPr>
        </p:nvSpPr>
        <p:spPr>
          <a:xfrm>
            <a:off x="6330315" y="4689475"/>
            <a:ext cx="288417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⑥ 风险边界与审计追踪</a:t>
            </a:r>
            <a:endParaRPr sz="1800">
              <a:solidFill>
                <a:schemeClr val="bg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37185" y="67119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亮点一：结构感知解析与多粒度知识索引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sym typeface="+mn-ea"/>
              </a:rPr>
              <a:t>面向制度条款与统计附件，保留文档结构和数值业务语义，让知识既能精准定位，也能支撑计算与复核。</a:t>
            </a:r>
            <a:endParaRPr sz="1400">
              <a:latin typeface="OPPOSans R" panose="00020600040101010101" charset="-122"/>
              <a:ea typeface="OPPOSans R" panose="00020600040101010101" charset="-122"/>
              <a:sym typeface="+mn-ea"/>
            </a:endParaRPr>
          </a:p>
        </p:txBody>
      </p:sp>
      <p:sp>
        <p:nvSpPr>
          <p:cNvPr id="98" name="Rectangle 5"/>
          <p:cNvSpPr/>
          <p:nvPr/>
        </p:nvSpPr>
        <p:spPr>
          <a:xfrm>
            <a:off x="502920" y="1840230"/>
            <a:ext cx="11412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" name="Rectangle 6"/>
          <p:cNvSpPr/>
          <p:nvPr/>
        </p:nvSpPr>
        <p:spPr>
          <a:xfrm>
            <a:off x="502920" y="1929765"/>
            <a:ext cx="5257800" cy="208343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21205"/>
            <a:ext cx="502920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</a:rPr>
              <a:t>保留业务语义的结构化解析</a:t>
            </a:r>
            <a:endParaRPr sz="20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2392045"/>
            <a:ext cx="5029200" cy="14636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制度正文：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提取标题层级、条款编号与原文段落，保留章节语境；PDF / Word 解析协同处理。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统计附件：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关联表头、行列标签、期间、单位、数值与坐标，避免“数字脱离口径”。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统一产出：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以文本片段与结构化单元格承载知识，连接制度查询和报表分析。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0425" y="1929765"/>
            <a:ext cx="5974715" cy="208343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0572" y="2021205"/>
            <a:ext cx="502920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条款、定义与单元格多粒度索引</a:t>
            </a:r>
            <a:endParaRPr sz="20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00445" y="2392045"/>
            <a:ext cx="5746115" cy="1412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定义与条款：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按问题类型直达概念依据，关联邻接上下文；新增 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440 条定义、164 行条款索引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数值与坐标：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133,001 个单元格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绑定指标、期间和机构，支撑精确取数与计算复核。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双存储协同：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Qdrant 召回 + SQLite 取证，manifest 保留文件身份。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502920" y="4093845"/>
            <a:ext cx="2157730" cy="1051560"/>
            <a:chOff x="792" y="6615"/>
            <a:chExt cx="3398" cy="1656"/>
          </a:xfrm>
        </p:grpSpPr>
        <p:sp>
          <p:nvSpPr>
            <p:cNvPr id="13" name="Rectangle 12"/>
            <p:cNvSpPr/>
            <p:nvPr/>
          </p:nvSpPr>
          <p:spPr>
            <a:xfrm>
              <a:off x="792" y="6615"/>
              <a:ext cx="3398" cy="1656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64" y="6782"/>
              <a:ext cx="3254" cy="803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ctr">
                <a:spcAft>
                  <a:spcPts val="400"/>
                </a:spcAft>
              </a:pPr>
              <a:r>
                <a:rPr sz="32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rPr>
                <a:t>500</a:t>
              </a:r>
              <a:endParaRPr sz="32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endParaRPr>
            </a:p>
          </p:txBody>
        </p:sp>
        <p:sp>
          <p:nvSpPr>
            <p:cNvPr id="4" name="TextBox 14"/>
            <p:cNvSpPr txBox="1"/>
            <p:nvPr/>
          </p:nvSpPr>
          <p:spPr>
            <a:xfrm>
              <a:off x="864" y="7650"/>
              <a:ext cx="3254" cy="415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ctr">
                <a:spcAft>
                  <a:spcPts val="400"/>
                </a:spcAft>
              </a:pPr>
              <a:r>
                <a:rPr sz="1600" b="0">
                  <a:solidFill>
                    <a:srgbClr val="FFFFFF"/>
                  </a:solidFill>
                  <a:latin typeface="OPPOSans R" panose="00020600040101010101" charset="-122"/>
                  <a:ea typeface="OPPOSans R" panose="00020600040101010101" charset="-122"/>
                </a:rPr>
                <a:t>制度与统计附件</a:t>
              </a:r>
              <a:endParaRPr sz="1600" b="0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2790190" y="4093845"/>
            <a:ext cx="2157730" cy="1051560"/>
            <a:chOff x="4349" y="6615"/>
            <a:chExt cx="3398" cy="1656"/>
          </a:xfrm>
        </p:grpSpPr>
        <p:sp>
          <p:nvSpPr>
            <p:cNvPr id="16" name="Rectangle 15"/>
            <p:cNvSpPr/>
            <p:nvPr/>
          </p:nvSpPr>
          <p:spPr>
            <a:xfrm>
              <a:off x="4349" y="6615"/>
              <a:ext cx="3398" cy="1656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421" y="6782"/>
              <a:ext cx="3254" cy="803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ctr">
                <a:spcAft>
                  <a:spcPts val="400"/>
                </a:spcAft>
                <a:buClrTx/>
                <a:buSzTx/>
                <a:buFontTx/>
              </a:pPr>
              <a:r>
                <a:rPr sz="32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rPr>
                <a:t>45,530</a:t>
              </a:r>
              <a:endParaRPr sz="32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21" y="7650"/>
              <a:ext cx="3254" cy="415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ctr">
                <a:spcAft>
                  <a:spcPts val="400"/>
                </a:spcAft>
                <a:buClrTx/>
                <a:buSzTx/>
                <a:buFontTx/>
              </a:pPr>
              <a:r>
                <a:rPr sz="1600">
                  <a:solidFill>
                    <a:srgbClr val="FFFFFF"/>
                  </a:solidFill>
                  <a:latin typeface="OPPOSans R" panose="00020600040101010101" charset="-122"/>
                  <a:ea typeface="OPPOSans R" panose="00020600040101010101" charset="-122"/>
                  <a:sym typeface="+mn-ea"/>
                </a:rPr>
                <a:t>Qdrant 向量索引</a:t>
              </a:r>
              <a:endParaRPr sz="1600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  <a:sym typeface="+mn-ea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077460" y="4093845"/>
            <a:ext cx="2157730" cy="1051560"/>
            <a:chOff x="7906" y="6615"/>
            <a:chExt cx="3398" cy="1656"/>
          </a:xfrm>
        </p:grpSpPr>
        <p:sp>
          <p:nvSpPr>
            <p:cNvPr id="19" name="Rectangle 18"/>
            <p:cNvSpPr/>
            <p:nvPr/>
          </p:nvSpPr>
          <p:spPr>
            <a:xfrm>
              <a:off x="7906" y="6615"/>
              <a:ext cx="3398" cy="1656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7978" y="6782"/>
              <a:ext cx="3254" cy="1282"/>
              <a:chOff x="7978" y="6782"/>
              <a:chExt cx="3254" cy="1282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7978" y="6782"/>
                <a:ext cx="3254" cy="706"/>
              </a:xfrm>
              <a:prstGeom prst="rect">
                <a:avLst/>
              </a:prstGeom>
              <a:noFill/>
            </p:spPr>
            <p:txBody>
              <a:bodyPr wrap="square" lIns="18288" tIns="9144" rIns="18288" bIns="9144" anchor="t">
                <a:spAutoFit/>
              </a:bodyPr>
              <a:p>
                <a:pPr algn="ctr">
                  <a:spcAft>
                    <a:spcPts val="400"/>
                  </a:spcAft>
                  <a:buClrTx/>
                  <a:buSzTx/>
                  <a:buFontTx/>
                </a:pPr>
                <a:r>
                  <a:rPr sz="3200">
                    <a:solidFill>
                      <a:srgbClr val="F0C800"/>
                    </a:solidFill>
                    <a:latin typeface="OPPOSans B" panose="00020600040101010101" charset="-122"/>
                    <a:ea typeface="OPPOSans B" panose="00020600040101010101" charset="-122"/>
                  </a:rPr>
                  <a:t>46,551</a:t>
                </a:r>
                <a:endParaRPr sz="32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7978" y="7650"/>
                <a:ext cx="3254" cy="415"/>
              </a:xfrm>
              <a:prstGeom prst="rect">
                <a:avLst/>
              </a:prstGeom>
              <a:noFill/>
            </p:spPr>
            <p:txBody>
              <a:bodyPr wrap="square" lIns="18288" tIns="9144" rIns="18288" bIns="9144" anchor="t">
                <a:spAutoFit/>
              </a:bodyPr>
              <a:p>
                <a:pPr lvl="0" algn="ctr">
                  <a:spcAft>
                    <a:spcPts val="400"/>
                  </a:spcAft>
                  <a:buClrTx/>
                  <a:buSzTx/>
                  <a:buFontTx/>
                </a:pPr>
                <a:r>
                  <a:rPr sz="1600">
                    <a:solidFill>
                      <a:srgbClr val="FFFFFF"/>
                    </a:solidFill>
                    <a:latin typeface="OPPOSans R" panose="00020600040101010101" charset="-122"/>
                    <a:ea typeface="OPPOSans R" panose="00020600040101010101" charset="-122"/>
                    <a:sym typeface="+mn-ea"/>
                  </a:rPr>
                  <a:t>知识片段元数据</a:t>
                </a:r>
                <a:endParaRPr sz="1600">
                  <a:solidFill>
                    <a:srgbClr val="FFFFFF"/>
                  </a:solidFill>
                  <a:latin typeface="OPPOSans R" panose="00020600040101010101" charset="-122"/>
                  <a:ea typeface="OPPOSans R" panose="00020600040101010101" charset="-122"/>
                  <a:sym typeface="+mn-ea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7364730" y="4093845"/>
            <a:ext cx="2157730" cy="1051560"/>
            <a:chOff x="11462" y="6615"/>
            <a:chExt cx="3398" cy="1656"/>
          </a:xfrm>
        </p:grpSpPr>
        <p:sp>
          <p:nvSpPr>
            <p:cNvPr id="22" name="Rectangle 21"/>
            <p:cNvSpPr/>
            <p:nvPr/>
          </p:nvSpPr>
          <p:spPr>
            <a:xfrm>
              <a:off x="11462" y="6615"/>
              <a:ext cx="3398" cy="1656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534" y="6782"/>
              <a:ext cx="3254" cy="706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ctr">
                <a:spcAft>
                  <a:spcPts val="400"/>
                </a:spcAft>
                <a:buClrTx/>
                <a:buSzTx/>
                <a:buFontTx/>
              </a:pPr>
              <a:r>
                <a:rPr sz="32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rPr>
                <a:t>133,001</a:t>
              </a:r>
              <a:endParaRPr sz="32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534" y="7650"/>
              <a:ext cx="3254" cy="415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ctr">
                <a:spcAft>
                  <a:spcPts val="400"/>
                </a:spcAft>
                <a:buClrTx/>
                <a:buSzTx/>
                <a:buFontTx/>
              </a:pPr>
              <a:r>
                <a:rPr sz="1600">
                  <a:solidFill>
                    <a:srgbClr val="FFFFFF"/>
                  </a:solidFill>
                  <a:latin typeface="OPPOSans R" panose="00020600040101010101" charset="-122"/>
                  <a:ea typeface="OPPOSans R" panose="00020600040101010101" charset="-122"/>
                  <a:sym typeface="+mn-ea"/>
                </a:rPr>
                <a:t>结构化表格单元格</a:t>
              </a:r>
              <a:endParaRPr sz="1600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  <a:sym typeface="+mn-ea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9652000" y="4093845"/>
            <a:ext cx="2157730" cy="1051560"/>
            <a:chOff x="15127" y="6615"/>
            <a:chExt cx="3398" cy="1656"/>
          </a:xfrm>
        </p:grpSpPr>
        <p:sp>
          <p:nvSpPr>
            <p:cNvPr id="25" name="Rectangle 24"/>
            <p:cNvSpPr/>
            <p:nvPr/>
          </p:nvSpPr>
          <p:spPr>
            <a:xfrm>
              <a:off x="15127" y="6615"/>
              <a:ext cx="3398" cy="1656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5199" y="6782"/>
              <a:ext cx="3254" cy="803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ctr">
                <a:spcAft>
                  <a:spcPts val="400"/>
                </a:spcAft>
              </a:pPr>
              <a:r>
                <a:rPr sz="32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rPr>
                <a:t>100%</a:t>
              </a:r>
              <a:endParaRPr sz="2800" b="1">
                <a:solidFill>
                  <a:srgbClr val="F0C8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199" y="7650"/>
              <a:ext cx="3254" cy="415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ctr">
                <a:spcAft>
                  <a:spcPts val="400"/>
                </a:spcAft>
                <a:buClrTx/>
                <a:buSzTx/>
                <a:buFontTx/>
              </a:pPr>
              <a:r>
                <a:rPr sz="1600">
                  <a:solidFill>
                    <a:srgbClr val="FFFFFF"/>
                  </a:solidFill>
                  <a:latin typeface="OPPOSans R" panose="00020600040101010101" charset="-122"/>
                  <a:ea typeface="OPPOSans R" panose="00020600040101010101" charset="-122"/>
                  <a:sym typeface="+mn-ea"/>
                </a:rPr>
                <a:t>本批文件处理成功率</a:t>
              </a:r>
              <a:endParaRPr sz="1600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  <a:sym typeface="+mn-ea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41655" y="5255895"/>
            <a:ext cx="11346180" cy="7556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24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知识资产化：</a:t>
            </a:r>
            <a:r>
              <a:rPr sz="16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制度与附件形成可定位、可计算、可追溯的知识资产，关联文件身份与原始依据。</a:t>
            </a:r>
            <a:endParaRPr sz="16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37" name="矩形: 圆角 22"/>
          <p:cNvSpPr/>
          <p:nvPr/>
        </p:nvSpPr>
        <p:spPr>
          <a:xfrm flipV="1">
            <a:off x="503555" y="5286375"/>
            <a:ext cx="11306175" cy="721995"/>
          </a:xfrm>
          <a:prstGeom prst="roundRect">
            <a:avLst>
              <a:gd name="adj" fmla="val 4633"/>
            </a:avLst>
          </a:prstGeom>
          <a:noFill/>
          <a:ln>
            <a:solidFill>
              <a:srgbClr val="00418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323215" y="69024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亮点二：自适应检索与确定性计算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sym typeface="+mn-ea"/>
              </a:rPr>
              <a:t>根据问题类型与证据缺口组织检索，文本结论由真实原文支撑，数值结果由程序计算。</a:t>
            </a:r>
            <a:endParaRPr sz="1400">
              <a:latin typeface="OPPOSans R" panose="00020600040101010101" charset="-122"/>
              <a:ea typeface="OPPOSans R" panose="00020600040101010101" charset="-122"/>
              <a:sym typeface="+mn-ea"/>
            </a:endParaRPr>
          </a:p>
        </p:txBody>
      </p:sp>
      <p:sp>
        <p:nvSpPr>
          <p:cNvPr id="98" name="Rectangle 5"/>
          <p:cNvSpPr/>
          <p:nvPr/>
        </p:nvSpPr>
        <p:spPr>
          <a:xfrm>
            <a:off x="502920" y="1840230"/>
            <a:ext cx="11412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grpSp>
        <p:nvGrpSpPr>
          <p:cNvPr id="38" name="组合 37"/>
          <p:cNvGrpSpPr/>
          <p:nvPr/>
        </p:nvGrpSpPr>
        <p:grpSpPr>
          <a:xfrm>
            <a:off x="475615" y="1988185"/>
            <a:ext cx="5457190" cy="1487805"/>
            <a:chOff x="749" y="3033"/>
            <a:chExt cx="8594" cy="2343"/>
          </a:xfrm>
        </p:grpSpPr>
        <p:sp>
          <p:nvSpPr>
            <p:cNvPr id="21" name="Rectangle 8"/>
            <p:cNvSpPr/>
            <p:nvPr/>
          </p:nvSpPr>
          <p:spPr>
            <a:xfrm>
              <a:off x="749" y="3397"/>
              <a:ext cx="8594" cy="1979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22" name="Rectangle 9"/>
            <p:cNvSpPr/>
            <p:nvPr/>
          </p:nvSpPr>
          <p:spPr>
            <a:xfrm>
              <a:off x="749" y="3033"/>
              <a:ext cx="3543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23" name="TextBox 10"/>
            <p:cNvSpPr txBox="1"/>
            <p:nvPr/>
          </p:nvSpPr>
          <p:spPr>
            <a:xfrm>
              <a:off x="922" y="3161"/>
              <a:ext cx="3370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8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① 多视角查询规划</a:t>
              </a:r>
              <a:endPara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endParaRPr>
            </a:p>
          </p:txBody>
        </p:sp>
        <p:sp>
          <p:nvSpPr>
            <p:cNvPr id="24" name="TextBox 11"/>
            <p:cNvSpPr txBox="1"/>
            <p:nvPr/>
          </p:nvSpPr>
          <p:spPr>
            <a:xfrm>
              <a:off x="965" y="3868"/>
              <a:ext cx="8024" cy="1248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 fontAlgn="auto">
                <a:lnSpc>
                  <a:spcPct val="120000"/>
                </a:lnSpc>
                <a:spcAft>
                  <a:spcPts val="400"/>
                </a:spcAft>
              </a:pP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识别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主题、机构、期间与问题类型</a:t>
              </a: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，将复杂问询拆为多视角子查询，分别确定所需条款、附件和指标。文本问题组织证据检索，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数值问题进入结构化取数与计算分支</a:t>
              </a: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。</a:t>
              </a:r>
              <a:endPara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74980" y="3596005"/>
            <a:ext cx="5457825" cy="1127760"/>
            <a:chOff x="748" y="5516"/>
            <a:chExt cx="8595" cy="1776"/>
          </a:xfrm>
        </p:grpSpPr>
        <p:sp>
          <p:nvSpPr>
            <p:cNvPr id="35" name="Rectangle 8"/>
            <p:cNvSpPr/>
            <p:nvPr/>
          </p:nvSpPr>
          <p:spPr>
            <a:xfrm>
              <a:off x="748" y="5880"/>
              <a:ext cx="8595" cy="1412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36" name="Rectangle 9"/>
            <p:cNvSpPr/>
            <p:nvPr/>
          </p:nvSpPr>
          <p:spPr>
            <a:xfrm>
              <a:off x="748" y="5516"/>
              <a:ext cx="3871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37" name="TextBox 10"/>
            <p:cNvSpPr txBox="1"/>
            <p:nvPr/>
          </p:nvSpPr>
          <p:spPr>
            <a:xfrm>
              <a:off x="921" y="5644"/>
              <a:ext cx="3698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8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② 混合召回与重排</a:t>
              </a:r>
              <a:endPara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endParaRPr>
            </a:p>
          </p:txBody>
        </p:sp>
        <p:sp>
          <p:nvSpPr>
            <p:cNvPr id="39" name="TextBox 11"/>
            <p:cNvSpPr txBox="1"/>
            <p:nvPr/>
          </p:nvSpPr>
          <p:spPr>
            <a:xfrm>
              <a:off x="964" y="6351"/>
              <a:ext cx="8294" cy="841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lnSpc>
                  <a:spcPct val="120000"/>
                </a:lnSpc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BGE-M3 稠密 / 稀疏 + 词面召回</a:t>
              </a: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互补，经 RRF 融合与 BGE 交叉编码重排；结合业务维度过滤，兼顾语义相似和口径约束。</a:t>
              </a:r>
              <a:endPara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128385" y="4861560"/>
            <a:ext cx="5457825" cy="1064895"/>
            <a:chOff x="9651" y="7655"/>
            <a:chExt cx="8595" cy="1677"/>
          </a:xfrm>
        </p:grpSpPr>
        <p:sp>
          <p:nvSpPr>
            <p:cNvPr id="64" name="Rectangle 8"/>
            <p:cNvSpPr/>
            <p:nvPr/>
          </p:nvSpPr>
          <p:spPr>
            <a:xfrm>
              <a:off x="9651" y="8019"/>
              <a:ext cx="8595" cy="1313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65" name="Rectangle 9"/>
            <p:cNvSpPr/>
            <p:nvPr/>
          </p:nvSpPr>
          <p:spPr>
            <a:xfrm>
              <a:off x="9651" y="7655"/>
              <a:ext cx="3871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66" name="TextBox 10"/>
            <p:cNvSpPr txBox="1"/>
            <p:nvPr/>
          </p:nvSpPr>
          <p:spPr>
            <a:xfrm>
              <a:off x="9824" y="7783"/>
              <a:ext cx="3698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8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⑥ 证据绑定计算</a:t>
              </a:r>
              <a:endPara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endParaRPr>
            </a:p>
          </p:txBody>
        </p:sp>
        <p:sp>
          <p:nvSpPr>
            <p:cNvPr id="67" name="TextBox 11"/>
            <p:cNvSpPr txBox="1"/>
            <p:nvPr/>
          </p:nvSpPr>
          <p:spPr>
            <a:xfrm>
              <a:off x="9867" y="8490"/>
              <a:ext cx="8294" cy="841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lnSpc>
                  <a:spcPct val="120000"/>
                </a:lnSpc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按业务维度取数，安全算子执行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求和、差值、比例与最值</a:t>
              </a: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；结果绑定操作数、算式、单位和单元格坐标，随证据交付。</a:t>
              </a:r>
              <a:endPara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70295" y="2014855"/>
            <a:ext cx="5457190" cy="1205865"/>
            <a:chOff x="9717" y="3033"/>
            <a:chExt cx="8594" cy="1899"/>
          </a:xfrm>
        </p:grpSpPr>
        <p:sp>
          <p:nvSpPr>
            <p:cNvPr id="4" name="Rectangle 8"/>
            <p:cNvSpPr/>
            <p:nvPr/>
          </p:nvSpPr>
          <p:spPr>
            <a:xfrm>
              <a:off x="9717" y="3397"/>
              <a:ext cx="8594" cy="1535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6" name="Rectangle 9"/>
            <p:cNvSpPr/>
            <p:nvPr/>
          </p:nvSpPr>
          <p:spPr>
            <a:xfrm>
              <a:off x="9717" y="3033"/>
              <a:ext cx="3871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8" name="TextBox 10"/>
            <p:cNvSpPr txBox="1"/>
            <p:nvPr/>
          </p:nvSpPr>
          <p:spPr>
            <a:xfrm>
              <a:off x="9890" y="3161"/>
              <a:ext cx="3698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8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④ 证据覆盖诊断</a:t>
              </a:r>
              <a:endPara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endParaRPr>
            </a:p>
          </p:txBody>
        </p:sp>
        <p:sp>
          <p:nvSpPr>
            <p:cNvPr id="9" name="TextBox 11"/>
            <p:cNvSpPr txBox="1"/>
            <p:nvPr/>
          </p:nvSpPr>
          <p:spPr>
            <a:xfrm>
              <a:off x="9933" y="3868"/>
              <a:ext cx="8025" cy="841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lnSpc>
                  <a:spcPct val="120000"/>
                </a:lnSpc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CRAG-lite 诊断证据覆盖</a:t>
              </a: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，检查定义、列表、禁止性与兜底条款的缺口；逐项形成补检目标，避免过早作答。</a:t>
              </a:r>
              <a:endPara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169660" y="3484245"/>
            <a:ext cx="5457825" cy="1202055"/>
            <a:chOff x="9716" y="5399"/>
            <a:chExt cx="8595" cy="1893"/>
          </a:xfrm>
        </p:grpSpPr>
        <p:sp>
          <p:nvSpPr>
            <p:cNvPr id="10" name="Rectangle 8"/>
            <p:cNvSpPr/>
            <p:nvPr/>
          </p:nvSpPr>
          <p:spPr>
            <a:xfrm>
              <a:off x="9716" y="5763"/>
              <a:ext cx="8595" cy="1529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11" name="Rectangle 9"/>
            <p:cNvSpPr/>
            <p:nvPr/>
          </p:nvSpPr>
          <p:spPr>
            <a:xfrm>
              <a:off x="9716" y="5399"/>
              <a:ext cx="3871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12" name="TextBox 10"/>
            <p:cNvSpPr txBox="1"/>
            <p:nvPr/>
          </p:nvSpPr>
          <p:spPr>
            <a:xfrm>
              <a:off x="9889" y="5527"/>
              <a:ext cx="3698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8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⑤ HyDE 定向补证</a:t>
              </a:r>
              <a:endPara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endParaRPr>
            </a:p>
          </p:txBody>
        </p:sp>
        <p:sp>
          <p:nvSpPr>
            <p:cNvPr id="13" name="TextBox 11"/>
            <p:cNvSpPr txBox="1"/>
            <p:nvPr/>
          </p:nvSpPr>
          <p:spPr>
            <a:xfrm>
              <a:off x="9932" y="6234"/>
              <a:ext cx="8294" cy="841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lnSpc>
                  <a:spcPct val="120000"/>
                </a:lnSpc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针对缺口生成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假设条款检索线索</a:t>
              </a: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，弥合业务问法与监管术语差异；在预算内补搜真实原文，复核覆盖后汇聚，仍不足则澄清或拒答。</a:t>
              </a:r>
              <a:endPara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74980" y="4844415"/>
            <a:ext cx="5457825" cy="1064895"/>
            <a:chOff x="748" y="7531"/>
            <a:chExt cx="8595" cy="1677"/>
          </a:xfrm>
        </p:grpSpPr>
        <p:sp>
          <p:nvSpPr>
            <p:cNvPr id="14" name="Rectangle 8"/>
            <p:cNvSpPr/>
            <p:nvPr/>
          </p:nvSpPr>
          <p:spPr>
            <a:xfrm>
              <a:off x="748" y="7895"/>
              <a:ext cx="8595" cy="1313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15" name="Rectangle 9"/>
            <p:cNvSpPr/>
            <p:nvPr/>
          </p:nvSpPr>
          <p:spPr>
            <a:xfrm>
              <a:off x="748" y="7531"/>
              <a:ext cx="3871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16" name="TextBox 10"/>
            <p:cNvSpPr txBox="1"/>
            <p:nvPr/>
          </p:nvSpPr>
          <p:spPr>
            <a:xfrm>
              <a:off x="921" y="7659"/>
              <a:ext cx="3698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8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③ 条款与引用定位</a:t>
              </a:r>
              <a:endPara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endParaRPr>
            </a:p>
          </p:txBody>
        </p:sp>
        <p:sp>
          <p:nvSpPr>
            <p:cNvPr id="17" name="TextBox 11"/>
            <p:cNvSpPr txBox="1"/>
            <p:nvPr/>
          </p:nvSpPr>
          <p:spPr>
            <a:xfrm>
              <a:off x="964" y="8366"/>
              <a:ext cx="8294" cy="841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lnSpc>
                  <a:spcPct val="120000"/>
                </a:lnSpc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定义索引直达概念条款，邻接片段补齐语境；解析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“本办法第X条 / 《标题》第X条”</a:t>
              </a: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，沿文内与跨文档引用定位关联依据。</a:t>
              </a:r>
              <a:endPara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37185" y="64833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亮点三：监管语义校验与可信交付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4997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sym typeface="+mn-ea"/>
              </a:rPr>
              <a:t>事实核验与监管语义检查协同，关注数字、引用是否一致，以及结论是否改变规范强度和适用条件。</a:t>
            </a:r>
            <a:endParaRPr sz="1400">
              <a:latin typeface="OPPOSans R" panose="00020600040101010101" charset="-122"/>
              <a:ea typeface="OPPOSans R" panose="00020600040101010101" charset="-122"/>
              <a:sym typeface="+mn-ea"/>
            </a:endParaRPr>
          </a:p>
        </p:txBody>
      </p:sp>
      <p:sp>
        <p:nvSpPr>
          <p:cNvPr id="29" name="Rectangle 6"/>
          <p:cNvSpPr/>
          <p:nvPr/>
        </p:nvSpPr>
        <p:spPr>
          <a:xfrm>
            <a:off x="502920" y="1927860"/>
            <a:ext cx="3611880" cy="54864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8" name="TextBox 7"/>
          <p:cNvSpPr txBox="1"/>
          <p:nvPr/>
        </p:nvSpPr>
        <p:spPr>
          <a:xfrm>
            <a:off x="640080" y="2030477"/>
            <a:ext cx="333756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01  证据受限生成</a:t>
            </a:r>
            <a:endParaRPr sz="20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39" name="Rectangle 8"/>
          <p:cNvSpPr/>
          <p:nvPr/>
        </p:nvSpPr>
        <p:spPr>
          <a:xfrm>
            <a:off x="502920" y="2476500"/>
            <a:ext cx="3611880" cy="263017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0" name="TextBox 9"/>
          <p:cNvSpPr txBox="1"/>
          <p:nvPr/>
        </p:nvSpPr>
        <p:spPr>
          <a:xfrm>
            <a:off x="667385" y="2613660"/>
            <a:ext cx="3382645" cy="21342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证据约束：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围绕真实检索原文组织结论，逐项关联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引用标签与原文摘录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原文可定位：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返回文档、章节、条款、工作表与单元格坐标，支持业务复核。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计算可复算：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绑定操作数、算式与单位，数值结论可回到原表复算。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异常可修复：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核对引用一致性，触发引用修复、受限再生成或摘录式降级。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41" name="Rectangle 10"/>
          <p:cNvSpPr/>
          <p:nvPr/>
        </p:nvSpPr>
        <p:spPr>
          <a:xfrm>
            <a:off x="4288536" y="1927860"/>
            <a:ext cx="3611880" cy="548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2" name="TextBox 11"/>
          <p:cNvSpPr txBox="1"/>
          <p:nvPr/>
        </p:nvSpPr>
        <p:spPr>
          <a:xfrm>
            <a:off x="4425696" y="2030477"/>
            <a:ext cx="333756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02  事实与监管语义校验</a:t>
            </a:r>
            <a:endParaRPr sz="20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43" name="Rectangle 12"/>
          <p:cNvSpPr/>
          <p:nvPr/>
        </p:nvSpPr>
        <p:spPr>
          <a:xfrm>
            <a:off x="4288790" y="2476500"/>
            <a:ext cx="3611880" cy="263017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4" name="TextBox 13"/>
          <p:cNvSpPr txBox="1"/>
          <p:nvPr/>
        </p:nvSpPr>
        <p:spPr>
          <a:xfrm>
            <a:off x="4453127" y="2613660"/>
            <a:ext cx="3291840" cy="187579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事实核对：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检查数字、日期、机构与文号是否与证据一致。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语义框架：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联合检查主体、规范强度、条件、例外及适用范围。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校验示意：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“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条件A下可以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”误写为“</a:t>
            </a: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所有机构应当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”。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偏移识别：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检查条件遗漏、主体扩大和义务强度改变。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45" name="Rectangle 14"/>
          <p:cNvSpPr/>
          <p:nvPr/>
        </p:nvSpPr>
        <p:spPr>
          <a:xfrm>
            <a:off x="8074151" y="1927860"/>
            <a:ext cx="361188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6" name="TextBox 15"/>
          <p:cNvSpPr txBox="1"/>
          <p:nvPr/>
        </p:nvSpPr>
        <p:spPr>
          <a:xfrm>
            <a:off x="8211311" y="2030477"/>
            <a:ext cx="333756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03  风险边界与审计追踪</a:t>
            </a:r>
            <a:endParaRPr sz="20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47" name="Rectangle 16"/>
          <p:cNvSpPr/>
          <p:nvPr/>
        </p:nvSpPr>
        <p:spPr>
          <a:xfrm>
            <a:off x="8074025" y="2476500"/>
            <a:ext cx="3611880" cy="263017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8" name="TextBox 17"/>
          <p:cNvSpPr txBox="1"/>
          <p:nvPr/>
        </p:nvSpPr>
        <p:spPr>
          <a:xfrm>
            <a:off x="8238743" y="2613660"/>
            <a:ext cx="3291840" cy="15144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证据边界：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依据不足、范围不明或资料冲突时，澄清或结构化拒答。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原因可解释：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指出证据缺口与待补材料，为人工复核提供明确线索。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过程可追踪：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关联答案、引用来源与处理状态，支持审计和问题定位。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质量可验证：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通过固定题集回归检验问答质量与拒答边界。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502920" y="5219700"/>
            <a:ext cx="11182350" cy="612000"/>
            <a:chOff x="792" y="7776"/>
            <a:chExt cx="17610" cy="1440"/>
          </a:xfrm>
        </p:grpSpPr>
        <p:sp>
          <p:nvSpPr>
            <p:cNvPr id="49" name="Rectangle 18"/>
            <p:cNvSpPr/>
            <p:nvPr/>
          </p:nvSpPr>
          <p:spPr>
            <a:xfrm>
              <a:off x="792" y="7776"/>
              <a:ext cx="17611" cy="1440"/>
            </a:xfrm>
            <a:prstGeom prst="rect">
              <a:avLst/>
            </a:prstGeom>
            <a:solidFill>
              <a:srgbClr val="FB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50" name="Rectangle 19"/>
            <p:cNvSpPr/>
            <p:nvPr/>
          </p:nvSpPr>
          <p:spPr>
            <a:xfrm>
              <a:off x="792" y="7776"/>
              <a:ext cx="130" cy="144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</p:grpSp>
      <p:sp>
        <p:nvSpPr>
          <p:cNvPr id="51" name="TextBox 20"/>
          <p:cNvSpPr txBox="1"/>
          <p:nvPr/>
        </p:nvSpPr>
        <p:spPr>
          <a:xfrm>
            <a:off x="653415" y="5392420"/>
            <a:ext cx="1098423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6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可信交付：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同时核对</a:t>
            </a:r>
            <a:r>
              <a:rPr sz="16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事实一致性与监管含义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，保留依据和处理记录，让答案能够被业务人员复核。</a:t>
            </a:r>
            <a:endParaRPr sz="16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52" name="Rectangle 5"/>
          <p:cNvSpPr/>
          <p:nvPr/>
        </p:nvSpPr>
        <p:spPr>
          <a:xfrm>
            <a:off x="502920" y="1840230"/>
            <a:ext cx="1119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04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测评结果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37185" y="64833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测评验证：官方任务与开放场景双层评估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官方 300 道选择题 + 自建 200 道开放题，分别验证赛题任务与制度事实、表格计算、来源覆盖及拒答边界。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52" name="Rectangle 5"/>
          <p:cNvSpPr/>
          <p:nvPr/>
        </p:nvSpPr>
        <p:spPr>
          <a:xfrm>
            <a:off x="502920" y="1840230"/>
            <a:ext cx="1119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" name="Rectangle 6"/>
          <p:cNvSpPr/>
          <p:nvPr/>
        </p:nvSpPr>
        <p:spPr>
          <a:xfrm>
            <a:off x="511810" y="1939290"/>
            <a:ext cx="3840480" cy="50292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52290" y="1939290"/>
            <a:ext cx="2377440" cy="50292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729730" y="1939290"/>
            <a:ext cx="4949825" cy="50292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1810" y="2442210"/>
            <a:ext cx="384048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538" y="2609152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官方 300 题准确率</a:t>
            </a:r>
            <a:endParaRPr sz="14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4" name="Rectangle 14"/>
          <p:cNvSpPr/>
          <p:nvPr/>
        </p:nvSpPr>
        <p:spPr>
          <a:xfrm>
            <a:off x="4352290" y="2442210"/>
            <a:ext cx="237744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018" y="2624709"/>
            <a:ext cx="2157984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—</a:t>
            </a:r>
            <a:endParaRPr sz="1200" b="0">
              <a:solidFill>
                <a:schemeClr val="tx1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29730" y="2442210"/>
            <a:ext cx="4949825" cy="567055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810" y="3009138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538" y="3176080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制度事实类准确率</a:t>
            </a:r>
            <a:endParaRPr sz="14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352290" y="3009138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018" y="3176080"/>
            <a:ext cx="215798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≥85%</a:t>
            </a:r>
            <a:endParaRPr sz="1400" b="0">
              <a:solidFill>
                <a:srgbClr val="595959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29730" y="3009265"/>
            <a:ext cx="4949825" cy="56705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1810" y="3576066"/>
            <a:ext cx="384048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538" y="3743008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表格取数 / 计算准确率</a:t>
            </a:r>
            <a:endParaRPr sz="14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352290" y="3576066"/>
            <a:ext cx="237744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018" y="3743008"/>
            <a:ext cx="215798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  <a:buClrTx/>
              <a:buSzTx/>
              <a:buFontTx/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≥80%</a:t>
            </a:r>
            <a:endParaRPr sz="1400" b="0">
              <a:solidFill>
                <a:srgbClr val="595959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6" name="Rectangle 28"/>
          <p:cNvSpPr/>
          <p:nvPr/>
        </p:nvSpPr>
        <p:spPr>
          <a:xfrm>
            <a:off x="6729730" y="3576320"/>
            <a:ext cx="4949825" cy="567055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1810" y="4142994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538" y="4309936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证据来源覆盖率（文件级）</a:t>
            </a:r>
            <a:endParaRPr sz="14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352290" y="4142994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2018" y="4309936"/>
            <a:ext cx="215798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  <a:buClrTx/>
              <a:buSzTx/>
              <a:buFontTx/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≥90%</a:t>
            </a:r>
            <a:endParaRPr sz="1400" b="0">
              <a:solidFill>
                <a:srgbClr val="595959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729730" y="4142740"/>
            <a:ext cx="4949825" cy="56705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1810" y="4709922"/>
            <a:ext cx="384048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3" name="TextBox 37"/>
          <p:cNvSpPr txBox="1"/>
          <p:nvPr/>
        </p:nvSpPr>
        <p:spPr>
          <a:xfrm>
            <a:off x="621538" y="4876864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关键数字 / 日期 / 机构 / 文号错误率</a:t>
            </a:r>
            <a:endParaRPr sz="14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54" name="Rectangle 38"/>
          <p:cNvSpPr/>
          <p:nvPr/>
        </p:nvSpPr>
        <p:spPr>
          <a:xfrm>
            <a:off x="4352290" y="4709922"/>
            <a:ext cx="237744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6" name="TextBox 39"/>
          <p:cNvSpPr txBox="1"/>
          <p:nvPr/>
        </p:nvSpPr>
        <p:spPr>
          <a:xfrm>
            <a:off x="4462018" y="4876864"/>
            <a:ext cx="215798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  <a:buClrTx/>
              <a:buSzTx/>
              <a:buFontTx/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≤5%</a:t>
            </a:r>
            <a:endParaRPr sz="1400" b="0">
              <a:solidFill>
                <a:srgbClr val="595959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57" name="Rectangle 40"/>
          <p:cNvSpPr/>
          <p:nvPr/>
        </p:nvSpPr>
        <p:spPr>
          <a:xfrm>
            <a:off x="6729730" y="4709795"/>
            <a:ext cx="4949825" cy="567055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9" name="Rectangle 42"/>
          <p:cNvSpPr/>
          <p:nvPr/>
        </p:nvSpPr>
        <p:spPr>
          <a:xfrm>
            <a:off x="511810" y="5276850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0" name="TextBox 43"/>
          <p:cNvSpPr txBox="1"/>
          <p:nvPr/>
        </p:nvSpPr>
        <p:spPr>
          <a:xfrm>
            <a:off x="621538" y="5443792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应拒答题处理正确率</a:t>
            </a:r>
            <a:endParaRPr sz="14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61" name="Rectangle 44"/>
          <p:cNvSpPr/>
          <p:nvPr/>
        </p:nvSpPr>
        <p:spPr>
          <a:xfrm>
            <a:off x="4352290" y="527685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2" name="TextBox 45"/>
          <p:cNvSpPr txBox="1"/>
          <p:nvPr/>
        </p:nvSpPr>
        <p:spPr>
          <a:xfrm>
            <a:off x="4462018" y="5443792"/>
            <a:ext cx="215798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  <a:buClrTx/>
              <a:buSzTx/>
              <a:buFontTx/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≥80%</a:t>
            </a:r>
            <a:endParaRPr sz="1400" b="0">
              <a:solidFill>
                <a:srgbClr val="595959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63" name="Rectangle 46"/>
          <p:cNvSpPr/>
          <p:nvPr/>
        </p:nvSpPr>
        <p:spPr>
          <a:xfrm>
            <a:off x="6729730" y="5276850"/>
            <a:ext cx="4949825" cy="56705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2" name="TextBox 7"/>
          <p:cNvSpPr txBox="1"/>
          <p:nvPr/>
        </p:nvSpPr>
        <p:spPr>
          <a:xfrm>
            <a:off x="511810" y="2047240"/>
            <a:ext cx="384048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ctr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指标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73" name="TextBox 9"/>
          <p:cNvSpPr txBox="1"/>
          <p:nvPr/>
        </p:nvSpPr>
        <p:spPr>
          <a:xfrm>
            <a:off x="4352290" y="2047240"/>
            <a:ext cx="237744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ctr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赛题要求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8" name="TextBox 17"/>
          <p:cNvSpPr txBox="1"/>
          <p:nvPr/>
        </p:nvSpPr>
        <p:spPr>
          <a:xfrm>
            <a:off x="6839458" y="2609152"/>
            <a:ext cx="3986783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300/300（100%），0 运行错误</a:t>
            </a:r>
            <a:endParaRPr sz="1400">
              <a:solidFill>
                <a:srgbClr val="CE0000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10" name="TextBox 23"/>
          <p:cNvSpPr txBox="1"/>
          <p:nvPr/>
        </p:nvSpPr>
        <p:spPr>
          <a:xfrm>
            <a:off x="6839458" y="3176080"/>
            <a:ext cx="3986783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99/112（88.4%）</a:t>
            </a:r>
            <a:endParaRPr sz="1400">
              <a:solidFill>
                <a:srgbClr val="CE0000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12" name="TextBox 29"/>
          <p:cNvSpPr txBox="1"/>
          <p:nvPr/>
        </p:nvSpPr>
        <p:spPr>
          <a:xfrm>
            <a:off x="6839585" y="3743008"/>
            <a:ext cx="5010785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取数 20/20，计算 20/20，合计 100%</a:t>
            </a:r>
            <a:endParaRPr sz="1400">
              <a:solidFill>
                <a:srgbClr val="CE0000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29" name="TextBox 35"/>
          <p:cNvSpPr txBox="1"/>
          <p:nvPr/>
        </p:nvSpPr>
        <p:spPr>
          <a:xfrm>
            <a:off x="6839585" y="4310063"/>
            <a:ext cx="476631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149/160（93.1%，来源文件级）</a:t>
            </a:r>
            <a:endParaRPr sz="1400">
              <a:solidFill>
                <a:srgbClr val="CE0000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38" name="TextBox 41"/>
          <p:cNvSpPr txBox="1"/>
          <p:nvPr/>
        </p:nvSpPr>
        <p:spPr>
          <a:xfrm>
            <a:off x="6839458" y="4876864"/>
            <a:ext cx="3986783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2.4%（2026-08-05 专项统计）</a:t>
            </a:r>
            <a:endParaRPr sz="1400">
              <a:solidFill>
                <a:srgbClr val="CE0000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40" name="TextBox 11"/>
          <p:cNvSpPr txBox="1"/>
          <p:nvPr/>
        </p:nvSpPr>
        <p:spPr>
          <a:xfrm>
            <a:off x="6729730" y="2047240"/>
            <a:ext cx="420624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ctr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实测结果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42" name="TextBox 47"/>
          <p:cNvSpPr txBox="1"/>
          <p:nvPr/>
        </p:nvSpPr>
        <p:spPr>
          <a:xfrm>
            <a:off x="6839458" y="5443792"/>
            <a:ext cx="3986783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40/40（100%，预设应拒答题）</a:t>
            </a:r>
            <a:endParaRPr sz="1400">
              <a:solidFill>
                <a:srgbClr val="CE0000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95" name="Rectangle 26"/>
          <p:cNvSpPr/>
          <p:nvPr/>
        </p:nvSpPr>
        <p:spPr>
          <a:xfrm>
            <a:off x="502920" y="5951220"/>
            <a:ext cx="11183112" cy="685800"/>
          </a:xfrm>
          <a:prstGeom prst="rect">
            <a:avLst/>
          </a:prstGeom>
          <a:solidFill>
            <a:srgbClr val="FB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6" name="Rectangle 27"/>
          <p:cNvSpPr/>
          <p:nvPr/>
        </p:nvSpPr>
        <p:spPr>
          <a:xfrm>
            <a:off x="502920" y="5951220"/>
            <a:ext cx="82296" cy="685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7" name="TextBox 28"/>
          <p:cNvSpPr txBox="1"/>
          <p:nvPr/>
        </p:nvSpPr>
        <p:spPr>
          <a:xfrm>
            <a:off x="674370" y="6160135"/>
            <a:ext cx="1095057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开放题最终回归：</a:t>
            </a:r>
            <a:r>
              <a:rPr sz="18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181/200（90.5%）</a:t>
            </a:r>
            <a:r>
              <a:rPr sz="18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，0 运行错误。</a:t>
            </a:r>
            <a:r>
              <a:rPr sz="18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除实体错误率外，采用 2026-10-02 记录。</a:t>
            </a:r>
            <a:endParaRPr sz="18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37185" y="64833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业务案例：季度指标差值查询的可核验闭环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4997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基于真实回归案例，展示表格问题如何完成业务口径识别、证据定位、程序计算和可追溯答复。</a:t>
            </a:r>
            <a:endParaRPr sz="14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52" name="Rectangle 5"/>
          <p:cNvSpPr/>
          <p:nvPr/>
        </p:nvSpPr>
        <p:spPr>
          <a:xfrm>
            <a:off x="502920" y="1840230"/>
            <a:ext cx="1119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5" name="Rectangle 6"/>
          <p:cNvSpPr/>
          <p:nvPr/>
        </p:nvSpPr>
        <p:spPr>
          <a:xfrm>
            <a:off x="502920" y="1916430"/>
            <a:ext cx="1737360" cy="7132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6" name="TextBox 7"/>
          <p:cNvSpPr txBox="1"/>
          <p:nvPr/>
        </p:nvSpPr>
        <p:spPr>
          <a:xfrm>
            <a:off x="566928" y="2116582"/>
            <a:ext cx="1609344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业务提问</a:t>
            </a:r>
            <a:endParaRPr sz="18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77" name="Rectangle 8"/>
          <p:cNvSpPr/>
          <p:nvPr/>
        </p:nvSpPr>
        <p:spPr>
          <a:xfrm>
            <a:off x="2240280" y="1916430"/>
            <a:ext cx="9445752" cy="7132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8" name="TextBox 9"/>
          <p:cNvSpPr txBox="1"/>
          <p:nvPr/>
        </p:nvSpPr>
        <p:spPr>
          <a:xfrm>
            <a:off x="2423160" y="2132140"/>
            <a:ext cx="914400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6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2025 年农村商业银行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三季度与二季度的</a:t>
            </a:r>
            <a:r>
              <a:rPr sz="16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不良贷款余额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相差多少？</a:t>
            </a:r>
            <a:endParaRPr sz="16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79" name="Rectangle 10"/>
          <p:cNvSpPr/>
          <p:nvPr/>
        </p:nvSpPr>
        <p:spPr>
          <a:xfrm>
            <a:off x="502920" y="2721102"/>
            <a:ext cx="1737360" cy="713232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0" name="TextBox 11"/>
          <p:cNvSpPr txBox="1"/>
          <p:nvPr/>
        </p:nvSpPr>
        <p:spPr>
          <a:xfrm>
            <a:off x="566928" y="2921254"/>
            <a:ext cx="1609344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识别口径</a:t>
            </a:r>
            <a:endParaRPr sz="18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81" name="Rectangle 12"/>
          <p:cNvSpPr/>
          <p:nvPr/>
        </p:nvSpPr>
        <p:spPr>
          <a:xfrm>
            <a:off x="2240280" y="2721102"/>
            <a:ext cx="9445752" cy="7132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2" name="TextBox 13"/>
          <p:cNvSpPr txBox="1"/>
          <p:nvPr/>
        </p:nvSpPr>
        <p:spPr>
          <a:xfrm>
            <a:off x="2423160" y="2936812"/>
            <a:ext cx="914400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机构：</a:t>
            </a:r>
            <a:r>
              <a:rPr sz="16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农村商业银行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；指标：</a:t>
            </a:r>
            <a:r>
              <a:rPr sz="16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不良贷款余额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；期间：</a:t>
            </a:r>
            <a:r>
              <a:rPr sz="16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2025 年二、三季度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；运算：</a:t>
            </a:r>
            <a:r>
              <a:rPr sz="16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三季度 − 二季度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。</a:t>
            </a:r>
            <a:endParaRPr sz="16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83" name="Rectangle 14"/>
          <p:cNvSpPr/>
          <p:nvPr/>
        </p:nvSpPr>
        <p:spPr>
          <a:xfrm>
            <a:off x="502920" y="3525774"/>
            <a:ext cx="1737360" cy="713232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4" name="TextBox 15"/>
          <p:cNvSpPr txBox="1"/>
          <p:nvPr/>
        </p:nvSpPr>
        <p:spPr>
          <a:xfrm>
            <a:off x="566928" y="3725926"/>
            <a:ext cx="1609344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定位证据</a:t>
            </a:r>
            <a:endParaRPr sz="18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85" name="Rectangle 16"/>
          <p:cNvSpPr/>
          <p:nvPr/>
        </p:nvSpPr>
        <p:spPr>
          <a:xfrm>
            <a:off x="2240280" y="3525774"/>
            <a:ext cx="9445752" cy="7132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6" name="TextBox 17"/>
          <p:cNvSpPr txBox="1"/>
          <p:nvPr/>
        </p:nvSpPr>
        <p:spPr>
          <a:xfrm>
            <a:off x="2423160" y="3741484"/>
            <a:ext cx="914400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《2025年商业银行主要指标分机构类情况表（季度）》</a:t>
            </a:r>
            <a:endParaRPr sz="16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6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工作表：商业银行分机构类情况表；单元格：G27（三季度）、G16（二季度）；单位：亿元。</a:t>
            </a:r>
            <a:endParaRPr sz="16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87" name="Rectangle 18"/>
          <p:cNvSpPr/>
          <p:nvPr/>
        </p:nvSpPr>
        <p:spPr>
          <a:xfrm>
            <a:off x="502920" y="4330446"/>
            <a:ext cx="1737360" cy="713232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8" name="TextBox 19"/>
          <p:cNvSpPr txBox="1"/>
          <p:nvPr/>
        </p:nvSpPr>
        <p:spPr>
          <a:xfrm>
            <a:off x="566928" y="4530598"/>
            <a:ext cx="1609344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程序计算</a:t>
            </a:r>
            <a:endParaRPr sz="18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89" name="Rectangle 20"/>
          <p:cNvSpPr/>
          <p:nvPr/>
        </p:nvSpPr>
        <p:spPr>
          <a:xfrm>
            <a:off x="2240280" y="4330446"/>
            <a:ext cx="9445752" cy="7132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0" name="TextBox 21"/>
          <p:cNvSpPr txBox="1"/>
          <p:nvPr/>
        </p:nvSpPr>
        <p:spPr>
          <a:xfrm>
            <a:off x="2423160" y="4546156"/>
            <a:ext cx="914400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6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G27 − G16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 = 8274.705191 − 8051.364405 = </a:t>
            </a:r>
            <a:r>
              <a:rPr sz="16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223.340786 亿元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；由安全算子执行，保留操作数。</a:t>
            </a:r>
            <a:endParaRPr sz="16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91" name="Rectangle 22"/>
          <p:cNvSpPr/>
          <p:nvPr/>
        </p:nvSpPr>
        <p:spPr>
          <a:xfrm>
            <a:off x="502920" y="5135118"/>
            <a:ext cx="1737360" cy="713232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2" name="TextBox 23"/>
          <p:cNvSpPr txBox="1"/>
          <p:nvPr/>
        </p:nvSpPr>
        <p:spPr>
          <a:xfrm>
            <a:off x="566928" y="5335270"/>
            <a:ext cx="1609344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可信交付</a:t>
            </a:r>
            <a:endParaRPr sz="18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93" name="Rectangle 24"/>
          <p:cNvSpPr/>
          <p:nvPr/>
        </p:nvSpPr>
        <p:spPr>
          <a:xfrm>
            <a:off x="2240280" y="5135118"/>
            <a:ext cx="9445752" cy="7132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4" name="TextBox 25"/>
          <p:cNvSpPr txBox="1"/>
          <p:nvPr/>
        </p:nvSpPr>
        <p:spPr>
          <a:xfrm>
            <a:off x="2423160" y="5350828"/>
            <a:ext cx="914400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答复：</a:t>
            </a:r>
            <a:r>
              <a:rPr sz="16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三季度较二季度增加 223.340786 亿元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；同步交付</a:t>
            </a:r>
            <a:r>
              <a:rPr sz="16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算式、单位、文件、工作表与单元格坐标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。</a:t>
            </a:r>
            <a:endParaRPr sz="16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101" name="TextBox 50"/>
          <p:cNvSpPr txBox="1"/>
          <p:nvPr/>
        </p:nvSpPr>
        <p:spPr>
          <a:xfrm>
            <a:off x="11384280" y="6748780"/>
            <a:ext cx="6400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r">
              <a:spcAft>
                <a:spcPts val="400"/>
              </a:spcAft>
            </a:pPr>
          </a:p>
        </p:txBody>
      </p:sp>
      <p:sp>
        <p:nvSpPr>
          <p:cNvPr id="102" name="Rectangle 26"/>
          <p:cNvSpPr/>
          <p:nvPr/>
        </p:nvSpPr>
        <p:spPr>
          <a:xfrm>
            <a:off x="502920" y="5951220"/>
            <a:ext cx="11183112" cy="685800"/>
          </a:xfrm>
          <a:prstGeom prst="rect">
            <a:avLst/>
          </a:prstGeom>
          <a:solidFill>
            <a:srgbClr val="FB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3" name="Rectangle 27"/>
          <p:cNvSpPr/>
          <p:nvPr/>
        </p:nvSpPr>
        <p:spPr>
          <a:xfrm>
            <a:off x="502920" y="5951220"/>
            <a:ext cx="82296" cy="685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" name="TextBox 28"/>
          <p:cNvSpPr txBox="1"/>
          <p:nvPr/>
        </p:nvSpPr>
        <p:spPr>
          <a:xfrm>
            <a:off x="674370" y="6160135"/>
            <a:ext cx="1095057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一次业务提问，贯通</a:t>
            </a:r>
            <a:r>
              <a:rPr sz="18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知识定位 → 结构化取数 → 程序计算 → 证据交付</a:t>
            </a:r>
            <a:r>
              <a:rPr sz="18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，支持业务人员复算与核验。</a:t>
            </a:r>
            <a:endParaRPr sz="18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R" panose="0002060004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05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性能与稳定性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04800" y="58737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工程验证：CPU/GPU部署适配与稳定性保障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4997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CPU/GPU 双配置成对实验：两轮各 500 题（300+200），均为 0 运行错误（2026-08-05）。</a:t>
            </a:r>
            <a:endParaRPr sz="14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52" name="Rectangle 5"/>
          <p:cNvSpPr/>
          <p:nvPr/>
        </p:nvSpPr>
        <p:spPr>
          <a:xfrm>
            <a:off x="502920" y="1840230"/>
            <a:ext cx="1119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" name="TextBox 6"/>
          <p:cNvSpPr txBox="1"/>
          <p:nvPr/>
        </p:nvSpPr>
        <p:spPr>
          <a:xfrm>
            <a:off x="502920" y="1903730"/>
            <a:ext cx="6400800" cy="26352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6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单轮问答实测（串行，RTX 5070 Laptop / Ryzen 9 8945HX）</a:t>
            </a:r>
            <a:endParaRPr sz="16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2201418"/>
            <a:ext cx="2651760" cy="45720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4680" y="2201418"/>
            <a:ext cx="1417320" cy="45720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201418"/>
            <a:ext cx="1417320" cy="45720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58618"/>
            <a:ext cx="2651760" cy="5029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" name="TextBox 14"/>
          <p:cNvSpPr txBox="1"/>
          <p:nvPr/>
        </p:nvSpPr>
        <p:spPr>
          <a:xfrm>
            <a:off x="502920" y="2788983"/>
            <a:ext cx="265176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官方 300 题（选择题）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154680" y="2658618"/>
            <a:ext cx="1417320" cy="5029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2788983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</a:rPr>
              <a:t>7.03 s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0" y="2658618"/>
            <a:ext cx="1417320" cy="5029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788983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</a:rPr>
              <a:t>0.54 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</a:rPr>
              <a:t>s</a:t>
            </a:r>
            <a:endParaRPr sz="14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3161538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91904"/>
            <a:ext cx="265176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自命题 200 题（开放问答）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154680" y="3161538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3291904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</a:rPr>
              <a:t>28.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</a:rPr>
              <a:t>4 </a:t>
            </a:r>
            <a:r>
              <a: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</a:rPr>
              <a:t>s</a:t>
            </a:r>
            <a:endParaRPr sz="14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0" y="3161538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291904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</a:rPr>
              <a:t>17.9 s</a:t>
            </a:r>
            <a:endParaRPr sz="14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3681729"/>
            <a:ext cx="6400800" cy="14128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双引擎分工：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检索、重排与表格计算本地执行，复杂文本按需调用模型。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GPU 加速：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历史开放题平均 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28.4s 降至 17.9s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，约 1.6 倍；长尾受外部 API 波动影响。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离线与在线分工：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知识构建独立执行，在线服务复用索引，支持持续维护。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236460" y="1974850"/>
            <a:ext cx="4462145" cy="311975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7" y="2110740"/>
            <a:ext cx="402336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部署、稳定与运行保障</a:t>
            </a:r>
            <a:endParaRPr sz="1500" b="1">
              <a:solidFill>
                <a:srgbClr val="1F38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24927" y="2435098"/>
            <a:ext cx="4069080" cy="5715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2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部署适配：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Docker CPU/GPU 双配置；候选预算 CPU 12 / GPU 24，10 月 GPU 重排微基准约 0.30–0.53s。</a:t>
            </a:r>
            <a:endParaRPr sz="12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24927" y="3116453"/>
            <a:ext cx="4069080" cy="5715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2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并发稳定：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锁优化与瞬态重试；历史 4 个 worker 处理 40 题的并发测试，0 运行错误。</a:t>
            </a:r>
            <a:endParaRPr sz="12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24927" y="3797808"/>
            <a:ext cx="4069080" cy="5715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2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故障恢复：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规划超时降级、外部调用重试；SQLite WAL 容错与 busy timeout 缓解存储异常。</a:t>
            </a:r>
            <a:endParaRPr sz="12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425055" y="4479163"/>
            <a:ext cx="4204970" cy="5715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▪ </a:t>
            </a:r>
            <a:r>
              <a:rPr sz="12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过程可观测：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展示阶段进度、已核验内容与引用，关联诊断记录，支持业务复核和异常定位。</a:t>
            </a:r>
            <a:endParaRPr sz="12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02920" y="5215890"/>
            <a:ext cx="11183112" cy="548640"/>
          </a:xfrm>
          <a:prstGeom prst="rect">
            <a:avLst/>
          </a:prstGeom>
          <a:solidFill>
            <a:srgbClr val="FB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349304"/>
            <a:ext cx="1069848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6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知识构建：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500 份文件解析、切分与持久化约 34 分钟；离线构建、在线问答分工，支持知识更新与环境复现。</a:t>
            </a:r>
            <a:endParaRPr sz="16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40" name="TextBox 12"/>
          <p:cNvSpPr txBox="1"/>
          <p:nvPr/>
        </p:nvSpPr>
        <p:spPr>
          <a:xfrm>
            <a:off x="4572000" y="2291334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GPU 平均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41" name="TextBox 8"/>
          <p:cNvSpPr txBox="1"/>
          <p:nvPr/>
        </p:nvSpPr>
        <p:spPr>
          <a:xfrm>
            <a:off x="502920" y="2291969"/>
            <a:ext cx="265176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ctr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评测集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42" name="TextBox 10"/>
          <p:cNvSpPr txBox="1"/>
          <p:nvPr/>
        </p:nvSpPr>
        <p:spPr>
          <a:xfrm>
            <a:off x="3154680" y="2291969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CPU 平均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06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落地价值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23215" y="608330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落地价值：构建银行可复用的监管知识服务底座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面向合规、报送与审计岗位，将带依据的制度答复、可复算的指标结果与处理记录嵌入日常业务流程。</a:t>
            </a:r>
            <a:endParaRPr sz="14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52" name="Rectangle 5"/>
          <p:cNvSpPr/>
          <p:nvPr/>
        </p:nvSpPr>
        <p:spPr>
          <a:xfrm>
            <a:off x="502920" y="1840230"/>
            <a:ext cx="11124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3" name="Rectangle 22"/>
          <p:cNvSpPr/>
          <p:nvPr/>
        </p:nvSpPr>
        <p:spPr>
          <a:xfrm>
            <a:off x="393700" y="5092700"/>
            <a:ext cx="11313160" cy="82296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4" name="TextBox 23"/>
          <p:cNvSpPr txBox="1"/>
          <p:nvPr/>
        </p:nvSpPr>
        <p:spPr>
          <a:xfrm>
            <a:off x="472440" y="5310823"/>
            <a:ext cx="11442700" cy="38671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rPr>
              <a:t>建议推广路径：</a:t>
            </a:r>
            <a:r>
              <a:rPr sz="24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rPr>
              <a:t>合规查询试点</a:t>
            </a:r>
            <a:r>
              <a:rPr sz="2000" b="1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rPr>
              <a:t> → </a:t>
            </a:r>
            <a:r>
              <a:rPr sz="24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rPr>
              <a:t>内规与报送附件扩展</a:t>
            </a:r>
            <a:r>
              <a:rPr sz="2000" b="1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rPr>
              <a:t> → </a:t>
            </a:r>
            <a:r>
              <a:rPr sz="24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rPr>
              <a:t>业务门户集成</a:t>
            </a:r>
            <a:endParaRPr sz="2400">
              <a:solidFill>
                <a:srgbClr val="F0C800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37870" y="1988185"/>
            <a:ext cx="3401695" cy="3031490"/>
            <a:chOff x="812" y="3129"/>
            <a:chExt cx="5357" cy="4774"/>
          </a:xfrm>
        </p:grpSpPr>
        <p:sp>
          <p:nvSpPr>
            <p:cNvPr id="13" name="Rectangle 7"/>
            <p:cNvSpPr/>
            <p:nvPr/>
          </p:nvSpPr>
          <p:spPr>
            <a:xfrm>
              <a:off x="812" y="3129"/>
              <a:ext cx="5357" cy="477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E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33" name="Rectangle 8"/>
            <p:cNvSpPr/>
            <p:nvPr/>
          </p:nvSpPr>
          <p:spPr>
            <a:xfrm>
              <a:off x="812" y="3129"/>
              <a:ext cx="5357" cy="1224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>
                <a:solidFill>
                  <a:srgbClr val="195CC4"/>
                </a:solidFill>
              </a:endParaRPr>
            </a:p>
          </p:txBody>
        </p:sp>
        <p:sp>
          <p:nvSpPr>
            <p:cNvPr id="38" name="TextBox 11"/>
            <p:cNvSpPr txBox="1"/>
            <p:nvPr/>
          </p:nvSpPr>
          <p:spPr>
            <a:xfrm>
              <a:off x="1100" y="4459"/>
              <a:ext cx="4824" cy="3280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合规岗：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查询条款、适用条件与例外，交付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结论及原文依据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，辅助业务判断。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报送岗：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核对指标、期间与单位，交付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可复算结果及坐标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，减少口径核对。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审计岗：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复核结论和原始依据，通过问答记录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追踪来源与处理过程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。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</p:txBody>
        </p:sp>
        <p:sp>
          <p:nvSpPr>
            <p:cNvPr id="68" name="TextBox 9"/>
            <p:cNvSpPr txBox="1"/>
            <p:nvPr/>
          </p:nvSpPr>
          <p:spPr>
            <a:xfrm>
              <a:off x="1071" y="3201"/>
              <a:ext cx="4896" cy="512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>
                <a:spcAft>
                  <a:spcPts val="400"/>
                </a:spcAft>
              </a:pPr>
              <a:r>
                <a:rPr sz="20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</a:rPr>
                <a:t>业务价值</a:t>
              </a:r>
              <a:endPara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endParaRPr>
            </a:p>
          </p:txBody>
        </p:sp>
        <p:sp>
          <p:nvSpPr>
            <p:cNvPr id="69" name="TextBox 10"/>
            <p:cNvSpPr txBox="1"/>
            <p:nvPr/>
          </p:nvSpPr>
          <p:spPr>
            <a:xfrm>
              <a:off x="1071" y="3849"/>
              <a:ext cx="4896" cy="367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>
                <a:spcAft>
                  <a:spcPts val="400"/>
                </a:spcAft>
              </a:pPr>
              <a:r>
                <a:rPr sz="14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rPr>
                <a:t>岗位明确，成果可复核</a:t>
              </a:r>
              <a:endParaRPr sz="14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366895" y="1987550"/>
            <a:ext cx="3401695" cy="3031490"/>
            <a:chOff x="6442" y="3129"/>
            <a:chExt cx="5357" cy="4774"/>
          </a:xfrm>
        </p:grpSpPr>
        <p:sp>
          <p:nvSpPr>
            <p:cNvPr id="39" name="Rectangle 12"/>
            <p:cNvSpPr/>
            <p:nvPr/>
          </p:nvSpPr>
          <p:spPr>
            <a:xfrm>
              <a:off x="6442" y="3129"/>
              <a:ext cx="5357" cy="477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E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43" name="Rectangle 13"/>
            <p:cNvSpPr/>
            <p:nvPr/>
          </p:nvSpPr>
          <p:spPr>
            <a:xfrm>
              <a:off x="6442" y="3129"/>
              <a:ext cx="5357" cy="1224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>
                <a:solidFill>
                  <a:srgbClr val="195CC4"/>
                </a:solidFill>
              </a:endParaRPr>
            </a:p>
          </p:txBody>
        </p:sp>
        <p:sp>
          <p:nvSpPr>
            <p:cNvPr id="46" name="TextBox 16"/>
            <p:cNvSpPr txBox="1"/>
            <p:nvPr/>
          </p:nvSpPr>
          <p:spPr>
            <a:xfrm>
              <a:off x="6730" y="4459"/>
              <a:ext cx="4824" cy="3280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组件复用：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解析、检索、计算与校验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统一服务，便于接入内部制度与统计附件。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部署适配：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Docker + CPU/GPU 双配置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，本地处理与外部模型协同。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接口集成：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通过 API 对接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业务门户与工作台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，形成可复用的知识服务入口。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</p:txBody>
        </p:sp>
        <p:sp>
          <p:nvSpPr>
            <p:cNvPr id="70" name="TextBox 14"/>
            <p:cNvSpPr txBox="1"/>
            <p:nvPr/>
          </p:nvSpPr>
          <p:spPr>
            <a:xfrm>
              <a:off x="6702" y="3201"/>
              <a:ext cx="4896" cy="512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20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技术价值</a:t>
              </a:r>
              <a:endPara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endParaRPr>
            </a:p>
          </p:txBody>
        </p:sp>
        <p:sp>
          <p:nvSpPr>
            <p:cNvPr id="71" name="TextBox 15"/>
            <p:cNvSpPr txBox="1"/>
            <p:nvPr/>
          </p:nvSpPr>
          <p:spPr>
            <a:xfrm>
              <a:off x="6702" y="3849"/>
              <a:ext cx="4896" cy="367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能力复用，部署可行</a:t>
              </a:r>
              <a:endParaRPr sz="14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7995920" y="1988185"/>
            <a:ext cx="3401695" cy="3031490"/>
            <a:chOff x="12073" y="3129"/>
            <a:chExt cx="5357" cy="4774"/>
          </a:xfrm>
        </p:grpSpPr>
        <p:sp>
          <p:nvSpPr>
            <p:cNvPr id="47" name="Rectangle 17"/>
            <p:cNvSpPr/>
            <p:nvPr/>
          </p:nvSpPr>
          <p:spPr>
            <a:xfrm>
              <a:off x="12073" y="3129"/>
              <a:ext cx="5357" cy="477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E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48" name="Rectangle 18"/>
            <p:cNvSpPr/>
            <p:nvPr/>
          </p:nvSpPr>
          <p:spPr>
            <a:xfrm>
              <a:off x="12073" y="3129"/>
              <a:ext cx="5357" cy="1224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>
                <a:solidFill>
                  <a:srgbClr val="195CC4"/>
                </a:solidFill>
              </a:endParaRPr>
            </a:p>
          </p:txBody>
        </p:sp>
        <p:sp>
          <p:nvSpPr>
            <p:cNvPr id="51" name="TextBox 21"/>
            <p:cNvSpPr txBox="1"/>
            <p:nvPr/>
          </p:nvSpPr>
          <p:spPr>
            <a:xfrm>
              <a:off x="12361" y="4711"/>
              <a:ext cx="4824" cy="2873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知识维护：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接入文档、核对身份并重建索引，维护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可更新的知识资产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。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质量运营：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问题留痕与题集回归结合，支持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>来源追踪和持续改进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。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>试点衡量：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>跟踪查询与复核耗时、人工修订率、单次服务成本，评估推广成效。</a:t>
              </a:r>
              <a:endPara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endParaRPr>
            </a:p>
          </p:txBody>
        </p:sp>
        <p:sp>
          <p:nvSpPr>
            <p:cNvPr id="72" name="TextBox 19"/>
            <p:cNvSpPr txBox="1"/>
            <p:nvPr/>
          </p:nvSpPr>
          <p:spPr>
            <a:xfrm>
              <a:off x="12332" y="3201"/>
              <a:ext cx="4896" cy="512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20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运营价值</a:t>
              </a:r>
              <a:endPara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endParaRPr>
            </a:p>
          </p:txBody>
        </p:sp>
        <p:sp>
          <p:nvSpPr>
            <p:cNvPr id="73" name="TextBox 20"/>
            <p:cNvSpPr txBox="1"/>
            <p:nvPr/>
          </p:nvSpPr>
          <p:spPr>
            <a:xfrm>
              <a:off x="12332" y="3849"/>
              <a:ext cx="4896" cy="367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持续运营，成效可量化</a:t>
              </a:r>
              <a:endParaRPr sz="14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8105" y="1445752"/>
            <a:ext cx="63459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6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谢谢观看！</a:t>
            </a:r>
            <a:endParaRPr kumimoji="0" lang="zh-CN" altLang="en-US" sz="96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14955" y="3635375"/>
            <a:ext cx="65570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</a:t>
            </a: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rtex </a:t>
            </a:r>
            <a:r>
              <a:rPr lang="zh-CN" altLang="en-US" sz="4400" b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团队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74350" y="4925066"/>
            <a:ext cx="42062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队员：李思、刘晨阳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63351" y="4925066"/>
            <a:ext cx="252526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队长：王博震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6.2,&quot;left&quot;:39.6,&quot;top&quot;:153.85,&quot;width&quot;:880.5599212598424}"/>
</p:tagLst>
</file>

<file path=ppt/tags/tag2.xml><?xml version="1.0" encoding="utf-8"?>
<p:tagLst xmlns:p="http://schemas.openxmlformats.org/presentationml/2006/main">
  <p:tag name="KSO_WM_DIAGRAM_VIRTUALLY_FRAME" val="{&quot;height&quot;:146.2,&quot;left&quot;:39.6,&quot;top&quot;:153.85,&quot;width&quot;:880.5599212598424}"/>
</p:tagLst>
</file>

<file path=ppt/tags/tag3.xml><?xml version="1.0" encoding="utf-8"?>
<p:tagLst xmlns:p="http://schemas.openxmlformats.org/presentationml/2006/main">
  <p:tag name="KSO_WM_DIAGRAM_VIRTUALLY_FRAME" val="{&quot;height&quot;:146.2,&quot;left&quot;:39.6,&quot;top&quot;:153.85,&quot;width&quot;:880.5599212598424}"/>
</p:tagLst>
</file>

<file path=ppt/tags/tag4.xml><?xml version="1.0" encoding="utf-8"?>
<p:tagLst xmlns:p="http://schemas.openxmlformats.org/presentationml/2006/main">
  <p:tag name="KSO_WM_DIAGRAM_VIRTUALLY_FRAME" val="{&quot;height&quot;:146.2,&quot;left&quot;:39.6,&quot;top&quot;:153.85,&quot;width&quot;:880.5599212598424}"/>
</p:tagLst>
</file>

<file path=ppt/tags/tag5.xml><?xml version="1.0" encoding="utf-8"?>
<p:tagLst xmlns:p="http://schemas.openxmlformats.org/presentationml/2006/main">
  <p:tag name="KSO_WM_DIAGRAM_VIRTUALLY_FRAME" val="{&quot;height&quot;:146.2,&quot;left&quot;:39.6,&quot;top&quot;:153.85,&quot;width&quot;:880.5599212598424}"/>
</p:tagLst>
</file>

<file path=ppt/tags/tag6.xml><?xml version="1.0" encoding="utf-8"?>
<p:tagLst xmlns:p="http://schemas.openxmlformats.org/presentationml/2006/main">
  <p:tag name="KSO_WM_DIAGRAM_VIRTUALLY_FRAME" val="{&quot;height&quot;:146.2,&quot;left&quot;:39.6,&quot;top&quot;:153.85,&quot;width&quot;:880.5599212598424}"/>
</p:tagLst>
</file>

<file path=ppt/tags/tag7.xml><?xml version="1.0" encoding="utf-8"?>
<p:tagLst xmlns:p="http://schemas.openxmlformats.org/presentationml/2006/main">
  <p:tag name="KSO_WM_DIAGRAM_VIRTUALLY_FRAME" val="{&quot;height&quot;:146.2,&quot;left&quot;:39.6,&quot;top&quot;:153.85,&quot;width&quot;:880.5599212598424}"/>
</p:tagLst>
</file>

<file path=ppt/tags/tag8.xml><?xml version="1.0" encoding="utf-8"?>
<p:tagLst xmlns:p="http://schemas.openxmlformats.org/presentationml/2006/main">
  <p:tag name="KSO_WM_DIAGRAM_VIRTUALLY_FRAME" val="{&quot;height&quot;:146.2,&quot;left&quot;:39.6,&quot;top&quot;:153.85,&quot;width&quot;:880.5599212598424}"/>
</p:tagLst>
</file>

<file path=ppt/tags/tag9.xml><?xml version="1.0" encoding="utf-8"?>
<p:tagLst xmlns:p="http://schemas.openxmlformats.org/presentationml/2006/main">
  <p:tag name="KSO_WM_DIAGRAM_VIRTUALLY_FRAME" val="{&quot;height&quot;:146.2,&quot;left&quot;:39.6,&quot;top&quot;:153.85,&quot;width&quot;:880.5599212598424}"/>
</p:tagLst>
</file>

<file path=ppt/tags/tag10.xml><?xml version="1.0" encoding="utf-8"?>
<p:tagLst xmlns:p="http://schemas.openxmlformats.org/presentationml/2006/main">
  <p:tag name="KSO_WM_DIAGRAM_VIRTUALLY_FRAME" val="{&quot;height&quot;:146.2,&quot;left&quot;:39.6,&quot;top&quot;:153.85,&quot;width&quot;:880.5599212598424}"/>
</p:tagLst>
</file>

<file path=ppt/tags/tag11.xml><?xml version="1.0" encoding="utf-8"?>
<p:tagLst xmlns:p="http://schemas.openxmlformats.org/presentationml/2006/main">
  <p:tag name="KSO_WM_DIAGRAM_VIRTUALLY_FRAME" val="{&quot;height&quot;:146.2,&quot;left&quot;:39.6,&quot;top&quot;:153.85,&quot;width&quot;:880.5599212598424}"/>
</p:tagLst>
</file>

<file path=ppt/tags/tag12.xml><?xml version="1.0" encoding="utf-8"?>
<p:tagLst xmlns:p="http://schemas.openxmlformats.org/presentationml/2006/main">
  <p:tag name="KSO_WM_DIAGRAM_VIRTUALLY_FRAME" val="{&quot;height&quot;:146.2,&quot;left&quot;:39.6,&quot;top&quot;:153.85,&quot;width&quot;:880.5599212598424}"/>
</p:tagLst>
</file>

<file path=ppt/tags/tag13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14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15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16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17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18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19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20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21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22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23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24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25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26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27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28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29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30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31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32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33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34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35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ags/tag36.xml><?xml version="1.0" encoding="utf-8"?>
<p:tagLst xmlns:p="http://schemas.openxmlformats.org/presentationml/2006/main">
  <p:tag name="KSO_WM_DIAGRAM_VIRTUALLY_FRAME" val="{&quot;height&quot;:326.7,&quot;left&quot;:39.6,&quot;top&quot;:136,&quot;width&quot;:881.5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5211</Words>
  <Application>WPS 演示</Application>
  <PresentationFormat>宽屏</PresentationFormat>
  <Paragraphs>449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庞门正道标题体</vt:lpstr>
      <vt:lpstr>Franklin Gothic Book</vt:lpstr>
      <vt:lpstr>微软雅黑</vt:lpstr>
      <vt:lpstr>Calibri</vt:lpstr>
      <vt:lpstr>OPPOSans B</vt:lpstr>
      <vt:lpstr>OPPOSans R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</dc:creator>
  <cp:lastModifiedBy>博</cp:lastModifiedBy>
  <cp:revision>27</cp:revision>
  <dcterms:created xsi:type="dcterms:W3CDTF">2023-08-09T12:44:00Z</dcterms:created>
  <dcterms:modified xsi:type="dcterms:W3CDTF">2026-10-15T14:45:54Z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624A8775239844D99DE3F9D5E909B592_12</vt:lpwstr>
  </property>
</Properties>
</file>
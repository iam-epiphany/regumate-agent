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22.xml" ContentType="application/vnd.openxmlformats-officedocument.presentationml.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3"/>
    <p:sldId id="262" r:id="rId4"/>
    <p:sldId id="257" r:id="rId5"/>
    <p:sldId id="258" r:id="rId6"/>
    <p:sldId id="261" r:id="rId7"/>
    <p:sldId id="270" r:id="rId9"/>
    <p:sldId id="267" r:id="rId10"/>
    <p:sldId id="268" r:id="rId11"/>
    <p:sldId id="282" r:id="rId12"/>
    <p:sldId id="286" r:id="rId13"/>
    <p:sldId id="269" r:id="rId14"/>
    <p:sldId id="281" r:id="rId15"/>
    <p:sldId id="272" r:id="rId16"/>
    <p:sldId id="274" r:id="rId17"/>
    <p:sldId id="294" r:id="rId18"/>
    <p:sldId id="293" r:id="rId19"/>
    <p:sldId id="301" r:id="rIdBusinessCase22"/>
    <p:sldId id="283" r:id="rId20"/>
    <p:sldId id="295" r:id="rId21"/>
    <p:sldId id="284" r:id="rId22"/>
    <p:sldId id="300" r:id="rId23"/>
    <p:sldId id="263"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7"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5AA8"/>
    <a:srgbClr val="195CC4"/>
    <a:srgbClr val="D9DEE8"/>
    <a:srgbClr val="FBF3F3"/>
    <a:srgbClr val="CE0000"/>
    <a:srgbClr val="1C41A9"/>
    <a:srgbClr val="7FA0C0"/>
    <a:srgbClr val="004182"/>
    <a:srgbClr val="B6C7EA"/>
    <a:srgbClr val="2120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p:scale>
          <a:sx n="75" d="100"/>
          <a:sy n="75" d="100"/>
        </p:scale>
        <p:origin x="1360" y="504"/>
      </p:cViewPr>
      <p:guideLst>
        <p:guide orient="horz" pos="3467"/>
        <p:guide pos="383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 Id="rIdBusinessCase22"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三个业务难点分别对应后续知识底座、证据驱动问答与监管可信交付三项核心能力。四项技术挑战覆盖结构解析、证据覆盖、跨文档与表格推理以及监管语义。银行监管问答同时面临资料分散、口径多样与证据复核困难。既有原稿列出了信贷、风控、资本管理、消保、反洗钱、支付结算、普惠与监管报送场景，本页保持原有三类痛点与四项技术挑战结构。来源：docs/开发文档/技术文档.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围绕赛题要求的文档处理与可信问答两项任务，构建知识可定位、计算可复核、结论可核验、服务可持续的业务能力。取数和运算由确定性逻辑执行；查询规划、部分语义核验等有模型参与，不声称拒答边界全部程序化。总主线：让监管知识可查询，让报表数据可计算，让业务结论可核验。确定性优先是系统设计原则，实际能力由后续回归指标验证。系统对文件身份和证据进行留存与核对，不依据文件名或日期自动认定法规效力。来源：docs/开发文档/技术文档.md、docs/开发文档/可信能力与发布门禁.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本页侧重模块协作：查询规划明确证据需求，混合检索组织依据，文本与表格双引擎完成回答，统一校验和业务交付形成闭环。下一章节展开机制与差异化设计。讲解重点：ReguMate 将文本理解、证据检索和确定性表格计算组织为统一业务服务。双引擎指文本证据链路与结构化单元格计算链路，双存储指 Qdrant 与 SQLite。查询规划、混合检索、生成与可信校验协同工作。来源：docs/开发文档/技术文档.md；backend/app/services/rag_service.py、query_planner_service.py、spreadsheet_retrieval_service.py。部署按试点环境配置，外部模型 API 与本地嵌入和重排协同。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章总览按三行配对：结构感知解析＋多粒度证据索引属于知识底座；覆盖驱动检索与跨文档补证＋确定性计算属于证据驱动问答；事实与监管语义联合校验＋风险边界与审计追踪属于监管可信交付。随后三页依次展开。六项创新属于面向金融监管场景的系统融合与工程设计，不作为相对所有现有方法的性能领先声明。结构与引用扩展来源：docs/开发文档/数据驱动优化执行报告_202610.md；检索补证来源：docs/开发文档/四阶段升级完成报告_20260805.md；表格证据来自最终回归 old_outputs.json/new_outputs.json；监管语义来自 backend/app/services/regulatory_semantic_grounding_service.py。技术参考：HyDE https://arxiv.org/abs/2212.10496；CRAG https://arxiv.org/abs/2401.15884。前沿方法启发了覆盖诊断和假设检索线索的表达，项目特点在于与条款、单元格和监管语义结合。未声称实现 GraphRAG 社区摘要或训练 Self-RAG 模型。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技术亮点第一项：结构感知解析与多粒度知识索引。定义、条款、邻接片段与单元格分别承担不同问题类型的取证；文件身份不等于法规效力认定。讲解重点：监管文件不能只切成文字块，需要保留条款关系和数字的业务语义。500 份文件与索引规模来源：docs/开发文档/技术文档.md、evaluation/文档解析结果/文档解析结果说明.md。新增 440 条定义、164 行条款索引来源：docs/开发文档/数据驱动优化执行报告_202610.md（阶段二）。本批处理成功率指归档文件处理完成，不代表所有抽取字段均无误。结构索引以实际提取结果为准。外部技术背景：BGE-M3 官方文档 https://bge-model.com/bge/bge_m3.html，支持稠密和稀疏等表示；这里未将模型的全部功能都表述为系统已启用能力。</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六个步骤按左列自上而下、右列自上而下阅读；数值计算是问题类型触发的分支，六个阶段为能力组织示意，不表示每个问题都会执行全部机制。HyDE假设线索只用于检索，最终答案仍使用真实原文。讲解顺序：多路召回解决找得到，条款定位解决找得准，覆盖诊断与引用扩展解决证据补全，确定性计算解决数字可复算。真实回归案例：根据《2025年商业银行主要指标分机构类情况表（季度）》，农村商业银行三季度与二季度不良贷款余额差值。商业银行分机构类情况表!G27=8274.705191、G16=8051.364405，差值=223.340786 亿元。来源：evaluation/系统测试结果/自命题200题/GPU_最终回归_20261002/old_outputs.json（BW-TC6）。算法背景：HyDE 原论文 https://arxiv.org/abs/2212.10496；CRAG 原论文 https://arxiv.org/abs/2401.15884；BGE-M3 https://arxiv.org/abs/2402.03216。CRAG-lite 是本项目借鉴检索评估思想的工程化实现，采用受限知识库内的覆盖诊断与补搜，不等同于原论文的互联网检索系统。系统采用词面检索与元数据过滤，未将其强称为标准 BM25。</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中栏为监管语义校验机制示意，条件A及示例句均为教学示意，非真实法规引文或独立实测案例。检查条件遗漏、主体扩大与规范强度变化。监管语义示例（机制示意）：证据写“符合条件时可以办理”，如果答案变成“必须办理”，即使主体和数字一致，义务强度也已经改变。系统抽取主体、行为、规范强度、条件、例外等监管语义框架，结合确定性检查与风险触发语义核验。来源：backend/app/services/regulatory_semantic_grounding_service.py、grounding_validation_service.py。最终指标来源：evaluation/系统测试结果/自命题200题/GPU_最终回归_20261002/old_outputs_diagnostic.json、new_outputs_diagnostic.json，表格 40/40、预设应拒答题40/40，来源文件覆盖149/160；引用携带率为实际已返回的159个答案均携带引用，不等于每条引用语义均正确，也不等于可回答题160/160。</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评测口径：以2026-10-02最终GPU回归为主体。官方选择题300/300，0运行错误；自建开放题181/200=90.5%，包括旧批92/100、新批89/100。制度事实99/112=88.4%；表格取数20/20，计算20/20；预设应拒答题40/40；证据来源149/160=93.1%，为来源文件级覆盖，不能替代逐条引用语义正确率。关键数字、日期、机构、文号错误率2.4%来自2026-08-05历史专项统计，其余不是同一轮数据。来源：evaluation/系统测试结果/自命题200题/GPU_最终回归_20261002/score_summary.json、old_outputs_diagnostic.json、new_outputs_diagnostic.json、official300/official_300_results.json；docs/evaluation/关键指标总结_官方300与自命题200题_20260805.md。自建测试为内部回归，未声称第三方独立评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业务场景：银行资本管理、发行方案准备与合规口径核验。此页为模拟业务场景中的真实系统问答，不代表银行投产或完整发行合规意见。页面问题为展示摘要，完整实测问法如下：</a:t>
            </a:r>
          </a:p>
          <a:p>
            <a:r>
              <a:t>根据《商业银行资本管理办法》附件1，其他一级资本工具在到期日和利率跳升方面有哪些限制？发行银行行使其他一级资本工具赎回权需要满足哪些条件？所有其他一级资本工具和二级资本工具按什么顺序吸收损失？请分别引用依据。</a:t>
            </a:r>
          </a:p>
          <a:p>
            <a:r>
              <a:t/>
            </a:r>
          </a:p>
          <a:p>
            <a:r>
              <a:t>原始回答（保留接口引用编号）：</a:t>
            </a:r>
          </a:p>
          <a:p>
            <a:r>
              <a:t>根据《商业银行资本管理办法》附件1，其他一级资本工具在到期日和利率跳升方面的限制是：没有到期日，并且不得含有利率跳升机制及其他赎回激励 [5]。发行银行行使其他一级资本工具赎回权，应满足自发行之日起至少5年后方可赎回、不得形成赎回权将被行使的预期、行使赎回权前应经国家金融监督管理总局或其派出机构认可，并符合替换被赎回工具或赎回后资本水平仍明显高于监管资本要求等条件 [5]。所有其他一级资本工具全部吸收损失后，再启动二级资本工具吸收损失 [2][11]。</a:t>
            </a:r>
          </a:p>
          <a:p>
            <a:r>
              <a:t/>
            </a:r>
          </a:p>
          <a:p>
            <a:r>
              <a:t>其他一级资本工具在到期日和利率跳升方面的限制：没有到期日，并且不得含有利率跳升机制及其他赎回激励 [5]。</a:t>
            </a:r>
          </a:p>
          <a:p>
            <a:r>
              <a:t/>
            </a:r>
          </a:p>
          <a:p>
            <a:r>
              <a:t>发行银行行使其他一级资本工具赎回权需要满足：自发行之日起，至少5年后方可由发行银行赎回，但发行银行不得形成赎回权将被行使的预期，且行使赎回权前应经国家金融监督管理总局或其派出机构认可 [5]。同时，发行银行赎回其他一级资本工具，应符合以下要求之一：1.使用同等或更高质量的资本工具替换被赎回的工具，并且只有在收入能力具备可持续性的条件下才能实施资本工具的替换；2.或者，行使赎回权后的资本水平仍明显高于国家金融监督管理总局规定的监管资本要求 [5]。</a:t>
            </a:r>
          </a:p>
          <a:p>
            <a:r>
              <a:t/>
            </a:r>
          </a:p>
          <a:p>
            <a:r>
              <a:t>所有其他一级资本工具全部吸收损失后，再启动二级资本工具吸收损失 [2][11]。</a:t>
            </a:r>
          </a:p>
          <a:p>
            <a:r>
              <a:t/>
            </a:r>
          </a:p>
          <a:p>
            <a:r>
              <a:t>实测时间：2026-10-16T01:52:13.901322+00:00；HTTP 200；耗时 62.375 秒。原始记录：tmp/ppt_business_cases_20261016/capital_conditions_explicit_subject_first_run.json。</a:t>
            </a:r>
          </a:p>
          <a:p>
            <a:r>
              <a:t>依据：data/contest_dataset/dataset/nfra_page_attachments_500/400_商业银行资本管理办法_附件1：资本工具合格标准.docx，二、其他一级资本工具的合格标准，（四）、（五）、（六）、（十二）。页面[5]对应本次接口的第5项引用，[2][11]对应本次接口的第2及第11项引用。已另行核对原始DOCX条文。此页只展示问到的监管口径，不能替代对完整发行合同及银行资本状况的审查。</a:t>
            </a:r>
          </a:p>
          <a:p>
            <a:r>
              <a:t>演讲提示：难点在于保持工具类别一致、完整检索赎回门槛和资本约束，并准确保留“且”与“或者”的关系。</a:t>
            </a:r>
          </a:p>
          <a:p>
            <a:r>
              <a:t>验证边界：先前四项模拟草案直接审查问法曾因证据不足拒答，记录保存在capital_issue_review_first_run.json；本页展示另一次完整口径问题的真实成功响应，不声称此前草案审查已通过。系统语义验证服务本次不可用，所展示具体结论由原始DOCX逐项复核支持。</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并发口径为4个worker处理40题的测试，非40并发用户、非4×40题。0.30–0.53s为24候选GPU重排微基准，非端到端问答延迟。端到端CPU/GPU表格沿用2026-08-05同期成对实验：官方300平均7.03s/0.54s，自建200平均28.4s/17.9s。平均速度比28.4/17.9≈1.59。硬件RTX5070 Laptop/Ryzen98945HX，串行测试。10月GPU24候选重排0.30–0.53s为独立微基准，不能代替端到端延迟。来源：docs/evaluation/关键指标总结_官方300与自命题200题_20260805.md；data/evaluation/benchmarks/reranker_v2m3_gpu_20261002.json；docs/开发文档/数据驱动优化执行报告_202610.md。并发与存储修复：docs/开发文档/四阶段升级完成报告_20260805.md。500文件约34分钟指解析、切分与持久化的离线知识构建记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三类岗位和推广步骤均为建议应用方案，未声称已与银行客户部署。试点衡量指标为拟跟踪指标，不写入未经验证的提效比例。业务定位：让监管资料成为可调用的业务知识服务。典型流程示意：业务人员提出制度或报表问题，系统定位条款和单元格，给出答复与计算过程，合规人员基于证据复核并留存记录。推进路线是建议的试点方案：部门小范围验证，扩展内部制度，再通过API融入门户或工作台。查找耗时、复核耗时、人工修订率和单次服务成本是拟跟踪的试点指标，未声称已有客户上线或已兑现收益。行业参考：BIS Project Gaia https://www.bis.org/project/gaia 和 https://www.bis.org/publications/project-gaia-enabling-climate-risk-analysis-using-generative-ai，展示从异构报告中提取结构化指标并支持金融分析的应用方向。Gaia是外部行业案例，不属于本项目业绩。项目落地价值基于已具备的文档接入、问答、表格计算、引用展示、审计记录和Docker双配置能力。</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业务场景：监管报送、保险行业统计复核。此页为历史系统成功回归案例，不代表银行或保险机构生产部署成果，不声称当前新问法已通过。</a:t>
            </a:r>
          </a:p>
          <a:p>
            <a:r>
              <a:t>完整历史问法：分别读取2025年3月保险业合计、人身险和财产险原保险保费收入累计值，计算有符号勾稽差额：保险业合计－人身险－财产险。</a:t>
            </a:r>
          </a:p>
          <a:p>
            <a:r>
              <a:t>原始回答：计算结果为 -0.18 亿元。计算式：21745 - 16590.18 - 5155 = -0.18。[1]</a:t>
            </a:r>
          </a:p>
          <a:p>
            <a:r>
              <a:t>运行时间：2026-07-23T06:07:16.688499+00:00。原始结果：outputs/evaluation/hard_challenge_50/round_2_regression_full_r34.json，HC034；评分记录：同目录round_2_regression_full_r34_report.json，HC034的passed和answer_correct为true。历史整轮报告并非全题通过，单案例成功不代表整轮发布门禁通过。</a:t>
            </a:r>
          </a:p>
          <a:p>
            <a:r>
              <a:t>[1]为该历史响应的计算证据引用，包含三份原始文件的操作数及坐标。文件及来源：</a:t>
            </a:r>
          </a:p>
          <a:p>
            <a:r>
              <a:t>059_2025年3月保险业经营情况表_2025年3月保险业经营情况表.xlsx，工作表“保险业经营数据（月度）”，C6=21745。</a:t>
            </a:r>
          </a:p>
          <a:p>
            <a:r>
              <a:t>057_2025年3月人身险公司经营情况表_2025年3月人身险公司经营情况表.xlsx，工作表“人身保险公司（月度）  ”（末尾两个空格），C6=16590.18。</a:t>
            </a:r>
          </a:p>
          <a:p>
            <a:r>
              <a:t>058_2025年3月财产保险公司经营情况表_2025年3月财产险公司经营情况表.xlsx，工作表“产险公司数据（月度）  ”（末尾两个空格），C7=5155。</a:t>
            </a:r>
          </a:p>
          <a:p>
            <a:r>
              <a:t>以上原始文件均位于data/contest_dataset/dataset/nfra_page_attachments_500/，已用原始XLSX独立取数并以Decimal复算，结果-0.18亿元。页面工作表简称省略末尾空格，完整名称在本备注中保留。</a:t>
            </a:r>
          </a:p>
          <a:p>
            <a:r>
              <a:t>演讲提示：难点是三份文件口径一致性、行号差异和计算溯源。微小差额必须如实保留；其原因需进一步核查，不能由系统猜测。</a:t>
            </a:r>
          </a:p>
          <a:p>
            <a:r>
              <a:t>当前验证边界：2026-10-16同问法仅返回人身险值，首次响应原样保留在tmp/ppt_business_cases_20261016/insurance_reconciliation_first_run.json；显式三表新问法拒答保存在insurance_explicit_tables_first_run.json。本页仅证明所标明历史版本和该历史问法的成功。</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pic>
        <p:nvPicPr>
          <p:cNvPr id="8" name="图片 7"/>
          <p:cNvPicPr>
            <a:picLocks noChangeAspect="1"/>
          </p:cNvPicPr>
          <p:nvPr userDrawn="1"/>
        </p:nvPicPr>
        <p:blipFill>
          <a:blip r:embed="rId12" cstate="print">
            <a:extLst>
              <a:ext uri="{28A0092B-C50C-407E-A947-70E740481C1C}">
                <a14:useLocalDpi xmlns:a14="http://schemas.microsoft.com/office/drawing/2010/main" val="0"/>
              </a:ext>
            </a:extLst>
          </a:blip>
          <a:srcRect r="13837"/>
          <a:stretch>
            <a:fillRect/>
          </a:stretch>
        </p:blipFill>
        <p:spPr>
          <a:xfrm>
            <a:off x="0" y="40"/>
            <a:ext cx="12192000" cy="685791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1.xml"/><Relationship Id="rId13" Type="http://schemas.openxmlformats.org/officeDocument/2006/relationships/slideLayout" Target="../slideLayouts/slideLayout2.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6" Type="http://schemas.openxmlformats.org/officeDocument/2006/relationships/notesSlide" Target="../notesSlides/notesSlide4.xml"/><Relationship Id="rId25" Type="http://schemas.openxmlformats.org/officeDocument/2006/relationships/slideLayout" Target="../slideLayouts/slideLayout2.xml"/><Relationship Id="rId24" Type="http://schemas.openxmlformats.org/officeDocument/2006/relationships/tags" Target="../tags/tag36.xml"/><Relationship Id="rId23" Type="http://schemas.openxmlformats.org/officeDocument/2006/relationships/tags" Target="../tags/tag35.xml"/><Relationship Id="rId22" Type="http://schemas.openxmlformats.org/officeDocument/2006/relationships/tags" Target="../tags/tag34.xml"/><Relationship Id="rId21" Type="http://schemas.openxmlformats.org/officeDocument/2006/relationships/tags" Target="../tags/tag33.xml"/><Relationship Id="rId20" Type="http://schemas.openxmlformats.org/officeDocument/2006/relationships/tags" Target="../tags/tag32.xml"/><Relationship Id="rId2" Type="http://schemas.openxmlformats.org/officeDocument/2006/relationships/tags" Target="../tags/tag14.xml"/><Relationship Id="rId19" Type="http://schemas.openxmlformats.org/officeDocument/2006/relationships/tags" Target="../tags/tag31.xml"/><Relationship Id="rId18" Type="http://schemas.openxmlformats.org/officeDocument/2006/relationships/tags" Target="../tags/tag30.xml"/><Relationship Id="rId17" Type="http://schemas.openxmlformats.org/officeDocument/2006/relationships/tags" Target="../tags/tag29.xml"/><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2" Type="http://schemas.openxmlformats.org/officeDocument/2006/relationships/notesSlide" Target="../notesSlides/notesSlide6.xml"/><Relationship Id="rId31" Type="http://schemas.openxmlformats.org/officeDocument/2006/relationships/slideLayout" Target="../slideLayouts/slideLayout2.xml"/><Relationship Id="rId30" Type="http://schemas.openxmlformats.org/officeDocument/2006/relationships/tags" Target="../tags/tag66.xml"/><Relationship Id="rId3" Type="http://schemas.openxmlformats.org/officeDocument/2006/relationships/tags" Target="../tags/tag39.xml"/><Relationship Id="rId29" Type="http://schemas.openxmlformats.org/officeDocument/2006/relationships/tags" Target="../tags/tag65.xml"/><Relationship Id="rId28" Type="http://schemas.openxmlformats.org/officeDocument/2006/relationships/tags" Target="../tags/tag64.xml"/><Relationship Id="rId27" Type="http://schemas.openxmlformats.org/officeDocument/2006/relationships/tags" Target="../tags/tag63.xml"/><Relationship Id="rId26" Type="http://schemas.openxmlformats.org/officeDocument/2006/relationships/tags" Target="../tags/tag62.xml"/><Relationship Id="rId25" Type="http://schemas.openxmlformats.org/officeDocument/2006/relationships/tags" Target="../tags/tag61.xml"/><Relationship Id="rId24" Type="http://schemas.openxmlformats.org/officeDocument/2006/relationships/tags" Target="../tags/tag60.xml"/><Relationship Id="rId23" Type="http://schemas.openxmlformats.org/officeDocument/2006/relationships/tags" Target="../tags/tag59.xml"/><Relationship Id="rId22" Type="http://schemas.openxmlformats.org/officeDocument/2006/relationships/tags" Target="../tags/tag58.xml"/><Relationship Id="rId21" Type="http://schemas.openxmlformats.org/officeDocument/2006/relationships/tags" Target="../tags/tag57.xml"/><Relationship Id="rId20" Type="http://schemas.openxmlformats.org/officeDocument/2006/relationships/tags" Target="../tags/tag56.xml"/><Relationship Id="rId2" Type="http://schemas.openxmlformats.org/officeDocument/2006/relationships/tags" Target="../tags/tag38.xml"/><Relationship Id="rId19" Type="http://schemas.openxmlformats.org/officeDocument/2006/relationships/tags" Target="../tags/tag55.xml"/><Relationship Id="rId18" Type="http://schemas.openxmlformats.org/officeDocument/2006/relationships/tags" Target="../tags/tag54.xml"/><Relationship Id="rId17" Type="http://schemas.openxmlformats.org/officeDocument/2006/relationships/tags" Target="../tags/tag53.xml"/><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3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文本框 3"/>
          <p:cNvSpPr txBox="1"/>
          <p:nvPr/>
        </p:nvSpPr>
        <p:spPr>
          <a:xfrm>
            <a:off x="386080" y="1358900"/>
            <a:ext cx="11510645" cy="891540"/>
          </a:xfrm>
          <a:prstGeom prst="rect">
            <a:avLst/>
          </a:prstGeom>
          <a:noFill/>
        </p:spPr>
        <p:txBody>
          <a:bodyPr wrap="square" rtlCol="0">
            <a:spAutoFit/>
          </a:bodyPr>
          <a:lstStyle/>
          <a:p>
            <a:pPr algn="ctr"/>
            <a:r>
              <a:rPr lang="zh-CN" altLang="en-US" sz="5200" dirty="0">
                <a:solidFill>
                  <a:schemeClr val="bg1"/>
                </a:solidFill>
                <a:latin typeface="庞门正道标题体" panose="02010600030101010101" charset="-122"/>
                <a:ea typeface="庞门正道标题体" panose="02010600030101010101" charset="-122"/>
              </a:rPr>
              <a:t>第五届中国研究生金融科技创新大赛</a:t>
            </a:r>
            <a:endParaRPr lang="zh-CN" altLang="en-US" sz="5200" dirty="0">
              <a:solidFill>
                <a:schemeClr val="bg1"/>
              </a:solidFill>
              <a:latin typeface="庞门正道标题体" panose="02010600030101010101" charset="-122"/>
              <a:ea typeface="庞门正道标题体" panose="02010600030101010101" charset="-122"/>
            </a:endParaRPr>
          </a:p>
        </p:txBody>
      </p:sp>
      <p:sp>
        <p:nvSpPr>
          <p:cNvPr id="5" name="文本框 4"/>
          <p:cNvSpPr txBox="1"/>
          <p:nvPr/>
        </p:nvSpPr>
        <p:spPr>
          <a:xfrm>
            <a:off x="812800" y="2066290"/>
            <a:ext cx="10633710" cy="521970"/>
          </a:xfrm>
          <a:prstGeom prst="rect">
            <a:avLst/>
          </a:prstGeom>
          <a:noFill/>
        </p:spPr>
        <p:txBody>
          <a:bodyPr wrap="square" rtlCol="0" anchor="t">
            <a:spAutoFit/>
          </a:bodyPr>
          <a:lstStyle/>
          <a:p>
            <a:pPr algn="dist"/>
            <a:r>
              <a:rPr lang="en-US" altLang="zh-CN" sz="2800" dirty="0">
                <a:solidFill>
                  <a:schemeClr val="bg1"/>
                </a:solidFill>
                <a:latin typeface="Franklin Gothic Book" panose="020B0503020102020204" charset="0"/>
                <a:cs typeface="Franklin Gothic Book" panose="020B0503020102020204" charset="0"/>
              </a:rPr>
              <a:t>The 5th CHINA POSTGRADUATE FINTECH INNOVATION COMPETITION</a:t>
            </a:r>
            <a:endParaRPr lang="en-US" altLang="zh-CN" sz="2800" dirty="0">
              <a:solidFill>
                <a:schemeClr val="bg1"/>
              </a:solidFill>
              <a:latin typeface="Franklin Gothic Book" panose="020B0503020102020204" charset="0"/>
              <a:cs typeface="Franklin Gothic Book" panose="020B0503020102020204" charset="0"/>
            </a:endParaRPr>
          </a:p>
        </p:txBody>
      </p:sp>
      <p:pic>
        <p:nvPicPr>
          <p:cNvPr id="6" name="图片 5" descr="未标题-1"/>
          <p:cNvPicPr>
            <a:picLocks noChangeAspect="1"/>
          </p:cNvPicPr>
          <p:nvPr/>
        </p:nvPicPr>
        <p:blipFill>
          <a:blip r:embed="rId1"/>
          <a:stretch>
            <a:fillRect/>
          </a:stretch>
        </p:blipFill>
        <p:spPr>
          <a:xfrm>
            <a:off x="1547812" y="3054985"/>
            <a:ext cx="9096375" cy="24441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文本框 1"/>
          <p:cNvSpPr txBox="1"/>
          <p:nvPr/>
        </p:nvSpPr>
        <p:spPr>
          <a:xfrm>
            <a:off x="107950" y="1979930"/>
            <a:ext cx="11979910" cy="11068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ReguMate 可信RAG问答系统</a:t>
            </a:r>
            <a:endParaRPr kumimoji="0" lang="zh-CN" altLang="en-US" sz="6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2814955" y="3635375"/>
            <a:ext cx="6557010" cy="7683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V</a:t>
            </a:r>
            <a:r>
              <a:rPr kumimoji="0" lang="en-US" altLang="zh-CN"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a:t>
            </a:r>
            <a:r>
              <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rtex </a:t>
            </a:r>
            <a:r>
              <a:rPr lang="zh-CN" altLang="en-US" sz="4400" b="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sym typeface="+mn-ea"/>
              </a:rPr>
              <a:t>团队</a:t>
            </a:r>
            <a:endPar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sym typeface="+mn-ea"/>
            </a:endParaRPr>
          </a:p>
        </p:txBody>
      </p:sp>
      <p:sp>
        <p:nvSpPr>
          <p:cNvPr id="16" name="文本框 15"/>
          <p:cNvSpPr txBox="1"/>
          <p:nvPr/>
        </p:nvSpPr>
        <p:spPr>
          <a:xfrm>
            <a:off x="6674350" y="4925066"/>
            <a:ext cx="4206238"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队员：李思、刘晨阳</a:t>
            </a:r>
            <a:endPar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20" name="文本框 19"/>
          <p:cNvSpPr txBox="1"/>
          <p:nvPr/>
        </p:nvSpPr>
        <p:spPr>
          <a:xfrm>
            <a:off x="2263351" y="4925066"/>
            <a:ext cx="2525267"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队长：王博震</a:t>
            </a:r>
            <a:endPar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文本框 1"/>
          <p:cNvSpPr txBox="1"/>
          <p:nvPr/>
        </p:nvSpPr>
        <p:spPr>
          <a:xfrm>
            <a:off x="4139247" y="1136396"/>
            <a:ext cx="3877945" cy="6451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目录</a:t>
            </a:r>
            <a:endParaRPr kumimoji="0" lang="zh-CN" altLang="en-US" sz="3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grpSp>
        <p:nvGrpSpPr>
          <p:cNvPr id="4" name="组合 3"/>
          <p:cNvGrpSpPr/>
          <p:nvPr/>
        </p:nvGrpSpPr>
        <p:grpSpPr>
          <a:xfrm>
            <a:off x="1903095" y="2504440"/>
            <a:ext cx="3223895" cy="585470"/>
            <a:chOff x="2178" y="5402"/>
            <a:chExt cx="5077" cy="922"/>
          </a:xfrm>
        </p:grpSpPr>
        <p:sp>
          <p:nvSpPr>
            <p:cNvPr id="3" name="文本框 2"/>
            <p:cNvSpPr txBox="1"/>
            <p:nvPr/>
          </p:nvSpPr>
          <p:spPr>
            <a:xfrm>
              <a:off x="3565" y="5402"/>
              <a:ext cx="3690" cy="905"/>
            </a:xfrm>
            <a:prstGeom prst="rect">
              <a:avLst/>
            </a:prstGeom>
            <a:noFill/>
          </p:spPr>
          <p:txBody>
            <a:bodyPr anchor="ctr"/>
            <a:lstStyle/>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背景与问题</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 name="文本框 4"/>
            <p:cNvSpPr txBox="1"/>
            <p:nvPr/>
          </p:nvSpPr>
          <p:spPr>
            <a:xfrm>
              <a:off x="2178" y="5419"/>
              <a:ext cx="1715" cy="905"/>
            </a:xfrm>
            <a:prstGeom prst="rect">
              <a:avLst/>
            </a:prstGeom>
            <a:noFill/>
          </p:spPr>
          <p:txBody>
            <a:bodyPr anchor="ctr"/>
            <a:lstStyle/>
            <a:p>
              <a:pPr marL="0" marR="0" lvl="0" indent="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01</a:t>
              </a:r>
              <a:endPar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21" name="组合 20"/>
          <p:cNvGrpSpPr/>
          <p:nvPr/>
        </p:nvGrpSpPr>
        <p:grpSpPr>
          <a:xfrm>
            <a:off x="1902968" y="3629660"/>
            <a:ext cx="3224022" cy="585725"/>
            <a:chOff x="2178" y="5402"/>
            <a:chExt cx="5077" cy="922"/>
          </a:xfrm>
        </p:grpSpPr>
        <p:sp>
          <p:nvSpPr>
            <p:cNvPr id="22" name="文本框 21"/>
            <p:cNvSpPr txBox="1"/>
            <p:nvPr/>
          </p:nvSpPr>
          <p:spPr>
            <a:xfrm>
              <a:off x="3565" y="5402"/>
              <a:ext cx="3690"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解决方案</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3" name="文本框 22"/>
            <p:cNvSpPr txBox="1"/>
            <p:nvPr/>
          </p:nvSpPr>
          <p:spPr>
            <a:xfrm>
              <a:off x="2178" y="5419"/>
              <a:ext cx="1290" cy="905"/>
            </a:xfrm>
            <a:prstGeom prst="rect">
              <a:avLst/>
            </a:prstGeom>
            <a:noFill/>
          </p:spPr>
          <p:txBody>
            <a:bodyPr anchor="ctr"/>
            <a:p>
              <a:pPr marL="0" marR="0" lvl="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02</a:t>
              </a:r>
              <a:endPar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24" name="组合 23"/>
          <p:cNvGrpSpPr/>
          <p:nvPr/>
        </p:nvGrpSpPr>
        <p:grpSpPr>
          <a:xfrm>
            <a:off x="1902968" y="4767580"/>
            <a:ext cx="3224022" cy="585725"/>
            <a:chOff x="2178" y="5402"/>
            <a:chExt cx="5077" cy="922"/>
          </a:xfrm>
        </p:grpSpPr>
        <p:sp>
          <p:nvSpPr>
            <p:cNvPr id="25" name="文本框 24"/>
            <p:cNvSpPr txBox="1"/>
            <p:nvPr/>
          </p:nvSpPr>
          <p:spPr>
            <a:xfrm>
              <a:off x="3565" y="5402"/>
              <a:ext cx="3690"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技术亮点</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6" name="文本框 25"/>
            <p:cNvSpPr txBox="1"/>
            <p:nvPr/>
          </p:nvSpPr>
          <p:spPr>
            <a:xfrm>
              <a:off x="2178" y="5419"/>
              <a:ext cx="1290"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03</a:t>
              </a:r>
              <a:endParaRPr kumimoji="0" lang="en-US" altLang="zh-CN"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30" name="组合 29"/>
          <p:cNvGrpSpPr/>
          <p:nvPr/>
        </p:nvGrpSpPr>
        <p:grpSpPr>
          <a:xfrm>
            <a:off x="7384288" y="2515235"/>
            <a:ext cx="3224022" cy="585725"/>
            <a:chOff x="2178" y="5402"/>
            <a:chExt cx="5077" cy="922"/>
          </a:xfrm>
        </p:grpSpPr>
        <p:sp>
          <p:nvSpPr>
            <p:cNvPr id="31" name="文本框 30"/>
            <p:cNvSpPr txBox="1"/>
            <p:nvPr/>
          </p:nvSpPr>
          <p:spPr>
            <a:xfrm>
              <a:off x="3565" y="5402"/>
              <a:ext cx="3690"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评测结果</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32" name="文本框 31"/>
            <p:cNvSpPr txBox="1"/>
            <p:nvPr/>
          </p:nvSpPr>
          <p:spPr>
            <a:xfrm>
              <a:off x="2178" y="5419"/>
              <a:ext cx="1387"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04</a:t>
              </a:r>
              <a:endParaRPr kumimoji="0" lang="en-US" altLang="zh-CN"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33" name="组合 32"/>
          <p:cNvGrpSpPr/>
          <p:nvPr/>
        </p:nvGrpSpPr>
        <p:grpSpPr>
          <a:xfrm>
            <a:off x="7384288" y="3618865"/>
            <a:ext cx="3686955" cy="585725"/>
            <a:chOff x="2178" y="5402"/>
            <a:chExt cx="5806" cy="922"/>
          </a:xfrm>
        </p:grpSpPr>
        <p:sp>
          <p:nvSpPr>
            <p:cNvPr id="34" name="文本框 33"/>
            <p:cNvSpPr txBox="1"/>
            <p:nvPr/>
          </p:nvSpPr>
          <p:spPr>
            <a:xfrm>
              <a:off x="3565" y="5402"/>
              <a:ext cx="4419"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性能与稳定性</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35" name="文本框 34"/>
            <p:cNvSpPr txBox="1"/>
            <p:nvPr/>
          </p:nvSpPr>
          <p:spPr>
            <a:xfrm>
              <a:off x="2178" y="5419"/>
              <a:ext cx="1387"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05</a:t>
              </a:r>
              <a:endParaRPr kumimoji="0" lang="en-US" altLang="zh-CN"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36" name="组合 35"/>
          <p:cNvGrpSpPr/>
          <p:nvPr/>
        </p:nvGrpSpPr>
        <p:grpSpPr>
          <a:xfrm>
            <a:off x="7384288" y="4756785"/>
            <a:ext cx="3224022" cy="585725"/>
            <a:chOff x="2178" y="5402"/>
            <a:chExt cx="5077" cy="922"/>
          </a:xfrm>
        </p:grpSpPr>
        <p:sp>
          <p:nvSpPr>
            <p:cNvPr id="37" name="文本框 36"/>
            <p:cNvSpPr txBox="1"/>
            <p:nvPr/>
          </p:nvSpPr>
          <p:spPr>
            <a:xfrm>
              <a:off x="3565" y="5402"/>
              <a:ext cx="3690"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落地价值</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38" name="文本框 37"/>
            <p:cNvSpPr txBox="1"/>
            <p:nvPr/>
          </p:nvSpPr>
          <p:spPr>
            <a:xfrm>
              <a:off x="2178" y="5419"/>
              <a:ext cx="1387"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06</a:t>
              </a:r>
              <a:endParaRPr kumimoji="0" lang="en-US" altLang="zh-CN"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01</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背景与问题</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23215" y="726440"/>
            <a:ext cx="12862560" cy="5641340"/>
          </a:xfrm>
          <a:prstGeom prst="rect">
            <a:avLst/>
          </a:prstGeom>
          <a:solidFill>
            <a:schemeClr val="bg1"/>
          </a:solidFill>
          <a:ln>
            <a:solidFill>
              <a:srgbClr val="012F8D"/>
            </a:solid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3"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4"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rPr>
              <a:t>背景与问题：银行真实业务场景的监管问答之痛</a:t>
            </a:r>
            <a:endParaRPr sz="3000">
              <a:solidFill>
                <a:srgbClr val="195CC4"/>
              </a:solidFill>
              <a:latin typeface="OPPOSans B" panose="00020600040101010101" charset="-122"/>
              <a:ea typeface="OPPOSans B" panose="00020600040101010101" charset="-122"/>
            </a:endParaRPr>
          </a:p>
        </p:txBody>
      </p:sp>
      <p:sp>
        <p:nvSpPr>
          <p:cNvPr id="5" name="TextBox 4"/>
          <p:cNvSpPr txBox="1"/>
          <p:nvPr/>
        </p:nvSpPr>
        <p:spPr>
          <a:xfrm>
            <a:off x="713232" y="1575054"/>
            <a:ext cx="10789920" cy="233045"/>
          </a:xfrm>
          <a:prstGeom prst="rect">
            <a:avLst/>
          </a:prstGeom>
          <a:noFill/>
        </p:spPr>
        <p:txBody>
          <a:bodyPr wrap="square" lIns="18288" tIns="9144" rIns="18288" bIns="9144" anchor="t">
            <a:spAutoFit/>
          </a:bodyPr>
          <a:p>
            <a:pPr algn="l">
              <a:spcAft>
                <a:spcPts val="400"/>
              </a:spcAft>
            </a:pPr>
            <a:r>
              <a:rPr sz="1400" b="0">
                <a:solidFill>
                  <a:schemeClr val="tx1"/>
                </a:solidFill>
                <a:latin typeface="OPPOSans R" panose="00020600040101010101" charset="-122"/>
                <a:ea typeface="OPPOSans R" panose="00020600040101010101" charset="-122"/>
              </a:rPr>
              <a:t>信贷审批、风险分类、资本管理、消保投诉、反洗钱、支付结算、普惠金融、监管报送等场景均需快速查询制度依据与指标口径</a:t>
            </a:r>
            <a:endParaRPr sz="1400" b="0">
              <a:solidFill>
                <a:schemeClr val="tx1"/>
              </a:solidFill>
              <a:latin typeface="OPPOSans R" panose="00020600040101010101" charset="-122"/>
              <a:ea typeface="OPPOSans R" panose="00020600040101010101" charset="-122"/>
            </a:endParaRPr>
          </a:p>
        </p:txBody>
      </p:sp>
      <p:sp>
        <p:nvSpPr>
          <p:cNvPr id="7" name="Rectangle 6"/>
          <p:cNvSpPr/>
          <p:nvPr>
            <p:custDataLst>
              <p:tags r:id="rId1"/>
            </p:custDataLst>
          </p:nvPr>
        </p:nvSpPr>
        <p:spPr>
          <a:xfrm>
            <a:off x="502920" y="1954530"/>
            <a:ext cx="3611880" cy="185610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 name="Rectangle 7"/>
          <p:cNvSpPr/>
          <p:nvPr>
            <p:custDataLst>
              <p:tags r:id="rId2"/>
            </p:custDataLst>
          </p:nvPr>
        </p:nvSpPr>
        <p:spPr>
          <a:xfrm>
            <a:off x="502920" y="1954530"/>
            <a:ext cx="3611880" cy="566928"/>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 name="TextBox 8"/>
          <p:cNvSpPr txBox="1"/>
          <p:nvPr>
            <p:custDataLst>
              <p:tags r:id="rId3"/>
            </p:custDataLst>
          </p:nvPr>
        </p:nvSpPr>
        <p:spPr>
          <a:xfrm>
            <a:off x="640080" y="2044637"/>
            <a:ext cx="3337560" cy="386715"/>
          </a:xfrm>
          <a:prstGeom prst="rect">
            <a:avLst/>
          </a:prstGeom>
          <a:noFill/>
        </p:spPr>
        <p:txBody>
          <a:bodyPr wrap="square" lIns="18288" tIns="9144" rIns="18288" bIns="9144" anchor="ctr">
            <a:spAutoFit/>
          </a:bodyPr>
          <a:p>
            <a:pPr algn="l">
              <a:spcAft>
                <a:spcPts val="400"/>
              </a:spcAft>
            </a:pPr>
            <a:r>
              <a:rPr sz="2400">
                <a:solidFill>
                  <a:srgbClr val="FFFFFF"/>
                </a:solidFill>
                <a:latin typeface="OPPOSans B" panose="00020600040101010101" charset="-122"/>
                <a:ea typeface="OPPOSans B" panose="00020600040101010101" charset="-122"/>
              </a:rPr>
              <a:t>资料难组织</a:t>
            </a:r>
            <a:endParaRPr sz="2400">
              <a:solidFill>
                <a:srgbClr val="FFFFFF"/>
              </a:solidFill>
              <a:latin typeface="OPPOSans B" panose="00020600040101010101" charset="-122"/>
              <a:ea typeface="OPPOSans B" panose="00020600040101010101" charset="-122"/>
            </a:endParaRPr>
          </a:p>
        </p:txBody>
      </p:sp>
      <p:sp>
        <p:nvSpPr>
          <p:cNvPr id="10" name="TextBox 9"/>
          <p:cNvSpPr txBox="1"/>
          <p:nvPr>
            <p:custDataLst>
              <p:tags r:id="rId4"/>
            </p:custDataLst>
          </p:nvPr>
        </p:nvSpPr>
        <p:spPr>
          <a:xfrm>
            <a:off x="667385" y="2658745"/>
            <a:ext cx="3401060" cy="986790"/>
          </a:xfrm>
          <a:prstGeom prst="rect">
            <a:avLst/>
          </a:prstGeom>
          <a:noFill/>
        </p:spPr>
        <p:txBody>
          <a:bodyPr wrap="square" lIns="18288" tIns="9144" rIns="18288" bIns="9144" anchor="t">
            <a:spAutoFit/>
          </a:bodyPr>
          <a:p>
            <a:pPr algn="l" fontAlgn="auto">
              <a:lnSpc>
                <a:spcPct val="150000"/>
              </a:lnSpc>
              <a:spcAft>
                <a:spcPts val="400"/>
              </a:spcAft>
            </a:pPr>
            <a:r>
              <a:rPr sz="1400">
                <a:solidFill>
                  <a:schemeClr val="tx1"/>
                </a:solidFill>
                <a:latin typeface="OPPOSans R" panose="00020600040101010101" charset="-122"/>
                <a:ea typeface="OPPOSans R" panose="00020600040101010101" charset="-122"/>
                <a:cs typeface="OPPOSans R" panose="00020600040101010101" charset="-122"/>
              </a:rPr>
              <a:t>制度正文、监管附件与统计报表分散，PDF / Word / Excel 格式并存；</a:t>
            </a:r>
            <a:r>
              <a:rPr sz="1400">
                <a:solidFill>
                  <a:schemeClr val="accent1"/>
                </a:solidFill>
                <a:latin typeface="OPPOSans B" panose="00020600040101010101" charset="-122"/>
                <a:ea typeface="OPPOSans B" panose="00020600040101010101" charset="-122"/>
                <a:cs typeface="OPPOSans R" panose="00020600040101010101" charset="-122"/>
                <a:sym typeface="+mn-ea"/>
              </a:rPr>
              <a:t>条款层级、表头、期间和单位</a:t>
            </a:r>
            <a:r>
              <a:rPr sz="1400">
                <a:solidFill>
                  <a:schemeClr val="tx1"/>
                </a:solidFill>
                <a:latin typeface="OPPOSans R" panose="00020600040101010101" charset="-122"/>
                <a:ea typeface="OPPOSans R" panose="00020600040101010101" charset="-122"/>
                <a:cs typeface="OPPOSans R" panose="00020600040101010101" charset="-122"/>
              </a:rPr>
              <a:t>容易在解析中丢失</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11" name="Rectangle 10"/>
          <p:cNvSpPr/>
          <p:nvPr>
            <p:custDataLst>
              <p:tags r:id="rId5"/>
            </p:custDataLst>
          </p:nvPr>
        </p:nvSpPr>
        <p:spPr>
          <a:xfrm>
            <a:off x="4288790" y="1954530"/>
            <a:ext cx="3611880" cy="185610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2" name="Rectangle 11"/>
          <p:cNvSpPr/>
          <p:nvPr>
            <p:custDataLst>
              <p:tags r:id="rId6"/>
            </p:custDataLst>
          </p:nvPr>
        </p:nvSpPr>
        <p:spPr>
          <a:xfrm>
            <a:off x="4288536" y="1954530"/>
            <a:ext cx="3611880" cy="566928"/>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3" name="TextBox 12"/>
          <p:cNvSpPr txBox="1"/>
          <p:nvPr>
            <p:custDataLst>
              <p:tags r:id="rId7"/>
            </p:custDataLst>
          </p:nvPr>
        </p:nvSpPr>
        <p:spPr>
          <a:xfrm>
            <a:off x="4425696" y="2075434"/>
            <a:ext cx="3337560" cy="325120"/>
          </a:xfrm>
          <a:prstGeom prst="rect">
            <a:avLst/>
          </a:prstGeom>
          <a:noFill/>
        </p:spPr>
        <p:txBody>
          <a:bodyPr wrap="square" lIns="18288" tIns="9144" rIns="18288" bIns="9144" anchor="ctr">
            <a:spAutoFit/>
          </a:bodyPr>
          <a:p>
            <a:pPr lvl="0" algn="l">
              <a:spcAft>
                <a:spcPts val="400"/>
              </a:spcAft>
              <a:buClrTx/>
              <a:buSzTx/>
              <a:buFontTx/>
            </a:pPr>
            <a:r>
              <a:rPr sz="2400">
                <a:solidFill>
                  <a:srgbClr val="FFFFFF"/>
                </a:solidFill>
                <a:latin typeface="OPPOSans B" panose="00020600040101010101" charset="-122"/>
                <a:ea typeface="OPPOSans B" panose="00020600040101010101" charset="-122"/>
                <a:sym typeface="+mn-ea"/>
              </a:rPr>
              <a:t>复杂问题难答全</a:t>
            </a:r>
            <a:endParaRPr sz="2400">
              <a:solidFill>
                <a:srgbClr val="FFFFFF"/>
              </a:solidFill>
              <a:latin typeface="OPPOSans B" panose="00020600040101010101" charset="-122"/>
              <a:ea typeface="OPPOSans B" panose="00020600040101010101" charset="-122"/>
              <a:sym typeface="+mn-ea"/>
            </a:endParaRPr>
          </a:p>
        </p:txBody>
      </p:sp>
      <p:sp>
        <p:nvSpPr>
          <p:cNvPr id="14" name="TextBox 13"/>
          <p:cNvSpPr txBox="1"/>
          <p:nvPr>
            <p:custDataLst>
              <p:tags r:id="rId8"/>
            </p:custDataLst>
          </p:nvPr>
        </p:nvSpPr>
        <p:spPr>
          <a:xfrm>
            <a:off x="4413250" y="2658745"/>
            <a:ext cx="3517265" cy="986790"/>
          </a:xfrm>
          <a:prstGeom prst="rect">
            <a:avLst/>
          </a:prstGeom>
          <a:noFill/>
        </p:spPr>
        <p:txBody>
          <a:bodyPr wrap="square" lIns="18288" tIns="9144" rIns="18288" bIns="9144" anchor="t">
            <a:spAutoFit/>
          </a:bodyPr>
          <a:p>
            <a:pPr lvl="0" algn="l">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一次问询可能涉及</a:t>
            </a:r>
            <a:r>
              <a:rPr sz="1400">
                <a:solidFill>
                  <a:schemeClr val="accent1"/>
                </a:solidFill>
                <a:latin typeface="OPPOSans B" panose="00020600040101010101" charset="-122"/>
                <a:ea typeface="OPPOSans B" panose="00020600040101010101" charset="-122"/>
                <a:cs typeface="OPPOSans R" panose="00020600040101010101" charset="-122"/>
                <a:sym typeface="+mn-ea"/>
              </a:rPr>
              <a:t>定义、适用条件、例外条款和多张报表</a:t>
            </a:r>
            <a:r>
              <a:rPr sz="1400">
                <a:solidFill>
                  <a:schemeClr val="tx1"/>
                </a:solidFill>
                <a:latin typeface="OPPOSans R" panose="00020600040101010101" charset="-122"/>
                <a:ea typeface="OPPOSans R" panose="00020600040101010101" charset="-122"/>
                <a:cs typeface="OPPOSans R" panose="00020600040101010101" charset="-122"/>
              </a:rPr>
              <a:t>，单次检索难以覆盖全部依据，跨文件与跨表核对依赖人工</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2" name="Rectangle 14"/>
          <p:cNvSpPr/>
          <p:nvPr>
            <p:custDataLst>
              <p:tags r:id="rId9"/>
            </p:custDataLst>
          </p:nvPr>
        </p:nvSpPr>
        <p:spPr>
          <a:xfrm>
            <a:off x="8074025" y="1954530"/>
            <a:ext cx="3611880" cy="185610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6" name="Rectangle 15"/>
          <p:cNvSpPr/>
          <p:nvPr>
            <p:custDataLst>
              <p:tags r:id="rId10"/>
            </p:custDataLst>
          </p:nvPr>
        </p:nvSpPr>
        <p:spPr>
          <a:xfrm>
            <a:off x="8074151" y="1953895"/>
            <a:ext cx="3611880" cy="5669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7" name="TextBox 16"/>
          <p:cNvSpPr txBox="1"/>
          <p:nvPr>
            <p:custDataLst>
              <p:tags r:id="rId11"/>
            </p:custDataLst>
          </p:nvPr>
        </p:nvSpPr>
        <p:spPr>
          <a:xfrm>
            <a:off x="8211311" y="2075434"/>
            <a:ext cx="3337560" cy="325120"/>
          </a:xfrm>
          <a:prstGeom prst="rect">
            <a:avLst/>
          </a:prstGeom>
          <a:noFill/>
        </p:spPr>
        <p:txBody>
          <a:bodyPr wrap="square" lIns="18288" tIns="9144" rIns="18288" bIns="9144" anchor="ctr">
            <a:spAutoFit/>
          </a:bodyPr>
          <a:p>
            <a:pPr lvl="0" algn="l">
              <a:spcAft>
                <a:spcPts val="400"/>
              </a:spcAft>
              <a:buClrTx/>
              <a:buSzTx/>
              <a:buFontTx/>
            </a:pPr>
            <a:r>
              <a:rPr sz="2400">
                <a:solidFill>
                  <a:srgbClr val="FFFFFF"/>
                </a:solidFill>
                <a:latin typeface="OPPOSans B" panose="00020600040101010101" charset="-122"/>
                <a:ea typeface="OPPOSans B" panose="00020600040101010101" charset="-122"/>
                <a:sym typeface="+mn-ea"/>
              </a:rPr>
              <a:t>答案难复核</a:t>
            </a:r>
            <a:endParaRPr sz="2400">
              <a:solidFill>
                <a:srgbClr val="FFFFFF"/>
              </a:solidFill>
              <a:latin typeface="OPPOSans B" panose="00020600040101010101" charset="-122"/>
              <a:ea typeface="OPPOSans B" panose="00020600040101010101" charset="-122"/>
              <a:sym typeface="+mn-ea"/>
            </a:endParaRPr>
          </a:p>
        </p:txBody>
      </p:sp>
      <p:sp>
        <p:nvSpPr>
          <p:cNvPr id="18" name="TextBox 17"/>
          <p:cNvSpPr txBox="1"/>
          <p:nvPr>
            <p:custDataLst>
              <p:tags r:id="rId12"/>
            </p:custDataLst>
          </p:nvPr>
        </p:nvSpPr>
        <p:spPr>
          <a:xfrm>
            <a:off x="8238743" y="2658618"/>
            <a:ext cx="3291840" cy="986790"/>
          </a:xfrm>
          <a:prstGeom prst="rect">
            <a:avLst/>
          </a:prstGeom>
          <a:noFill/>
        </p:spPr>
        <p:txBody>
          <a:bodyPr wrap="square" lIns="18288" tIns="9144" rIns="18288" bIns="9144" anchor="t">
            <a:spAutoFit/>
          </a:bodyPr>
          <a:p>
            <a:pPr lvl="0" algn="l">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数字正确仍需核对</a:t>
            </a:r>
            <a:r>
              <a:rPr sz="1400">
                <a:solidFill>
                  <a:schemeClr val="accent1"/>
                </a:solidFill>
                <a:latin typeface="OPPOSans B" panose="00020600040101010101" charset="-122"/>
                <a:ea typeface="OPPOSans B" panose="00020600040101010101" charset="-122"/>
                <a:cs typeface="OPPOSans R" panose="00020600040101010101" charset="-122"/>
                <a:sym typeface="+mn-ea"/>
              </a:rPr>
              <a:t>监管含义与适用范围</a:t>
            </a:r>
            <a:r>
              <a:rPr sz="1400">
                <a:solidFill>
                  <a:schemeClr val="tx1"/>
                </a:solidFill>
                <a:latin typeface="OPPOSans R" panose="00020600040101010101" charset="-122"/>
                <a:ea typeface="OPPOSans R" panose="00020600040101010101" charset="-122"/>
                <a:cs typeface="OPPOSans R" panose="00020600040101010101" charset="-122"/>
              </a:rPr>
              <a:t>；业务结论必须保留原文依据、条件例外和计算过程，支持复核与追踪</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19" name="Rectangle 18"/>
          <p:cNvSpPr/>
          <p:nvPr/>
        </p:nvSpPr>
        <p:spPr>
          <a:xfrm>
            <a:off x="502920" y="3915918"/>
            <a:ext cx="11183112" cy="205740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0" name="Rectangle 19"/>
          <p:cNvSpPr/>
          <p:nvPr/>
        </p:nvSpPr>
        <p:spPr>
          <a:xfrm>
            <a:off x="502920" y="3915918"/>
            <a:ext cx="82296" cy="20574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1" name="TextBox 20"/>
          <p:cNvSpPr txBox="1"/>
          <p:nvPr/>
        </p:nvSpPr>
        <p:spPr>
          <a:xfrm>
            <a:off x="777240" y="3989070"/>
            <a:ext cx="10698480" cy="386715"/>
          </a:xfrm>
          <a:prstGeom prst="rect">
            <a:avLst/>
          </a:prstGeom>
          <a:noFill/>
        </p:spPr>
        <p:txBody>
          <a:bodyPr wrap="square" lIns="18288" tIns="9144" rIns="18288" bIns="9144" anchor="t">
            <a:spAutoFit/>
          </a:bodyPr>
          <a:p>
            <a:pPr algn="l">
              <a:spcAft>
                <a:spcPts val="400"/>
              </a:spcAft>
            </a:pPr>
            <a:r>
              <a:rPr sz="2400">
                <a:solidFill>
                  <a:srgbClr val="C00000"/>
                </a:solidFill>
                <a:latin typeface="OPPOSans B" panose="00020600040101010101" charset="-122"/>
                <a:ea typeface="OPPOSans B" panose="00020600040101010101" charset="-122"/>
              </a:rPr>
              <a:t>监管知识服务的四项关键挑战</a:t>
            </a:r>
            <a:endParaRPr sz="2400">
              <a:solidFill>
                <a:srgbClr val="C00000"/>
              </a:solidFill>
              <a:latin typeface="OPPOSans B" panose="00020600040101010101" charset="-122"/>
              <a:ea typeface="OPPOSans B" panose="00020600040101010101" charset="-122"/>
            </a:endParaRPr>
          </a:p>
        </p:txBody>
      </p:sp>
      <p:sp>
        <p:nvSpPr>
          <p:cNvPr id="22" name="TextBox 21"/>
          <p:cNvSpPr txBox="1"/>
          <p:nvPr/>
        </p:nvSpPr>
        <p:spPr>
          <a:xfrm>
            <a:off x="777240" y="4383405"/>
            <a:ext cx="10698480" cy="1464310"/>
          </a:xfrm>
          <a:prstGeom prst="rect">
            <a:avLst/>
          </a:prstGeom>
          <a:noFill/>
        </p:spPr>
        <p:txBody>
          <a:bodyPr wrap="square" lIns="18288" tIns="9144" rIns="18288" bIns="9144" anchor="t">
            <a:spAutoFit/>
          </a:bodyPr>
          <a:p>
            <a:pPr algn="l" fontAlgn="auto">
              <a:lnSpc>
                <a:spcPct val="150000"/>
              </a:lnSpc>
              <a:spcAft>
                <a:spcPts val="400"/>
              </a:spcAft>
            </a:pPr>
            <a:r>
              <a:rPr sz="1400">
                <a:solidFill>
                  <a:srgbClr val="CE0000"/>
                </a:solidFill>
                <a:latin typeface="OPPOSans B" panose="00020600040101010101" charset="-122"/>
                <a:ea typeface="OPPOSans B" panose="00020600040101010101" charset="-122"/>
                <a:cs typeface="OPPOSans B" panose="00020600040101010101" charset="-122"/>
              </a:rPr>
              <a:t>▪ 结构解析：</a:t>
            </a:r>
            <a:r>
              <a:rPr sz="1400">
                <a:solidFill>
                  <a:schemeClr val="tx1"/>
                </a:solidFill>
                <a:latin typeface="OPPOSans R" panose="00020600040101010101" charset="-122"/>
                <a:ea typeface="OPPOSans R" panose="00020600040101010101" charset="-122"/>
                <a:cs typeface="OPPOSans R" panose="00020600040101010101" charset="-122"/>
              </a:rPr>
              <a:t>保留标题层级、条款编号、表头关系、期间与单位，避免制度语境和数值口径丢失</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50000"/>
              </a:lnSpc>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rPr>
              <a:t>▪ 证据覆盖：</a:t>
            </a:r>
            <a:r>
              <a:rPr sz="1400">
                <a:solidFill>
                  <a:schemeClr val="tx1"/>
                </a:solidFill>
                <a:latin typeface="OPPOSans R" panose="00020600040101010101" charset="-122"/>
                <a:ea typeface="OPPOSans R" panose="00020600040101010101" charset="-122"/>
                <a:cs typeface="OPPOSans R" panose="00020600040101010101" charset="-122"/>
              </a:rPr>
              <a:t>同时定位定义、主体、条件与例外，补齐单次召回遗漏的关键依据</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50000"/>
              </a:lnSpc>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rPr>
              <a:t>▪ 跨文档与表格推理：</a:t>
            </a:r>
            <a:r>
              <a:rPr sz="1400">
                <a:solidFill>
                  <a:schemeClr val="tx1"/>
                </a:solidFill>
                <a:latin typeface="OPPOSans R" panose="00020600040101010101" charset="-122"/>
                <a:ea typeface="OPPOSans R" panose="00020600040101010101" charset="-122"/>
                <a:cs typeface="OPPOSans R" panose="00020600040101010101" charset="-122"/>
              </a:rPr>
              <a:t>联动制度正文和统计附件，完成条款关联、维度匹配与可复算的数值计算</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50000"/>
              </a:lnSpc>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rPr>
              <a:t>▪ 监管语义校验：</a:t>
            </a:r>
            <a:r>
              <a:rPr sz="1400">
                <a:solidFill>
                  <a:schemeClr val="tx1"/>
                </a:solidFill>
                <a:latin typeface="OPPOSans R" panose="00020600040101010101" charset="-122"/>
                <a:ea typeface="OPPOSans R" panose="00020600040101010101" charset="-122"/>
                <a:cs typeface="OPPOSans R" panose="00020600040101010101" charset="-122"/>
              </a:rPr>
              <a:t>辨别“应当 / 可以 / 不得 / 原则上”，核对关键事实与适用边界，降低表述偏移风险</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23" name="Rectangle 5"/>
          <p:cNvSpPr/>
          <p:nvPr/>
        </p:nvSpPr>
        <p:spPr>
          <a:xfrm>
            <a:off x="502920" y="1840230"/>
            <a:ext cx="11183112"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02</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解决方案</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50520" y="721360"/>
            <a:ext cx="12862560" cy="5641340"/>
          </a:xfrm>
          <a:prstGeom prst="rect">
            <a:avLst/>
          </a:prstGeom>
          <a:solidFill>
            <a:schemeClr val="bg1"/>
          </a:solidFill>
          <a:ln>
            <a:solidFill>
              <a:srgbClr val="012F8D"/>
            </a:solid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3"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4"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总体方案：贯通知识构建与可信问答的业务闭环</a:t>
            </a:r>
            <a:endParaRPr sz="3000">
              <a:solidFill>
                <a:srgbClr val="195CC4"/>
              </a:solidFill>
              <a:latin typeface="OPPOSans B" panose="00020600040101010101" charset="-122"/>
              <a:ea typeface="OPPOSans B" panose="00020600040101010101" charset="-122"/>
              <a:sym typeface="+mn-ea"/>
            </a:endParaRPr>
          </a:p>
        </p:txBody>
      </p:sp>
      <p:sp>
        <p:nvSpPr>
          <p:cNvPr id="23" name="Rectangle 5"/>
          <p:cNvSpPr/>
          <p:nvPr/>
        </p:nvSpPr>
        <p:spPr>
          <a:xfrm>
            <a:off x="713105" y="1553845"/>
            <a:ext cx="1101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 name="TextBox 5"/>
          <p:cNvSpPr txBox="1"/>
          <p:nvPr/>
        </p:nvSpPr>
        <p:spPr>
          <a:xfrm>
            <a:off x="693420" y="1686560"/>
            <a:ext cx="11155680" cy="263525"/>
          </a:xfrm>
          <a:prstGeom prst="rect">
            <a:avLst/>
          </a:prstGeom>
          <a:noFill/>
        </p:spPr>
        <p:txBody>
          <a:bodyPr wrap="square" lIns="18288" tIns="9144" rIns="18288" bIns="9144" anchor="t">
            <a:spAutoFit/>
          </a:bodyPr>
          <a:p>
            <a:pPr algn="l">
              <a:spcAft>
                <a:spcPts val="400"/>
              </a:spcAft>
            </a:pPr>
            <a:r>
              <a:rPr sz="1600">
                <a:solidFill>
                  <a:srgbClr val="1F3864"/>
                </a:solidFill>
                <a:latin typeface="OPPOSans B" panose="00020600040101010101" charset="-122"/>
                <a:ea typeface="OPPOSans B" panose="00020600040101010101" charset="-122"/>
                <a:cs typeface="OPPOSans R" panose="00020600040101010101" charset="-122"/>
              </a:rPr>
              <a:t>围绕文档处理与可信问答两项赛题任务，构建“</a:t>
            </a:r>
            <a:r>
              <a:rPr sz="1600">
                <a:solidFill>
                  <a:srgbClr val="CE0000"/>
                </a:solidFill>
                <a:latin typeface="OPPOSans B" panose="00020600040101010101" charset="-122"/>
                <a:ea typeface="OPPOSans B" panose="00020600040101010101" charset="-122"/>
                <a:cs typeface="OPPOSans B" panose="00020600040101010101" charset="-122"/>
              </a:rPr>
              <a:t>知识可定位、计算可复核、结论可核验、服务可持续</a:t>
            </a:r>
            <a:r>
              <a:rPr sz="1600">
                <a:solidFill>
                  <a:srgbClr val="1F3864"/>
                </a:solidFill>
                <a:latin typeface="OPPOSans B" panose="00020600040101010101" charset="-122"/>
                <a:ea typeface="OPPOSans B" panose="00020600040101010101" charset="-122"/>
                <a:cs typeface="OPPOSans R" panose="00020600040101010101" charset="-122"/>
              </a:rPr>
              <a:t>”的业务能力。</a:t>
            </a:r>
            <a:endParaRPr sz="1600">
              <a:solidFill>
                <a:srgbClr val="1F3864"/>
              </a:solidFill>
              <a:latin typeface="OPPOSans B" panose="00020600040101010101" charset="-122"/>
              <a:ea typeface="OPPOSans B" panose="00020600040101010101" charset="-122"/>
              <a:cs typeface="OPPOSans R" panose="00020600040101010101" charset="-122"/>
            </a:endParaRPr>
          </a:p>
        </p:txBody>
      </p:sp>
      <p:sp>
        <p:nvSpPr>
          <p:cNvPr id="24" name="Pentagon 6"/>
          <p:cNvSpPr/>
          <p:nvPr/>
        </p:nvSpPr>
        <p:spPr>
          <a:xfrm>
            <a:off x="502920" y="2101850"/>
            <a:ext cx="1691640" cy="566928"/>
          </a:xfrm>
          <a:prstGeom prst="homePlat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5" name="TextBox 7"/>
          <p:cNvSpPr txBox="1"/>
          <p:nvPr/>
        </p:nvSpPr>
        <p:spPr>
          <a:xfrm>
            <a:off x="612648" y="2228851"/>
            <a:ext cx="1463040" cy="294640"/>
          </a:xfrm>
          <a:prstGeom prst="rect">
            <a:avLst/>
          </a:prstGeom>
          <a:noFill/>
        </p:spPr>
        <p:txBody>
          <a:bodyPr wrap="square" lIns="18288" tIns="9144" rIns="18288" bIns="9144" anchor="ctr">
            <a:spAutoFit/>
          </a:bodyPr>
          <a:p>
            <a:pPr algn="ctr">
              <a:spcAft>
                <a:spcPts val="400"/>
              </a:spcAft>
            </a:pPr>
            <a:r>
              <a:rPr>
                <a:solidFill>
                  <a:srgbClr val="FFFFFF"/>
                </a:solidFill>
                <a:latin typeface="OPPOSans B" panose="00020600040101010101" charset="-122"/>
                <a:ea typeface="OPPOSans B" panose="00020600040101010101" charset="-122"/>
              </a:rPr>
              <a:t>输入</a:t>
            </a:r>
            <a:endParaRPr>
              <a:solidFill>
                <a:srgbClr val="FFFFFF"/>
              </a:solidFill>
              <a:latin typeface="OPPOSans B" panose="00020600040101010101" charset="-122"/>
              <a:ea typeface="OPPOSans B" panose="00020600040101010101" charset="-122"/>
            </a:endParaRPr>
          </a:p>
        </p:txBody>
      </p:sp>
      <p:sp>
        <p:nvSpPr>
          <p:cNvPr id="26" name="Chevron 8"/>
          <p:cNvSpPr/>
          <p:nvPr/>
        </p:nvSpPr>
        <p:spPr>
          <a:xfrm>
            <a:off x="2377439" y="2101850"/>
            <a:ext cx="1691640" cy="566928"/>
          </a:xfrm>
          <a:prstGeom prst="chevron">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7" name="TextBox 9"/>
          <p:cNvSpPr txBox="1"/>
          <p:nvPr/>
        </p:nvSpPr>
        <p:spPr>
          <a:xfrm>
            <a:off x="2540508" y="2228851"/>
            <a:ext cx="1463040" cy="294640"/>
          </a:xfrm>
          <a:prstGeom prst="rect">
            <a:avLst/>
          </a:prstGeom>
          <a:noFill/>
        </p:spPr>
        <p:txBody>
          <a:bodyPr wrap="square" lIns="18288" tIns="9144" rIns="18288" bIns="9144" anchor="ctr">
            <a:spAutoFit/>
          </a:bodyPr>
          <a:p>
            <a:pPr algn="ctr">
              <a:spcAft>
                <a:spcPts val="400"/>
              </a:spcAft>
              <a:buClrTx/>
              <a:buSzTx/>
              <a:buFontTx/>
            </a:pPr>
            <a:r>
              <a:rPr>
                <a:solidFill>
                  <a:srgbClr val="FFFFFF"/>
                </a:solidFill>
                <a:latin typeface="OPPOSans B" panose="00020600040101010101" charset="-122"/>
                <a:ea typeface="OPPOSans B" panose="00020600040101010101" charset="-122"/>
              </a:rPr>
              <a:t>结构化处理</a:t>
            </a:r>
            <a:endParaRPr>
              <a:solidFill>
                <a:srgbClr val="FFFFFF"/>
              </a:solidFill>
              <a:latin typeface="OPPOSans B" panose="00020600040101010101" charset="-122"/>
              <a:ea typeface="OPPOSans B" panose="00020600040101010101" charset="-122"/>
            </a:endParaRPr>
          </a:p>
        </p:txBody>
      </p:sp>
      <p:sp>
        <p:nvSpPr>
          <p:cNvPr id="28" name="Chevron 10"/>
          <p:cNvSpPr/>
          <p:nvPr/>
        </p:nvSpPr>
        <p:spPr>
          <a:xfrm>
            <a:off x="4251959" y="2101850"/>
            <a:ext cx="1691640" cy="566928"/>
          </a:xfrm>
          <a:prstGeom prst="chevron">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9" name="TextBox 11"/>
          <p:cNvSpPr txBox="1"/>
          <p:nvPr/>
        </p:nvSpPr>
        <p:spPr>
          <a:xfrm>
            <a:off x="4392168" y="2228851"/>
            <a:ext cx="1463040" cy="294640"/>
          </a:xfrm>
          <a:prstGeom prst="rect">
            <a:avLst/>
          </a:prstGeom>
          <a:noFill/>
        </p:spPr>
        <p:txBody>
          <a:bodyPr wrap="square" lIns="18288" tIns="9144" rIns="18288" bIns="9144" anchor="ctr">
            <a:spAutoFit/>
          </a:bodyPr>
          <a:p>
            <a:pPr algn="ctr">
              <a:spcAft>
                <a:spcPts val="400"/>
              </a:spcAft>
            </a:pPr>
            <a:r>
              <a:rPr>
                <a:solidFill>
                  <a:srgbClr val="FFFFFF"/>
                </a:solidFill>
                <a:latin typeface="OPPOSans B" panose="00020600040101010101" charset="-122"/>
                <a:ea typeface="OPPOSans B" panose="00020600040101010101" charset="-122"/>
              </a:rPr>
              <a:t>检索推理</a:t>
            </a:r>
            <a:endParaRPr>
              <a:solidFill>
                <a:srgbClr val="FFFFFF"/>
              </a:solidFill>
              <a:latin typeface="OPPOSans B" panose="00020600040101010101" charset="-122"/>
              <a:ea typeface="OPPOSans B" panose="00020600040101010101" charset="-122"/>
            </a:endParaRPr>
          </a:p>
        </p:txBody>
      </p:sp>
      <p:sp>
        <p:nvSpPr>
          <p:cNvPr id="30" name="Chevron 12"/>
          <p:cNvSpPr/>
          <p:nvPr/>
        </p:nvSpPr>
        <p:spPr>
          <a:xfrm>
            <a:off x="6126479" y="2101850"/>
            <a:ext cx="1691640" cy="566928"/>
          </a:xfrm>
          <a:prstGeom prst="chevron">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1" name="TextBox 13"/>
          <p:cNvSpPr txBox="1"/>
          <p:nvPr/>
        </p:nvSpPr>
        <p:spPr>
          <a:xfrm>
            <a:off x="6266687" y="2228851"/>
            <a:ext cx="1463040" cy="294640"/>
          </a:xfrm>
          <a:prstGeom prst="rect">
            <a:avLst/>
          </a:prstGeom>
          <a:noFill/>
        </p:spPr>
        <p:txBody>
          <a:bodyPr wrap="square" lIns="18288" tIns="9144" rIns="18288" bIns="9144" anchor="ctr">
            <a:spAutoFit/>
          </a:bodyPr>
          <a:p>
            <a:pPr algn="ctr">
              <a:spcAft>
                <a:spcPts val="400"/>
              </a:spcAft>
            </a:pPr>
            <a:r>
              <a:rPr>
                <a:solidFill>
                  <a:srgbClr val="FFFFFF"/>
                </a:solidFill>
                <a:latin typeface="OPPOSans B" panose="00020600040101010101" charset="-122"/>
                <a:ea typeface="OPPOSans B" panose="00020600040101010101" charset="-122"/>
              </a:rPr>
              <a:t>可信校验</a:t>
            </a:r>
            <a:endParaRPr>
              <a:solidFill>
                <a:srgbClr val="FFFFFF"/>
              </a:solidFill>
              <a:latin typeface="OPPOSans B" panose="00020600040101010101" charset="-122"/>
              <a:ea typeface="OPPOSans B" panose="00020600040101010101" charset="-122"/>
            </a:endParaRPr>
          </a:p>
        </p:txBody>
      </p:sp>
      <p:sp>
        <p:nvSpPr>
          <p:cNvPr id="32" name="Chevron 14"/>
          <p:cNvSpPr/>
          <p:nvPr/>
        </p:nvSpPr>
        <p:spPr>
          <a:xfrm>
            <a:off x="8001000" y="2101850"/>
            <a:ext cx="1691640" cy="566928"/>
          </a:xfrm>
          <a:prstGeom prst="chevron">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3" name="TextBox 15"/>
          <p:cNvSpPr txBox="1"/>
          <p:nvPr/>
        </p:nvSpPr>
        <p:spPr>
          <a:xfrm>
            <a:off x="8179307" y="2228851"/>
            <a:ext cx="1463040" cy="294640"/>
          </a:xfrm>
          <a:prstGeom prst="rect">
            <a:avLst/>
          </a:prstGeom>
          <a:noFill/>
        </p:spPr>
        <p:txBody>
          <a:bodyPr wrap="square" lIns="18288" tIns="9144" rIns="18288" bIns="9144" anchor="ctr">
            <a:spAutoFit/>
          </a:bodyPr>
          <a:p>
            <a:pPr algn="ctr">
              <a:spcAft>
                <a:spcPts val="400"/>
              </a:spcAft>
            </a:pPr>
            <a:r>
              <a:rPr>
                <a:solidFill>
                  <a:srgbClr val="FFFFFF"/>
                </a:solidFill>
                <a:latin typeface="OPPOSans B" panose="00020600040101010101" charset="-122"/>
                <a:ea typeface="OPPOSans B" panose="00020600040101010101" charset="-122"/>
              </a:rPr>
              <a:t>可溯源输出</a:t>
            </a:r>
            <a:endParaRPr>
              <a:solidFill>
                <a:srgbClr val="FFFFFF"/>
              </a:solidFill>
              <a:latin typeface="OPPOSans B" panose="00020600040101010101" charset="-122"/>
              <a:ea typeface="OPPOSans B" panose="00020600040101010101" charset="-122"/>
            </a:endParaRPr>
          </a:p>
        </p:txBody>
      </p:sp>
      <p:sp>
        <p:nvSpPr>
          <p:cNvPr id="34" name="Chevron 16"/>
          <p:cNvSpPr/>
          <p:nvPr/>
        </p:nvSpPr>
        <p:spPr>
          <a:xfrm>
            <a:off x="9875520" y="2101850"/>
            <a:ext cx="1691640" cy="566928"/>
          </a:xfrm>
          <a:prstGeom prst="chevron">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5" name="TextBox 17"/>
          <p:cNvSpPr txBox="1"/>
          <p:nvPr/>
        </p:nvSpPr>
        <p:spPr>
          <a:xfrm>
            <a:off x="10030968" y="2228851"/>
            <a:ext cx="1463040" cy="294640"/>
          </a:xfrm>
          <a:prstGeom prst="rect">
            <a:avLst/>
          </a:prstGeom>
          <a:noFill/>
        </p:spPr>
        <p:txBody>
          <a:bodyPr wrap="square" lIns="18288" tIns="9144" rIns="18288" bIns="9144" anchor="ctr">
            <a:spAutoFit/>
          </a:bodyPr>
          <a:p>
            <a:pPr algn="ctr">
              <a:spcAft>
                <a:spcPts val="400"/>
              </a:spcAft>
            </a:pPr>
            <a:r>
              <a:rPr>
                <a:solidFill>
                  <a:srgbClr val="FFFFFF"/>
                </a:solidFill>
                <a:latin typeface="OPPOSans B" panose="00020600040101010101" charset="-122"/>
                <a:ea typeface="OPPOSans B" panose="00020600040101010101" charset="-122"/>
              </a:rPr>
              <a:t>审计评测</a:t>
            </a:r>
            <a:endParaRPr>
              <a:solidFill>
                <a:srgbClr val="FFFFFF"/>
              </a:solidFill>
              <a:latin typeface="OPPOSans B" panose="00020600040101010101" charset="-122"/>
              <a:ea typeface="OPPOSans B" panose="00020600040101010101" charset="-122"/>
            </a:endParaRPr>
          </a:p>
        </p:txBody>
      </p:sp>
      <p:sp>
        <p:nvSpPr>
          <p:cNvPr id="36" name="TextBox 18"/>
          <p:cNvSpPr txBox="1"/>
          <p:nvPr/>
        </p:nvSpPr>
        <p:spPr>
          <a:xfrm>
            <a:off x="502920" y="2750820"/>
            <a:ext cx="11155680" cy="386715"/>
          </a:xfrm>
          <a:prstGeom prst="rect">
            <a:avLst/>
          </a:prstGeom>
          <a:noFill/>
        </p:spPr>
        <p:txBody>
          <a:bodyPr wrap="square" lIns="18288" tIns="9144" rIns="18288" bIns="9144" anchor="t">
            <a:spAutoFit/>
          </a:bodyPr>
          <a:p>
            <a:pPr algn="l">
              <a:spcAft>
                <a:spcPts val="400"/>
              </a:spcAft>
            </a:pPr>
            <a:r>
              <a:rPr sz="2400">
                <a:solidFill>
                  <a:srgbClr val="C00000"/>
                </a:solidFill>
                <a:latin typeface="OPPOSans B" panose="00020600040101010101" charset="-122"/>
                <a:ea typeface="OPPOSans B" panose="00020600040101010101" charset="-122"/>
              </a:rPr>
              <a:t>四项核心能力</a:t>
            </a:r>
            <a:endParaRPr sz="2400">
              <a:solidFill>
                <a:srgbClr val="C00000"/>
              </a:solidFill>
              <a:latin typeface="OPPOSans B" panose="00020600040101010101" charset="-122"/>
              <a:ea typeface="OPPOSans B" panose="00020600040101010101" charset="-122"/>
            </a:endParaRPr>
          </a:p>
        </p:txBody>
      </p:sp>
      <p:sp>
        <p:nvSpPr>
          <p:cNvPr id="37" name="Rectangle 19"/>
          <p:cNvSpPr/>
          <p:nvPr/>
        </p:nvSpPr>
        <p:spPr>
          <a:xfrm>
            <a:off x="502920" y="3238500"/>
            <a:ext cx="5486400" cy="105156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8" name="Rectangle 20"/>
          <p:cNvSpPr/>
          <p:nvPr/>
        </p:nvSpPr>
        <p:spPr>
          <a:xfrm>
            <a:off x="502920" y="3238500"/>
            <a:ext cx="82296" cy="1051560"/>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9" name="TextBox 21"/>
          <p:cNvSpPr txBox="1"/>
          <p:nvPr/>
        </p:nvSpPr>
        <p:spPr>
          <a:xfrm>
            <a:off x="731520" y="3288792"/>
            <a:ext cx="5120640" cy="325120"/>
          </a:xfrm>
          <a:prstGeom prst="rect">
            <a:avLst/>
          </a:prstGeom>
          <a:noFill/>
        </p:spPr>
        <p:txBody>
          <a:bodyPr wrap="square" lIns="18288" tIns="9144" rIns="18288" bIns="9144" anchor="t">
            <a:spAutoFit/>
          </a:bodyPr>
          <a:p>
            <a:pPr algn="l">
              <a:spcAft>
                <a:spcPts val="400"/>
              </a:spcAft>
            </a:pPr>
            <a:r>
              <a:rPr sz="2000">
                <a:solidFill>
                  <a:schemeClr val="accent1"/>
                </a:solidFill>
                <a:latin typeface="OPPOSans B" panose="00020600040101010101" charset="-122"/>
                <a:ea typeface="OPPOSans B" panose="00020600040101010101" charset="-122"/>
                <a:cs typeface="OPPOSans B" panose="00020600040101010101" charset="-122"/>
              </a:rPr>
              <a:t>1. 知识可定位</a:t>
            </a:r>
            <a:endParaRPr sz="2000">
              <a:solidFill>
                <a:schemeClr val="accent1"/>
              </a:solidFill>
              <a:latin typeface="OPPOSans B" panose="00020600040101010101" charset="-122"/>
              <a:ea typeface="OPPOSans B" panose="00020600040101010101" charset="-122"/>
              <a:cs typeface="OPPOSans B" panose="00020600040101010101" charset="-122"/>
            </a:endParaRPr>
          </a:p>
        </p:txBody>
      </p:sp>
      <p:sp>
        <p:nvSpPr>
          <p:cNvPr id="40" name="TextBox 22"/>
          <p:cNvSpPr txBox="1"/>
          <p:nvPr/>
        </p:nvSpPr>
        <p:spPr>
          <a:xfrm>
            <a:off x="731520" y="3670300"/>
            <a:ext cx="5257800" cy="534035"/>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制度条款、定义与表格单元格统一组织，保留</a:t>
            </a:r>
            <a:r>
              <a:rPr sz="1400">
                <a:solidFill>
                  <a:schemeClr val="accent1"/>
                </a:solidFill>
                <a:latin typeface="OPPOSans B" panose="00020600040101010101" charset="-122"/>
                <a:ea typeface="OPPOSans B" panose="00020600040101010101" charset="-122"/>
                <a:cs typeface="OPPOSans R" panose="00020600040101010101" charset="-122"/>
                <a:sym typeface="+mn-ea"/>
              </a:rPr>
              <a:t>原始来源与业务维度</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41" name="Rectangle 23"/>
          <p:cNvSpPr/>
          <p:nvPr/>
        </p:nvSpPr>
        <p:spPr>
          <a:xfrm>
            <a:off x="6199505" y="3238500"/>
            <a:ext cx="5543550" cy="105156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2" name="Rectangle 24"/>
          <p:cNvSpPr/>
          <p:nvPr/>
        </p:nvSpPr>
        <p:spPr>
          <a:xfrm>
            <a:off x="6199632" y="3238500"/>
            <a:ext cx="82296" cy="10515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3" name="TextBox 25"/>
          <p:cNvSpPr txBox="1"/>
          <p:nvPr/>
        </p:nvSpPr>
        <p:spPr>
          <a:xfrm>
            <a:off x="6428232" y="3288792"/>
            <a:ext cx="5120640" cy="325120"/>
          </a:xfrm>
          <a:prstGeom prst="rect">
            <a:avLst/>
          </a:prstGeom>
          <a:noFill/>
        </p:spPr>
        <p:txBody>
          <a:bodyPr wrap="square" lIns="18288" tIns="9144" rIns="18288" bIns="9144" anchor="t">
            <a:spAutoFit/>
          </a:bodyPr>
          <a:p>
            <a:pPr lvl="0" algn="l">
              <a:spcAft>
                <a:spcPts val="400"/>
              </a:spcAft>
              <a:buClrTx/>
              <a:buSzTx/>
              <a:buFontTx/>
            </a:pPr>
            <a:r>
              <a:rPr sz="2000">
                <a:solidFill>
                  <a:schemeClr val="accent1"/>
                </a:solidFill>
                <a:latin typeface="OPPOSans B" panose="00020600040101010101" charset="-122"/>
                <a:ea typeface="OPPOSans B" panose="00020600040101010101" charset="-122"/>
                <a:cs typeface="OPPOSans B" panose="00020600040101010101" charset="-122"/>
                <a:sym typeface="+mn-ea"/>
              </a:rPr>
              <a:t>2. 计算可复核</a:t>
            </a:r>
            <a:endParaRPr sz="2000">
              <a:solidFill>
                <a:schemeClr val="accent1"/>
              </a:solidFill>
              <a:latin typeface="OPPOSans B" panose="00020600040101010101" charset="-122"/>
              <a:ea typeface="OPPOSans B" panose="00020600040101010101" charset="-122"/>
              <a:cs typeface="OPPOSans B" panose="00020600040101010101" charset="-122"/>
              <a:sym typeface="+mn-ea"/>
            </a:endParaRPr>
          </a:p>
        </p:txBody>
      </p:sp>
      <p:sp>
        <p:nvSpPr>
          <p:cNvPr id="44" name="TextBox 26"/>
          <p:cNvSpPr txBox="1"/>
          <p:nvPr/>
        </p:nvSpPr>
        <p:spPr>
          <a:xfrm>
            <a:off x="6428105" y="3670300"/>
            <a:ext cx="5120640" cy="534035"/>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表格取数与数值运算由程序执行，</a:t>
            </a:r>
            <a:r>
              <a:rPr sz="1400">
                <a:solidFill>
                  <a:schemeClr val="accent1"/>
                </a:solidFill>
                <a:latin typeface="OPPOSans B" panose="00020600040101010101" charset="-122"/>
                <a:ea typeface="OPPOSans B" panose="00020600040101010101" charset="-122"/>
                <a:cs typeface="OPPOSans R" panose="00020600040101010101" charset="-122"/>
                <a:sym typeface="+mn-ea"/>
              </a:rPr>
              <a:t>操作数、算式、单位与原表坐标</a:t>
            </a:r>
            <a:r>
              <a:rPr sz="1400">
                <a:solidFill>
                  <a:schemeClr val="tx1"/>
                </a:solidFill>
                <a:latin typeface="OPPOSans R" panose="00020600040101010101" charset="-122"/>
                <a:ea typeface="OPPOSans R" panose="00020600040101010101" charset="-122"/>
                <a:cs typeface="OPPOSans R" panose="00020600040101010101" charset="-122"/>
              </a:rPr>
              <a:t>随结果交付</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45" name="Rectangle 27"/>
          <p:cNvSpPr/>
          <p:nvPr/>
        </p:nvSpPr>
        <p:spPr>
          <a:xfrm>
            <a:off x="502920" y="4445508"/>
            <a:ext cx="5486400" cy="105156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6" name="Rectangle 28"/>
          <p:cNvSpPr/>
          <p:nvPr/>
        </p:nvSpPr>
        <p:spPr>
          <a:xfrm>
            <a:off x="502920" y="4445508"/>
            <a:ext cx="82296" cy="10515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7" name="TextBox 29"/>
          <p:cNvSpPr txBox="1"/>
          <p:nvPr/>
        </p:nvSpPr>
        <p:spPr>
          <a:xfrm>
            <a:off x="731520" y="4480560"/>
            <a:ext cx="5120640" cy="325120"/>
          </a:xfrm>
          <a:prstGeom prst="rect">
            <a:avLst/>
          </a:prstGeom>
          <a:noFill/>
        </p:spPr>
        <p:txBody>
          <a:bodyPr wrap="square" lIns="18288" tIns="9144" rIns="18288" bIns="9144" anchor="t">
            <a:spAutoFit/>
          </a:bodyPr>
          <a:p>
            <a:pPr algn="l">
              <a:spcAft>
                <a:spcPts val="400"/>
              </a:spcAft>
            </a:pPr>
            <a:r>
              <a:rPr sz="2000">
                <a:solidFill>
                  <a:schemeClr val="accent1"/>
                </a:solidFill>
                <a:latin typeface="OPPOSans B" panose="00020600040101010101" charset="-122"/>
                <a:ea typeface="OPPOSans B" panose="00020600040101010101" charset="-122"/>
                <a:cs typeface="OPPOSans B" panose="00020600040101010101" charset="-122"/>
              </a:rPr>
              <a:t>3. 结论可核验</a:t>
            </a:r>
            <a:endParaRPr sz="2000">
              <a:solidFill>
                <a:schemeClr val="accent1"/>
              </a:solidFill>
              <a:latin typeface="OPPOSans B" panose="00020600040101010101" charset="-122"/>
              <a:ea typeface="OPPOSans B" panose="00020600040101010101" charset="-122"/>
              <a:cs typeface="OPPOSans B" panose="00020600040101010101" charset="-122"/>
            </a:endParaRPr>
          </a:p>
        </p:txBody>
      </p:sp>
      <p:sp>
        <p:nvSpPr>
          <p:cNvPr id="48" name="TextBox 30"/>
          <p:cNvSpPr txBox="1"/>
          <p:nvPr/>
        </p:nvSpPr>
        <p:spPr>
          <a:xfrm>
            <a:off x="731520" y="4862195"/>
            <a:ext cx="5120005" cy="534035"/>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围绕证据生成答复，核对</a:t>
            </a:r>
            <a:r>
              <a:rPr sz="1400">
                <a:solidFill>
                  <a:schemeClr val="accent1"/>
                </a:solidFill>
                <a:latin typeface="OPPOSans B" panose="00020600040101010101" charset="-122"/>
                <a:ea typeface="OPPOSans B" panose="00020600040101010101" charset="-122"/>
                <a:cs typeface="OPPOSans R" panose="00020600040101010101" charset="-122"/>
                <a:sym typeface="+mn-ea"/>
              </a:rPr>
              <a:t>关键事实、规范强度及条件例外</a:t>
            </a:r>
            <a:r>
              <a:rPr sz="1400">
                <a:solidFill>
                  <a:schemeClr val="tx1"/>
                </a:solidFill>
                <a:latin typeface="OPPOSans R" panose="00020600040101010101" charset="-122"/>
                <a:ea typeface="OPPOSans R" panose="00020600040101010101" charset="-122"/>
                <a:cs typeface="OPPOSans R" panose="00020600040101010101" charset="-122"/>
              </a:rPr>
              <a:t>，支持人工复核</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49" name="Rectangle 31"/>
          <p:cNvSpPr/>
          <p:nvPr/>
        </p:nvSpPr>
        <p:spPr>
          <a:xfrm>
            <a:off x="6199505" y="4445635"/>
            <a:ext cx="5543550" cy="105156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0" name="Rectangle 32"/>
          <p:cNvSpPr/>
          <p:nvPr/>
        </p:nvSpPr>
        <p:spPr>
          <a:xfrm>
            <a:off x="6199632" y="4445508"/>
            <a:ext cx="82296" cy="10515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1" name="TextBox 33"/>
          <p:cNvSpPr txBox="1"/>
          <p:nvPr/>
        </p:nvSpPr>
        <p:spPr>
          <a:xfrm>
            <a:off x="6428232" y="4480560"/>
            <a:ext cx="5120640" cy="325120"/>
          </a:xfrm>
          <a:prstGeom prst="rect">
            <a:avLst/>
          </a:prstGeom>
          <a:noFill/>
        </p:spPr>
        <p:txBody>
          <a:bodyPr wrap="square" lIns="18288" tIns="9144" rIns="18288" bIns="9144" anchor="t">
            <a:spAutoFit/>
          </a:bodyPr>
          <a:p>
            <a:pPr lvl="0" algn="l">
              <a:spcAft>
                <a:spcPts val="400"/>
              </a:spcAft>
              <a:buClrTx/>
              <a:buSzTx/>
              <a:buFontTx/>
            </a:pPr>
            <a:r>
              <a:rPr sz="2000">
                <a:solidFill>
                  <a:schemeClr val="accent1"/>
                </a:solidFill>
                <a:latin typeface="OPPOSans B" panose="00020600040101010101" charset="-122"/>
                <a:ea typeface="OPPOSans B" panose="00020600040101010101" charset="-122"/>
                <a:cs typeface="OPPOSans B" panose="00020600040101010101" charset="-122"/>
                <a:sym typeface="+mn-ea"/>
              </a:rPr>
              <a:t>4. 服务可持续</a:t>
            </a:r>
            <a:endParaRPr sz="2000">
              <a:solidFill>
                <a:schemeClr val="accent1"/>
              </a:solidFill>
              <a:latin typeface="OPPOSans B" panose="00020600040101010101" charset="-122"/>
              <a:ea typeface="OPPOSans B" panose="00020600040101010101" charset="-122"/>
              <a:cs typeface="OPPOSans B" panose="00020600040101010101" charset="-122"/>
              <a:sym typeface="+mn-ea"/>
            </a:endParaRPr>
          </a:p>
        </p:txBody>
      </p:sp>
      <p:sp>
        <p:nvSpPr>
          <p:cNvPr id="52" name="TextBox 34"/>
          <p:cNvSpPr txBox="1"/>
          <p:nvPr/>
        </p:nvSpPr>
        <p:spPr>
          <a:xfrm>
            <a:off x="6428105" y="4862195"/>
            <a:ext cx="5314950" cy="534035"/>
          </a:xfrm>
          <a:prstGeom prst="rect">
            <a:avLst/>
          </a:prstGeom>
          <a:noFill/>
        </p:spPr>
        <p:txBody>
          <a:bodyPr wrap="square" lIns="18288" tIns="9144" rIns="18288" bIns="9144" anchor="t">
            <a:spAutoFit/>
          </a:bodyPr>
          <a:p>
            <a:pPr algn="l" fontAlgn="auto">
              <a:lnSpc>
                <a:spcPct val="120000"/>
              </a:lnSpc>
              <a:spcAft>
                <a:spcPts val="400"/>
              </a:spcAft>
            </a:pPr>
            <a:r>
              <a:rPr sz="1400">
                <a:solidFill>
                  <a:schemeClr val="tx1"/>
                </a:solidFill>
                <a:latin typeface="OPPOSans R" panose="00020600040101010101" charset="-122"/>
                <a:ea typeface="OPPOSans R" panose="00020600040101010101" charset="-122"/>
                <a:cs typeface="OPPOSans R" panose="00020600040101010101" charset="-122"/>
              </a:rPr>
              <a:t>文档更新、问答留痕与题集回归协同，支持</a:t>
            </a:r>
            <a:r>
              <a:rPr sz="1400">
                <a:solidFill>
                  <a:schemeClr val="accent1"/>
                </a:solidFill>
                <a:latin typeface="OPPOSans B" panose="00020600040101010101" charset="-122"/>
                <a:ea typeface="OPPOSans B" panose="00020600040101010101" charset="-122"/>
                <a:cs typeface="OPPOSans R" panose="00020600040101010101" charset="-122"/>
                <a:sym typeface="+mn-ea"/>
              </a:rPr>
              <a:t>持续维护和质量追踪</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53" name="TextBox 35"/>
          <p:cNvSpPr txBox="1"/>
          <p:nvPr/>
        </p:nvSpPr>
        <p:spPr>
          <a:xfrm>
            <a:off x="1369695" y="5614035"/>
            <a:ext cx="9408160" cy="386715"/>
          </a:xfrm>
          <a:prstGeom prst="rect">
            <a:avLst/>
          </a:prstGeom>
          <a:noFill/>
        </p:spPr>
        <p:txBody>
          <a:bodyPr wrap="square" lIns="18288" tIns="9144" rIns="18288" bIns="9144" anchor="t">
            <a:spAutoFit/>
          </a:bodyPr>
          <a:p>
            <a:pPr algn="ctr">
              <a:spcAft>
                <a:spcPts val="400"/>
              </a:spcAft>
            </a:pPr>
            <a:r>
              <a:rPr sz="2400">
                <a:solidFill>
                  <a:srgbClr val="1F3864"/>
                </a:solidFill>
                <a:latin typeface="OPPOSans B" panose="00020600040101010101" charset="-122"/>
                <a:ea typeface="OPPOSans B" panose="00020600040101010101" charset="-122"/>
                <a:cs typeface="OPPOSans R" panose="00020600040101010101" charset="-122"/>
              </a:rPr>
              <a:t>让业务人员获得</a:t>
            </a:r>
            <a:r>
              <a:rPr sz="2400">
                <a:solidFill>
                  <a:srgbClr val="CE0000"/>
                </a:solidFill>
                <a:latin typeface="OPPOSans B" panose="00020600040101010101" charset="-122"/>
                <a:ea typeface="OPPOSans B" panose="00020600040101010101" charset="-122"/>
                <a:cs typeface="OPPOSans B" panose="00020600040101010101" charset="-122"/>
              </a:rPr>
              <a:t>带依据、带计算过程、可复核</a:t>
            </a:r>
            <a:r>
              <a:rPr sz="2400">
                <a:solidFill>
                  <a:srgbClr val="1F3864"/>
                </a:solidFill>
                <a:latin typeface="OPPOSans B" panose="00020600040101010101" charset="-122"/>
                <a:ea typeface="OPPOSans B" panose="00020600040101010101" charset="-122"/>
                <a:cs typeface="OPPOSans R" panose="00020600040101010101" charset="-122"/>
              </a:rPr>
              <a:t>的监管答复</a:t>
            </a:r>
            <a:endParaRPr sz="2400">
              <a:solidFill>
                <a:srgbClr val="1F3864"/>
              </a:solidFill>
              <a:latin typeface="OPPOSans B" panose="00020600040101010101" charset="-122"/>
              <a:ea typeface="OPPOSans B" panose="00020600040101010101" charset="-122"/>
              <a:cs typeface="OPPOSans R" panose="0002060004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50520" y="70294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系统架构：双引擎协同的可信监管知识中枢</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4997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sym typeface="+mn-ea"/>
              </a:rPr>
              <a:t>文本问答与表格计算双引擎协同，通过统一检索、可信校验与业务接口，贯通提问、取证和答复。</a:t>
            </a:r>
            <a:endParaRPr sz="1400">
              <a:latin typeface="OPPOSans R" panose="00020600040101010101" charset="-122"/>
              <a:ea typeface="OPPOSans R" panose="00020600040101010101" charset="-122"/>
              <a:sym typeface="+mn-ea"/>
            </a:endParaRPr>
          </a:p>
        </p:txBody>
      </p:sp>
      <p:sp>
        <p:nvSpPr>
          <p:cNvPr id="59" name="Rectangle 8"/>
          <p:cNvSpPr/>
          <p:nvPr/>
        </p:nvSpPr>
        <p:spPr>
          <a:xfrm>
            <a:off x="502920" y="2663190"/>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0" name="Rectangle 9"/>
          <p:cNvSpPr/>
          <p:nvPr/>
        </p:nvSpPr>
        <p:spPr>
          <a:xfrm>
            <a:off x="502920" y="2663190"/>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1" name="TextBox 10"/>
          <p:cNvSpPr txBox="1"/>
          <p:nvPr/>
        </p:nvSpPr>
        <p:spPr>
          <a:xfrm>
            <a:off x="612648" y="2744471"/>
            <a:ext cx="3383280" cy="294640"/>
          </a:xfrm>
          <a:prstGeom prst="rect">
            <a:avLst/>
          </a:prstGeom>
          <a:noFill/>
        </p:spPr>
        <p:txBody>
          <a:bodyPr wrap="square" lIns="18288" tIns="9144" rIns="18288" bIns="9144" anchor="ctr">
            <a:spAutoFit/>
          </a:bodyPr>
          <a:p>
            <a:pPr algn="l">
              <a:spcAft>
                <a:spcPts val="400"/>
              </a:spcAft>
            </a:pPr>
            <a:r>
              <a:rPr sz="1800">
                <a:solidFill>
                  <a:srgbClr val="FFFFFF"/>
                </a:solidFill>
                <a:latin typeface="OPPOSans B" panose="00020600040101010101" charset="-122"/>
                <a:ea typeface="OPPOSans B" panose="00020600040101010101" charset="-122"/>
                <a:cs typeface="OPPOSans B" panose="00020600040101010101" charset="-122"/>
              </a:rPr>
              <a:t>查询规划</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62" name="TextBox 11"/>
          <p:cNvSpPr txBox="1"/>
          <p:nvPr/>
        </p:nvSpPr>
        <p:spPr>
          <a:xfrm>
            <a:off x="640080" y="3166872"/>
            <a:ext cx="3337560" cy="663575"/>
          </a:xfrm>
          <a:prstGeom prst="rect">
            <a:avLst/>
          </a:prstGeom>
          <a:noFill/>
        </p:spPr>
        <p:txBody>
          <a:bodyPr wrap="square" lIns="18288" tIns="9144" rIns="18288" bIns="9144" anchor="t">
            <a:spAutoFit/>
          </a:bodyPr>
          <a:p>
            <a:pPr algn="l" fontAlgn="auto">
              <a:lnSpc>
                <a:spcPct val="150000"/>
              </a:lnSpc>
              <a:spcAft>
                <a:spcPts val="400"/>
              </a:spcAft>
            </a:pPr>
            <a:r>
              <a:rPr sz="1400">
                <a:solidFill>
                  <a:schemeClr val="tx1"/>
                </a:solidFill>
                <a:latin typeface="OPPOSans R" panose="00020600040101010101" charset="-122"/>
                <a:ea typeface="OPPOSans R" panose="00020600040101010101" charset="-122"/>
                <a:cs typeface="OPPOSans R" panose="00020600040101010101" charset="-122"/>
              </a:rPr>
              <a:t>识别问题类型与业务维度</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50000"/>
              </a:lnSpc>
              <a:spcAft>
                <a:spcPts val="400"/>
              </a:spcAft>
            </a:pPr>
            <a:r>
              <a:rPr sz="1400">
                <a:solidFill>
                  <a:schemeClr val="accent1"/>
                </a:solidFill>
                <a:latin typeface="OPPOSans B" panose="00020600040101010101" charset="-122"/>
                <a:ea typeface="OPPOSans B" panose="00020600040101010101" charset="-122"/>
                <a:cs typeface="OPPOSans R" panose="00020600040101010101" charset="-122"/>
                <a:sym typeface="+mn-ea"/>
              </a:rPr>
              <a:t>拆解子问题，明确证据需求</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63" name="Rectangle 12"/>
          <p:cNvSpPr/>
          <p:nvPr/>
        </p:nvSpPr>
        <p:spPr>
          <a:xfrm>
            <a:off x="4288536" y="2663190"/>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4" name="Rectangle 13"/>
          <p:cNvSpPr/>
          <p:nvPr/>
        </p:nvSpPr>
        <p:spPr>
          <a:xfrm>
            <a:off x="4288536" y="2663190"/>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5" name="TextBox 14"/>
          <p:cNvSpPr txBox="1"/>
          <p:nvPr/>
        </p:nvSpPr>
        <p:spPr>
          <a:xfrm>
            <a:off x="4398264" y="2760028"/>
            <a:ext cx="3383280" cy="263525"/>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cs typeface="OPPOSans B" panose="00020600040101010101" charset="-122"/>
                <a:sym typeface="+mn-ea"/>
              </a:rPr>
              <a:t>混合检索与证据组织</a:t>
            </a:r>
            <a:endParaRPr sz="18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66" name="TextBox 15"/>
          <p:cNvSpPr txBox="1"/>
          <p:nvPr/>
        </p:nvSpPr>
        <p:spPr>
          <a:xfrm>
            <a:off x="4425696" y="3166872"/>
            <a:ext cx="3337560" cy="663575"/>
          </a:xfrm>
          <a:prstGeom prst="rect">
            <a:avLst/>
          </a:prstGeom>
          <a:noFill/>
        </p:spPr>
        <p:txBody>
          <a:bodyPr wrap="square" lIns="18288" tIns="9144" rIns="18288" bIns="9144" anchor="t">
            <a:spAutoFit/>
          </a:bodyPr>
          <a:p>
            <a:pPr lvl="0" algn="l" fontAlgn="auto">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多路召回、条款定位与证据重排</a:t>
            </a:r>
            <a:endParaRPr sz="1400">
              <a:solidFill>
                <a:schemeClr val="tx1"/>
              </a:solidFill>
              <a:latin typeface="OPPOSans R" panose="00020600040101010101" charset="-122"/>
              <a:ea typeface="OPPOSans R" panose="00020600040101010101" charset="-122"/>
              <a:cs typeface="OPPOSans R" panose="00020600040101010101" charset="-122"/>
            </a:endParaRPr>
          </a:p>
          <a:p>
            <a:pPr lvl="0" algn="l" fontAlgn="auto">
              <a:lnSpc>
                <a:spcPct val="15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汇聚正文、附件与关联条款</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67" name="Rectangle 16"/>
          <p:cNvSpPr/>
          <p:nvPr/>
        </p:nvSpPr>
        <p:spPr>
          <a:xfrm>
            <a:off x="8074151" y="2663190"/>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8" name="Rectangle 17"/>
          <p:cNvSpPr/>
          <p:nvPr/>
        </p:nvSpPr>
        <p:spPr>
          <a:xfrm>
            <a:off x="8074151" y="2663190"/>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9" name="TextBox 18"/>
          <p:cNvSpPr txBox="1"/>
          <p:nvPr/>
        </p:nvSpPr>
        <p:spPr>
          <a:xfrm>
            <a:off x="8183879" y="2760028"/>
            <a:ext cx="3383280" cy="263525"/>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cs typeface="OPPOSans B" panose="00020600040101010101" charset="-122"/>
                <a:sym typeface="+mn-ea"/>
              </a:rPr>
              <a:t>文本问答引擎</a:t>
            </a:r>
            <a:endParaRPr sz="18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70" name="TextBox 19"/>
          <p:cNvSpPr txBox="1"/>
          <p:nvPr/>
        </p:nvSpPr>
        <p:spPr>
          <a:xfrm>
            <a:off x="8211311" y="3166872"/>
            <a:ext cx="3337560" cy="663575"/>
          </a:xfrm>
          <a:prstGeom prst="rect">
            <a:avLst/>
          </a:prstGeom>
          <a:noFill/>
        </p:spPr>
        <p:txBody>
          <a:bodyPr wrap="square" lIns="18288" tIns="9144" rIns="18288" bIns="9144" anchor="t">
            <a:spAutoFit/>
          </a:bodyPr>
          <a:p>
            <a:pPr lvl="0" algn="l" fontAlgn="auto">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按证据缺口补全相关依据</a:t>
            </a:r>
            <a:endParaRPr sz="1400">
              <a:solidFill>
                <a:schemeClr val="tx1"/>
              </a:solidFill>
              <a:latin typeface="OPPOSans R" panose="00020600040101010101" charset="-122"/>
              <a:ea typeface="OPPOSans R" panose="00020600040101010101" charset="-122"/>
              <a:cs typeface="OPPOSans R" panose="00020600040101010101" charset="-122"/>
            </a:endParaRPr>
          </a:p>
          <a:p>
            <a:pPr lvl="0" algn="l" fontAlgn="auto">
              <a:lnSpc>
                <a:spcPct val="15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证据受限生成与引用修复</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71" name="Rectangle 20"/>
          <p:cNvSpPr/>
          <p:nvPr/>
        </p:nvSpPr>
        <p:spPr>
          <a:xfrm>
            <a:off x="502920" y="3961637"/>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2" name="Rectangle 21"/>
          <p:cNvSpPr/>
          <p:nvPr/>
        </p:nvSpPr>
        <p:spPr>
          <a:xfrm>
            <a:off x="502920" y="3961637"/>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3" name="TextBox 22"/>
          <p:cNvSpPr txBox="1"/>
          <p:nvPr/>
        </p:nvSpPr>
        <p:spPr>
          <a:xfrm>
            <a:off x="612648" y="4042917"/>
            <a:ext cx="3383280" cy="294640"/>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cs typeface="OPPOSans B" panose="00020600040101010101" charset="-122"/>
                <a:sym typeface="+mn-ea"/>
              </a:rPr>
              <a:t>表格计算引擎</a:t>
            </a:r>
            <a:endParaRPr sz="18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74" name="TextBox 23"/>
          <p:cNvSpPr txBox="1"/>
          <p:nvPr/>
        </p:nvSpPr>
        <p:spPr>
          <a:xfrm>
            <a:off x="640080" y="4465320"/>
            <a:ext cx="3337560" cy="663575"/>
          </a:xfrm>
          <a:prstGeom prst="rect">
            <a:avLst/>
          </a:prstGeom>
          <a:noFill/>
        </p:spPr>
        <p:txBody>
          <a:bodyPr wrap="square" lIns="18288" tIns="9144" rIns="18288" bIns="9144" anchor="t">
            <a:spAutoFit/>
          </a:bodyPr>
          <a:p>
            <a:pPr lvl="0" algn="l" fontAlgn="auto">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按指标 / 期间 / 机构精确取数</a:t>
            </a:r>
            <a:endParaRPr sz="1400">
              <a:solidFill>
                <a:schemeClr val="tx1"/>
              </a:solidFill>
              <a:latin typeface="OPPOSans R" panose="00020600040101010101" charset="-122"/>
              <a:ea typeface="OPPOSans R" panose="00020600040101010101" charset="-122"/>
              <a:cs typeface="OPPOSans R" panose="00020600040101010101" charset="-122"/>
            </a:endParaRPr>
          </a:p>
          <a:p>
            <a:pPr lvl="0" algn="l" fontAlgn="auto">
              <a:lnSpc>
                <a:spcPct val="15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确定性运算，绑定原表坐标</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75" name="Rectangle 24"/>
          <p:cNvSpPr/>
          <p:nvPr/>
        </p:nvSpPr>
        <p:spPr>
          <a:xfrm>
            <a:off x="4288536" y="3961637"/>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6" name="Rectangle 25"/>
          <p:cNvSpPr/>
          <p:nvPr/>
        </p:nvSpPr>
        <p:spPr>
          <a:xfrm>
            <a:off x="4288536" y="3961637"/>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7" name="TextBox 26"/>
          <p:cNvSpPr txBox="1"/>
          <p:nvPr/>
        </p:nvSpPr>
        <p:spPr>
          <a:xfrm>
            <a:off x="4398264" y="4058475"/>
            <a:ext cx="3383280" cy="263525"/>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cs typeface="OPPOSans B" panose="00020600040101010101" charset="-122"/>
                <a:sym typeface="+mn-ea"/>
              </a:rPr>
              <a:t>统一可信校验</a:t>
            </a:r>
            <a:endParaRPr sz="18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78" name="TextBox 27"/>
          <p:cNvSpPr txBox="1"/>
          <p:nvPr/>
        </p:nvSpPr>
        <p:spPr>
          <a:xfrm>
            <a:off x="4425696" y="4465320"/>
            <a:ext cx="3337560" cy="663575"/>
          </a:xfrm>
          <a:prstGeom prst="rect">
            <a:avLst/>
          </a:prstGeom>
          <a:noFill/>
        </p:spPr>
        <p:txBody>
          <a:bodyPr wrap="square" lIns="18288" tIns="9144" rIns="18288" bIns="9144" anchor="t">
            <a:spAutoFit/>
          </a:bodyPr>
          <a:p>
            <a:pPr lvl="0" algn="l" fontAlgn="auto">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核对关键事实与引用一致性</a:t>
            </a:r>
            <a:endParaRPr sz="1400">
              <a:solidFill>
                <a:schemeClr val="tx1"/>
              </a:solidFill>
              <a:latin typeface="OPPOSans R" panose="00020600040101010101" charset="-122"/>
              <a:ea typeface="OPPOSans R" panose="00020600040101010101" charset="-122"/>
              <a:cs typeface="OPPOSans R" panose="00020600040101010101" charset="-122"/>
            </a:endParaRPr>
          </a:p>
          <a:p>
            <a:pPr lvl="0" algn="l" fontAlgn="auto">
              <a:lnSpc>
                <a:spcPct val="15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检查规范强度、条件与例外</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79" name="Rectangle 28"/>
          <p:cNvSpPr/>
          <p:nvPr/>
        </p:nvSpPr>
        <p:spPr>
          <a:xfrm>
            <a:off x="8074151" y="3961637"/>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0" name="Rectangle 29"/>
          <p:cNvSpPr/>
          <p:nvPr/>
        </p:nvSpPr>
        <p:spPr>
          <a:xfrm>
            <a:off x="8074151" y="3961637"/>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1" name="TextBox 30"/>
          <p:cNvSpPr txBox="1"/>
          <p:nvPr/>
        </p:nvSpPr>
        <p:spPr>
          <a:xfrm>
            <a:off x="8183879" y="4058475"/>
            <a:ext cx="3383280" cy="263525"/>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cs typeface="OPPOSans B" panose="00020600040101010101" charset="-122"/>
                <a:sym typeface="+mn-ea"/>
              </a:rPr>
              <a:t>业务交付与风险边界</a:t>
            </a:r>
            <a:endParaRPr sz="18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82" name="TextBox 31"/>
          <p:cNvSpPr txBox="1"/>
          <p:nvPr/>
        </p:nvSpPr>
        <p:spPr>
          <a:xfrm>
            <a:off x="8211311" y="4465320"/>
            <a:ext cx="3337560" cy="663575"/>
          </a:xfrm>
          <a:prstGeom prst="rect">
            <a:avLst/>
          </a:prstGeom>
          <a:noFill/>
        </p:spPr>
        <p:txBody>
          <a:bodyPr wrap="square" lIns="18288" tIns="9144" rIns="18288" bIns="9144" anchor="t">
            <a:spAutoFit/>
          </a:bodyPr>
          <a:p>
            <a:pPr lvl="0" algn="l" fontAlgn="auto">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交付答案、依据与计算过程</a:t>
            </a:r>
            <a:endParaRPr sz="1400">
              <a:solidFill>
                <a:schemeClr val="tx1"/>
              </a:solidFill>
              <a:latin typeface="OPPOSans R" panose="00020600040101010101" charset="-122"/>
              <a:ea typeface="OPPOSans R" panose="00020600040101010101" charset="-122"/>
              <a:cs typeface="OPPOSans R" panose="00020600040101010101" charset="-122"/>
            </a:endParaRPr>
          </a:p>
          <a:p>
            <a:pPr lvl="0" algn="l" fontAlgn="auto">
              <a:lnSpc>
                <a:spcPct val="15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不足则澄清或拒答，记录留存</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84" name="TextBox 33"/>
          <p:cNvSpPr txBox="1"/>
          <p:nvPr/>
        </p:nvSpPr>
        <p:spPr>
          <a:xfrm>
            <a:off x="433832" y="5367528"/>
            <a:ext cx="2011680" cy="233045"/>
          </a:xfrm>
          <a:prstGeom prst="rect">
            <a:avLst/>
          </a:prstGeom>
          <a:noFill/>
        </p:spPr>
        <p:txBody>
          <a:bodyPr wrap="square" lIns="18288" tIns="9144" rIns="18288" bIns="9144" anchor="t">
            <a:spAutoFit/>
          </a:bodyPr>
          <a:p>
            <a:pPr algn="l">
              <a:spcAft>
                <a:spcPts val="400"/>
              </a:spcAft>
            </a:pPr>
            <a:r>
              <a:rPr sz="1400">
                <a:solidFill>
                  <a:schemeClr val="accent1"/>
                </a:solidFill>
                <a:latin typeface="OPPOSans B" panose="00020600040101010101" charset="-122"/>
                <a:ea typeface="OPPOSans B" panose="00020600040101010101" charset="-122"/>
                <a:cs typeface="OPPOSans B" panose="00020600040101010101" charset="-122"/>
              </a:rPr>
              <a:t>Qdrant 向量索引</a:t>
            </a:r>
            <a:endParaRPr sz="1400">
              <a:solidFill>
                <a:schemeClr val="accent1"/>
              </a:solidFill>
              <a:latin typeface="OPPOSans B" panose="00020600040101010101" charset="-122"/>
              <a:ea typeface="OPPOSans B" panose="00020600040101010101" charset="-122"/>
              <a:cs typeface="OPPOSans B" panose="00020600040101010101" charset="-122"/>
            </a:endParaRPr>
          </a:p>
        </p:txBody>
      </p:sp>
      <p:sp>
        <p:nvSpPr>
          <p:cNvPr id="85" name="TextBox 34"/>
          <p:cNvSpPr txBox="1"/>
          <p:nvPr/>
        </p:nvSpPr>
        <p:spPr>
          <a:xfrm>
            <a:off x="691642" y="5684520"/>
            <a:ext cx="2011680" cy="201930"/>
          </a:xfrm>
          <a:prstGeom prst="rect">
            <a:avLst/>
          </a:prstGeom>
          <a:noFill/>
        </p:spPr>
        <p:txBody>
          <a:bodyPr wrap="square" lIns="18288" tIns="9144" rIns="18288" bIns="9144" anchor="t">
            <a:spAutoFit/>
          </a:bodyPr>
          <a:p>
            <a:pPr algn="l">
              <a:spcAft>
                <a:spcPts val="400"/>
              </a:spcAft>
            </a:pPr>
            <a:r>
              <a:rPr sz="1200" b="0">
                <a:solidFill>
                  <a:schemeClr val="tx1"/>
                </a:solidFill>
                <a:latin typeface="OPPOSans R" panose="00020600040101010101" charset="-122"/>
                <a:ea typeface="OPPOSans R" panose="00020600040101010101" charset="-122"/>
                <a:cs typeface="OPPOSans R" panose="00020600040101010101" charset="-122"/>
              </a:rPr>
              <a:t>语义 / 稀疏召回</a:t>
            </a:r>
            <a:endParaRPr sz="1200" b="0">
              <a:solidFill>
                <a:schemeClr val="tx1"/>
              </a:solidFill>
              <a:latin typeface="OPPOSans R" panose="00020600040101010101" charset="-122"/>
              <a:ea typeface="OPPOSans R" panose="00020600040101010101" charset="-122"/>
              <a:cs typeface="OPPOSans R" panose="00020600040101010101" charset="-122"/>
            </a:endParaRPr>
          </a:p>
        </p:txBody>
      </p:sp>
      <p:sp>
        <p:nvSpPr>
          <p:cNvPr id="87" name="TextBox 36"/>
          <p:cNvSpPr txBox="1"/>
          <p:nvPr/>
        </p:nvSpPr>
        <p:spPr>
          <a:xfrm>
            <a:off x="2595880" y="5368163"/>
            <a:ext cx="2011680" cy="233045"/>
          </a:xfrm>
          <a:prstGeom prst="rect">
            <a:avLst/>
          </a:prstGeom>
          <a:noFill/>
        </p:spPr>
        <p:txBody>
          <a:bodyPr wrap="square" lIns="18288" tIns="9144" rIns="18288" bIns="9144" anchor="t">
            <a:spAutoFit/>
          </a:bodyPr>
          <a:p>
            <a:pPr algn="l">
              <a:spcAft>
                <a:spcPts val="400"/>
              </a:spcAft>
            </a:pPr>
            <a:r>
              <a:rPr sz="1400">
                <a:solidFill>
                  <a:schemeClr val="accent1"/>
                </a:solidFill>
                <a:latin typeface="OPPOSans B" panose="00020600040101010101" charset="-122"/>
                <a:ea typeface="OPPOSans B" panose="00020600040101010101" charset="-122"/>
                <a:cs typeface="OPPOSans B" panose="00020600040101010101" charset="-122"/>
              </a:rPr>
              <a:t>SQLite 双存储</a:t>
            </a:r>
            <a:endParaRPr sz="1400">
              <a:solidFill>
                <a:schemeClr val="accent1"/>
              </a:solidFill>
              <a:latin typeface="OPPOSans B" panose="00020600040101010101" charset="-122"/>
              <a:ea typeface="OPPOSans B" panose="00020600040101010101" charset="-122"/>
              <a:cs typeface="OPPOSans B" panose="00020600040101010101" charset="-122"/>
            </a:endParaRPr>
          </a:p>
        </p:txBody>
      </p:sp>
      <p:sp>
        <p:nvSpPr>
          <p:cNvPr id="88" name="TextBox 37"/>
          <p:cNvSpPr txBox="1"/>
          <p:nvPr/>
        </p:nvSpPr>
        <p:spPr>
          <a:xfrm>
            <a:off x="2160270" y="5684520"/>
            <a:ext cx="2258695" cy="201930"/>
          </a:xfrm>
          <a:prstGeom prst="rect">
            <a:avLst/>
          </a:prstGeom>
          <a:noFill/>
        </p:spPr>
        <p:txBody>
          <a:bodyPr wrap="square" lIns="18288" tIns="9144" rIns="18288" bIns="9144" anchor="t">
            <a:spAutoFit/>
          </a:bodyPr>
          <a:p>
            <a:pPr algn="l">
              <a:spcAft>
                <a:spcPts val="400"/>
              </a:spcAft>
            </a:pPr>
            <a:r>
              <a:rPr sz="1200" b="0">
                <a:solidFill>
                  <a:schemeClr val="tx1"/>
                </a:solidFill>
                <a:latin typeface="OPPOSans R" panose="00020600040101010101" charset="-122"/>
                <a:ea typeface="OPPOSans R" panose="00020600040101010101" charset="-122"/>
                <a:cs typeface="OPPOSans R" panose="00020600040101010101" charset="-122"/>
              </a:rPr>
              <a:t>文本元数据 / 结构化单元格</a:t>
            </a:r>
            <a:endParaRPr sz="1200" b="0">
              <a:solidFill>
                <a:schemeClr val="tx1"/>
              </a:solidFill>
              <a:latin typeface="OPPOSans R" panose="00020600040101010101" charset="-122"/>
              <a:ea typeface="OPPOSans R" panose="00020600040101010101" charset="-122"/>
              <a:cs typeface="OPPOSans R" panose="00020600040101010101" charset="-122"/>
            </a:endParaRPr>
          </a:p>
        </p:txBody>
      </p:sp>
      <p:sp>
        <p:nvSpPr>
          <p:cNvPr id="90" name="TextBox 39"/>
          <p:cNvSpPr txBox="1"/>
          <p:nvPr/>
        </p:nvSpPr>
        <p:spPr>
          <a:xfrm>
            <a:off x="4573905" y="5370195"/>
            <a:ext cx="2979420" cy="233045"/>
          </a:xfrm>
          <a:prstGeom prst="rect">
            <a:avLst/>
          </a:prstGeom>
          <a:noFill/>
        </p:spPr>
        <p:txBody>
          <a:bodyPr wrap="square" lIns="18288" tIns="9144" rIns="18288" bIns="9144" anchor="t">
            <a:spAutoFit/>
          </a:bodyPr>
          <a:p>
            <a:pPr algn="l">
              <a:spcAft>
                <a:spcPts val="400"/>
              </a:spcAft>
            </a:pPr>
            <a:r>
              <a:rPr sz="1400">
                <a:solidFill>
                  <a:schemeClr val="accent1"/>
                </a:solidFill>
                <a:latin typeface="OPPOSans B" panose="00020600040101010101" charset="-122"/>
                <a:ea typeface="OPPOSans B" panose="00020600040101010101" charset="-122"/>
              </a:rPr>
              <a:t>BGE-M3 + BGE-reranker-v2-m3</a:t>
            </a:r>
            <a:endParaRPr sz="1400">
              <a:solidFill>
                <a:schemeClr val="accent1"/>
              </a:solidFill>
              <a:latin typeface="OPPOSans B" panose="00020600040101010101" charset="-122"/>
              <a:ea typeface="OPPOSans B" panose="00020600040101010101" charset="-122"/>
            </a:endParaRPr>
          </a:p>
        </p:txBody>
      </p:sp>
      <p:sp>
        <p:nvSpPr>
          <p:cNvPr id="91" name="TextBox 40"/>
          <p:cNvSpPr txBox="1"/>
          <p:nvPr/>
        </p:nvSpPr>
        <p:spPr>
          <a:xfrm>
            <a:off x="5444998" y="5684520"/>
            <a:ext cx="2011680" cy="201930"/>
          </a:xfrm>
          <a:prstGeom prst="rect">
            <a:avLst/>
          </a:prstGeom>
          <a:noFill/>
        </p:spPr>
        <p:txBody>
          <a:bodyPr wrap="square" lIns="18288" tIns="9144" rIns="18288" bIns="9144" anchor="t">
            <a:spAutoFit/>
          </a:bodyPr>
          <a:p>
            <a:pPr algn="l">
              <a:spcAft>
                <a:spcPts val="400"/>
              </a:spcAft>
            </a:pPr>
            <a:r>
              <a:rPr sz="1200" b="0">
                <a:solidFill>
                  <a:schemeClr val="tx1"/>
                </a:solidFill>
                <a:latin typeface="OPPOSans R" panose="00020600040101010101" charset="-122"/>
                <a:ea typeface="OPPOSans R" panose="00020600040101010101" charset="-122"/>
              </a:rPr>
              <a:t>本地嵌入与重排</a:t>
            </a:r>
            <a:endParaRPr sz="1200" b="0">
              <a:solidFill>
                <a:schemeClr val="tx1"/>
              </a:solidFill>
              <a:latin typeface="OPPOSans R" panose="00020600040101010101" charset="-122"/>
              <a:ea typeface="OPPOSans R" panose="00020600040101010101" charset="-122"/>
            </a:endParaRPr>
          </a:p>
        </p:txBody>
      </p:sp>
      <p:sp>
        <p:nvSpPr>
          <p:cNvPr id="93" name="TextBox 42"/>
          <p:cNvSpPr txBox="1"/>
          <p:nvPr/>
        </p:nvSpPr>
        <p:spPr>
          <a:xfrm>
            <a:off x="7721346" y="5368798"/>
            <a:ext cx="2011680" cy="233045"/>
          </a:xfrm>
          <a:prstGeom prst="rect">
            <a:avLst/>
          </a:prstGeom>
          <a:noFill/>
        </p:spPr>
        <p:txBody>
          <a:bodyPr wrap="square" lIns="18288" tIns="9144" rIns="18288" bIns="9144" anchor="t">
            <a:spAutoFit/>
          </a:bodyPr>
          <a:p>
            <a:pPr algn="l">
              <a:spcAft>
                <a:spcPts val="400"/>
              </a:spcAft>
            </a:pPr>
            <a:r>
              <a:rPr sz="1400">
                <a:solidFill>
                  <a:schemeClr val="accent1"/>
                </a:solidFill>
                <a:latin typeface="OPPOSans B" panose="00020600040101010101" charset="-122"/>
                <a:ea typeface="OPPOSans B" panose="00020600040101010101" charset="-122"/>
              </a:rPr>
              <a:t>DeepSeek API</a:t>
            </a:r>
            <a:endParaRPr sz="1400">
              <a:solidFill>
                <a:schemeClr val="accent1"/>
              </a:solidFill>
              <a:latin typeface="OPPOSans B" panose="00020600040101010101" charset="-122"/>
              <a:ea typeface="OPPOSans B" panose="00020600040101010101" charset="-122"/>
            </a:endParaRPr>
          </a:p>
        </p:txBody>
      </p:sp>
      <p:sp>
        <p:nvSpPr>
          <p:cNvPr id="94" name="TextBox 43"/>
          <p:cNvSpPr txBox="1"/>
          <p:nvPr/>
        </p:nvSpPr>
        <p:spPr>
          <a:xfrm>
            <a:off x="7783576" y="5684520"/>
            <a:ext cx="2011680" cy="201930"/>
          </a:xfrm>
          <a:prstGeom prst="rect">
            <a:avLst/>
          </a:prstGeom>
          <a:noFill/>
        </p:spPr>
        <p:txBody>
          <a:bodyPr wrap="square" lIns="18288" tIns="9144" rIns="18288" bIns="9144" anchor="t">
            <a:spAutoFit/>
          </a:bodyPr>
          <a:p>
            <a:pPr algn="l">
              <a:spcAft>
                <a:spcPts val="400"/>
              </a:spcAft>
            </a:pPr>
            <a:r>
              <a:rPr sz="1200" b="0">
                <a:solidFill>
                  <a:schemeClr val="tx1"/>
                </a:solidFill>
                <a:latin typeface="OPPOSans R" panose="00020600040101010101" charset="-122"/>
                <a:ea typeface="OPPOSans R" panose="00020600040101010101" charset="-122"/>
                <a:cs typeface="OPPOSans R" panose="00020600040101010101" charset="-122"/>
              </a:rPr>
              <a:t>生成 / 规划 / 校验</a:t>
            </a:r>
            <a:endParaRPr sz="1200" b="0">
              <a:solidFill>
                <a:schemeClr val="tx1"/>
              </a:solidFill>
              <a:latin typeface="OPPOSans R" panose="00020600040101010101" charset="-122"/>
              <a:ea typeface="OPPOSans R" panose="00020600040101010101" charset="-122"/>
              <a:cs typeface="OPPOSans R" panose="00020600040101010101" charset="-122"/>
            </a:endParaRPr>
          </a:p>
        </p:txBody>
      </p:sp>
      <p:sp>
        <p:nvSpPr>
          <p:cNvPr id="96" name="TextBox 45"/>
          <p:cNvSpPr txBox="1"/>
          <p:nvPr/>
        </p:nvSpPr>
        <p:spPr>
          <a:xfrm>
            <a:off x="9316720" y="5369560"/>
            <a:ext cx="2564130" cy="233045"/>
          </a:xfrm>
          <a:prstGeom prst="rect">
            <a:avLst/>
          </a:prstGeom>
          <a:noFill/>
        </p:spPr>
        <p:txBody>
          <a:bodyPr wrap="square" lIns="18288" tIns="9144" rIns="18288" bIns="9144" anchor="t">
            <a:spAutoFit/>
          </a:bodyPr>
          <a:p>
            <a:pPr algn="l">
              <a:spcAft>
                <a:spcPts val="400"/>
              </a:spcAft>
            </a:pPr>
            <a:r>
              <a:rPr sz="1400">
                <a:solidFill>
                  <a:schemeClr val="accent1"/>
                </a:solidFill>
                <a:latin typeface="OPPOSans B" panose="00020600040101010101" charset="-122"/>
                <a:ea typeface="OPPOSans B" panose="00020600040101010101" charset="-122"/>
              </a:rPr>
              <a:t>LibreOffice + pymupdf4llm</a:t>
            </a:r>
            <a:endParaRPr sz="1400">
              <a:solidFill>
                <a:schemeClr val="accent1"/>
              </a:solidFill>
              <a:latin typeface="OPPOSans B" panose="00020600040101010101" charset="-122"/>
              <a:ea typeface="OPPOSans B" panose="00020600040101010101" charset="-122"/>
            </a:endParaRPr>
          </a:p>
        </p:txBody>
      </p:sp>
      <p:sp>
        <p:nvSpPr>
          <p:cNvPr id="97" name="TextBox 46"/>
          <p:cNvSpPr txBox="1"/>
          <p:nvPr/>
        </p:nvSpPr>
        <p:spPr>
          <a:xfrm>
            <a:off x="9610344" y="5684520"/>
            <a:ext cx="2011680" cy="201930"/>
          </a:xfrm>
          <a:prstGeom prst="rect">
            <a:avLst/>
          </a:prstGeom>
          <a:noFill/>
        </p:spPr>
        <p:txBody>
          <a:bodyPr wrap="square" lIns="18288" tIns="9144" rIns="18288" bIns="9144" anchor="t">
            <a:spAutoFit/>
          </a:bodyPr>
          <a:p>
            <a:pPr algn="l">
              <a:spcAft>
                <a:spcPts val="400"/>
              </a:spcAft>
            </a:pPr>
            <a:r>
              <a:rPr sz="1200" b="0">
                <a:solidFill>
                  <a:schemeClr val="tx1"/>
                </a:solidFill>
                <a:latin typeface="OPPOSans R" panose="00020600040101010101" charset="-122"/>
                <a:ea typeface="OPPOSans R" panose="00020600040101010101" charset="-122"/>
                <a:cs typeface="OPPOSans R" panose="00020600040101010101" charset="-122"/>
              </a:rPr>
              <a:t>PDF / Word / Excel 解析</a:t>
            </a:r>
            <a:endParaRPr sz="1200" b="0">
              <a:solidFill>
                <a:schemeClr val="tx1"/>
              </a:solidFill>
              <a:latin typeface="OPPOSans R" panose="00020600040101010101" charset="-122"/>
              <a:ea typeface="OPPOSans R" panose="00020600040101010101" charset="-122"/>
              <a:cs typeface="OPPOSans R" panose="00020600040101010101" charset="-122"/>
            </a:endParaRPr>
          </a:p>
        </p:txBody>
      </p:sp>
      <p:sp>
        <p:nvSpPr>
          <p:cNvPr id="98" name="Rectangle 5"/>
          <p:cNvSpPr/>
          <p:nvPr/>
        </p:nvSpPr>
        <p:spPr>
          <a:xfrm>
            <a:off x="502920" y="1840230"/>
            <a:ext cx="11183112"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1" name="Rectangle 6"/>
          <p:cNvSpPr/>
          <p:nvPr/>
        </p:nvSpPr>
        <p:spPr>
          <a:xfrm>
            <a:off x="502920" y="1924050"/>
            <a:ext cx="11183112" cy="685800"/>
          </a:xfrm>
          <a:prstGeom prst="rect">
            <a:avLst/>
          </a:prstGeom>
          <a:solidFill>
            <a:srgbClr val="195CC4"/>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2" name="TextBox 7"/>
          <p:cNvSpPr txBox="1"/>
          <p:nvPr/>
        </p:nvSpPr>
        <p:spPr>
          <a:xfrm>
            <a:off x="685800" y="2090674"/>
            <a:ext cx="10789920" cy="325120"/>
          </a:xfrm>
          <a:prstGeom prst="rect">
            <a:avLst/>
          </a:prstGeom>
          <a:noFill/>
        </p:spPr>
        <p:txBody>
          <a:bodyPr wrap="square" lIns="18288" tIns="9144" rIns="18288" bIns="9144" anchor="ctr">
            <a:spAutoFit/>
          </a:bodyPr>
          <a:p>
            <a:pPr algn="l">
              <a:spcAft>
                <a:spcPts val="400"/>
              </a:spcAft>
            </a:pPr>
            <a:r>
              <a:rPr sz="2000" b="1">
                <a:solidFill>
                  <a:srgbClr val="FFFFFF"/>
                </a:solidFill>
                <a:latin typeface="OPPOSans R" panose="00020600040101010101" charset="-122"/>
                <a:ea typeface="OPPOSans R" panose="00020600040101010101" charset="-122"/>
              </a:rPr>
              <a:t>统一业务入口</a:t>
            </a:r>
            <a:r>
              <a:rPr sz="1600" b="0">
                <a:solidFill>
                  <a:schemeClr val="bg1"/>
                </a:solidFill>
                <a:latin typeface="OPPOSans R" panose="00020600040101010101" charset="-122"/>
                <a:ea typeface="OPPOSans R" panose="00020600040101010101" charset="-122"/>
                <a:cs typeface="OPPOSans R" panose="00020600040101010101" charset="-122"/>
              </a:rPr>
              <a:t>  </a:t>
            </a:r>
            <a:r>
              <a:rPr sz="1600" b="0">
                <a:solidFill>
                  <a:schemeClr val="bg1"/>
                </a:solidFill>
                <a:latin typeface="OPPOSans R" panose="00020600040101010101" charset="-122"/>
                <a:ea typeface="OPPOSans R" panose="00020600040101010101" charset="-122"/>
                <a:cs typeface="OPPOSans R" panose="00020600040101010101" charset="-122"/>
              </a:rPr>
              <a:t>React + TypeScript + Vite：可信问答 / 文档管理 / 审计记录 / 进度与已核验内容预览</a:t>
            </a:r>
            <a:endParaRPr sz="1600" b="0">
              <a:solidFill>
                <a:schemeClr val="bg1"/>
              </a:solidFill>
              <a:latin typeface="OPPOSans R" panose="00020600040101010101" charset="-122"/>
              <a:ea typeface="OPPOSans R" panose="00020600040101010101" charset="-122"/>
              <a:cs typeface="OPPOSans R" panose="00020600040101010101" charset="-122"/>
            </a:endParaRPr>
          </a:p>
        </p:txBody>
      </p:sp>
      <p:sp>
        <p:nvSpPr>
          <p:cNvPr id="104" name="矩形: 圆角 22"/>
          <p:cNvSpPr/>
          <p:nvPr/>
        </p:nvSpPr>
        <p:spPr>
          <a:xfrm flipV="1">
            <a:off x="294640" y="5268595"/>
            <a:ext cx="11586845" cy="721995"/>
          </a:xfrm>
          <a:prstGeom prst="roundRect">
            <a:avLst>
              <a:gd name="adj" fmla="val 4633"/>
            </a:avLst>
          </a:prstGeom>
          <a:noFill/>
          <a:ln>
            <a:solidFill>
              <a:srgbClr val="00418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03</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技术亮点</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37185" y="64833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技术创新全景：三大核心能力、六项关键设计</a:t>
            </a:r>
            <a:endParaRPr sz="3000">
              <a:solidFill>
                <a:srgbClr val="195CC4"/>
              </a:solidFill>
              <a:latin typeface="OPPOSans B" panose="00020600040101010101" charset="-122"/>
              <a:ea typeface="OPPOSans B" panose="00020600040101010101" charset="-122"/>
              <a:sym typeface="+mn-ea"/>
            </a:endParaRPr>
          </a:p>
        </p:txBody>
      </p:sp>
      <p:sp>
        <p:nvSpPr>
          <p:cNvPr id="52" name="Rectangle 5"/>
          <p:cNvSpPr/>
          <p:nvPr/>
        </p:nvSpPr>
        <p:spPr>
          <a:xfrm>
            <a:off x="502920" y="162687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 name="Rectangle 5"/>
          <p:cNvSpPr/>
          <p:nvPr>
            <p:custDataLst>
              <p:tags r:id="rId1"/>
            </p:custDataLst>
          </p:nvPr>
        </p:nvSpPr>
        <p:spPr>
          <a:xfrm>
            <a:off x="502920" y="1727200"/>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 name="TextBox 8"/>
          <p:cNvSpPr txBox="1"/>
          <p:nvPr>
            <p:custDataLst>
              <p:tags r:id="rId2"/>
            </p:custDataLst>
          </p:nvPr>
        </p:nvSpPr>
        <p:spPr>
          <a:xfrm>
            <a:off x="713105" y="2232660"/>
            <a:ext cx="5120640" cy="681355"/>
          </a:xfrm>
          <a:prstGeom prst="rect">
            <a:avLst/>
          </a:prstGeom>
          <a:noFill/>
        </p:spPr>
        <p:txBody>
          <a:bodyPr wrap="square" lIns="18288" tIns="9144" rIns="18288" bIns="9144" anchor="t">
            <a:spAutoFit/>
          </a:bodyPr>
          <a:p>
            <a:pPr lvl="0" algn="l">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知识底座：</a:t>
            </a:r>
            <a:r>
              <a:rPr sz="1200">
                <a:solidFill>
                  <a:schemeClr val="tx1"/>
                </a:solidFill>
                <a:latin typeface="OPPOSans R" panose="00020600040101010101" charset="-122"/>
                <a:ea typeface="OPPOSans R" panose="00020600040101010101" charset="-122"/>
                <a:cs typeface="OPPOSans R" panose="00020600040101010101" charset="-122"/>
              </a:rPr>
              <a:t>联合解析制度正文与统计附件，保留标题层级、条款编号、表头关联、期间和单位。文本与数值均携带业务语义，减少切分带来的语境丢失，支撑后续查询与计算。</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60" name="Rectangle 9"/>
          <p:cNvSpPr/>
          <p:nvPr>
            <p:custDataLst>
              <p:tags r:id="rId3"/>
            </p:custDataLst>
          </p:nvPr>
        </p:nvSpPr>
        <p:spPr>
          <a:xfrm>
            <a:off x="505460" y="1727200"/>
            <a:ext cx="288480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1" name="TextBox 10"/>
          <p:cNvSpPr txBox="1"/>
          <p:nvPr>
            <p:custDataLst>
              <p:tags r:id="rId4"/>
            </p:custDataLst>
          </p:nvPr>
        </p:nvSpPr>
        <p:spPr>
          <a:xfrm>
            <a:off x="615315" y="1808480"/>
            <a:ext cx="2775585"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① 结构感知解析</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
        <p:nvSpPr>
          <p:cNvPr id="14" name="Rectangle 13"/>
          <p:cNvSpPr/>
          <p:nvPr>
            <p:custDataLst>
              <p:tags r:id="rId5"/>
            </p:custDataLst>
          </p:nvPr>
        </p:nvSpPr>
        <p:spPr>
          <a:xfrm>
            <a:off x="502920" y="3171825"/>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7" name="TextBox 16"/>
          <p:cNvSpPr txBox="1"/>
          <p:nvPr>
            <p:custDataLst>
              <p:tags r:id="rId6"/>
            </p:custDataLst>
          </p:nvPr>
        </p:nvSpPr>
        <p:spPr>
          <a:xfrm>
            <a:off x="704215" y="3702050"/>
            <a:ext cx="5120640" cy="681355"/>
          </a:xfrm>
          <a:prstGeom prst="rect">
            <a:avLst/>
          </a:prstGeom>
          <a:noFill/>
        </p:spPr>
        <p:txBody>
          <a:bodyPr wrap="square" lIns="18288" tIns="9144" rIns="18288" bIns="9144" anchor="t">
            <a:spAutoFit/>
          </a:bodyPr>
          <a:p>
            <a:pPr lvl="0" algn="l" fontAlgn="auto">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证据驱动问答：</a:t>
            </a:r>
            <a:r>
              <a:rPr sz="1200">
                <a:solidFill>
                  <a:schemeClr val="tx1"/>
                </a:solidFill>
                <a:latin typeface="OPPOSans R" panose="00020600040101010101" charset="-122"/>
                <a:ea typeface="OPPOSans R" panose="00020600040101010101" charset="-122"/>
                <a:cs typeface="OPPOSans R" panose="00020600040101010101" charset="-122"/>
              </a:rPr>
              <a:t>多视角检索、CRAG-lite 覆盖诊断与 HyDE 缺口补检协同，沿条款引用扩展跨文档依据。围绕问题要点补齐定义、列表、条件与例外，提高复杂问询的证据完整性。</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33" name="Rectangle 9"/>
          <p:cNvSpPr/>
          <p:nvPr>
            <p:custDataLst>
              <p:tags r:id="rId7"/>
            </p:custDataLst>
          </p:nvPr>
        </p:nvSpPr>
        <p:spPr>
          <a:xfrm>
            <a:off x="505460" y="3163570"/>
            <a:ext cx="288480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4" name="TextBox 10"/>
          <p:cNvSpPr txBox="1"/>
          <p:nvPr>
            <p:custDataLst>
              <p:tags r:id="rId8"/>
            </p:custDataLst>
          </p:nvPr>
        </p:nvSpPr>
        <p:spPr>
          <a:xfrm>
            <a:off x="615315" y="3244850"/>
            <a:ext cx="2775585"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③ 覆盖诊断与跨文档补证</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
        <p:nvSpPr>
          <p:cNvPr id="22" name="Rectangle 21"/>
          <p:cNvSpPr/>
          <p:nvPr>
            <p:custDataLst>
              <p:tags r:id="rId9"/>
            </p:custDataLst>
          </p:nvPr>
        </p:nvSpPr>
        <p:spPr>
          <a:xfrm>
            <a:off x="502920" y="4616450"/>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5" name="TextBox 24"/>
          <p:cNvSpPr txBox="1"/>
          <p:nvPr>
            <p:custDataLst>
              <p:tags r:id="rId10"/>
            </p:custDataLst>
          </p:nvPr>
        </p:nvSpPr>
        <p:spPr>
          <a:xfrm>
            <a:off x="713105" y="5139690"/>
            <a:ext cx="5120640" cy="681355"/>
          </a:xfrm>
          <a:prstGeom prst="rect">
            <a:avLst/>
          </a:prstGeom>
          <a:noFill/>
        </p:spPr>
        <p:txBody>
          <a:bodyPr wrap="square" lIns="18288" tIns="9144" rIns="18288" bIns="9144" anchor="t">
            <a:spAutoFit/>
          </a:bodyPr>
          <a:p>
            <a:pPr lvl="0" algn="l" fontAlgn="auto">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监管可信交付：</a:t>
            </a:r>
            <a:r>
              <a:rPr sz="1200">
                <a:solidFill>
                  <a:schemeClr val="tx1"/>
                </a:solidFill>
                <a:latin typeface="OPPOSans R" panose="00020600040101010101" charset="-122"/>
                <a:ea typeface="OPPOSans R" panose="00020600040101010101" charset="-122"/>
                <a:cs typeface="OPPOSans R" panose="00020600040101010101" charset="-122"/>
              </a:rPr>
              <a:t>核对关键事实与引用一致性，结合主体、规范强度、条件、例外及范围检查监管含义。通过风险触发核验与受限修复，降低数字正确但业务表述失真的风险。</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40" name="Rectangle 9"/>
          <p:cNvSpPr/>
          <p:nvPr>
            <p:custDataLst>
              <p:tags r:id="rId11"/>
            </p:custDataLst>
          </p:nvPr>
        </p:nvSpPr>
        <p:spPr>
          <a:xfrm>
            <a:off x="505460" y="4608195"/>
            <a:ext cx="288480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1" name="TextBox 10"/>
          <p:cNvSpPr txBox="1"/>
          <p:nvPr>
            <p:custDataLst>
              <p:tags r:id="rId12"/>
            </p:custDataLst>
          </p:nvPr>
        </p:nvSpPr>
        <p:spPr>
          <a:xfrm>
            <a:off x="615315" y="4689475"/>
            <a:ext cx="2775585"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⑤ 事实与监管语义校验</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
        <p:nvSpPr>
          <p:cNvPr id="89" name="Rectangle 17"/>
          <p:cNvSpPr/>
          <p:nvPr>
            <p:custDataLst>
              <p:tags r:id="rId13"/>
            </p:custDataLst>
          </p:nvPr>
        </p:nvSpPr>
        <p:spPr>
          <a:xfrm>
            <a:off x="6199505" y="3154045"/>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0" name="TextBox 20"/>
          <p:cNvSpPr txBox="1"/>
          <p:nvPr>
            <p:custDataLst>
              <p:tags r:id="rId14"/>
            </p:custDataLst>
          </p:nvPr>
        </p:nvSpPr>
        <p:spPr>
          <a:xfrm>
            <a:off x="6400800" y="3663950"/>
            <a:ext cx="5120640" cy="681355"/>
          </a:xfrm>
          <a:prstGeom prst="rect">
            <a:avLst/>
          </a:prstGeom>
          <a:noFill/>
        </p:spPr>
        <p:txBody>
          <a:bodyPr wrap="square" lIns="18288" tIns="9144" rIns="18288" bIns="9144" anchor="t">
            <a:spAutoFit/>
          </a:bodyPr>
          <a:p>
            <a:pPr lvl="0" algn="l" fontAlgn="auto">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证据驱动问答：</a:t>
            </a:r>
            <a:r>
              <a:rPr sz="1200">
                <a:solidFill>
                  <a:schemeClr val="tx1"/>
                </a:solidFill>
                <a:latin typeface="OPPOSans R" panose="00020600040101010101" charset="-122"/>
                <a:ea typeface="OPPOSans R" panose="00020600040101010101" charset="-122"/>
                <a:cs typeface="OPPOSans R" panose="00020600040101010101" charset="-122"/>
              </a:rPr>
              <a:t>按指标、期间与机构定位结构化单元格，由安全算子执行数值运算。将操作数、算式、单位和原表坐标与结果绑定，连接监管问答和可复核的报表分析。</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91" name="Rectangle 9"/>
          <p:cNvSpPr/>
          <p:nvPr>
            <p:custDataLst>
              <p:tags r:id="rId15"/>
            </p:custDataLst>
          </p:nvPr>
        </p:nvSpPr>
        <p:spPr>
          <a:xfrm>
            <a:off x="6207760" y="3145790"/>
            <a:ext cx="312991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2" name="TextBox 10"/>
          <p:cNvSpPr txBox="1"/>
          <p:nvPr>
            <p:custDataLst>
              <p:tags r:id="rId16"/>
            </p:custDataLst>
          </p:nvPr>
        </p:nvSpPr>
        <p:spPr>
          <a:xfrm>
            <a:off x="6317615" y="3227070"/>
            <a:ext cx="2884170"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④ 证据绑定确定性计算</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
        <p:nvSpPr>
          <p:cNvPr id="94" name="Rectangle 9"/>
          <p:cNvSpPr/>
          <p:nvPr>
            <p:custDataLst>
              <p:tags r:id="rId17"/>
            </p:custDataLst>
          </p:nvPr>
        </p:nvSpPr>
        <p:spPr>
          <a:xfrm>
            <a:off x="6212205" y="1727200"/>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5" name="TextBox 12"/>
          <p:cNvSpPr txBox="1"/>
          <p:nvPr>
            <p:custDataLst>
              <p:tags r:id="rId18"/>
            </p:custDataLst>
          </p:nvPr>
        </p:nvSpPr>
        <p:spPr>
          <a:xfrm>
            <a:off x="6400800" y="2225040"/>
            <a:ext cx="5120640" cy="681355"/>
          </a:xfrm>
          <a:prstGeom prst="rect">
            <a:avLst/>
          </a:prstGeom>
          <a:noFill/>
        </p:spPr>
        <p:txBody>
          <a:bodyPr wrap="square" lIns="18288" tIns="9144" rIns="18288" bIns="9144" anchor="t">
            <a:spAutoFit/>
          </a:bodyPr>
          <a:p>
            <a:pPr lvl="0" algn="l" fontAlgn="auto">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知识底座：</a:t>
            </a:r>
            <a:r>
              <a:rPr sz="1200">
                <a:solidFill>
                  <a:schemeClr val="tx1"/>
                </a:solidFill>
                <a:latin typeface="OPPOSans R" panose="00020600040101010101" charset="-122"/>
                <a:ea typeface="OPPOSans R" panose="00020600040101010101" charset="-122"/>
                <a:cs typeface="OPPOSans R" panose="00020600040101010101" charset="-122"/>
              </a:rPr>
              <a:t>条款、定义、邻接片段与单元格分层组织，Qdrant 召回与 SQLite 取证协同。依据问题类型定位概念、规定或数值，原文、结构和文件身份保持关联。</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96" name="Rectangle 9"/>
          <p:cNvSpPr/>
          <p:nvPr>
            <p:custDataLst>
              <p:tags r:id="rId19"/>
            </p:custDataLst>
          </p:nvPr>
        </p:nvSpPr>
        <p:spPr>
          <a:xfrm>
            <a:off x="6202680" y="1727200"/>
            <a:ext cx="312991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7" name="TextBox 10"/>
          <p:cNvSpPr txBox="1"/>
          <p:nvPr>
            <p:custDataLst>
              <p:tags r:id="rId20"/>
            </p:custDataLst>
          </p:nvPr>
        </p:nvSpPr>
        <p:spPr>
          <a:xfrm>
            <a:off x="6330315" y="1808480"/>
            <a:ext cx="2775585"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② 多粒度证据索引</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
        <p:nvSpPr>
          <p:cNvPr id="99" name="Rectangle 25"/>
          <p:cNvSpPr/>
          <p:nvPr>
            <p:custDataLst>
              <p:tags r:id="rId21"/>
            </p:custDataLst>
          </p:nvPr>
        </p:nvSpPr>
        <p:spPr>
          <a:xfrm>
            <a:off x="6212205" y="4616450"/>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0" name="TextBox 28"/>
          <p:cNvSpPr txBox="1"/>
          <p:nvPr>
            <p:custDataLst>
              <p:tags r:id="rId22"/>
            </p:custDataLst>
          </p:nvPr>
        </p:nvSpPr>
        <p:spPr>
          <a:xfrm>
            <a:off x="6400800" y="5144770"/>
            <a:ext cx="5120640" cy="681355"/>
          </a:xfrm>
          <a:prstGeom prst="rect">
            <a:avLst/>
          </a:prstGeom>
          <a:noFill/>
        </p:spPr>
        <p:txBody>
          <a:bodyPr wrap="square" lIns="18288" tIns="9144" rIns="18288" bIns="9144" anchor="t">
            <a:spAutoFit/>
          </a:bodyPr>
          <a:p>
            <a:pPr lvl="0" algn="l" fontAlgn="auto">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监管可信交付：</a:t>
            </a:r>
            <a:r>
              <a:rPr sz="1200">
                <a:solidFill>
                  <a:schemeClr val="tx1"/>
                </a:solidFill>
                <a:latin typeface="OPPOSans R" panose="00020600040101010101" charset="-122"/>
                <a:ea typeface="OPPOSans R" panose="00020600040101010101" charset="-122"/>
                <a:cs typeface="OPPOSans R" panose="00020600040101010101" charset="-122"/>
              </a:rPr>
              <a:t>依据不足时说明缺口并澄清或拒答，关联答案、引用、原文与问答记录。将风险边界、业务复核与持续回归纳入交付流程，支持后续审计和知识维护。</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101" name="Rectangle 9"/>
          <p:cNvSpPr/>
          <p:nvPr>
            <p:custDataLst>
              <p:tags r:id="rId23"/>
            </p:custDataLst>
          </p:nvPr>
        </p:nvSpPr>
        <p:spPr>
          <a:xfrm>
            <a:off x="6202680" y="4608195"/>
            <a:ext cx="312991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2" name="TextBox 10"/>
          <p:cNvSpPr txBox="1"/>
          <p:nvPr>
            <p:custDataLst>
              <p:tags r:id="rId24"/>
            </p:custDataLst>
          </p:nvPr>
        </p:nvSpPr>
        <p:spPr>
          <a:xfrm>
            <a:off x="6330315" y="4689475"/>
            <a:ext cx="2884170"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⑥ 风险边界与审计追踪</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37185" y="67119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亮点一：结构感知解析与多粒度知识索引</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2330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sym typeface="+mn-ea"/>
              </a:rPr>
              <a:t>面向制度条款与统计附件，保留文档结构和数值业务语义，让知识既能精准定位，也能支撑计算与复核。</a:t>
            </a:r>
            <a:endParaRPr sz="1400">
              <a:latin typeface="OPPOSans R" panose="00020600040101010101" charset="-122"/>
              <a:ea typeface="OPPOSans R" panose="00020600040101010101" charset="-122"/>
              <a:sym typeface="+mn-ea"/>
            </a:endParaRPr>
          </a:p>
        </p:txBody>
      </p:sp>
      <p:sp>
        <p:nvSpPr>
          <p:cNvPr id="98" name="Rectangle 5"/>
          <p:cNvSpPr/>
          <p:nvPr/>
        </p:nvSpPr>
        <p:spPr>
          <a:xfrm>
            <a:off x="502920" y="1840230"/>
            <a:ext cx="11412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 name="Rectangle 6"/>
          <p:cNvSpPr/>
          <p:nvPr/>
        </p:nvSpPr>
        <p:spPr>
          <a:xfrm>
            <a:off x="502920" y="1929765"/>
            <a:ext cx="5257800" cy="208343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 name="TextBox 7"/>
          <p:cNvSpPr txBox="1"/>
          <p:nvPr/>
        </p:nvSpPr>
        <p:spPr>
          <a:xfrm>
            <a:off x="731520" y="2021205"/>
            <a:ext cx="5029200" cy="325120"/>
          </a:xfrm>
          <a:prstGeom prst="rect">
            <a:avLst/>
          </a:prstGeom>
          <a:noFill/>
        </p:spPr>
        <p:txBody>
          <a:bodyPr wrap="square" lIns="18288" tIns="9144" rIns="18288" bIns="9144" anchor="t">
            <a:spAutoFit/>
          </a:bodyPr>
          <a:p>
            <a:pPr algn="l">
              <a:spcAft>
                <a:spcPts val="400"/>
              </a:spcAft>
            </a:pPr>
            <a:r>
              <a:rPr sz="2000">
                <a:solidFill>
                  <a:schemeClr val="accent1"/>
                </a:solidFill>
                <a:latin typeface="OPPOSans B" panose="00020600040101010101" charset="-122"/>
                <a:ea typeface="OPPOSans B" panose="00020600040101010101" charset="-122"/>
              </a:rPr>
              <a:t>保留业务语义的结构化解析</a:t>
            </a:r>
            <a:endParaRPr sz="2000">
              <a:solidFill>
                <a:schemeClr val="accent1"/>
              </a:solidFill>
              <a:latin typeface="OPPOSans B" panose="00020600040101010101" charset="-122"/>
              <a:ea typeface="OPPOSans B" panose="00020600040101010101" charset="-122"/>
            </a:endParaRPr>
          </a:p>
        </p:txBody>
      </p:sp>
      <p:sp>
        <p:nvSpPr>
          <p:cNvPr id="9" name="TextBox 8"/>
          <p:cNvSpPr txBox="1"/>
          <p:nvPr/>
        </p:nvSpPr>
        <p:spPr>
          <a:xfrm>
            <a:off x="731520" y="2392045"/>
            <a:ext cx="5029200" cy="1463675"/>
          </a:xfrm>
          <a:prstGeom prst="rect">
            <a:avLst/>
          </a:prstGeom>
          <a:noFill/>
        </p:spPr>
        <p:txBody>
          <a:bodyPr wrap="square" lIns="18288" tIns="9144" rIns="18288" bIns="9144" anchor="t">
            <a:spAutoFit/>
          </a:bodyPr>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制度正文：</a:t>
            </a:r>
            <a:r>
              <a:rPr sz="1400">
                <a:solidFill>
                  <a:schemeClr val="tx1"/>
                </a:solidFill>
                <a:latin typeface="OPPOSans R" panose="00020600040101010101" charset="-122"/>
                <a:ea typeface="OPPOSans R" panose="00020600040101010101" charset="-122"/>
                <a:cs typeface="OPPOSans R" panose="00020600040101010101" charset="-122"/>
              </a:rPr>
              <a:t>提取标题层级、条款编号与原文段落，保留章节语境；PDF / Word 解析协同处理。</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统计附件：</a:t>
            </a:r>
            <a:r>
              <a:rPr sz="1400">
                <a:solidFill>
                  <a:schemeClr val="tx1"/>
                </a:solidFill>
                <a:latin typeface="OPPOSans R" panose="00020600040101010101" charset="-122"/>
                <a:ea typeface="OPPOSans R" panose="00020600040101010101" charset="-122"/>
                <a:cs typeface="OPPOSans R" panose="00020600040101010101" charset="-122"/>
              </a:rPr>
              <a:t>关联表头、行列标签、期间、单位、数值与坐标，避免“数字脱离口径”。</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统一产出：</a:t>
            </a:r>
            <a:r>
              <a:rPr sz="1400">
                <a:solidFill>
                  <a:schemeClr val="tx1"/>
                </a:solidFill>
                <a:latin typeface="OPPOSans R" panose="00020600040101010101" charset="-122"/>
                <a:ea typeface="OPPOSans R" panose="00020600040101010101" charset="-122"/>
                <a:cs typeface="OPPOSans R" panose="00020600040101010101" charset="-122"/>
              </a:rPr>
              <a:t>以文本片段与结构化单元格承载知识，连接制度查询和报表分析。</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10" name="Rectangle 9"/>
          <p:cNvSpPr/>
          <p:nvPr/>
        </p:nvSpPr>
        <p:spPr>
          <a:xfrm>
            <a:off x="5940425" y="1929765"/>
            <a:ext cx="5974715" cy="208343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1" name="TextBox 10"/>
          <p:cNvSpPr txBox="1"/>
          <p:nvPr/>
        </p:nvSpPr>
        <p:spPr>
          <a:xfrm>
            <a:off x="6100572" y="2021205"/>
            <a:ext cx="5029200" cy="325120"/>
          </a:xfrm>
          <a:prstGeom prst="rect">
            <a:avLst/>
          </a:prstGeom>
          <a:noFill/>
        </p:spPr>
        <p:txBody>
          <a:bodyPr wrap="square" lIns="18288" tIns="9144" rIns="18288" bIns="9144" anchor="t">
            <a:spAutoFit/>
          </a:bodyPr>
          <a:p>
            <a:pPr lvl="0" algn="l">
              <a:spcAft>
                <a:spcPts val="400"/>
              </a:spcAft>
              <a:buClrTx/>
              <a:buSzTx/>
              <a:buFontTx/>
            </a:pPr>
            <a:r>
              <a:rPr sz="2000">
                <a:solidFill>
                  <a:schemeClr val="accent1"/>
                </a:solidFill>
                <a:latin typeface="OPPOSans B" panose="00020600040101010101" charset="-122"/>
                <a:ea typeface="OPPOSans B" panose="00020600040101010101" charset="-122"/>
                <a:sym typeface="+mn-ea"/>
              </a:rPr>
              <a:t>条款、定义与单元格多粒度索引</a:t>
            </a:r>
            <a:endParaRPr sz="2000">
              <a:solidFill>
                <a:schemeClr val="accent1"/>
              </a:solidFill>
              <a:latin typeface="OPPOSans B" panose="00020600040101010101" charset="-122"/>
              <a:ea typeface="OPPOSans B" panose="00020600040101010101" charset="-122"/>
              <a:sym typeface="+mn-ea"/>
            </a:endParaRPr>
          </a:p>
        </p:txBody>
      </p:sp>
      <p:sp>
        <p:nvSpPr>
          <p:cNvPr id="12" name="TextBox 11"/>
          <p:cNvSpPr txBox="1"/>
          <p:nvPr/>
        </p:nvSpPr>
        <p:spPr>
          <a:xfrm>
            <a:off x="6100445" y="2392045"/>
            <a:ext cx="5746115" cy="1412240"/>
          </a:xfrm>
          <a:prstGeom prst="rect">
            <a:avLst/>
          </a:prstGeom>
          <a:noFill/>
        </p:spPr>
        <p:txBody>
          <a:bodyPr wrap="square" lIns="18288" tIns="9144" rIns="18288" bIns="9144" anchor="t">
            <a:spAutoFit/>
          </a:bodyPr>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定义与条款：</a:t>
            </a:r>
            <a:r>
              <a:rPr sz="1400">
                <a:solidFill>
                  <a:schemeClr val="tx1"/>
                </a:solidFill>
                <a:latin typeface="OPPOSans R" panose="00020600040101010101" charset="-122"/>
                <a:ea typeface="OPPOSans R" panose="00020600040101010101" charset="-122"/>
                <a:cs typeface="OPPOSans R" panose="00020600040101010101" charset="-122"/>
              </a:rPr>
              <a:t>按问题类型直达概念依据，关联邻接上下文；新增 </a:t>
            </a:r>
            <a:r>
              <a:rPr sz="1400">
                <a:solidFill>
                  <a:schemeClr val="accent1"/>
                </a:solidFill>
                <a:latin typeface="OPPOSans B" panose="00020600040101010101" charset="-122"/>
                <a:ea typeface="OPPOSans B" panose="00020600040101010101" charset="-122"/>
                <a:cs typeface="OPPOSans R" panose="00020600040101010101" charset="-122"/>
                <a:sym typeface="+mn-ea"/>
              </a:rPr>
              <a:t>440 条定义、164 行条款索引</a:t>
            </a:r>
            <a:r>
              <a:rPr sz="1400">
                <a:solidFill>
                  <a:schemeClr val="tx1"/>
                </a:solidFill>
                <a:latin typeface="OPPOSans R" panose="00020600040101010101" charset="-122"/>
                <a:ea typeface="OPPOSans R" panose="00020600040101010101" charset="-122"/>
                <a:cs typeface="OPPOSans R" panose="00020600040101010101" charset="-122"/>
              </a:rPr>
              <a:t>。</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数值与坐标：</a:t>
            </a:r>
            <a:r>
              <a:rPr sz="1400">
                <a:solidFill>
                  <a:schemeClr val="accent1"/>
                </a:solidFill>
                <a:latin typeface="OPPOSans B" panose="00020600040101010101" charset="-122"/>
                <a:ea typeface="OPPOSans B" panose="00020600040101010101" charset="-122"/>
                <a:cs typeface="OPPOSans R" panose="00020600040101010101" charset="-122"/>
                <a:sym typeface="+mn-ea"/>
              </a:rPr>
              <a:t>133,001 个单元格</a:t>
            </a:r>
            <a:r>
              <a:rPr sz="1400">
                <a:solidFill>
                  <a:schemeClr val="tx1"/>
                </a:solidFill>
                <a:latin typeface="OPPOSans R" panose="00020600040101010101" charset="-122"/>
                <a:ea typeface="OPPOSans R" panose="00020600040101010101" charset="-122"/>
                <a:cs typeface="OPPOSans R" panose="00020600040101010101" charset="-122"/>
              </a:rPr>
              <a:t>绑定指标、期间和机构，支撑精确取数与计算复核。</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双存储协同：</a:t>
            </a:r>
            <a:r>
              <a:rPr sz="1400">
                <a:solidFill>
                  <a:schemeClr val="tx1"/>
                </a:solidFill>
                <a:latin typeface="OPPOSans R" panose="00020600040101010101" charset="-122"/>
                <a:ea typeface="OPPOSans R" panose="00020600040101010101" charset="-122"/>
                <a:cs typeface="OPPOSans R" panose="00020600040101010101" charset="-122"/>
              </a:rPr>
              <a:t>Qdrant 召回 + SQLite 取证，manifest 保留文件身份。</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nvGrpSpPr>
          <p:cNvPr id="31" name="组合 30"/>
          <p:cNvGrpSpPr/>
          <p:nvPr/>
        </p:nvGrpSpPr>
        <p:grpSpPr>
          <a:xfrm>
            <a:off x="502920" y="4093845"/>
            <a:ext cx="2157730" cy="1051560"/>
            <a:chOff x="792" y="6615"/>
            <a:chExt cx="3398" cy="1656"/>
          </a:xfrm>
        </p:grpSpPr>
        <p:sp>
          <p:nvSpPr>
            <p:cNvPr id="13" name="Rectangle 12"/>
            <p:cNvSpPr/>
            <p:nvPr/>
          </p:nvSpPr>
          <p:spPr>
            <a:xfrm>
              <a:off x="792" y="6615"/>
              <a:ext cx="3398" cy="1656"/>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4" name="TextBox 13"/>
            <p:cNvSpPr txBox="1"/>
            <p:nvPr/>
          </p:nvSpPr>
          <p:spPr>
            <a:xfrm>
              <a:off x="864" y="6782"/>
              <a:ext cx="3254" cy="803"/>
            </a:xfrm>
            <a:prstGeom prst="rect">
              <a:avLst/>
            </a:prstGeom>
            <a:noFill/>
          </p:spPr>
          <p:txBody>
            <a:bodyPr wrap="square" lIns="18288" tIns="9144" rIns="18288" bIns="9144" anchor="t">
              <a:spAutoFit/>
            </a:bodyPr>
            <a:p>
              <a:pPr algn="ctr">
                <a:spcAft>
                  <a:spcPts val="400"/>
                </a:spcAft>
              </a:pPr>
              <a:r>
                <a:rPr sz="3200">
                  <a:solidFill>
                    <a:srgbClr val="F0C800"/>
                  </a:solidFill>
                  <a:latin typeface="OPPOSans B" panose="00020600040101010101" charset="-122"/>
                  <a:ea typeface="OPPOSans B" panose="00020600040101010101" charset="-122"/>
                </a:rPr>
                <a:t>500</a:t>
              </a:r>
              <a:endParaRPr sz="3200">
                <a:solidFill>
                  <a:srgbClr val="F0C800"/>
                </a:solidFill>
                <a:latin typeface="OPPOSans B" panose="00020600040101010101" charset="-122"/>
                <a:ea typeface="OPPOSans B" panose="00020600040101010101" charset="-122"/>
              </a:endParaRPr>
            </a:p>
          </p:txBody>
        </p:sp>
        <p:sp>
          <p:nvSpPr>
            <p:cNvPr id="4" name="TextBox 14"/>
            <p:cNvSpPr txBox="1"/>
            <p:nvPr/>
          </p:nvSpPr>
          <p:spPr>
            <a:xfrm>
              <a:off x="864" y="7650"/>
              <a:ext cx="3254" cy="415"/>
            </a:xfrm>
            <a:prstGeom prst="rect">
              <a:avLst/>
            </a:prstGeom>
            <a:noFill/>
          </p:spPr>
          <p:txBody>
            <a:bodyPr wrap="square" lIns="18288" tIns="9144" rIns="18288" bIns="9144" anchor="t">
              <a:spAutoFit/>
            </a:bodyPr>
            <a:p>
              <a:pPr algn="ctr">
                <a:spcAft>
                  <a:spcPts val="400"/>
                </a:spcAft>
              </a:pPr>
              <a:r>
                <a:rPr sz="1600" b="0">
                  <a:solidFill>
                    <a:srgbClr val="FFFFFF"/>
                  </a:solidFill>
                  <a:latin typeface="OPPOSans R" panose="00020600040101010101" charset="-122"/>
                  <a:ea typeface="OPPOSans R" panose="00020600040101010101" charset="-122"/>
                </a:rPr>
                <a:t>制度与统计附件</a:t>
              </a:r>
              <a:endParaRPr sz="1600" b="0">
                <a:solidFill>
                  <a:srgbClr val="FFFFFF"/>
                </a:solidFill>
                <a:latin typeface="OPPOSans R" panose="00020600040101010101" charset="-122"/>
                <a:ea typeface="OPPOSans R" panose="00020600040101010101" charset="-122"/>
              </a:endParaRPr>
            </a:p>
          </p:txBody>
        </p:sp>
      </p:grpSp>
      <p:grpSp>
        <p:nvGrpSpPr>
          <p:cNvPr id="32" name="组合 31"/>
          <p:cNvGrpSpPr/>
          <p:nvPr/>
        </p:nvGrpSpPr>
        <p:grpSpPr>
          <a:xfrm>
            <a:off x="2790190" y="4093845"/>
            <a:ext cx="2157730" cy="1051560"/>
            <a:chOff x="4349" y="6615"/>
            <a:chExt cx="3398" cy="1656"/>
          </a:xfrm>
        </p:grpSpPr>
        <p:sp>
          <p:nvSpPr>
            <p:cNvPr id="16" name="Rectangle 15"/>
            <p:cNvSpPr/>
            <p:nvPr/>
          </p:nvSpPr>
          <p:spPr>
            <a:xfrm>
              <a:off x="4349" y="6615"/>
              <a:ext cx="3398" cy="1656"/>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17" name="TextBox 16"/>
            <p:cNvSpPr txBox="1"/>
            <p:nvPr/>
          </p:nvSpPr>
          <p:spPr>
            <a:xfrm>
              <a:off x="4421" y="6782"/>
              <a:ext cx="3254" cy="803"/>
            </a:xfrm>
            <a:prstGeom prst="rect">
              <a:avLst/>
            </a:prstGeom>
            <a:noFill/>
          </p:spPr>
          <p:txBody>
            <a:bodyPr wrap="square" lIns="18288" tIns="9144" rIns="18288" bIns="9144" anchor="t">
              <a:spAutoFit/>
            </a:bodyPr>
            <a:p>
              <a:pPr algn="ctr">
                <a:spcAft>
                  <a:spcPts val="400"/>
                </a:spcAft>
                <a:buClrTx/>
                <a:buSzTx/>
                <a:buFontTx/>
              </a:pPr>
              <a:r>
                <a:rPr sz="3200">
                  <a:solidFill>
                    <a:srgbClr val="F0C800"/>
                  </a:solidFill>
                  <a:latin typeface="OPPOSans B" panose="00020600040101010101" charset="-122"/>
                  <a:ea typeface="OPPOSans B" panose="00020600040101010101" charset="-122"/>
                </a:rPr>
                <a:t>45,530</a:t>
              </a:r>
              <a:endParaRPr sz="3200">
                <a:solidFill>
                  <a:srgbClr val="F0C800"/>
                </a:solidFill>
                <a:latin typeface="OPPOSans B" panose="00020600040101010101" charset="-122"/>
                <a:ea typeface="OPPOSans B" panose="00020600040101010101" charset="-122"/>
              </a:endParaRPr>
            </a:p>
          </p:txBody>
        </p:sp>
        <p:sp>
          <p:nvSpPr>
            <p:cNvPr id="18" name="TextBox 17"/>
            <p:cNvSpPr txBox="1"/>
            <p:nvPr/>
          </p:nvSpPr>
          <p:spPr>
            <a:xfrm>
              <a:off x="4421" y="7650"/>
              <a:ext cx="3254" cy="415"/>
            </a:xfrm>
            <a:prstGeom prst="rect">
              <a:avLst/>
            </a:prstGeom>
            <a:noFill/>
          </p:spPr>
          <p:txBody>
            <a:bodyPr wrap="square" lIns="18288" tIns="9144" rIns="18288" bIns="9144" anchor="t">
              <a:spAutoFit/>
            </a:bodyPr>
            <a:p>
              <a:pPr lvl="0" algn="ctr">
                <a:spcAft>
                  <a:spcPts val="400"/>
                </a:spcAft>
                <a:buClrTx/>
                <a:buSzTx/>
                <a:buFontTx/>
              </a:pPr>
              <a:r>
                <a:rPr sz="1600">
                  <a:solidFill>
                    <a:srgbClr val="FFFFFF"/>
                  </a:solidFill>
                  <a:latin typeface="OPPOSans R" panose="00020600040101010101" charset="-122"/>
                  <a:ea typeface="OPPOSans R" panose="00020600040101010101" charset="-122"/>
                  <a:sym typeface="+mn-ea"/>
                </a:rPr>
                <a:t>Qdrant 向量索引</a:t>
              </a:r>
              <a:endParaRPr sz="1600">
                <a:solidFill>
                  <a:srgbClr val="FFFFFF"/>
                </a:solidFill>
                <a:latin typeface="OPPOSans R" panose="00020600040101010101" charset="-122"/>
                <a:ea typeface="OPPOSans R" panose="00020600040101010101" charset="-122"/>
                <a:sym typeface="+mn-ea"/>
              </a:endParaRPr>
            </a:p>
          </p:txBody>
        </p:sp>
      </p:grpSp>
      <p:grpSp>
        <p:nvGrpSpPr>
          <p:cNvPr id="34" name="组合 33"/>
          <p:cNvGrpSpPr/>
          <p:nvPr/>
        </p:nvGrpSpPr>
        <p:grpSpPr>
          <a:xfrm>
            <a:off x="5077460" y="4093845"/>
            <a:ext cx="2157730" cy="1051560"/>
            <a:chOff x="7906" y="6615"/>
            <a:chExt cx="3398" cy="1656"/>
          </a:xfrm>
        </p:grpSpPr>
        <p:sp>
          <p:nvSpPr>
            <p:cNvPr id="19" name="Rectangle 18"/>
            <p:cNvSpPr/>
            <p:nvPr/>
          </p:nvSpPr>
          <p:spPr>
            <a:xfrm>
              <a:off x="7906" y="6615"/>
              <a:ext cx="3398" cy="1656"/>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grpSp>
          <p:nvGrpSpPr>
            <p:cNvPr id="33" name="组合 32"/>
            <p:cNvGrpSpPr/>
            <p:nvPr/>
          </p:nvGrpSpPr>
          <p:grpSpPr>
            <a:xfrm>
              <a:off x="7978" y="6782"/>
              <a:ext cx="3254" cy="1282"/>
              <a:chOff x="7978" y="6782"/>
              <a:chExt cx="3254" cy="1282"/>
            </a:xfrm>
          </p:grpSpPr>
          <p:sp>
            <p:nvSpPr>
              <p:cNvPr id="20" name="TextBox 19"/>
              <p:cNvSpPr txBox="1"/>
              <p:nvPr/>
            </p:nvSpPr>
            <p:spPr>
              <a:xfrm>
                <a:off x="7978" y="6782"/>
                <a:ext cx="3254" cy="706"/>
              </a:xfrm>
              <a:prstGeom prst="rect">
                <a:avLst/>
              </a:prstGeom>
              <a:noFill/>
            </p:spPr>
            <p:txBody>
              <a:bodyPr wrap="square" lIns="18288" tIns="9144" rIns="18288" bIns="9144" anchor="t">
                <a:spAutoFit/>
              </a:bodyPr>
              <a:p>
                <a:pPr algn="ctr">
                  <a:spcAft>
                    <a:spcPts val="400"/>
                  </a:spcAft>
                  <a:buClrTx/>
                  <a:buSzTx/>
                  <a:buFontTx/>
                </a:pPr>
                <a:r>
                  <a:rPr sz="3200">
                    <a:solidFill>
                      <a:srgbClr val="F0C800"/>
                    </a:solidFill>
                    <a:latin typeface="OPPOSans B" panose="00020600040101010101" charset="-122"/>
                    <a:ea typeface="OPPOSans B" panose="00020600040101010101" charset="-122"/>
                  </a:rPr>
                  <a:t>46,551</a:t>
                </a:r>
                <a:endParaRPr sz="3200">
                  <a:solidFill>
                    <a:srgbClr val="F0C800"/>
                  </a:solidFill>
                  <a:latin typeface="OPPOSans B" panose="00020600040101010101" charset="-122"/>
                  <a:ea typeface="OPPOSans B" panose="00020600040101010101" charset="-122"/>
                </a:endParaRPr>
              </a:p>
            </p:txBody>
          </p:sp>
          <p:sp>
            <p:nvSpPr>
              <p:cNvPr id="21" name="TextBox 20"/>
              <p:cNvSpPr txBox="1"/>
              <p:nvPr/>
            </p:nvSpPr>
            <p:spPr>
              <a:xfrm>
                <a:off x="7978" y="7650"/>
                <a:ext cx="3254" cy="415"/>
              </a:xfrm>
              <a:prstGeom prst="rect">
                <a:avLst/>
              </a:prstGeom>
              <a:noFill/>
            </p:spPr>
            <p:txBody>
              <a:bodyPr wrap="square" lIns="18288" tIns="9144" rIns="18288" bIns="9144" anchor="t">
                <a:spAutoFit/>
              </a:bodyPr>
              <a:p>
                <a:pPr lvl="0" algn="ctr">
                  <a:spcAft>
                    <a:spcPts val="400"/>
                  </a:spcAft>
                  <a:buClrTx/>
                  <a:buSzTx/>
                  <a:buFontTx/>
                </a:pPr>
                <a:r>
                  <a:rPr sz="1600">
                    <a:solidFill>
                      <a:srgbClr val="FFFFFF"/>
                    </a:solidFill>
                    <a:latin typeface="OPPOSans R" panose="00020600040101010101" charset="-122"/>
                    <a:ea typeface="OPPOSans R" panose="00020600040101010101" charset="-122"/>
                    <a:sym typeface="+mn-ea"/>
                  </a:rPr>
                  <a:t>知识片段元数据</a:t>
                </a:r>
                <a:endParaRPr sz="1600">
                  <a:solidFill>
                    <a:srgbClr val="FFFFFF"/>
                  </a:solidFill>
                  <a:latin typeface="OPPOSans R" panose="00020600040101010101" charset="-122"/>
                  <a:ea typeface="OPPOSans R" panose="00020600040101010101" charset="-122"/>
                  <a:sym typeface="+mn-ea"/>
                </a:endParaRPr>
              </a:p>
            </p:txBody>
          </p:sp>
        </p:grpSp>
      </p:grpSp>
      <p:grpSp>
        <p:nvGrpSpPr>
          <p:cNvPr id="35" name="组合 34"/>
          <p:cNvGrpSpPr/>
          <p:nvPr/>
        </p:nvGrpSpPr>
        <p:grpSpPr>
          <a:xfrm>
            <a:off x="7364730" y="4093845"/>
            <a:ext cx="2157730" cy="1051560"/>
            <a:chOff x="11462" y="6615"/>
            <a:chExt cx="3398" cy="1656"/>
          </a:xfrm>
        </p:grpSpPr>
        <p:sp>
          <p:nvSpPr>
            <p:cNvPr id="22" name="Rectangle 21"/>
            <p:cNvSpPr/>
            <p:nvPr/>
          </p:nvSpPr>
          <p:spPr>
            <a:xfrm>
              <a:off x="11462" y="6615"/>
              <a:ext cx="3398" cy="1656"/>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23" name="TextBox 22"/>
            <p:cNvSpPr txBox="1"/>
            <p:nvPr/>
          </p:nvSpPr>
          <p:spPr>
            <a:xfrm>
              <a:off x="11534" y="6782"/>
              <a:ext cx="3254" cy="706"/>
            </a:xfrm>
            <a:prstGeom prst="rect">
              <a:avLst/>
            </a:prstGeom>
            <a:noFill/>
          </p:spPr>
          <p:txBody>
            <a:bodyPr wrap="square" lIns="18288" tIns="9144" rIns="18288" bIns="9144" anchor="t">
              <a:spAutoFit/>
            </a:bodyPr>
            <a:p>
              <a:pPr algn="ctr">
                <a:spcAft>
                  <a:spcPts val="400"/>
                </a:spcAft>
                <a:buClrTx/>
                <a:buSzTx/>
                <a:buFontTx/>
              </a:pPr>
              <a:r>
                <a:rPr sz="3200">
                  <a:solidFill>
                    <a:srgbClr val="F0C800"/>
                  </a:solidFill>
                  <a:latin typeface="OPPOSans B" panose="00020600040101010101" charset="-122"/>
                  <a:ea typeface="OPPOSans B" panose="00020600040101010101" charset="-122"/>
                </a:rPr>
                <a:t>133,001</a:t>
              </a:r>
              <a:endParaRPr sz="3200">
                <a:solidFill>
                  <a:srgbClr val="F0C800"/>
                </a:solidFill>
                <a:latin typeface="OPPOSans B" panose="00020600040101010101" charset="-122"/>
                <a:ea typeface="OPPOSans B" panose="00020600040101010101" charset="-122"/>
              </a:endParaRPr>
            </a:p>
          </p:txBody>
        </p:sp>
        <p:sp>
          <p:nvSpPr>
            <p:cNvPr id="24" name="TextBox 23"/>
            <p:cNvSpPr txBox="1"/>
            <p:nvPr/>
          </p:nvSpPr>
          <p:spPr>
            <a:xfrm>
              <a:off x="11534" y="7650"/>
              <a:ext cx="3254" cy="415"/>
            </a:xfrm>
            <a:prstGeom prst="rect">
              <a:avLst/>
            </a:prstGeom>
            <a:noFill/>
          </p:spPr>
          <p:txBody>
            <a:bodyPr wrap="square" lIns="18288" tIns="9144" rIns="18288" bIns="9144" anchor="t">
              <a:spAutoFit/>
            </a:bodyPr>
            <a:p>
              <a:pPr lvl="0" algn="ctr">
                <a:spcAft>
                  <a:spcPts val="400"/>
                </a:spcAft>
                <a:buClrTx/>
                <a:buSzTx/>
                <a:buFontTx/>
              </a:pPr>
              <a:r>
                <a:rPr sz="1600">
                  <a:solidFill>
                    <a:srgbClr val="FFFFFF"/>
                  </a:solidFill>
                  <a:latin typeface="OPPOSans R" panose="00020600040101010101" charset="-122"/>
                  <a:ea typeface="OPPOSans R" panose="00020600040101010101" charset="-122"/>
                  <a:sym typeface="+mn-ea"/>
                </a:rPr>
                <a:t>结构化表格单元格</a:t>
              </a:r>
              <a:endParaRPr sz="1600">
                <a:solidFill>
                  <a:srgbClr val="FFFFFF"/>
                </a:solidFill>
                <a:latin typeface="OPPOSans R" panose="00020600040101010101" charset="-122"/>
                <a:ea typeface="OPPOSans R" panose="00020600040101010101" charset="-122"/>
                <a:sym typeface="+mn-ea"/>
              </a:endParaRPr>
            </a:p>
          </p:txBody>
        </p:sp>
      </p:grpSp>
      <p:grpSp>
        <p:nvGrpSpPr>
          <p:cNvPr id="36" name="组合 35"/>
          <p:cNvGrpSpPr/>
          <p:nvPr/>
        </p:nvGrpSpPr>
        <p:grpSpPr>
          <a:xfrm>
            <a:off x="9652000" y="4093845"/>
            <a:ext cx="2157730" cy="1051560"/>
            <a:chOff x="15127" y="6615"/>
            <a:chExt cx="3398" cy="1656"/>
          </a:xfrm>
        </p:grpSpPr>
        <p:sp>
          <p:nvSpPr>
            <p:cNvPr id="25" name="Rectangle 24"/>
            <p:cNvSpPr/>
            <p:nvPr/>
          </p:nvSpPr>
          <p:spPr>
            <a:xfrm>
              <a:off x="15127" y="6615"/>
              <a:ext cx="3398" cy="1656"/>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26" name="TextBox 25"/>
            <p:cNvSpPr txBox="1"/>
            <p:nvPr/>
          </p:nvSpPr>
          <p:spPr>
            <a:xfrm>
              <a:off x="15199" y="6782"/>
              <a:ext cx="3254" cy="803"/>
            </a:xfrm>
            <a:prstGeom prst="rect">
              <a:avLst/>
            </a:prstGeom>
            <a:noFill/>
          </p:spPr>
          <p:txBody>
            <a:bodyPr wrap="square" lIns="18288" tIns="9144" rIns="18288" bIns="9144" anchor="t">
              <a:spAutoFit/>
            </a:bodyPr>
            <a:p>
              <a:pPr algn="ctr">
                <a:spcAft>
                  <a:spcPts val="400"/>
                </a:spcAft>
              </a:pPr>
              <a:r>
                <a:rPr sz="3200">
                  <a:solidFill>
                    <a:srgbClr val="F0C800"/>
                  </a:solidFill>
                  <a:latin typeface="OPPOSans B" panose="00020600040101010101" charset="-122"/>
                  <a:ea typeface="OPPOSans B" panose="00020600040101010101" charset="-122"/>
                </a:rPr>
                <a:t>100%</a:t>
              </a:r>
              <a:endParaRPr sz="2800" b="1">
                <a:solidFill>
                  <a:srgbClr val="F0C800"/>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15199" y="7650"/>
              <a:ext cx="3254" cy="415"/>
            </a:xfrm>
            <a:prstGeom prst="rect">
              <a:avLst/>
            </a:prstGeom>
            <a:noFill/>
          </p:spPr>
          <p:txBody>
            <a:bodyPr wrap="square" lIns="18288" tIns="9144" rIns="18288" bIns="9144" anchor="t">
              <a:spAutoFit/>
            </a:bodyPr>
            <a:p>
              <a:pPr lvl="0" algn="ctr">
                <a:spcAft>
                  <a:spcPts val="400"/>
                </a:spcAft>
                <a:buClrTx/>
                <a:buSzTx/>
                <a:buFontTx/>
              </a:pPr>
              <a:r>
                <a:rPr sz="1600">
                  <a:solidFill>
                    <a:srgbClr val="FFFFFF"/>
                  </a:solidFill>
                  <a:latin typeface="OPPOSans R" panose="00020600040101010101" charset="-122"/>
                  <a:ea typeface="OPPOSans R" panose="00020600040101010101" charset="-122"/>
                  <a:sym typeface="+mn-ea"/>
                </a:rPr>
                <a:t>本批文件处理成功率</a:t>
              </a:r>
              <a:endParaRPr sz="1600">
                <a:solidFill>
                  <a:srgbClr val="FFFFFF"/>
                </a:solidFill>
                <a:latin typeface="OPPOSans R" panose="00020600040101010101" charset="-122"/>
                <a:ea typeface="OPPOSans R" panose="00020600040101010101" charset="-122"/>
                <a:sym typeface="+mn-ea"/>
              </a:endParaRPr>
            </a:p>
          </p:txBody>
        </p:sp>
      </p:grpSp>
      <p:sp>
        <p:nvSpPr>
          <p:cNvPr id="30" name="TextBox 29"/>
          <p:cNvSpPr txBox="1"/>
          <p:nvPr/>
        </p:nvSpPr>
        <p:spPr>
          <a:xfrm>
            <a:off x="541655" y="5255895"/>
            <a:ext cx="11346180" cy="755650"/>
          </a:xfrm>
          <a:prstGeom prst="rect">
            <a:avLst/>
          </a:prstGeom>
          <a:noFill/>
        </p:spPr>
        <p:txBody>
          <a:bodyPr wrap="square" lIns="18288" tIns="9144" rIns="18288" bIns="9144" anchor="ctr">
            <a:spAutoFit/>
          </a:bodyPr>
          <a:p>
            <a:pPr algn="l" fontAlgn="auto">
              <a:lnSpc>
                <a:spcPct val="120000"/>
              </a:lnSpc>
              <a:spcAft>
                <a:spcPts val="400"/>
              </a:spcAft>
            </a:pPr>
            <a:r>
              <a:rPr sz="2400">
                <a:solidFill>
                  <a:srgbClr val="C00000"/>
                </a:solidFill>
                <a:latin typeface="OPPOSans B" panose="00020600040101010101" charset="-122"/>
                <a:ea typeface="OPPOSans B" panose="00020600040101010101" charset="-122"/>
              </a:rPr>
              <a:t>知识资产化：</a:t>
            </a:r>
            <a:r>
              <a:rPr sz="1600" b="0">
                <a:solidFill>
                  <a:schemeClr val="tx1"/>
                </a:solidFill>
                <a:latin typeface="OPPOSans R" panose="00020600040101010101" charset="-122"/>
                <a:ea typeface="OPPOSans R" panose="00020600040101010101" charset="-122"/>
                <a:cs typeface="OPPOSans R" panose="00020600040101010101" charset="-122"/>
              </a:rPr>
              <a:t>制度与附件形成可定位、可计算、可追溯的知识资产，关联文件身份与原始依据。</a:t>
            </a:r>
            <a:endParaRPr sz="1600" b="0">
              <a:solidFill>
                <a:schemeClr val="tx1"/>
              </a:solidFill>
              <a:latin typeface="OPPOSans R" panose="00020600040101010101" charset="-122"/>
              <a:ea typeface="OPPOSans R" panose="00020600040101010101" charset="-122"/>
              <a:cs typeface="OPPOSans R" panose="00020600040101010101" charset="-122"/>
            </a:endParaRPr>
          </a:p>
        </p:txBody>
      </p:sp>
      <p:sp>
        <p:nvSpPr>
          <p:cNvPr id="37" name="矩形: 圆角 22"/>
          <p:cNvSpPr/>
          <p:nvPr/>
        </p:nvSpPr>
        <p:spPr>
          <a:xfrm flipV="1">
            <a:off x="503555" y="5286375"/>
            <a:ext cx="11306175" cy="721995"/>
          </a:xfrm>
          <a:prstGeom prst="roundRect">
            <a:avLst>
              <a:gd name="adj" fmla="val 4633"/>
            </a:avLst>
          </a:prstGeom>
          <a:noFill/>
          <a:ln>
            <a:solidFill>
              <a:srgbClr val="00418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矩形 2"/>
          <p:cNvSpPr/>
          <p:nvPr/>
        </p:nvSpPr>
        <p:spPr>
          <a:xfrm>
            <a:off x="-323215" y="69024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亮点二：自适应检索与确定性计算</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2330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sym typeface="+mn-ea"/>
              </a:rPr>
              <a:t>根据问题类型与证据缺口组织检索，文本结论由真实原文支撑，数值结果由程序计算。</a:t>
            </a:r>
            <a:endParaRPr sz="1400">
              <a:latin typeface="OPPOSans R" panose="00020600040101010101" charset="-122"/>
              <a:ea typeface="OPPOSans R" panose="00020600040101010101" charset="-122"/>
              <a:sym typeface="+mn-ea"/>
            </a:endParaRPr>
          </a:p>
        </p:txBody>
      </p:sp>
      <p:sp>
        <p:nvSpPr>
          <p:cNvPr id="98" name="Rectangle 5"/>
          <p:cNvSpPr/>
          <p:nvPr/>
        </p:nvSpPr>
        <p:spPr>
          <a:xfrm>
            <a:off x="502920" y="1840230"/>
            <a:ext cx="11412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grpSp>
        <p:nvGrpSpPr>
          <p:cNvPr id="38" name="组合 37"/>
          <p:cNvGrpSpPr/>
          <p:nvPr>
            <p:custDataLst>
              <p:tags r:id="rId1"/>
            </p:custDataLst>
          </p:nvPr>
        </p:nvGrpSpPr>
        <p:grpSpPr>
          <a:xfrm>
            <a:off x="475615" y="1988185"/>
            <a:ext cx="5457190" cy="1487805"/>
            <a:chOff x="749" y="3033"/>
            <a:chExt cx="8594" cy="2343"/>
          </a:xfrm>
        </p:grpSpPr>
        <p:sp>
          <p:nvSpPr>
            <p:cNvPr id="21" name="Rectangle 8"/>
            <p:cNvSpPr/>
            <p:nvPr>
              <p:custDataLst>
                <p:tags r:id="rId2"/>
              </p:custDataLst>
            </p:nvPr>
          </p:nvSpPr>
          <p:spPr>
            <a:xfrm>
              <a:off x="749" y="3397"/>
              <a:ext cx="8594" cy="1979"/>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2" name="Rectangle 9"/>
            <p:cNvSpPr/>
            <p:nvPr>
              <p:custDataLst>
                <p:tags r:id="rId3"/>
              </p:custDataLst>
            </p:nvPr>
          </p:nvSpPr>
          <p:spPr>
            <a:xfrm>
              <a:off x="749" y="3033"/>
              <a:ext cx="3543"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3" name="TextBox 10"/>
            <p:cNvSpPr txBox="1"/>
            <p:nvPr>
              <p:custDataLst>
                <p:tags r:id="rId4"/>
              </p:custDataLst>
            </p:nvPr>
          </p:nvSpPr>
          <p:spPr>
            <a:xfrm>
              <a:off x="922" y="3161"/>
              <a:ext cx="3370"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① 多视角查询规划</a:t>
              </a:r>
              <a:endParaRPr sz="1800">
                <a:solidFill>
                  <a:srgbClr val="FFFFFF"/>
                </a:solidFill>
                <a:latin typeface="OPPOSans B" panose="00020600040101010101" charset="-122"/>
                <a:ea typeface="OPPOSans B" panose="00020600040101010101" charset="-122"/>
                <a:sym typeface="+mn-ea"/>
              </a:endParaRPr>
            </a:p>
          </p:txBody>
        </p:sp>
        <p:sp>
          <p:nvSpPr>
            <p:cNvPr id="24" name="TextBox 11"/>
            <p:cNvSpPr txBox="1"/>
            <p:nvPr>
              <p:custDataLst>
                <p:tags r:id="rId5"/>
              </p:custDataLst>
            </p:nvPr>
          </p:nvSpPr>
          <p:spPr>
            <a:xfrm>
              <a:off x="965" y="3868"/>
              <a:ext cx="8024" cy="1248"/>
            </a:xfrm>
            <a:prstGeom prst="rect">
              <a:avLst/>
            </a:prstGeom>
            <a:noFill/>
          </p:spPr>
          <p:txBody>
            <a:bodyPr wrap="square" lIns="18288" tIns="9144" rIns="18288" bIns="9144" anchor="t">
              <a:spAutoFit/>
            </a:bodyPr>
            <a:p>
              <a:pPr algn="l" fontAlgn="auto">
                <a:lnSpc>
                  <a:spcPct val="120000"/>
                </a:lnSpc>
                <a:spcAft>
                  <a:spcPts val="400"/>
                </a:spcAft>
              </a:pPr>
              <a:r>
                <a:rPr sz="1400">
                  <a:solidFill>
                    <a:schemeClr val="tx1"/>
                  </a:solidFill>
                  <a:latin typeface="OPPOSans R" panose="00020600040101010101" charset="-122"/>
                  <a:ea typeface="OPPOSans R" panose="00020600040101010101" charset="-122"/>
                  <a:cs typeface="OPPOSans R" panose="00020600040101010101" charset="-122"/>
                </a:rPr>
                <a:t>识别</a:t>
              </a:r>
              <a:r>
                <a:rPr sz="1400">
                  <a:solidFill>
                    <a:schemeClr val="accent1"/>
                  </a:solidFill>
                  <a:latin typeface="OPPOSans B" panose="00020600040101010101" charset="-122"/>
                  <a:ea typeface="OPPOSans B" panose="00020600040101010101" charset="-122"/>
                  <a:cs typeface="OPPOSans R" panose="00020600040101010101" charset="-122"/>
                  <a:sym typeface="+mn-ea"/>
                </a:rPr>
                <a:t>主题、机构、期间与问题类型</a:t>
              </a:r>
              <a:r>
                <a:rPr sz="1400">
                  <a:solidFill>
                    <a:schemeClr val="tx1"/>
                  </a:solidFill>
                  <a:latin typeface="OPPOSans R" panose="00020600040101010101" charset="-122"/>
                  <a:ea typeface="OPPOSans R" panose="00020600040101010101" charset="-122"/>
                  <a:cs typeface="OPPOSans R" panose="00020600040101010101" charset="-122"/>
                </a:rPr>
                <a:t>，将复杂问询拆为多视角子查询，分别确定所需条款、附件和指标。文本问题组织证据检索，</a:t>
              </a:r>
              <a:r>
                <a:rPr sz="1400">
                  <a:solidFill>
                    <a:schemeClr val="accent1"/>
                  </a:solidFill>
                  <a:latin typeface="OPPOSans B" panose="00020600040101010101" charset="-122"/>
                  <a:ea typeface="OPPOSans B" panose="00020600040101010101" charset="-122"/>
                  <a:cs typeface="OPPOSans R" panose="00020600040101010101" charset="-122"/>
                  <a:sym typeface="+mn-ea"/>
                </a:rPr>
                <a:t>数值问题进入结构化取数与计算分支</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grpSp>
        <p:nvGrpSpPr>
          <p:cNvPr id="43" name="组合 42"/>
          <p:cNvGrpSpPr/>
          <p:nvPr>
            <p:custDataLst>
              <p:tags r:id="rId6"/>
            </p:custDataLst>
          </p:nvPr>
        </p:nvGrpSpPr>
        <p:grpSpPr>
          <a:xfrm>
            <a:off x="474980" y="3596005"/>
            <a:ext cx="5457825" cy="1127760"/>
            <a:chOff x="748" y="5516"/>
            <a:chExt cx="8595" cy="1776"/>
          </a:xfrm>
        </p:grpSpPr>
        <p:sp>
          <p:nvSpPr>
            <p:cNvPr id="35" name="Rectangle 8"/>
            <p:cNvSpPr/>
            <p:nvPr>
              <p:custDataLst>
                <p:tags r:id="rId7"/>
              </p:custDataLst>
            </p:nvPr>
          </p:nvSpPr>
          <p:spPr>
            <a:xfrm>
              <a:off x="748" y="5880"/>
              <a:ext cx="8595" cy="141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6" name="Rectangle 9"/>
            <p:cNvSpPr/>
            <p:nvPr>
              <p:custDataLst>
                <p:tags r:id="rId8"/>
              </p:custDataLst>
            </p:nvPr>
          </p:nvSpPr>
          <p:spPr>
            <a:xfrm>
              <a:off x="748" y="5516"/>
              <a:ext cx="3871"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7" name="TextBox 10"/>
            <p:cNvSpPr txBox="1"/>
            <p:nvPr>
              <p:custDataLst>
                <p:tags r:id="rId9"/>
              </p:custDataLst>
            </p:nvPr>
          </p:nvSpPr>
          <p:spPr>
            <a:xfrm>
              <a:off x="921" y="5644"/>
              <a:ext cx="3698"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② 混合召回与重排</a:t>
              </a:r>
              <a:endParaRPr sz="1800">
                <a:solidFill>
                  <a:srgbClr val="FFFFFF"/>
                </a:solidFill>
                <a:latin typeface="OPPOSans B" panose="00020600040101010101" charset="-122"/>
                <a:ea typeface="OPPOSans B" panose="00020600040101010101" charset="-122"/>
                <a:sym typeface="+mn-ea"/>
              </a:endParaRPr>
            </a:p>
          </p:txBody>
        </p:sp>
        <p:sp>
          <p:nvSpPr>
            <p:cNvPr id="39" name="TextBox 11"/>
            <p:cNvSpPr txBox="1"/>
            <p:nvPr>
              <p:custDataLst>
                <p:tags r:id="rId10"/>
              </p:custDataLst>
            </p:nvPr>
          </p:nvSpPr>
          <p:spPr>
            <a:xfrm>
              <a:off x="964" y="6351"/>
              <a:ext cx="8294" cy="841"/>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BGE-M3 稠密 / 稀疏 + 词面召回</a:t>
              </a:r>
              <a:r>
                <a:rPr sz="1400">
                  <a:solidFill>
                    <a:schemeClr val="tx1"/>
                  </a:solidFill>
                  <a:latin typeface="OPPOSans R" panose="00020600040101010101" charset="-122"/>
                  <a:ea typeface="OPPOSans R" panose="00020600040101010101" charset="-122"/>
                  <a:cs typeface="OPPOSans R" panose="00020600040101010101" charset="-122"/>
                </a:rPr>
                <a:t>互补，经 RRF 融合与 BGE 交叉编码重排；结合业务维度过滤，兼顾语义相似和口径约束</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grpSp>
        <p:nvGrpSpPr>
          <p:cNvPr id="19" name="组合 18"/>
          <p:cNvGrpSpPr/>
          <p:nvPr>
            <p:custDataLst>
              <p:tags r:id="rId11"/>
            </p:custDataLst>
          </p:nvPr>
        </p:nvGrpSpPr>
        <p:grpSpPr>
          <a:xfrm>
            <a:off x="6128385" y="4861560"/>
            <a:ext cx="5457825" cy="1064895"/>
            <a:chOff x="9651" y="7655"/>
            <a:chExt cx="8595" cy="1677"/>
          </a:xfrm>
        </p:grpSpPr>
        <p:sp>
          <p:nvSpPr>
            <p:cNvPr id="64" name="Rectangle 8"/>
            <p:cNvSpPr/>
            <p:nvPr>
              <p:custDataLst>
                <p:tags r:id="rId12"/>
              </p:custDataLst>
            </p:nvPr>
          </p:nvSpPr>
          <p:spPr>
            <a:xfrm>
              <a:off x="9651" y="8019"/>
              <a:ext cx="8595" cy="1313"/>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5" name="Rectangle 9"/>
            <p:cNvSpPr/>
            <p:nvPr>
              <p:custDataLst>
                <p:tags r:id="rId13"/>
              </p:custDataLst>
            </p:nvPr>
          </p:nvSpPr>
          <p:spPr>
            <a:xfrm>
              <a:off x="9651" y="7655"/>
              <a:ext cx="3871"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6" name="TextBox 10"/>
            <p:cNvSpPr txBox="1"/>
            <p:nvPr>
              <p:custDataLst>
                <p:tags r:id="rId14"/>
              </p:custDataLst>
            </p:nvPr>
          </p:nvSpPr>
          <p:spPr>
            <a:xfrm>
              <a:off x="9824" y="7783"/>
              <a:ext cx="3698"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⑥ 证据绑定计算</a:t>
              </a:r>
              <a:endParaRPr sz="1800">
                <a:solidFill>
                  <a:srgbClr val="FFFFFF"/>
                </a:solidFill>
                <a:latin typeface="OPPOSans B" panose="00020600040101010101" charset="-122"/>
                <a:ea typeface="OPPOSans B" panose="00020600040101010101" charset="-122"/>
                <a:sym typeface="+mn-ea"/>
              </a:endParaRPr>
            </a:p>
          </p:txBody>
        </p:sp>
        <p:sp>
          <p:nvSpPr>
            <p:cNvPr id="67" name="TextBox 11"/>
            <p:cNvSpPr txBox="1"/>
            <p:nvPr>
              <p:custDataLst>
                <p:tags r:id="rId15"/>
              </p:custDataLst>
            </p:nvPr>
          </p:nvSpPr>
          <p:spPr>
            <a:xfrm>
              <a:off x="9867" y="8490"/>
              <a:ext cx="8294" cy="841"/>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按业务维度取数，安全算子执行</a:t>
              </a:r>
              <a:r>
                <a:rPr sz="1400">
                  <a:solidFill>
                    <a:schemeClr val="accent1"/>
                  </a:solidFill>
                  <a:latin typeface="OPPOSans B" panose="00020600040101010101" charset="-122"/>
                  <a:ea typeface="OPPOSans B" panose="00020600040101010101" charset="-122"/>
                  <a:cs typeface="OPPOSans R" panose="00020600040101010101" charset="-122"/>
                  <a:sym typeface="+mn-ea"/>
                </a:rPr>
                <a:t>求和、差值、比例与最值</a:t>
              </a:r>
              <a:r>
                <a:rPr sz="1400">
                  <a:solidFill>
                    <a:schemeClr val="tx1"/>
                  </a:solidFill>
                  <a:latin typeface="OPPOSans R" panose="00020600040101010101" charset="-122"/>
                  <a:ea typeface="OPPOSans R" panose="00020600040101010101" charset="-122"/>
                  <a:cs typeface="OPPOSans R" panose="00020600040101010101" charset="-122"/>
                </a:rPr>
                <a:t>；结果绑定操作数、算式、单位和单元格坐标，随证据交付</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grpSp>
        <p:nvGrpSpPr>
          <p:cNvPr id="28" name="组合 27"/>
          <p:cNvGrpSpPr/>
          <p:nvPr>
            <p:custDataLst>
              <p:tags r:id="rId16"/>
            </p:custDataLst>
          </p:nvPr>
        </p:nvGrpSpPr>
        <p:grpSpPr>
          <a:xfrm>
            <a:off x="6170295" y="2014855"/>
            <a:ext cx="5457190" cy="1205865"/>
            <a:chOff x="9717" y="3033"/>
            <a:chExt cx="8594" cy="1899"/>
          </a:xfrm>
        </p:grpSpPr>
        <p:sp>
          <p:nvSpPr>
            <p:cNvPr id="4" name="Rectangle 8"/>
            <p:cNvSpPr/>
            <p:nvPr>
              <p:custDataLst>
                <p:tags r:id="rId17"/>
              </p:custDataLst>
            </p:nvPr>
          </p:nvSpPr>
          <p:spPr>
            <a:xfrm>
              <a:off x="9717" y="3397"/>
              <a:ext cx="8594" cy="153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 name="Rectangle 9"/>
            <p:cNvSpPr/>
            <p:nvPr>
              <p:custDataLst>
                <p:tags r:id="rId18"/>
              </p:custDataLst>
            </p:nvPr>
          </p:nvSpPr>
          <p:spPr>
            <a:xfrm>
              <a:off x="9717" y="3033"/>
              <a:ext cx="3871"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 name="TextBox 10"/>
            <p:cNvSpPr txBox="1"/>
            <p:nvPr>
              <p:custDataLst>
                <p:tags r:id="rId19"/>
              </p:custDataLst>
            </p:nvPr>
          </p:nvSpPr>
          <p:spPr>
            <a:xfrm>
              <a:off x="9890" y="3161"/>
              <a:ext cx="3698"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④ 证据覆盖诊断</a:t>
              </a:r>
              <a:endParaRPr sz="1800">
                <a:solidFill>
                  <a:srgbClr val="FFFFFF"/>
                </a:solidFill>
                <a:latin typeface="OPPOSans B" panose="00020600040101010101" charset="-122"/>
                <a:ea typeface="OPPOSans B" panose="00020600040101010101" charset="-122"/>
                <a:sym typeface="+mn-ea"/>
              </a:endParaRPr>
            </a:p>
          </p:txBody>
        </p:sp>
        <p:sp>
          <p:nvSpPr>
            <p:cNvPr id="9" name="TextBox 11"/>
            <p:cNvSpPr txBox="1"/>
            <p:nvPr>
              <p:custDataLst>
                <p:tags r:id="rId20"/>
              </p:custDataLst>
            </p:nvPr>
          </p:nvSpPr>
          <p:spPr>
            <a:xfrm>
              <a:off x="9933" y="3868"/>
              <a:ext cx="8025" cy="841"/>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CRAG-lite 诊断证据覆盖</a:t>
              </a:r>
              <a:r>
                <a:rPr sz="1400">
                  <a:solidFill>
                    <a:schemeClr val="tx1"/>
                  </a:solidFill>
                  <a:latin typeface="OPPOSans R" panose="00020600040101010101" charset="-122"/>
                  <a:ea typeface="OPPOSans R" panose="00020600040101010101" charset="-122"/>
                  <a:cs typeface="OPPOSans R" panose="00020600040101010101" charset="-122"/>
                </a:rPr>
                <a:t>，检查定义、列表、禁止性与兜底条款的缺口；逐项形成补检目标，避免过早作答</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grpSp>
        <p:nvGrpSpPr>
          <p:cNvPr id="20" name="组合 19"/>
          <p:cNvGrpSpPr/>
          <p:nvPr>
            <p:custDataLst>
              <p:tags r:id="rId21"/>
            </p:custDataLst>
          </p:nvPr>
        </p:nvGrpSpPr>
        <p:grpSpPr>
          <a:xfrm>
            <a:off x="6169660" y="3484245"/>
            <a:ext cx="5457825" cy="1202055"/>
            <a:chOff x="9716" y="5399"/>
            <a:chExt cx="8595" cy="1893"/>
          </a:xfrm>
        </p:grpSpPr>
        <p:sp>
          <p:nvSpPr>
            <p:cNvPr id="10" name="Rectangle 8"/>
            <p:cNvSpPr/>
            <p:nvPr>
              <p:custDataLst>
                <p:tags r:id="rId22"/>
              </p:custDataLst>
            </p:nvPr>
          </p:nvSpPr>
          <p:spPr>
            <a:xfrm>
              <a:off x="9716" y="5763"/>
              <a:ext cx="8595" cy="1529"/>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1" name="Rectangle 9"/>
            <p:cNvSpPr/>
            <p:nvPr>
              <p:custDataLst>
                <p:tags r:id="rId23"/>
              </p:custDataLst>
            </p:nvPr>
          </p:nvSpPr>
          <p:spPr>
            <a:xfrm>
              <a:off x="9716" y="5399"/>
              <a:ext cx="3871"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2" name="TextBox 10"/>
            <p:cNvSpPr txBox="1"/>
            <p:nvPr>
              <p:custDataLst>
                <p:tags r:id="rId24"/>
              </p:custDataLst>
            </p:nvPr>
          </p:nvSpPr>
          <p:spPr>
            <a:xfrm>
              <a:off x="9889" y="5527"/>
              <a:ext cx="3698"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⑤ HyDE 定向补证</a:t>
              </a:r>
              <a:endParaRPr sz="1800">
                <a:solidFill>
                  <a:srgbClr val="FFFFFF"/>
                </a:solidFill>
                <a:latin typeface="OPPOSans B" panose="00020600040101010101" charset="-122"/>
                <a:ea typeface="OPPOSans B" panose="00020600040101010101" charset="-122"/>
                <a:sym typeface="+mn-ea"/>
              </a:endParaRPr>
            </a:p>
          </p:txBody>
        </p:sp>
        <p:sp>
          <p:nvSpPr>
            <p:cNvPr id="13" name="TextBox 11"/>
            <p:cNvSpPr txBox="1"/>
            <p:nvPr>
              <p:custDataLst>
                <p:tags r:id="rId25"/>
              </p:custDataLst>
            </p:nvPr>
          </p:nvSpPr>
          <p:spPr>
            <a:xfrm>
              <a:off x="9932" y="6234"/>
              <a:ext cx="8294" cy="841"/>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针对缺口生成</a:t>
              </a:r>
              <a:r>
                <a:rPr sz="1400">
                  <a:solidFill>
                    <a:schemeClr val="accent1"/>
                  </a:solidFill>
                  <a:latin typeface="OPPOSans B" panose="00020600040101010101" charset="-122"/>
                  <a:ea typeface="OPPOSans B" panose="00020600040101010101" charset="-122"/>
                  <a:cs typeface="OPPOSans R" panose="00020600040101010101" charset="-122"/>
                  <a:sym typeface="+mn-ea"/>
                </a:rPr>
                <a:t>假设条款检索线索</a:t>
              </a:r>
              <a:r>
                <a:rPr sz="1400">
                  <a:solidFill>
                    <a:schemeClr val="tx1"/>
                  </a:solidFill>
                  <a:latin typeface="OPPOSans R" panose="00020600040101010101" charset="-122"/>
                  <a:ea typeface="OPPOSans R" panose="00020600040101010101" charset="-122"/>
                  <a:cs typeface="OPPOSans R" panose="00020600040101010101" charset="-122"/>
                </a:rPr>
                <a:t>，弥合业务问法与监管术语差异；在预算内补搜真实原文，复核覆盖后汇聚，仍不足则澄清或拒答</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grpSp>
        <p:nvGrpSpPr>
          <p:cNvPr id="18" name="组合 17"/>
          <p:cNvGrpSpPr/>
          <p:nvPr>
            <p:custDataLst>
              <p:tags r:id="rId26"/>
            </p:custDataLst>
          </p:nvPr>
        </p:nvGrpSpPr>
        <p:grpSpPr>
          <a:xfrm>
            <a:off x="474980" y="4844415"/>
            <a:ext cx="5457825" cy="1064895"/>
            <a:chOff x="748" y="7531"/>
            <a:chExt cx="8595" cy="1677"/>
          </a:xfrm>
        </p:grpSpPr>
        <p:sp>
          <p:nvSpPr>
            <p:cNvPr id="14" name="Rectangle 8"/>
            <p:cNvSpPr/>
            <p:nvPr>
              <p:custDataLst>
                <p:tags r:id="rId27"/>
              </p:custDataLst>
            </p:nvPr>
          </p:nvSpPr>
          <p:spPr>
            <a:xfrm>
              <a:off x="748" y="7895"/>
              <a:ext cx="8595" cy="1313"/>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5" name="Rectangle 9"/>
            <p:cNvSpPr/>
            <p:nvPr>
              <p:custDataLst>
                <p:tags r:id="rId28"/>
              </p:custDataLst>
            </p:nvPr>
          </p:nvSpPr>
          <p:spPr>
            <a:xfrm>
              <a:off x="748" y="7531"/>
              <a:ext cx="3871"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6" name="TextBox 10"/>
            <p:cNvSpPr txBox="1"/>
            <p:nvPr>
              <p:custDataLst>
                <p:tags r:id="rId29"/>
              </p:custDataLst>
            </p:nvPr>
          </p:nvSpPr>
          <p:spPr>
            <a:xfrm>
              <a:off x="921" y="7659"/>
              <a:ext cx="3698"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③ 条款与引用定位</a:t>
              </a:r>
              <a:endParaRPr sz="1800">
                <a:solidFill>
                  <a:srgbClr val="FFFFFF"/>
                </a:solidFill>
                <a:latin typeface="OPPOSans B" panose="00020600040101010101" charset="-122"/>
                <a:ea typeface="OPPOSans B" panose="00020600040101010101" charset="-122"/>
                <a:sym typeface="+mn-ea"/>
              </a:endParaRPr>
            </a:p>
          </p:txBody>
        </p:sp>
        <p:sp>
          <p:nvSpPr>
            <p:cNvPr id="17" name="TextBox 11"/>
            <p:cNvSpPr txBox="1"/>
            <p:nvPr>
              <p:custDataLst>
                <p:tags r:id="rId30"/>
              </p:custDataLst>
            </p:nvPr>
          </p:nvSpPr>
          <p:spPr>
            <a:xfrm>
              <a:off x="964" y="8366"/>
              <a:ext cx="8294" cy="841"/>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定义索引直达概念条款，邻接片段补齐语境；解析</a:t>
              </a:r>
              <a:r>
                <a:rPr sz="1400">
                  <a:solidFill>
                    <a:schemeClr val="accent1"/>
                  </a:solidFill>
                  <a:latin typeface="OPPOSans B" panose="00020600040101010101" charset="-122"/>
                  <a:ea typeface="OPPOSans B" panose="00020600040101010101" charset="-122"/>
                  <a:cs typeface="OPPOSans R" panose="00020600040101010101" charset="-122"/>
                  <a:sym typeface="+mn-ea"/>
                </a:rPr>
                <a:t>“本办法第X条 / 《标题》第X条”</a:t>
              </a:r>
              <a:r>
                <a:rPr sz="1400">
                  <a:solidFill>
                    <a:schemeClr val="tx1"/>
                  </a:solidFill>
                  <a:latin typeface="OPPOSans R" panose="00020600040101010101" charset="-122"/>
                  <a:ea typeface="OPPOSans R" panose="00020600040101010101" charset="-122"/>
                  <a:cs typeface="OPPOSans R" panose="00020600040101010101" charset="-122"/>
                </a:rPr>
                <a:t>，沿文内与跨文档引用定位关联依据</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37185" y="64833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亮点三：监管语义校验与可信交付</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4997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sym typeface="+mn-ea"/>
              </a:rPr>
              <a:t>事实核验与监管语义检查协同，关注数字、引用是否一致，以及结论是否改变规范强度和适用条件。</a:t>
            </a:r>
            <a:endParaRPr sz="1400">
              <a:latin typeface="OPPOSans R" panose="00020600040101010101" charset="-122"/>
              <a:ea typeface="OPPOSans R" panose="00020600040101010101" charset="-122"/>
              <a:sym typeface="+mn-ea"/>
            </a:endParaRPr>
          </a:p>
        </p:txBody>
      </p:sp>
      <p:sp>
        <p:nvSpPr>
          <p:cNvPr id="29" name="Rectangle 6"/>
          <p:cNvSpPr/>
          <p:nvPr/>
        </p:nvSpPr>
        <p:spPr>
          <a:xfrm>
            <a:off x="502920" y="1927860"/>
            <a:ext cx="3611880" cy="54864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8" name="TextBox 7"/>
          <p:cNvSpPr txBox="1"/>
          <p:nvPr/>
        </p:nvSpPr>
        <p:spPr>
          <a:xfrm>
            <a:off x="640080" y="2030477"/>
            <a:ext cx="3337560" cy="325120"/>
          </a:xfrm>
          <a:prstGeom prst="rect">
            <a:avLst/>
          </a:prstGeom>
          <a:noFill/>
        </p:spPr>
        <p:txBody>
          <a:bodyPr wrap="square" lIns="18288" tIns="9144" rIns="18288" bIns="9144" anchor="ctr">
            <a:spAutoFit/>
          </a:bodyPr>
          <a:p>
            <a:pPr lvl="0" algn="l">
              <a:spcAft>
                <a:spcPts val="400"/>
              </a:spcAft>
              <a:buClrTx/>
              <a:buSzTx/>
              <a:buFontTx/>
            </a:pPr>
            <a:r>
              <a:rPr sz="2000">
                <a:solidFill>
                  <a:srgbClr val="FFFFFF"/>
                </a:solidFill>
                <a:latin typeface="OPPOSans B" panose="00020600040101010101" charset="-122"/>
                <a:ea typeface="OPPOSans B" panose="00020600040101010101" charset="-122"/>
                <a:cs typeface="OPPOSans B" panose="00020600040101010101" charset="-122"/>
                <a:sym typeface="+mn-ea"/>
              </a:rPr>
              <a:t>01  证据受限生成</a:t>
            </a:r>
            <a:endParaRPr sz="20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39" name="Rectangle 8"/>
          <p:cNvSpPr/>
          <p:nvPr/>
        </p:nvSpPr>
        <p:spPr>
          <a:xfrm>
            <a:off x="502920" y="2476500"/>
            <a:ext cx="3611880" cy="263017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0" name="TextBox 9"/>
          <p:cNvSpPr txBox="1"/>
          <p:nvPr/>
        </p:nvSpPr>
        <p:spPr>
          <a:xfrm>
            <a:off x="667385" y="2613660"/>
            <a:ext cx="3382645" cy="2134235"/>
          </a:xfrm>
          <a:prstGeom prst="rect">
            <a:avLst/>
          </a:prstGeom>
          <a:noFill/>
        </p:spPr>
        <p:txBody>
          <a:bodyPr wrap="square" lIns="18288" tIns="9144" rIns="18288" bIns="9144" anchor="t">
            <a:spAutoFit/>
          </a:bodyPr>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证据约束：</a:t>
            </a:r>
            <a:r>
              <a:rPr sz="1400">
                <a:solidFill>
                  <a:schemeClr val="tx1"/>
                </a:solidFill>
                <a:latin typeface="OPPOSans R" panose="00020600040101010101" charset="-122"/>
                <a:ea typeface="OPPOSans R" panose="00020600040101010101" charset="-122"/>
                <a:cs typeface="OPPOSans R" panose="00020600040101010101" charset="-122"/>
              </a:rPr>
              <a:t>围绕真实检索原文组织结论，逐项关联</a:t>
            </a:r>
            <a:r>
              <a:rPr sz="1400">
                <a:solidFill>
                  <a:schemeClr val="accent1"/>
                </a:solidFill>
                <a:latin typeface="OPPOSans B" panose="00020600040101010101" charset="-122"/>
                <a:ea typeface="OPPOSans B" panose="00020600040101010101" charset="-122"/>
                <a:cs typeface="OPPOSans R" panose="00020600040101010101" charset="-122"/>
                <a:sym typeface="+mn-ea"/>
              </a:rPr>
              <a:t>引用标签与原文摘录</a:t>
            </a:r>
            <a:r>
              <a:rPr sz="1400">
                <a:solidFill>
                  <a:schemeClr val="tx1"/>
                </a:solidFill>
                <a:latin typeface="OPPOSans R" panose="00020600040101010101" charset="-122"/>
                <a:ea typeface="OPPOSans R" panose="00020600040101010101" charset="-122"/>
                <a:cs typeface="OPPOSans R" panose="00020600040101010101" charset="-122"/>
              </a:rPr>
              <a:t>。</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原文可定位：</a:t>
            </a:r>
            <a:r>
              <a:rPr sz="1400">
                <a:solidFill>
                  <a:schemeClr val="tx1"/>
                </a:solidFill>
                <a:latin typeface="OPPOSans R" panose="00020600040101010101" charset="-122"/>
                <a:ea typeface="OPPOSans R" panose="00020600040101010101" charset="-122"/>
                <a:cs typeface="OPPOSans R" panose="00020600040101010101" charset="-122"/>
              </a:rPr>
              <a:t>返回文档、章节、条款、工作表与单元格坐标，支持业务复核。</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计算可复算：</a:t>
            </a:r>
            <a:r>
              <a:rPr sz="1400">
                <a:solidFill>
                  <a:schemeClr val="tx1"/>
                </a:solidFill>
                <a:latin typeface="OPPOSans R" panose="00020600040101010101" charset="-122"/>
                <a:ea typeface="OPPOSans R" panose="00020600040101010101" charset="-122"/>
                <a:cs typeface="OPPOSans R" panose="00020600040101010101" charset="-122"/>
              </a:rPr>
              <a:t>绑定操作数、算式与单位，数值结论可回到原表复算。</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异常可修复：</a:t>
            </a:r>
            <a:r>
              <a:rPr sz="1400">
                <a:solidFill>
                  <a:schemeClr val="tx1"/>
                </a:solidFill>
                <a:latin typeface="OPPOSans R" panose="00020600040101010101" charset="-122"/>
                <a:ea typeface="OPPOSans R" panose="00020600040101010101" charset="-122"/>
                <a:cs typeface="OPPOSans R" panose="00020600040101010101" charset="-122"/>
              </a:rPr>
              <a:t>核对引用一致性，触发引用修复、受限再生成或摘录式降级。</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41" name="Rectangle 10"/>
          <p:cNvSpPr/>
          <p:nvPr/>
        </p:nvSpPr>
        <p:spPr>
          <a:xfrm>
            <a:off x="4288536" y="1927860"/>
            <a:ext cx="3611880" cy="5486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2" name="TextBox 11"/>
          <p:cNvSpPr txBox="1"/>
          <p:nvPr/>
        </p:nvSpPr>
        <p:spPr>
          <a:xfrm>
            <a:off x="4425696" y="2030477"/>
            <a:ext cx="3337560" cy="325120"/>
          </a:xfrm>
          <a:prstGeom prst="rect">
            <a:avLst/>
          </a:prstGeom>
          <a:noFill/>
        </p:spPr>
        <p:txBody>
          <a:bodyPr wrap="square" lIns="18288" tIns="9144" rIns="18288" bIns="9144" anchor="ctr">
            <a:spAutoFit/>
          </a:bodyPr>
          <a:p>
            <a:pPr lvl="0" algn="l">
              <a:spcAft>
                <a:spcPts val="400"/>
              </a:spcAft>
              <a:buClrTx/>
              <a:buSzTx/>
              <a:buFontTx/>
            </a:pPr>
            <a:r>
              <a:rPr sz="2000">
                <a:solidFill>
                  <a:srgbClr val="FFFFFF"/>
                </a:solidFill>
                <a:latin typeface="OPPOSans B" panose="00020600040101010101" charset="-122"/>
                <a:ea typeface="OPPOSans B" panose="00020600040101010101" charset="-122"/>
                <a:cs typeface="OPPOSans B" panose="00020600040101010101" charset="-122"/>
                <a:sym typeface="+mn-ea"/>
              </a:rPr>
              <a:t>02  事实与监管语义校验</a:t>
            </a:r>
            <a:endParaRPr sz="20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43" name="Rectangle 12"/>
          <p:cNvSpPr/>
          <p:nvPr/>
        </p:nvSpPr>
        <p:spPr>
          <a:xfrm>
            <a:off x="4288790" y="2476500"/>
            <a:ext cx="3611880" cy="263017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4" name="TextBox 13"/>
          <p:cNvSpPr txBox="1"/>
          <p:nvPr/>
        </p:nvSpPr>
        <p:spPr>
          <a:xfrm>
            <a:off x="4453127" y="2613660"/>
            <a:ext cx="3291840" cy="1875790"/>
          </a:xfrm>
          <a:prstGeom prst="rect">
            <a:avLst/>
          </a:prstGeom>
          <a:noFill/>
        </p:spPr>
        <p:txBody>
          <a:bodyPr wrap="square" lIns="18288" tIns="9144" rIns="18288" bIns="9144" anchor="t">
            <a:spAutoFit/>
          </a:bodyPr>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事实核对：</a:t>
            </a:r>
            <a:r>
              <a:rPr sz="1400">
                <a:solidFill>
                  <a:schemeClr val="tx1"/>
                </a:solidFill>
                <a:latin typeface="OPPOSans R" panose="00020600040101010101" charset="-122"/>
                <a:ea typeface="OPPOSans R" panose="00020600040101010101" charset="-122"/>
                <a:cs typeface="OPPOSans R" panose="00020600040101010101" charset="-122"/>
              </a:rPr>
              <a:t>检查数字、日期、机构与文号是否与证据一致。</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语义框架：</a:t>
            </a:r>
            <a:r>
              <a:rPr sz="1400">
                <a:solidFill>
                  <a:schemeClr val="tx1"/>
                </a:solidFill>
                <a:latin typeface="OPPOSans R" panose="00020600040101010101" charset="-122"/>
                <a:ea typeface="OPPOSans R" panose="00020600040101010101" charset="-122"/>
                <a:cs typeface="OPPOSans R" panose="00020600040101010101" charset="-122"/>
              </a:rPr>
              <a:t>联合检查主体、规范强度、条件、例外及适用范围。</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校验示意：</a:t>
            </a:r>
            <a:r>
              <a:rPr sz="1400">
                <a:solidFill>
                  <a:schemeClr val="tx1"/>
                </a:solidFill>
                <a:latin typeface="OPPOSans R" panose="00020600040101010101" charset="-122"/>
                <a:ea typeface="OPPOSans R" panose="00020600040101010101" charset="-122"/>
                <a:cs typeface="OPPOSans R" panose="00020600040101010101" charset="-122"/>
              </a:rPr>
              <a:t>“</a:t>
            </a:r>
            <a:r>
              <a:rPr sz="1400">
                <a:solidFill>
                  <a:schemeClr val="accent1"/>
                </a:solidFill>
                <a:latin typeface="OPPOSans B" panose="00020600040101010101" charset="-122"/>
                <a:ea typeface="OPPOSans B" panose="00020600040101010101" charset="-122"/>
                <a:cs typeface="OPPOSans R" panose="00020600040101010101" charset="-122"/>
                <a:sym typeface="+mn-ea"/>
              </a:rPr>
              <a:t>条件A下可以</a:t>
            </a:r>
            <a:r>
              <a:rPr sz="1400">
                <a:solidFill>
                  <a:schemeClr val="tx1"/>
                </a:solidFill>
                <a:latin typeface="OPPOSans R" panose="00020600040101010101" charset="-122"/>
                <a:ea typeface="OPPOSans R" panose="00020600040101010101" charset="-122"/>
                <a:cs typeface="OPPOSans R" panose="00020600040101010101" charset="-122"/>
              </a:rPr>
              <a:t>”误写为“</a:t>
            </a:r>
            <a:r>
              <a:rPr sz="1400">
                <a:solidFill>
                  <a:srgbClr val="CE0000"/>
                </a:solidFill>
                <a:latin typeface="OPPOSans B" panose="00020600040101010101" charset="-122"/>
                <a:ea typeface="OPPOSans B" panose="00020600040101010101" charset="-122"/>
                <a:cs typeface="OPPOSans B" panose="00020600040101010101" charset="-122"/>
              </a:rPr>
              <a:t>所有机构应当</a:t>
            </a:r>
            <a:r>
              <a:rPr sz="1400">
                <a:solidFill>
                  <a:schemeClr val="tx1"/>
                </a:solidFill>
                <a:latin typeface="OPPOSans R" panose="00020600040101010101" charset="-122"/>
                <a:ea typeface="OPPOSans R" panose="00020600040101010101" charset="-122"/>
                <a:cs typeface="OPPOSans R" panose="00020600040101010101" charset="-122"/>
              </a:rPr>
              <a:t>”。</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偏移识别：</a:t>
            </a:r>
            <a:r>
              <a:rPr sz="1400">
                <a:solidFill>
                  <a:schemeClr val="tx1"/>
                </a:solidFill>
                <a:latin typeface="OPPOSans R" panose="00020600040101010101" charset="-122"/>
                <a:ea typeface="OPPOSans R" panose="00020600040101010101" charset="-122"/>
                <a:cs typeface="OPPOSans R" panose="00020600040101010101" charset="-122"/>
              </a:rPr>
              <a:t>检查条件遗漏、主体扩大和义务强度改变。</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45" name="Rectangle 14"/>
          <p:cNvSpPr/>
          <p:nvPr/>
        </p:nvSpPr>
        <p:spPr>
          <a:xfrm>
            <a:off x="8074151" y="1927860"/>
            <a:ext cx="3611880" cy="5486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6" name="TextBox 15"/>
          <p:cNvSpPr txBox="1"/>
          <p:nvPr/>
        </p:nvSpPr>
        <p:spPr>
          <a:xfrm>
            <a:off x="8211311" y="2030477"/>
            <a:ext cx="3337560" cy="325120"/>
          </a:xfrm>
          <a:prstGeom prst="rect">
            <a:avLst/>
          </a:prstGeom>
          <a:noFill/>
        </p:spPr>
        <p:txBody>
          <a:bodyPr wrap="square" lIns="18288" tIns="9144" rIns="18288" bIns="9144" anchor="ctr">
            <a:spAutoFit/>
          </a:bodyPr>
          <a:p>
            <a:pPr lvl="0" algn="l">
              <a:spcAft>
                <a:spcPts val="400"/>
              </a:spcAft>
              <a:buClrTx/>
              <a:buSzTx/>
              <a:buFontTx/>
            </a:pPr>
            <a:r>
              <a:rPr sz="2000">
                <a:solidFill>
                  <a:srgbClr val="FFFFFF"/>
                </a:solidFill>
                <a:latin typeface="OPPOSans B" panose="00020600040101010101" charset="-122"/>
                <a:ea typeface="OPPOSans B" panose="00020600040101010101" charset="-122"/>
                <a:cs typeface="OPPOSans B" panose="00020600040101010101" charset="-122"/>
                <a:sym typeface="+mn-ea"/>
              </a:rPr>
              <a:t>03  风险边界与审计追踪</a:t>
            </a:r>
            <a:endParaRPr sz="20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47" name="Rectangle 16"/>
          <p:cNvSpPr/>
          <p:nvPr/>
        </p:nvSpPr>
        <p:spPr>
          <a:xfrm>
            <a:off x="8074025" y="2476500"/>
            <a:ext cx="3611880" cy="263017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8" name="TextBox 17"/>
          <p:cNvSpPr txBox="1"/>
          <p:nvPr/>
        </p:nvSpPr>
        <p:spPr>
          <a:xfrm>
            <a:off x="8238743" y="2613660"/>
            <a:ext cx="3291840" cy="1514475"/>
          </a:xfrm>
          <a:prstGeom prst="rect">
            <a:avLst/>
          </a:prstGeom>
          <a:noFill/>
        </p:spPr>
        <p:txBody>
          <a:bodyPr wrap="square" lIns="18288" tIns="9144" rIns="18288" bIns="9144" anchor="t">
            <a:spAutoFit/>
          </a:bodyPr>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证据边界：</a:t>
            </a:r>
            <a:r>
              <a:rPr sz="1400">
                <a:solidFill>
                  <a:schemeClr val="tx1"/>
                </a:solidFill>
                <a:latin typeface="OPPOSans R" panose="00020600040101010101" charset="-122"/>
                <a:ea typeface="OPPOSans R" panose="00020600040101010101" charset="-122"/>
                <a:cs typeface="OPPOSans R" panose="00020600040101010101" charset="-122"/>
              </a:rPr>
              <a:t>依据不足、范围不明或资料冲突时，澄清或结构化拒答。</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原因可解释：</a:t>
            </a:r>
            <a:r>
              <a:rPr sz="1400">
                <a:solidFill>
                  <a:schemeClr val="tx1"/>
                </a:solidFill>
                <a:latin typeface="OPPOSans R" panose="00020600040101010101" charset="-122"/>
                <a:ea typeface="OPPOSans R" panose="00020600040101010101" charset="-122"/>
                <a:cs typeface="OPPOSans R" panose="00020600040101010101" charset="-122"/>
              </a:rPr>
              <a:t>指出证据缺口与待补材料，为人工复核提供明确线索。</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过程可追踪：</a:t>
            </a:r>
            <a:r>
              <a:rPr sz="1400">
                <a:solidFill>
                  <a:schemeClr val="tx1"/>
                </a:solidFill>
                <a:latin typeface="OPPOSans R" panose="00020600040101010101" charset="-122"/>
                <a:ea typeface="OPPOSans R" panose="00020600040101010101" charset="-122"/>
                <a:cs typeface="OPPOSans R" panose="00020600040101010101" charset="-122"/>
              </a:rPr>
              <a:t>关联答案、引用来源与处理状态，支持审计和问题定位。</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质量可验证：</a:t>
            </a:r>
            <a:r>
              <a:rPr sz="1400">
                <a:solidFill>
                  <a:schemeClr val="tx1"/>
                </a:solidFill>
                <a:latin typeface="OPPOSans R" panose="00020600040101010101" charset="-122"/>
                <a:ea typeface="OPPOSans R" panose="00020600040101010101" charset="-122"/>
                <a:cs typeface="OPPOSans R" panose="00020600040101010101" charset="-122"/>
              </a:rPr>
              <a:t>通过固定题集回归检验问答质量与拒答边界。</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nvGrpSpPr>
          <p:cNvPr id="55" name="组合 54"/>
          <p:cNvGrpSpPr/>
          <p:nvPr/>
        </p:nvGrpSpPr>
        <p:grpSpPr>
          <a:xfrm>
            <a:off x="502920" y="5219700"/>
            <a:ext cx="11182350" cy="612000"/>
            <a:chOff x="792" y="7776"/>
            <a:chExt cx="17610" cy="1440"/>
          </a:xfrm>
        </p:grpSpPr>
        <p:sp>
          <p:nvSpPr>
            <p:cNvPr id="49" name="Rectangle 18"/>
            <p:cNvSpPr/>
            <p:nvPr/>
          </p:nvSpPr>
          <p:spPr>
            <a:xfrm>
              <a:off x="792" y="7776"/>
              <a:ext cx="17611" cy="144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0" name="Rectangle 19"/>
            <p:cNvSpPr/>
            <p:nvPr/>
          </p:nvSpPr>
          <p:spPr>
            <a:xfrm>
              <a:off x="792" y="7776"/>
              <a:ext cx="130" cy="1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grpSp>
      <p:sp>
        <p:nvSpPr>
          <p:cNvPr id="51" name="TextBox 20"/>
          <p:cNvSpPr txBox="1"/>
          <p:nvPr/>
        </p:nvSpPr>
        <p:spPr>
          <a:xfrm>
            <a:off x="653415" y="5392420"/>
            <a:ext cx="10984230" cy="263525"/>
          </a:xfrm>
          <a:prstGeom prst="rect">
            <a:avLst/>
          </a:prstGeom>
          <a:noFill/>
        </p:spPr>
        <p:txBody>
          <a:bodyPr wrap="square" lIns="18288" tIns="9144" rIns="18288" bIns="9144" anchor="ctr">
            <a:spAutoFit/>
          </a:bodyPr>
          <a:p>
            <a:pPr algn="l">
              <a:spcAft>
                <a:spcPts val="400"/>
              </a:spcAft>
            </a:pPr>
            <a:r>
              <a:rPr sz="1600">
                <a:solidFill>
                  <a:srgbClr val="1F3864"/>
                </a:solidFill>
                <a:latin typeface="OPPOSans B" panose="00020600040101010101" charset="-122"/>
                <a:ea typeface="OPPOSans B" panose="00020600040101010101" charset="-122"/>
                <a:cs typeface="OPPOSans R" panose="00020600040101010101" charset="-122"/>
              </a:rPr>
              <a:t>可信交付：</a:t>
            </a:r>
            <a:r>
              <a:rPr sz="1600">
                <a:solidFill>
                  <a:schemeClr val="tx1"/>
                </a:solidFill>
                <a:latin typeface="OPPOSans R" panose="00020600040101010101" charset="-122"/>
                <a:ea typeface="OPPOSans R" panose="00020600040101010101" charset="-122"/>
                <a:cs typeface="OPPOSans R" panose="00020600040101010101" charset="-122"/>
              </a:rPr>
              <a:t>同时核对</a:t>
            </a:r>
            <a:r>
              <a:rPr sz="1600">
                <a:solidFill>
                  <a:srgbClr val="CE0000"/>
                </a:solidFill>
                <a:latin typeface="OPPOSans B" panose="00020600040101010101" charset="-122"/>
                <a:ea typeface="OPPOSans B" panose="00020600040101010101" charset="-122"/>
                <a:cs typeface="OPPOSans B" panose="00020600040101010101" charset="-122"/>
              </a:rPr>
              <a:t>事实一致性与监管含义</a:t>
            </a:r>
            <a:r>
              <a:rPr sz="1600">
                <a:solidFill>
                  <a:schemeClr val="tx1"/>
                </a:solidFill>
                <a:latin typeface="OPPOSans R" panose="00020600040101010101" charset="-122"/>
                <a:ea typeface="OPPOSans R" panose="00020600040101010101" charset="-122"/>
                <a:cs typeface="OPPOSans R" panose="00020600040101010101" charset="-122"/>
              </a:rPr>
              <a:t>，保留依据和处理记录，让答案能够被业务人员复核。</a:t>
            </a:r>
            <a:endParaRPr sz="1600">
              <a:solidFill>
                <a:schemeClr val="tx1"/>
              </a:solidFill>
              <a:latin typeface="OPPOSans R" panose="00020600040101010101" charset="-122"/>
              <a:ea typeface="OPPOSans R" panose="00020600040101010101" charset="-122"/>
              <a:cs typeface="OPPOSans R" panose="00020600040101010101" charset="-122"/>
            </a:endParaRPr>
          </a:p>
        </p:txBody>
      </p:sp>
      <p:sp>
        <p:nvSpPr>
          <p:cNvPr id="52"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04</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测评结果</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37185" y="64833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测评验证：官方任务与开放场景双层评估</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233045"/>
          </a:xfrm>
          <a:prstGeom prst="rect">
            <a:avLst/>
          </a:prstGeom>
          <a:noFill/>
        </p:spPr>
        <p:txBody>
          <a:bodyPr wrap="square" lIns="18288" tIns="9144" rIns="18288" bIns="9144" anchor="t">
            <a:spAutoFit/>
          </a:bodyPr>
          <a:p>
            <a:pPr algn="l">
              <a:spcAft>
                <a:spcPts val="400"/>
              </a:spcAft>
            </a:pPr>
            <a:r>
              <a:rPr sz="1400">
                <a:solidFill>
                  <a:schemeClr val="tx1"/>
                </a:solidFill>
                <a:latin typeface="OPPOSans R" panose="00020600040101010101" charset="-122"/>
                <a:ea typeface="OPPOSans R" panose="00020600040101010101" charset="-122"/>
                <a:cs typeface="OPPOSans R" panose="00020600040101010101" charset="-122"/>
                <a:sym typeface="+mn-ea"/>
              </a:rPr>
              <a:t>官方 300 道选择题 + 自建 200 道开放题，分别验证赛题任务与制度事实、表格计算、来源覆盖及拒答边界。</a:t>
            </a:r>
            <a:endParaRPr sz="1400">
              <a:solidFill>
                <a:schemeClr val="tx1"/>
              </a:solidFill>
              <a:latin typeface="OPPOSans R" panose="00020600040101010101" charset="-122"/>
              <a:ea typeface="OPPOSans R" panose="00020600040101010101" charset="-122"/>
              <a:cs typeface="OPPOSans R" panose="00020600040101010101" charset="-122"/>
              <a:sym typeface="+mn-ea"/>
            </a:endParaRPr>
          </a:p>
        </p:txBody>
      </p:sp>
      <p:sp>
        <p:nvSpPr>
          <p:cNvPr id="52"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 name="Rectangle 6"/>
          <p:cNvSpPr/>
          <p:nvPr/>
        </p:nvSpPr>
        <p:spPr>
          <a:xfrm>
            <a:off x="511810" y="1939290"/>
            <a:ext cx="3840480" cy="50292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9" name="Rectangle 8"/>
          <p:cNvSpPr/>
          <p:nvPr/>
        </p:nvSpPr>
        <p:spPr>
          <a:xfrm>
            <a:off x="4352290" y="1939290"/>
            <a:ext cx="2377440" cy="50292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11" name="Rectangle 10"/>
          <p:cNvSpPr/>
          <p:nvPr/>
        </p:nvSpPr>
        <p:spPr>
          <a:xfrm>
            <a:off x="6729730" y="1939290"/>
            <a:ext cx="4949825" cy="50292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13" name="Rectangle 12"/>
          <p:cNvSpPr/>
          <p:nvPr/>
        </p:nvSpPr>
        <p:spPr>
          <a:xfrm>
            <a:off x="511810" y="2442210"/>
            <a:ext cx="384048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4" name="TextBox 13"/>
          <p:cNvSpPr txBox="1"/>
          <p:nvPr/>
        </p:nvSpPr>
        <p:spPr>
          <a:xfrm>
            <a:off x="621538" y="2609152"/>
            <a:ext cx="3621024" cy="233045"/>
          </a:xfrm>
          <a:prstGeom prst="rect">
            <a:avLst/>
          </a:prstGeom>
          <a:noFill/>
        </p:spPr>
        <p:txBody>
          <a:bodyPr wrap="square" lIns="18288" tIns="9144" rIns="18288" bIns="9144" anchor="ctr">
            <a:spAutoFit/>
          </a:bodyPr>
          <a:p>
            <a:pPr algn="l">
              <a:spcAft>
                <a:spcPts val="400"/>
              </a:spcAft>
            </a:pPr>
            <a:r>
              <a:rPr sz="1400">
                <a:solidFill>
                  <a:srgbClr val="1F3864"/>
                </a:solidFill>
                <a:latin typeface="OPPOSans B" panose="00020600040101010101" charset="-122"/>
                <a:ea typeface="OPPOSans B" panose="00020600040101010101" charset="-122"/>
                <a:cs typeface="OPPOSans B" panose="00020600040101010101" charset="-122"/>
              </a:rPr>
              <a:t>官方 300 题准确率</a:t>
            </a:r>
            <a:endParaRPr sz="1400">
              <a:solidFill>
                <a:srgbClr val="1F3864"/>
              </a:solidFill>
              <a:latin typeface="OPPOSans B" panose="00020600040101010101" charset="-122"/>
              <a:ea typeface="OPPOSans B" panose="00020600040101010101" charset="-122"/>
              <a:cs typeface="OPPOSans B" panose="00020600040101010101" charset="-122"/>
            </a:endParaRPr>
          </a:p>
        </p:txBody>
      </p:sp>
      <p:sp>
        <p:nvSpPr>
          <p:cNvPr id="4" name="Rectangle 14"/>
          <p:cNvSpPr/>
          <p:nvPr/>
        </p:nvSpPr>
        <p:spPr>
          <a:xfrm>
            <a:off x="4352290" y="2442210"/>
            <a:ext cx="237744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6" name="TextBox 15"/>
          <p:cNvSpPr txBox="1"/>
          <p:nvPr/>
        </p:nvSpPr>
        <p:spPr>
          <a:xfrm>
            <a:off x="4462018" y="2624709"/>
            <a:ext cx="2157984" cy="201930"/>
          </a:xfrm>
          <a:prstGeom prst="rect">
            <a:avLst/>
          </a:prstGeom>
          <a:noFill/>
        </p:spPr>
        <p:txBody>
          <a:bodyPr wrap="square" lIns="18288" tIns="9144" rIns="18288" bIns="9144" anchor="ctr">
            <a:spAutoFit/>
          </a:bodyPr>
          <a:p>
            <a:pPr algn="ctr">
              <a:spcAft>
                <a:spcPts val="400"/>
              </a:spcAft>
            </a:pPr>
            <a:r>
              <a:rPr sz="1400" b="0">
                <a:solidFill>
                  <a:srgbClr val="595959"/>
                </a:solidFill>
                <a:latin typeface="OPPOSans B" panose="00020600040101010101" charset="-122"/>
                <a:ea typeface="OPPOSans B" panose="00020600040101010101" charset="-122"/>
              </a:rPr>
              <a:t>—</a:t>
            </a:r>
            <a:endParaRPr sz="1200" b="0">
              <a:solidFill>
                <a:schemeClr val="tx1"/>
              </a:solidFill>
              <a:latin typeface="OPPOSans B" panose="00020600040101010101" charset="-122"/>
              <a:ea typeface="OPPOSans B" panose="00020600040101010101" charset="-122"/>
            </a:endParaRPr>
          </a:p>
        </p:txBody>
      </p:sp>
      <p:sp>
        <p:nvSpPr>
          <p:cNvPr id="17" name="Rectangle 16"/>
          <p:cNvSpPr/>
          <p:nvPr/>
        </p:nvSpPr>
        <p:spPr>
          <a:xfrm>
            <a:off x="6729730" y="2442210"/>
            <a:ext cx="4949825" cy="567055"/>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9" name="Rectangle 18"/>
          <p:cNvSpPr/>
          <p:nvPr/>
        </p:nvSpPr>
        <p:spPr>
          <a:xfrm>
            <a:off x="511810" y="3009138"/>
            <a:ext cx="384048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0" name="TextBox 19"/>
          <p:cNvSpPr txBox="1"/>
          <p:nvPr/>
        </p:nvSpPr>
        <p:spPr>
          <a:xfrm>
            <a:off x="621538" y="3176080"/>
            <a:ext cx="3621024"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1F3864"/>
                </a:solidFill>
                <a:latin typeface="OPPOSans B" panose="00020600040101010101" charset="-122"/>
                <a:ea typeface="OPPOSans B" panose="00020600040101010101" charset="-122"/>
                <a:cs typeface="OPPOSans B" panose="00020600040101010101" charset="-122"/>
                <a:sym typeface="+mn-ea"/>
              </a:rPr>
              <a:t>制度事实类准确率</a:t>
            </a:r>
            <a:endParaRPr sz="1400">
              <a:solidFill>
                <a:srgbClr val="1F3864"/>
              </a:solidFill>
              <a:latin typeface="OPPOSans B" panose="00020600040101010101" charset="-122"/>
              <a:ea typeface="OPPOSans B" panose="00020600040101010101" charset="-122"/>
              <a:cs typeface="OPPOSans B" panose="00020600040101010101" charset="-122"/>
              <a:sym typeface="+mn-ea"/>
            </a:endParaRPr>
          </a:p>
        </p:txBody>
      </p:sp>
      <p:sp>
        <p:nvSpPr>
          <p:cNvPr id="21" name="Rectangle 20"/>
          <p:cNvSpPr/>
          <p:nvPr/>
        </p:nvSpPr>
        <p:spPr>
          <a:xfrm>
            <a:off x="4352290" y="3009138"/>
            <a:ext cx="237744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2" name="TextBox 21"/>
          <p:cNvSpPr txBox="1"/>
          <p:nvPr/>
        </p:nvSpPr>
        <p:spPr>
          <a:xfrm>
            <a:off x="4462018" y="3176080"/>
            <a:ext cx="2157984" cy="233045"/>
          </a:xfrm>
          <a:prstGeom prst="rect">
            <a:avLst/>
          </a:prstGeom>
          <a:noFill/>
        </p:spPr>
        <p:txBody>
          <a:bodyPr wrap="square" lIns="18288" tIns="9144" rIns="18288" bIns="9144" anchor="ctr">
            <a:spAutoFit/>
          </a:bodyPr>
          <a:p>
            <a:pPr algn="ctr">
              <a:spcAft>
                <a:spcPts val="400"/>
              </a:spcAft>
            </a:pPr>
            <a:r>
              <a:rPr sz="1400" b="0">
                <a:solidFill>
                  <a:srgbClr val="595959"/>
                </a:solidFill>
                <a:latin typeface="OPPOSans B" panose="00020600040101010101" charset="-122"/>
                <a:ea typeface="OPPOSans B" panose="00020600040101010101" charset="-122"/>
              </a:rPr>
              <a:t>≥85%</a:t>
            </a:r>
            <a:endParaRPr sz="1400" b="0">
              <a:solidFill>
                <a:srgbClr val="595959"/>
              </a:solidFill>
              <a:latin typeface="OPPOSans B" panose="00020600040101010101" charset="-122"/>
              <a:ea typeface="OPPOSans B" panose="00020600040101010101" charset="-122"/>
            </a:endParaRPr>
          </a:p>
        </p:txBody>
      </p:sp>
      <p:sp>
        <p:nvSpPr>
          <p:cNvPr id="23" name="Rectangle 22"/>
          <p:cNvSpPr/>
          <p:nvPr/>
        </p:nvSpPr>
        <p:spPr>
          <a:xfrm>
            <a:off x="6729730" y="3009265"/>
            <a:ext cx="4949825" cy="567055"/>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5" name="Rectangle 24"/>
          <p:cNvSpPr/>
          <p:nvPr/>
        </p:nvSpPr>
        <p:spPr>
          <a:xfrm>
            <a:off x="511810" y="3576066"/>
            <a:ext cx="384048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6" name="TextBox 25"/>
          <p:cNvSpPr txBox="1"/>
          <p:nvPr/>
        </p:nvSpPr>
        <p:spPr>
          <a:xfrm>
            <a:off x="621538" y="3743008"/>
            <a:ext cx="3621024"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1F3864"/>
                </a:solidFill>
                <a:latin typeface="OPPOSans B" panose="00020600040101010101" charset="-122"/>
                <a:ea typeface="OPPOSans B" panose="00020600040101010101" charset="-122"/>
                <a:cs typeface="OPPOSans B" panose="00020600040101010101" charset="-122"/>
                <a:sym typeface="+mn-ea"/>
              </a:rPr>
              <a:t>表格取数 / 计算准确率</a:t>
            </a:r>
            <a:endParaRPr sz="1400">
              <a:solidFill>
                <a:srgbClr val="1F3864"/>
              </a:solidFill>
              <a:latin typeface="OPPOSans B" panose="00020600040101010101" charset="-122"/>
              <a:ea typeface="OPPOSans B" panose="00020600040101010101" charset="-122"/>
              <a:cs typeface="OPPOSans B" panose="00020600040101010101" charset="-122"/>
              <a:sym typeface="+mn-ea"/>
            </a:endParaRPr>
          </a:p>
        </p:txBody>
      </p:sp>
      <p:sp>
        <p:nvSpPr>
          <p:cNvPr id="27" name="Rectangle 26"/>
          <p:cNvSpPr/>
          <p:nvPr/>
        </p:nvSpPr>
        <p:spPr>
          <a:xfrm>
            <a:off x="4352290" y="3576066"/>
            <a:ext cx="237744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8" name="TextBox 27"/>
          <p:cNvSpPr txBox="1"/>
          <p:nvPr/>
        </p:nvSpPr>
        <p:spPr>
          <a:xfrm>
            <a:off x="4462018" y="3743008"/>
            <a:ext cx="2157984" cy="233045"/>
          </a:xfrm>
          <a:prstGeom prst="rect">
            <a:avLst/>
          </a:prstGeom>
          <a:noFill/>
        </p:spPr>
        <p:txBody>
          <a:bodyPr wrap="square" lIns="18288" tIns="9144" rIns="18288" bIns="9144" anchor="ctr">
            <a:spAutoFit/>
          </a:bodyPr>
          <a:p>
            <a:pPr algn="ctr">
              <a:spcAft>
                <a:spcPts val="400"/>
              </a:spcAft>
              <a:buClrTx/>
              <a:buSzTx/>
              <a:buFontTx/>
            </a:pPr>
            <a:r>
              <a:rPr sz="1400" b="0">
                <a:solidFill>
                  <a:srgbClr val="595959"/>
                </a:solidFill>
                <a:latin typeface="OPPOSans B" panose="00020600040101010101" charset="-122"/>
                <a:ea typeface="OPPOSans B" panose="00020600040101010101" charset="-122"/>
              </a:rPr>
              <a:t>≥80%</a:t>
            </a:r>
            <a:endParaRPr sz="1400" b="0">
              <a:solidFill>
                <a:srgbClr val="595959"/>
              </a:solidFill>
              <a:latin typeface="OPPOSans B" panose="00020600040101010101" charset="-122"/>
              <a:ea typeface="OPPOSans B" panose="00020600040101010101" charset="-122"/>
            </a:endParaRPr>
          </a:p>
        </p:txBody>
      </p:sp>
      <p:sp>
        <p:nvSpPr>
          <p:cNvPr id="6" name="Rectangle 28"/>
          <p:cNvSpPr/>
          <p:nvPr/>
        </p:nvSpPr>
        <p:spPr>
          <a:xfrm>
            <a:off x="6729730" y="3576320"/>
            <a:ext cx="4949825" cy="567055"/>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1" name="Rectangle 30"/>
          <p:cNvSpPr/>
          <p:nvPr/>
        </p:nvSpPr>
        <p:spPr>
          <a:xfrm>
            <a:off x="511810" y="4142994"/>
            <a:ext cx="384048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2" name="TextBox 31"/>
          <p:cNvSpPr txBox="1"/>
          <p:nvPr/>
        </p:nvSpPr>
        <p:spPr>
          <a:xfrm>
            <a:off x="621538" y="4309936"/>
            <a:ext cx="3621024"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1F3864"/>
                </a:solidFill>
                <a:latin typeface="OPPOSans B" panose="00020600040101010101" charset="-122"/>
                <a:ea typeface="OPPOSans B" panose="00020600040101010101" charset="-122"/>
                <a:cs typeface="OPPOSans B" panose="00020600040101010101" charset="-122"/>
                <a:sym typeface="+mn-ea"/>
              </a:rPr>
              <a:t>证据来源覆盖率（文件级）</a:t>
            </a:r>
            <a:endParaRPr sz="1400">
              <a:solidFill>
                <a:srgbClr val="1F3864"/>
              </a:solidFill>
              <a:latin typeface="OPPOSans B" panose="00020600040101010101" charset="-122"/>
              <a:ea typeface="OPPOSans B" panose="00020600040101010101" charset="-122"/>
              <a:cs typeface="OPPOSans B" panose="00020600040101010101" charset="-122"/>
              <a:sym typeface="+mn-ea"/>
            </a:endParaRPr>
          </a:p>
        </p:txBody>
      </p:sp>
      <p:sp>
        <p:nvSpPr>
          <p:cNvPr id="33" name="Rectangle 32"/>
          <p:cNvSpPr/>
          <p:nvPr/>
        </p:nvSpPr>
        <p:spPr>
          <a:xfrm>
            <a:off x="4352290" y="4142994"/>
            <a:ext cx="237744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4" name="TextBox 33"/>
          <p:cNvSpPr txBox="1"/>
          <p:nvPr/>
        </p:nvSpPr>
        <p:spPr>
          <a:xfrm>
            <a:off x="4462018" y="4309936"/>
            <a:ext cx="2157984" cy="233045"/>
          </a:xfrm>
          <a:prstGeom prst="rect">
            <a:avLst/>
          </a:prstGeom>
          <a:noFill/>
        </p:spPr>
        <p:txBody>
          <a:bodyPr wrap="square" lIns="18288" tIns="9144" rIns="18288" bIns="9144" anchor="ctr">
            <a:spAutoFit/>
          </a:bodyPr>
          <a:p>
            <a:pPr algn="ctr">
              <a:spcAft>
                <a:spcPts val="400"/>
              </a:spcAft>
              <a:buClrTx/>
              <a:buSzTx/>
              <a:buFontTx/>
            </a:pPr>
            <a:r>
              <a:rPr sz="1400" b="0">
                <a:solidFill>
                  <a:srgbClr val="595959"/>
                </a:solidFill>
                <a:latin typeface="OPPOSans B" panose="00020600040101010101" charset="-122"/>
                <a:ea typeface="OPPOSans B" panose="00020600040101010101" charset="-122"/>
              </a:rPr>
              <a:t>≥90%</a:t>
            </a:r>
            <a:endParaRPr sz="1400" b="0">
              <a:solidFill>
                <a:srgbClr val="595959"/>
              </a:solidFill>
              <a:latin typeface="OPPOSans B" panose="00020600040101010101" charset="-122"/>
              <a:ea typeface="OPPOSans B" panose="00020600040101010101" charset="-122"/>
            </a:endParaRPr>
          </a:p>
        </p:txBody>
      </p:sp>
      <p:sp>
        <p:nvSpPr>
          <p:cNvPr id="35" name="Rectangle 34"/>
          <p:cNvSpPr/>
          <p:nvPr/>
        </p:nvSpPr>
        <p:spPr>
          <a:xfrm>
            <a:off x="6729730" y="4142740"/>
            <a:ext cx="4949825" cy="567055"/>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7" name="Rectangle 36"/>
          <p:cNvSpPr/>
          <p:nvPr/>
        </p:nvSpPr>
        <p:spPr>
          <a:xfrm>
            <a:off x="511810" y="4709922"/>
            <a:ext cx="384048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3" name="TextBox 37"/>
          <p:cNvSpPr txBox="1"/>
          <p:nvPr/>
        </p:nvSpPr>
        <p:spPr>
          <a:xfrm>
            <a:off x="621538" y="4876864"/>
            <a:ext cx="3621024"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1F3864"/>
                </a:solidFill>
                <a:latin typeface="OPPOSans B" panose="00020600040101010101" charset="-122"/>
                <a:ea typeface="OPPOSans B" panose="00020600040101010101" charset="-122"/>
                <a:cs typeface="OPPOSans B" panose="00020600040101010101" charset="-122"/>
                <a:sym typeface="+mn-ea"/>
              </a:rPr>
              <a:t>关键数字 / 日期 / 机构 / 文号错误率</a:t>
            </a:r>
            <a:endParaRPr sz="1400">
              <a:solidFill>
                <a:srgbClr val="1F3864"/>
              </a:solidFill>
              <a:latin typeface="OPPOSans B" panose="00020600040101010101" charset="-122"/>
              <a:ea typeface="OPPOSans B" panose="00020600040101010101" charset="-122"/>
              <a:cs typeface="OPPOSans B" panose="00020600040101010101" charset="-122"/>
              <a:sym typeface="+mn-ea"/>
            </a:endParaRPr>
          </a:p>
        </p:txBody>
      </p:sp>
      <p:sp>
        <p:nvSpPr>
          <p:cNvPr id="54" name="Rectangle 38"/>
          <p:cNvSpPr/>
          <p:nvPr/>
        </p:nvSpPr>
        <p:spPr>
          <a:xfrm>
            <a:off x="4352290" y="4709922"/>
            <a:ext cx="237744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6" name="TextBox 39"/>
          <p:cNvSpPr txBox="1"/>
          <p:nvPr/>
        </p:nvSpPr>
        <p:spPr>
          <a:xfrm>
            <a:off x="4462018" y="4876864"/>
            <a:ext cx="2157984" cy="233045"/>
          </a:xfrm>
          <a:prstGeom prst="rect">
            <a:avLst/>
          </a:prstGeom>
          <a:noFill/>
        </p:spPr>
        <p:txBody>
          <a:bodyPr wrap="square" lIns="18288" tIns="9144" rIns="18288" bIns="9144" anchor="ctr">
            <a:spAutoFit/>
          </a:bodyPr>
          <a:p>
            <a:pPr algn="ctr">
              <a:spcAft>
                <a:spcPts val="400"/>
              </a:spcAft>
              <a:buClrTx/>
              <a:buSzTx/>
              <a:buFontTx/>
            </a:pPr>
            <a:r>
              <a:rPr sz="1400" b="0">
                <a:solidFill>
                  <a:srgbClr val="595959"/>
                </a:solidFill>
                <a:latin typeface="OPPOSans B" panose="00020600040101010101" charset="-122"/>
                <a:ea typeface="OPPOSans B" panose="00020600040101010101" charset="-122"/>
              </a:rPr>
              <a:t>≤5%</a:t>
            </a:r>
            <a:endParaRPr sz="1400" b="0">
              <a:solidFill>
                <a:srgbClr val="595959"/>
              </a:solidFill>
              <a:latin typeface="OPPOSans B" panose="00020600040101010101" charset="-122"/>
              <a:ea typeface="OPPOSans B" panose="00020600040101010101" charset="-122"/>
            </a:endParaRPr>
          </a:p>
        </p:txBody>
      </p:sp>
      <p:sp>
        <p:nvSpPr>
          <p:cNvPr id="57" name="Rectangle 40"/>
          <p:cNvSpPr/>
          <p:nvPr/>
        </p:nvSpPr>
        <p:spPr>
          <a:xfrm>
            <a:off x="6729730" y="4709795"/>
            <a:ext cx="4949825" cy="567055"/>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9" name="Rectangle 42"/>
          <p:cNvSpPr/>
          <p:nvPr/>
        </p:nvSpPr>
        <p:spPr>
          <a:xfrm>
            <a:off x="511810" y="5276850"/>
            <a:ext cx="384048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0" name="TextBox 43"/>
          <p:cNvSpPr txBox="1"/>
          <p:nvPr/>
        </p:nvSpPr>
        <p:spPr>
          <a:xfrm>
            <a:off x="621538" y="5443792"/>
            <a:ext cx="3621024"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1F3864"/>
                </a:solidFill>
                <a:latin typeface="OPPOSans B" panose="00020600040101010101" charset="-122"/>
                <a:ea typeface="OPPOSans B" panose="00020600040101010101" charset="-122"/>
                <a:cs typeface="OPPOSans B" panose="00020600040101010101" charset="-122"/>
                <a:sym typeface="+mn-ea"/>
              </a:rPr>
              <a:t>应拒答题处理正确率</a:t>
            </a:r>
            <a:endParaRPr sz="1400">
              <a:solidFill>
                <a:srgbClr val="1F3864"/>
              </a:solidFill>
              <a:latin typeface="OPPOSans B" panose="00020600040101010101" charset="-122"/>
              <a:ea typeface="OPPOSans B" panose="00020600040101010101" charset="-122"/>
              <a:cs typeface="OPPOSans B" panose="00020600040101010101" charset="-122"/>
              <a:sym typeface="+mn-ea"/>
            </a:endParaRPr>
          </a:p>
        </p:txBody>
      </p:sp>
      <p:sp>
        <p:nvSpPr>
          <p:cNvPr id="61" name="Rectangle 44"/>
          <p:cNvSpPr/>
          <p:nvPr/>
        </p:nvSpPr>
        <p:spPr>
          <a:xfrm>
            <a:off x="4352290" y="5276850"/>
            <a:ext cx="237744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2" name="TextBox 45"/>
          <p:cNvSpPr txBox="1"/>
          <p:nvPr/>
        </p:nvSpPr>
        <p:spPr>
          <a:xfrm>
            <a:off x="4462018" y="5443792"/>
            <a:ext cx="2157984" cy="233045"/>
          </a:xfrm>
          <a:prstGeom prst="rect">
            <a:avLst/>
          </a:prstGeom>
          <a:noFill/>
        </p:spPr>
        <p:txBody>
          <a:bodyPr wrap="square" lIns="18288" tIns="9144" rIns="18288" bIns="9144" anchor="ctr">
            <a:spAutoFit/>
          </a:bodyPr>
          <a:p>
            <a:pPr algn="ctr">
              <a:spcAft>
                <a:spcPts val="400"/>
              </a:spcAft>
              <a:buClrTx/>
              <a:buSzTx/>
              <a:buFontTx/>
            </a:pPr>
            <a:r>
              <a:rPr sz="1400" b="0">
                <a:solidFill>
                  <a:srgbClr val="595959"/>
                </a:solidFill>
                <a:latin typeface="OPPOSans B" panose="00020600040101010101" charset="-122"/>
                <a:ea typeface="OPPOSans B" panose="00020600040101010101" charset="-122"/>
              </a:rPr>
              <a:t>≥80%</a:t>
            </a:r>
            <a:endParaRPr sz="1400" b="0">
              <a:solidFill>
                <a:srgbClr val="595959"/>
              </a:solidFill>
              <a:latin typeface="OPPOSans B" panose="00020600040101010101" charset="-122"/>
              <a:ea typeface="OPPOSans B" panose="00020600040101010101" charset="-122"/>
            </a:endParaRPr>
          </a:p>
        </p:txBody>
      </p:sp>
      <p:sp>
        <p:nvSpPr>
          <p:cNvPr id="63" name="Rectangle 46"/>
          <p:cNvSpPr/>
          <p:nvPr/>
        </p:nvSpPr>
        <p:spPr>
          <a:xfrm>
            <a:off x="6729730" y="5276850"/>
            <a:ext cx="4949825" cy="567055"/>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2" name="TextBox 7"/>
          <p:cNvSpPr txBox="1"/>
          <p:nvPr/>
        </p:nvSpPr>
        <p:spPr>
          <a:xfrm>
            <a:off x="511810" y="2047240"/>
            <a:ext cx="3840480" cy="233045"/>
          </a:xfrm>
          <a:prstGeom prst="rect">
            <a:avLst/>
          </a:prstGeom>
          <a:noFill/>
        </p:spPr>
        <p:txBody>
          <a:bodyPr wrap="square" lIns="18288" tIns="9144" rIns="18288" bIns="9144" anchor="t">
            <a:spAutoFit/>
          </a:bodyPr>
          <a:p>
            <a:pPr algn="ctr">
              <a:spcAft>
                <a:spcPts val="400"/>
              </a:spcAft>
            </a:pPr>
            <a:r>
              <a:rPr sz="1400">
                <a:solidFill>
                  <a:srgbClr val="FFFFFF"/>
                </a:solidFill>
                <a:latin typeface="OPPOSans B" panose="00020600040101010101" charset="-122"/>
                <a:ea typeface="OPPOSans B" panose="00020600040101010101" charset="-122"/>
              </a:rPr>
              <a:t>指标</a:t>
            </a:r>
            <a:endParaRPr sz="1400">
              <a:solidFill>
                <a:srgbClr val="FFFFFF"/>
              </a:solidFill>
              <a:latin typeface="OPPOSans B" panose="00020600040101010101" charset="-122"/>
              <a:ea typeface="OPPOSans B" panose="00020600040101010101" charset="-122"/>
            </a:endParaRPr>
          </a:p>
        </p:txBody>
      </p:sp>
      <p:sp>
        <p:nvSpPr>
          <p:cNvPr id="73" name="TextBox 9"/>
          <p:cNvSpPr txBox="1"/>
          <p:nvPr/>
        </p:nvSpPr>
        <p:spPr>
          <a:xfrm>
            <a:off x="4352290" y="2047240"/>
            <a:ext cx="2377440" cy="233045"/>
          </a:xfrm>
          <a:prstGeom prst="rect">
            <a:avLst/>
          </a:prstGeom>
          <a:noFill/>
        </p:spPr>
        <p:txBody>
          <a:bodyPr wrap="square" lIns="18288" tIns="9144" rIns="18288" bIns="9144" anchor="t">
            <a:spAutoFit/>
          </a:bodyPr>
          <a:p>
            <a:pPr algn="ctr">
              <a:spcAft>
                <a:spcPts val="400"/>
              </a:spcAft>
            </a:pPr>
            <a:r>
              <a:rPr sz="1400">
                <a:solidFill>
                  <a:srgbClr val="FFFFFF"/>
                </a:solidFill>
                <a:latin typeface="OPPOSans B" panose="00020600040101010101" charset="-122"/>
                <a:ea typeface="OPPOSans B" panose="00020600040101010101" charset="-122"/>
              </a:rPr>
              <a:t>赛题要求</a:t>
            </a:r>
            <a:endParaRPr sz="1400">
              <a:solidFill>
                <a:srgbClr val="FFFFFF"/>
              </a:solidFill>
              <a:latin typeface="OPPOSans B" panose="00020600040101010101" charset="-122"/>
              <a:ea typeface="OPPOSans B" panose="00020600040101010101" charset="-122"/>
            </a:endParaRPr>
          </a:p>
        </p:txBody>
      </p:sp>
      <p:sp>
        <p:nvSpPr>
          <p:cNvPr id="8" name="TextBox 17"/>
          <p:cNvSpPr txBox="1"/>
          <p:nvPr/>
        </p:nvSpPr>
        <p:spPr>
          <a:xfrm>
            <a:off x="6839458" y="2609152"/>
            <a:ext cx="3986783" cy="233045"/>
          </a:xfrm>
          <a:prstGeom prst="rect">
            <a:avLst/>
          </a:prstGeom>
          <a:noFill/>
        </p:spPr>
        <p:txBody>
          <a:bodyPr wrap="square" lIns="18288" tIns="9144" rIns="18288" bIns="9144" anchor="ctr">
            <a:spAutoFit/>
          </a:bodyPr>
          <a:p>
            <a:pPr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rPr>
              <a:t>300/300（100%），0 运行错误</a:t>
            </a:r>
            <a:endParaRPr sz="1400">
              <a:solidFill>
                <a:srgbClr val="CE0000"/>
              </a:solidFill>
              <a:latin typeface="OPPOSans B" panose="00020600040101010101" charset="-122"/>
              <a:ea typeface="OPPOSans B" panose="00020600040101010101" charset="-122"/>
              <a:cs typeface="OPPOSans B" panose="00020600040101010101" charset="-122"/>
            </a:endParaRPr>
          </a:p>
        </p:txBody>
      </p:sp>
      <p:sp>
        <p:nvSpPr>
          <p:cNvPr id="10" name="TextBox 23"/>
          <p:cNvSpPr txBox="1"/>
          <p:nvPr/>
        </p:nvSpPr>
        <p:spPr>
          <a:xfrm>
            <a:off x="6839458" y="3176080"/>
            <a:ext cx="3986783"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sym typeface="+mn-ea"/>
              </a:rPr>
              <a:t>99/112（88.4%）</a:t>
            </a:r>
            <a:endParaRPr sz="1400">
              <a:solidFill>
                <a:srgbClr val="CE0000"/>
              </a:solidFill>
              <a:latin typeface="OPPOSans B" panose="00020600040101010101" charset="-122"/>
              <a:ea typeface="OPPOSans B" panose="00020600040101010101" charset="-122"/>
              <a:cs typeface="OPPOSans B" panose="00020600040101010101" charset="-122"/>
              <a:sym typeface="+mn-ea"/>
            </a:endParaRPr>
          </a:p>
        </p:txBody>
      </p:sp>
      <p:sp>
        <p:nvSpPr>
          <p:cNvPr id="12" name="TextBox 29"/>
          <p:cNvSpPr txBox="1"/>
          <p:nvPr/>
        </p:nvSpPr>
        <p:spPr>
          <a:xfrm>
            <a:off x="6839585" y="3743008"/>
            <a:ext cx="5010785"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sym typeface="+mn-ea"/>
              </a:rPr>
              <a:t>取数 20/20，计算 20/20，合计 100%</a:t>
            </a:r>
            <a:endParaRPr sz="1400">
              <a:solidFill>
                <a:srgbClr val="CE0000"/>
              </a:solidFill>
              <a:latin typeface="OPPOSans B" panose="00020600040101010101" charset="-122"/>
              <a:ea typeface="OPPOSans B" panose="00020600040101010101" charset="-122"/>
              <a:cs typeface="OPPOSans B" panose="00020600040101010101" charset="-122"/>
              <a:sym typeface="+mn-ea"/>
            </a:endParaRPr>
          </a:p>
        </p:txBody>
      </p:sp>
      <p:sp>
        <p:nvSpPr>
          <p:cNvPr id="29" name="TextBox 35"/>
          <p:cNvSpPr txBox="1"/>
          <p:nvPr/>
        </p:nvSpPr>
        <p:spPr>
          <a:xfrm>
            <a:off x="6839585" y="4310063"/>
            <a:ext cx="4766310"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sym typeface="+mn-ea"/>
              </a:rPr>
              <a:t>149/160（93.1%，来源文件级）</a:t>
            </a:r>
            <a:endParaRPr sz="1400">
              <a:solidFill>
                <a:srgbClr val="CE0000"/>
              </a:solidFill>
              <a:latin typeface="OPPOSans B" panose="00020600040101010101" charset="-122"/>
              <a:ea typeface="OPPOSans B" panose="00020600040101010101" charset="-122"/>
              <a:cs typeface="OPPOSans B" panose="00020600040101010101" charset="-122"/>
              <a:sym typeface="+mn-ea"/>
            </a:endParaRPr>
          </a:p>
        </p:txBody>
      </p:sp>
      <p:sp>
        <p:nvSpPr>
          <p:cNvPr id="38" name="TextBox 41"/>
          <p:cNvSpPr txBox="1"/>
          <p:nvPr/>
        </p:nvSpPr>
        <p:spPr>
          <a:xfrm>
            <a:off x="6839458" y="4876864"/>
            <a:ext cx="3986783"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sym typeface="+mn-ea"/>
              </a:rPr>
              <a:t>2.4%（2026-08-05 专项统计）</a:t>
            </a:r>
            <a:endParaRPr sz="1400">
              <a:solidFill>
                <a:srgbClr val="CE0000"/>
              </a:solidFill>
              <a:latin typeface="OPPOSans B" panose="00020600040101010101" charset="-122"/>
              <a:ea typeface="OPPOSans B" panose="00020600040101010101" charset="-122"/>
              <a:cs typeface="OPPOSans B" panose="00020600040101010101" charset="-122"/>
              <a:sym typeface="+mn-ea"/>
            </a:endParaRPr>
          </a:p>
        </p:txBody>
      </p:sp>
      <p:sp>
        <p:nvSpPr>
          <p:cNvPr id="40" name="TextBox 11"/>
          <p:cNvSpPr txBox="1"/>
          <p:nvPr/>
        </p:nvSpPr>
        <p:spPr>
          <a:xfrm>
            <a:off x="6729730" y="2047240"/>
            <a:ext cx="4206240" cy="233045"/>
          </a:xfrm>
          <a:prstGeom prst="rect">
            <a:avLst/>
          </a:prstGeom>
          <a:noFill/>
        </p:spPr>
        <p:txBody>
          <a:bodyPr wrap="square" lIns="18288" tIns="9144" rIns="18288" bIns="9144" anchor="t">
            <a:spAutoFit/>
          </a:bodyPr>
          <a:p>
            <a:pPr algn="ctr">
              <a:spcAft>
                <a:spcPts val="400"/>
              </a:spcAft>
            </a:pPr>
            <a:r>
              <a:rPr sz="1400">
                <a:solidFill>
                  <a:srgbClr val="FFFFFF"/>
                </a:solidFill>
                <a:latin typeface="OPPOSans B" panose="00020600040101010101" charset="-122"/>
                <a:ea typeface="OPPOSans B" panose="00020600040101010101" charset="-122"/>
              </a:rPr>
              <a:t>实测结果</a:t>
            </a:r>
            <a:endParaRPr sz="1400">
              <a:solidFill>
                <a:srgbClr val="FFFFFF"/>
              </a:solidFill>
              <a:latin typeface="OPPOSans B" panose="00020600040101010101" charset="-122"/>
              <a:ea typeface="OPPOSans B" panose="00020600040101010101" charset="-122"/>
            </a:endParaRPr>
          </a:p>
        </p:txBody>
      </p:sp>
      <p:sp>
        <p:nvSpPr>
          <p:cNvPr id="42" name="TextBox 47"/>
          <p:cNvSpPr txBox="1"/>
          <p:nvPr/>
        </p:nvSpPr>
        <p:spPr>
          <a:xfrm>
            <a:off x="6839458" y="5443792"/>
            <a:ext cx="3986783"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sym typeface="+mn-ea"/>
              </a:rPr>
              <a:t>40/40（100%，预设应拒答题）</a:t>
            </a:r>
            <a:endParaRPr sz="1400">
              <a:solidFill>
                <a:srgbClr val="CE0000"/>
              </a:solidFill>
              <a:latin typeface="OPPOSans B" panose="00020600040101010101" charset="-122"/>
              <a:ea typeface="OPPOSans B" panose="00020600040101010101" charset="-122"/>
              <a:cs typeface="OPPOSans B" panose="00020600040101010101" charset="-122"/>
              <a:sym typeface="+mn-ea"/>
            </a:endParaRPr>
          </a:p>
        </p:txBody>
      </p:sp>
      <p:sp>
        <p:nvSpPr>
          <p:cNvPr id="95" name="Rectangle 26"/>
          <p:cNvSpPr/>
          <p:nvPr/>
        </p:nvSpPr>
        <p:spPr>
          <a:xfrm>
            <a:off x="502920" y="5951220"/>
            <a:ext cx="11183112" cy="68580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6" name="Rectangle 27"/>
          <p:cNvSpPr/>
          <p:nvPr/>
        </p:nvSpPr>
        <p:spPr>
          <a:xfrm>
            <a:off x="502920" y="5951220"/>
            <a:ext cx="82296" cy="685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7" name="TextBox 28"/>
          <p:cNvSpPr txBox="1"/>
          <p:nvPr/>
        </p:nvSpPr>
        <p:spPr>
          <a:xfrm>
            <a:off x="674370" y="6160135"/>
            <a:ext cx="10950575" cy="294640"/>
          </a:xfrm>
          <a:prstGeom prst="rect">
            <a:avLst/>
          </a:prstGeom>
          <a:noFill/>
        </p:spPr>
        <p:txBody>
          <a:bodyPr wrap="square" lIns="18288" tIns="9144" rIns="18288" bIns="9144" anchor="ctr">
            <a:spAutoFit/>
          </a:bodyPr>
          <a:p>
            <a:pPr algn="l">
              <a:spcAft>
                <a:spcPts val="400"/>
              </a:spcAft>
            </a:pPr>
            <a:r>
              <a:rPr sz="1800">
                <a:solidFill>
                  <a:srgbClr val="1F3864"/>
                </a:solidFill>
                <a:latin typeface="OPPOSans B" panose="00020600040101010101" charset="-122"/>
                <a:ea typeface="OPPOSans B" panose="00020600040101010101" charset="-122"/>
                <a:cs typeface="OPPOSans R" panose="00020600040101010101" charset="-122"/>
              </a:rPr>
              <a:t>开放题最终回归：</a:t>
            </a:r>
            <a:r>
              <a:rPr sz="1800">
                <a:solidFill>
                  <a:srgbClr val="CE0000"/>
                </a:solidFill>
                <a:latin typeface="OPPOSans B" panose="00020600040101010101" charset="-122"/>
                <a:ea typeface="OPPOSans B" panose="00020600040101010101" charset="-122"/>
                <a:cs typeface="OPPOSans B" panose="00020600040101010101" charset="-122"/>
              </a:rPr>
              <a:t>181/200（90.5%）</a:t>
            </a:r>
            <a:r>
              <a:rPr sz="1800">
                <a:solidFill>
                  <a:srgbClr val="C00000"/>
                </a:solidFill>
                <a:latin typeface="OPPOSans B" panose="00020600040101010101" charset="-122"/>
                <a:ea typeface="OPPOSans B" panose="00020600040101010101" charset="-122"/>
                <a:cs typeface="OPPOSans B" panose="00020600040101010101" charset="-122"/>
                <a:sym typeface="+mn-ea"/>
              </a:rPr>
              <a:t>，0 运行错误。</a:t>
            </a:r>
            <a:r>
              <a:rPr sz="1800">
                <a:solidFill>
                  <a:srgbClr val="1F3864"/>
                </a:solidFill>
                <a:latin typeface="OPPOSans B" panose="00020600040101010101" charset="-122"/>
                <a:ea typeface="OPPOSans B" panose="00020600040101010101" charset="-122"/>
                <a:cs typeface="OPPOSans R" panose="00020600040101010101" charset="-122"/>
              </a:rPr>
              <a:t>除实体错误率外，采用 2026-10-02 记录。</a:t>
            </a:r>
            <a:endParaRPr sz="1800">
              <a:solidFill>
                <a:srgbClr val="1F3864"/>
              </a:solidFill>
              <a:latin typeface="OPPOSans B" panose="00020600040101010101" charset="-122"/>
              <a:ea typeface="OPPOSans B" panose="00020600040101010101" charset="-122"/>
              <a:cs typeface="OPPOSans R" panose="0002060004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37185" y="64833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noAutofit/>
          </a:bodyPr>
          <a:p>
            <a:pPr algn="l">
              <a:spcAft>
                <a:spcPts val="200"/>
              </a:spcAft>
            </a:pPr>
            <a:r>
              <a:rPr sz="3000">
                <a:solidFill>
                  <a:srgbClr val="195CC4"/>
                </a:solidFill>
                <a:latin typeface="OPPOSans B" panose="00020600040101010101" charset="-122"/>
                <a:ea typeface="OPPOSans B" panose="00020600040101010101" charset="-122"/>
                <a:cs typeface="OPPOSans B" panose="00020600040101010101" charset="-122"/>
              </a:rPr>
              <a:t>案例一：资本工具发行前的合规口径核验</a:t>
            </a:r>
          </a:p>
        </p:txBody>
      </p:sp>
      <p:sp>
        <p:nvSpPr>
          <p:cNvPr id="7" name="TextBox 4"/>
          <p:cNvSpPr txBox="1"/>
          <p:nvPr/>
        </p:nvSpPr>
        <p:spPr>
          <a:xfrm>
            <a:off x="713232" y="1575054"/>
            <a:ext cx="10789920" cy="233045"/>
          </a:xfrm>
          <a:prstGeom prst="rect">
            <a:avLst/>
          </a:prstGeom>
          <a:noFill/>
        </p:spPr>
        <p:txBody>
          <a:bodyPr wrap="square" lIns="18288" tIns="9144" rIns="18288" bIns="9144" anchor="ctr">
            <a:noAutofit/>
          </a:bodyPr>
          <a:p>
            <a:pPr algn="l">
              <a:spcAft>
                <a:spcPts val="200"/>
              </a:spcAft>
            </a:pPr>
            <a:r>
              <a:rPr sz="1400">
                <a:solidFill>
                  <a:srgbClr val="000000"/>
                </a:solidFill>
                <a:latin typeface="OPPOSans R" panose="00020600040101010101" charset="-122"/>
                <a:ea typeface="OPPOSans R" panose="00020600040101010101" charset="-122"/>
                <a:cs typeface="OPPOSans R" panose="00020600040101010101" charset="-122"/>
              </a:rPr>
              <a:t>模拟业务场景，2026-10-16 接口实测：关联同一附件的多项条款，保留赎回条件与例外关系。</a:t>
            </a:r>
          </a:p>
        </p:txBody>
      </p:sp>
      <p:sp>
        <p:nvSpPr>
          <p:cNvPr id="52"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5" name="Rectangle 6"/>
          <p:cNvSpPr/>
          <p:nvPr/>
        </p:nvSpPr>
        <p:spPr>
          <a:xfrm>
            <a:off x="502920" y="1916430"/>
            <a:ext cx="1737360"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6" name="TextBox 7"/>
          <p:cNvSpPr txBox="1"/>
          <p:nvPr/>
        </p:nvSpPr>
        <p:spPr>
          <a:xfrm>
            <a:off x="566928" y="2116582"/>
            <a:ext cx="1609344" cy="294640"/>
          </a:xfrm>
          <a:prstGeom prst="rect">
            <a:avLst/>
          </a:prstGeom>
          <a:noFill/>
        </p:spPr>
        <p:txBody>
          <a:bodyPr wrap="square" lIns="18288" tIns="9144" rIns="18288" bIns="9144" anchor="ctr">
            <a:noAutofit/>
          </a:bodyPr>
          <a:p>
            <a:pPr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业务提问</a:t>
            </a:r>
          </a:p>
        </p:txBody>
      </p:sp>
      <p:sp>
        <p:nvSpPr>
          <p:cNvPr id="77" name="Rectangle 8"/>
          <p:cNvSpPr/>
          <p:nvPr/>
        </p:nvSpPr>
        <p:spPr>
          <a:xfrm>
            <a:off x="2240280" y="1916430"/>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8" name="TextBox 9"/>
          <p:cNvSpPr txBox="1"/>
          <p:nvPr/>
        </p:nvSpPr>
        <p:spPr>
          <a:xfrm>
            <a:off x="2423160" y="1981430"/>
            <a:ext cx="9144000" cy="580000"/>
          </a:xfrm>
          <a:prstGeom prst="rect">
            <a:avLst/>
          </a:prstGeom>
          <a:noFill/>
        </p:spPr>
        <p:txBody>
          <a:bodyPr wrap="square" lIns="18288" tIns="9144" rIns="18288" bIns="9144" anchor="ctr">
            <a:noAutofit/>
          </a:bodyPr>
          <a:p>
            <a:pPr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其他一级资本工具的期限、利率跳升、赎回条件及损失吸收顺序，有哪些监管要求？</a:t>
            </a:r>
          </a:p>
        </p:txBody>
      </p:sp>
      <p:sp>
        <p:nvSpPr>
          <p:cNvPr id="79" name="Rectangle 10"/>
          <p:cNvSpPr/>
          <p:nvPr/>
        </p:nvSpPr>
        <p:spPr>
          <a:xfrm>
            <a:off x="502920" y="2721102"/>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0" name="TextBox 11"/>
          <p:cNvSpPr txBox="1"/>
          <p:nvPr/>
        </p:nvSpPr>
        <p:spPr>
          <a:xfrm>
            <a:off x="566928" y="2921254"/>
            <a:ext cx="1609344" cy="294640"/>
          </a:xfrm>
          <a:prstGeom prst="rect">
            <a:avLst/>
          </a:prstGeom>
          <a:noFill/>
        </p:spPr>
        <p:txBody>
          <a:bodyPr wrap="square" lIns="18288" tIns="9144" rIns="18288" bIns="9144" anchor="ctr">
            <a:noAutofit/>
          </a:bodyPr>
          <a:p>
            <a:pPr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期限与定价</a:t>
            </a:r>
          </a:p>
        </p:txBody>
      </p:sp>
      <p:sp>
        <p:nvSpPr>
          <p:cNvPr id="81" name="Rectangle 12"/>
          <p:cNvSpPr/>
          <p:nvPr/>
        </p:nvSpPr>
        <p:spPr>
          <a:xfrm>
            <a:off x="2240280" y="2721102"/>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2" name="TextBox 13"/>
          <p:cNvSpPr txBox="1"/>
          <p:nvPr/>
        </p:nvSpPr>
        <p:spPr>
          <a:xfrm>
            <a:off x="2423160" y="2786102"/>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没有到期日，不得含有利率跳升机制及其他赎回激励。[5]</a:t>
            </a: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依据：《商业银行资本管理办法》附件1，第二部分（四）。</a:t>
            </a:r>
          </a:p>
        </p:txBody>
      </p:sp>
      <p:sp>
        <p:nvSpPr>
          <p:cNvPr id="83" name="Rectangle 14"/>
          <p:cNvSpPr/>
          <p:nvPr/>
        </p:nvSpPr>
        <p:spPr>
          <a:xfrm>
            <a:off x="502920" y="3525774"/>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4" name="TextBox 15"/>
          <p:cNvSpPr txBox="1"/>
          <p:nvPr/>
        </p:nvSpPr>
        <p:spPr>
          <a:xfrm>
            <a:off x="566928" y="3725926"/>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赎回门槛</a:t>
            </a:r>
          </a:p>
        </p:txBody>
      </p:sp>
      <p:sp>
        <p:nvSpPr>
          <p:cNvPr id="85" name="Rectangle 16"/>
          <p:cNvSpPr/>
          <p:nvPr/>
        </p:nvSpPr>
        <p:spPr>
          <a:xfrm>
            <a:off x="2240280" y="3525774"/>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6" name="TextBox 17"/>
          <p:cNvSpPr txBox="1"/>
          <p:nvPr/>
        </p:nvSpPr>
        <p:spPr>
          <a:xfrm>
            <a:off x="2423160" y="3590774"/>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至少发行满 5 年，不得形成必赎预期，行权前须经金融监管总局或其派出机构认可。[5]</a:t>
            </a: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依据：附件1，第二部分（五）。</a:t>
            </a:r>
          </a:p>
        </p:txBody>
      </p:sp>
      <p:sp>
        <p:nvSpPr>
          <p:cNvPr id="87" name="Rectangle 18"/>
          <p:cNvSpPr/>
          <p:nvPr/>
        </p:nvSpPr>
        <p:spPr>
          <a:xfrm>
            <a:off x="502920" y="4330446"/>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8" name="TextBox 19"/>
          <p:cNvSpPr txBox="1"/>
          <p:nvPr/>
        </p:nvSpPr>
        <p:spPr>
          <a:xfrm>
            <a:off x="566928" y="4530598"/>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资本约束</a:t>
            </a:r>
          </a:p>
        </p:txBody>
      </p:sp>
      <p:sp>
        <p:nvSpPr>
          <p:cNvPr id="89" name="Rectangle 20"/>
          <p:cNvSpPr/>
          <p:nvPr/>
        </p:nvSpPr>
        <p:spPr>
          <a:xfrm>
            <a:off x="2240280" y="4330446"/>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0" name="TextBox 21"/>
          <p:cNvSpPr txBox="1"/>
          <p:nvPr/>
        </p:nvSpPr>
        <p:spPr>
          <a:xfrm>
            <a:off x="2423160" y="4395446"/>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以同等或更高质量资本替换，且收入能力可持续；或者赎回后资本水平仍明显高于监管要求。[5]</a:t>
            </a: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依据：附件1，第二部分（六）；两项条件为“或者”关系。</a:t>
            </a:r>
          </a:p>
        </p:txBody>
      </p:sp>
      <p:sp>
        <p:nvSpPr>
          <p:cNvPr id="91" name="Rectangle 22"/>
          <p:cNvSpPr/>
          <p:nvPr/>
        </p:nvSpPr>
        <p:spPr>
          <a:xfrm>
            <a:off x="502920" y="5135118"/>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2" name="TextBox 23"/>
          <p:cNvSpPr txBox="1"/>
          <p:nvPr/>
        </p:nvSpPr>
        <p:spPr>
          <a:xfrm>
            <a:off x="566928" y="5335270"/>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吸收顺序</a:t>
            </a:r>
          </a:p>
        </p:txBody>
      </p:sp>
      <p:sp>
        <p:nvSpPr>
          <p:cNvPr id="93" name="Rectangle 24"/>
          <p:cNvSpPr/>
          <p:nvPr/>
        </p:nvSpPr>
        <p:spPr>
          <a:xfrm>
            <a:off x="2240280" y="5135118"/>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4" name="TextBox 25"/>
          <p:cNvSpPr txBox="1"/>
          <p:nvPr/>
        </p:nvSpPr>
        <p:spPr>
          <a:xfrm>
            <a:off x="2423160" y="5200118"/>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所有其他一级资本工具全部吸收损失后，再启动二级资本工具吸收损失。[2][11]</a:t>
            </a: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依据：附件1，第二部分（十二）。</a:t>
            </a:r>
          </a:p>
        </p:txBody>
      </p:sp>
      <p:sp>
        <p:nvSpPr>
          <p:cNvPr id="101" name="TextBox 50"/>
          <p:cNvSpPr txBox="1"/>
          <p:nvPr/>
        </p:nvSpPr>
        <p:spPr>
          <a:xfrm>
            <a:off x="11384280" y="6748780"/>
            <a:ext cx="640080" cy="320040"/>
          </a:xfrm>
          <a:prstGeom prst="rect">
            <a:avLst/>
          </a:prstGeom>
          <a:noFill/>
        </p:spPr>
        <p:txBody>
          <a:bodyPr wrap="square" lIns="18288" tIns="9144" rIns="18288" bIns="9144" anchor="t">
            <a:spAutoFit/>
          </a:bodyPr>
          <a:p>
            <a:pPr algn="r">
              <a:spcAft>
                <a:spcPts val="400"/>
              </a:spcAft>
            </a:pPr>
          </a:p>
        </p:txBody>
      </p:sp>
      <p:sp>
        <p:nvSpPr>
          <p:cNvPr id="102" name="Rectangle 26"/>
          <p:cNvSpPr/>
          <p:nvPr/>
        </p:nvSpPr>
        <p:spPr>
          <a:xfrm>
            <a:off x="502920" y="5951220"/>
            <a:ext cx="11183112" cy="68580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3" name="Rectangle 27"/>
          <p:cNvSpPr/>
          <p:nvPr/>
        </p:nvSpPr>
        <p:spPr>
          <a:xfrm>
            <a:off x="502920" y="5951220"/>
            <a:ext cx="82296" cy="685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4" name="TextBox 28"/>
          <p:cNvSpPr txBox="1"/>
          <p:nvPr/>
        </p:nvSpPr>
        <p:spPr>
          <a:xfrm>
            <a:off x="674370" y="6160135"/>
            <a:ext cx="10950575" cy="294640"/>
          </a:xfrm>
          <a:prstGeom prst="rect">
            <a:avLst/>
          </a:prstGeom>
          <a:noFill/>
        </p:spPr>
        <p:txBody>
          <a:bodyPr wrap="square" lIns="18288" tIns="9144" rIns="18288" bIns="9144" anchor="ctr">
            <a:noAutofit/>
          </a:bodyPr>
          <a:p>
            <a:pPr algn="l">
              <a:spcAft>
                <a:spcPts val="200"/>
              </a:spcAft>
            </a:pPr>
            <a:r>
              <a:rPr sz="1800">
                <a:solidFill>
                  <a:srgbClr val="1F3864"/>
                </a:solidFill>
                <a:latin typeface="OPPOSans B" panose="00020600040101010101" charset="-122"/>
                <a:ea typeface="OPPOSans B" panose="00020600040101010101" charset="-122"/>
                <a:cs typeface="OPPOSans B" panose="00020600040101010101" charset="-122"/>
              </a:rPr>
              <a:t>资本管理与合规岗位：一次查询关联多项约束，按条款复核发行方案。</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05</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性能与稳定性</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04800" y="58737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工程验证：CPU/GPU部署适配与稳定性保障</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4997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cs typeface="OPPOSans R" panose="00020600040101010101" charset="-122"/>
                <a:sym typeface="+mn-ea"/>
              </a:rPr>
              <a:t>CPU/GPU 双配置成对实验：两轮各 500 题（300+200），均为 0 运行错误（2026-08-05）。</a:t>
            </a:r>
            <a:endParaRPr sz="1400">
              <a:latin typeface="OPPOSans R" panose="00020600040101010101" charset="-122"/>
              <a:ea typeface="OPPOSans R" panose="00020600040101010101" charset="-122"/>
              <a:cs typeface="OPPOSans R" panose="00020600040101010101" charset="-122"/>
              <a:sym typeface="+mn-ea"/>
            </a:endParaRPr>
          </a:p>
        </p:txBody>
      </p:sp>
      <p:sp>
        <p:nvSpPr>
          <p:cNvPr id="52"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 name="TextBox 6"/>
          <p:cNvSpPr txBox="1"/>
          <p:nvPr/>
        </p:nvSpPr>
        <p:spPr>
          <a:xfrm>
            <a:off x="502920" y="1903730"/>
            <a:ext cx="6400800" cy="263525"/>
          </a:xfrm>
          <a:prstGeom prst="rect">
            <a:avLst/>
          </a:prstGeom>
          <a:noFill/>
        </p:spPr>
        <p:txBody>
          <a:bodyPr wrap="square" lIns="18288" tIns="9144" rIns="18288" bIns="9144" anchor="t">
            <a:spAutoFit/>
          </a:bodyPr>
          <a:p>
            <a:pPr algn="l">
              <a:spcAft>
                <a:spcPts val="400"/>
              </a:spcAft>
            </a:pPr>
            <a:r>
              <a:rPr sz="1600">
                <a:solidFill>
                  <a:srgbClr val="195CC4"/>
                </a:solidFill>
                <a:latin typeface="OPPOSans B" panose="00020600040101010101" charset="-122"/>
                <a:ea typeface="OPPOSans B" panose="00020600040101010101" charset="-122"/>
                <a:cs typeface="OPPOSans B" panose="00020600040101010101" charset="-122"/>
              </a:rPr>
              <a:t>单轮问答实测（串行，RTX 5070 Laptop / Ryzen 9 8945HX）</a:t>
            </a:r>
            <a:endParaRPr sz="1600">
              <a:solidFill>
                <a:srgbClr val="195CC4"/>
              </a:solidFill>
              <a:latin typeface="OPPOSans B" panose="00020600040101010101" charset="-122"/>
              <a:ea typeface="OPPOSans B" panose="00020600040101010101" charset="-122"/>
              <a:cs typeface="OPPOSans B" panose="00020600040101010101" charset="-122"/>
            </a:endParaRPr>
          </a:p>
        </p:txBody>
      </p:sp>
      <p:sp>
        <p:nvSpPr>
          <p:cNvPr id="8" name="Rectangle 7"/>
          <p:cNvSpPr/>
          <p:nvPr/>
        </p:nvSpPr>
        <p:spPr>
          <a:xfrm>
            <a:off x="502920" y="2201418"/>
            <a:ext cx="2651760" cy="45720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 name="Rectangle 9"/>
          <p:cNvSpPr/>
          <p:nvPr/>
        </p:nvSpPr>
        <p:spPr>
          <a:xfrm>
            <a:off x="3154680" y="2201418"/>
            <a:ext cx="1417320" cy="45720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2" name="Rectangle 11"/>
          <p:cNvSpPr/>
          <p:nvPr/>
        </p:nvSpPr>
        <p:spPr>
          <a:xfrm>
            <a:off x="4572000" y="2201418"/>
            <a:ext cx="1417320" cy="45720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4" name="Rectangle 13"/>
          <p:cNvSpPr/>
          <p:nvPr/>
        </p:nvSpPr>
        <p:spPr>
          <a:xfrm>
            <a:off x="502920" y="2658618"/>
            <a:ext cx="2651760" cy="502920"/>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 name="TextBox 14"/>
          <p:cNvSpPr txBox="1"/>
          <p:nvPr/>
        </p:nvSpPr>
        <p:spPr>
          <a:xfrm>
            <a:off x="502920" y="2788983"/>
            <a:ext cx="2651760" cy="233045"/>
          </a:xfrm>
          <a:prstGeom prst="rect">
            <a:avLst/>
          </a:prstGeom>
          <a:noFill/>
        </p:spPr>
        <p:txBody>
          <a:bodyPr wrap="square" lIns="18288" tIns="9144" rIns="18288" bIns="9144" anchor="ctr">
            <a:spAutoFit/>
          </a:bodyPr>
          <a:p>
            <a:pPr algn="ctr">
              <a:spcAft>
                <a:spcPts val="400"/>
              </a:spcAft>
            </a:pPr>
            <a:r>
              <a:rPr sz="1400">
                <a:solidFill>
                  <a:schemeClr val="accent1"/>
                </a:solidFill>
                <a:latin typeface="OPPOSans B" panose="00020600040101010101" charset="-122"/>
                <a:ea typeface="OPPOSans B" panose="00020600040101010101" charset="-122"/>
                <a:cs typeface="OPPOSans B" panose="00020600040101010101" charset="-122"/>
              </a:rPr>
              <a:t>官方 300 题（选择题）</a:t>
            </a:r>
            <a:endParaRPr sz="1400">
              <a:solidFill>
                <a:schemeClr val="accent1"/>
              </a:solidFill>
              <a:latin typeface="OPPOSans B" panose="00020600040101010101" charset="-122"/>
              <a:ea typeface="OPPOSans B" panose="00020600040101010101" charset="-122"/>
              <a:cs typeface="OPPOSans B" panose="00020600040101010101" charset="-122"/>
            </a:endParaRPr>
          </a:p>
        </p:txBody>
      </p:sp>
      <p:sp>
        <p:nvSpPr>
          <p:cNvPr id="16" name="Rectangle 15"/>
          <p:cNvSpPr/>
          <p:nvPr/>
        </p:nvSpPr>
        <p:spPr>
          <a:xfrm>
            <a:off x="3154680" y="2658618"/>
            <a:ext cx="1417320" cy="502920"/>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7" name="TextBox 16"/>
          <p:cNvSpPr txBox="1"/>
          <p:nvPr/>
        </p:nvSpPr>
        <p:spPr>
          <a:xfrm>
            <a:off x="3154680" y="2788983"/>
            <a:ext cx="1417320" cy="233045"/>
          </a:xfrm>
          <a:prstGeom prst="rect">
            <a:avLst/>
          </a:prstGeom>
          <a:noFill/>
        </p:spPr>
        <p:txBody>
          <a:bodyPr wrap="square" lIns="18288" tIns="9144" rIns="18288" bIns="9144" anchor="ctr">
            <a:spAutoFit/>
          </a:bodyPr>
          <a:p>
            <a:pPr algn="ctr">
              <a:spcAft>
                <a:spcPts val="400"/>
              </a:spcAft>
            </a:pPr>
            <a:r>
              <a:rPr sz="1400" b="0">
                <a:solidFill>
                  <a:schemeClr val="tx1"/>
                </a:solidFill>
                <a:latin typeface="OPPOSans R" panose="00020600040101010101" charset="-122"/>
                <a:ea typeface="OPPOSans R" panose="00020600040101010101" charset="-122"/>
              </a:rPr>
              <a:t>7.03 s</a:t>
            </a:r>
            <a:endParaRPr sz="1400" b="0">
              <a:solidFill>
                <a:schemeClr val="tx1"/>
              </a:solidFill>
              <a:latin typeface="OPPOSans R" panose="00020600040101010101" charset="-122"/>
              <a:ea typeface="OPPOSans R" panose="00020600040101010101" charset="-122"/>
            </a:endParaRPr>
          </a:p>
        </p:txBody>
      </p:sp>
      <p:sp>
        <p:nvSpPr>
          <p:cNvPr id="18" name="Rectangle 17"/>
          <p:cNvSpPr/>
          <p:nvPr/>
        </p:nvSpPr>
        <p:spPr>
          <a:xfrm>
            <a:off x="4572000" y="2658618"/>
            <a:ext cx="1417320" cy="502920"/>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9" name="TextBox 18"/>
          <p:cNvSpPr txBox="1"/>
          <p:nvPr/>
        </p:nvSpPr>
        <p:spPr>
          <a:xfrm>
            <a:off x="4572000" y="2788983"/>
            <a:ext cx="1417320" cy="233045"/>
          </a:xfrm>
          <a:prstGeom prst="rect">
            <a:avLst/>
          </a:prstGeom>
          <a:noFill/>
        </p:spPr>
        <p:txBody>
          <a:bodyPr wrap="square" lIns="18288" tIns="9144" rIns="18288" bIns="9144" anchor="ctr">
            <a:spAutoFit/>
          </a:bodyPr>
          <a:p>
            <a:pPr algn="ctr">
              <a:spcAft>
                <a:spcPts val="400"/>
              </a:spcAft>
            </a:pPr>
            <a:r>
              <a:rPr sz="1400" b="0">
                <a:solidFill>
                  <a:srgbClr val="595959"/>
                </a:solidFill>
                <a:latin typeface="OPPOSans R" panose="00020600040101010101" charset="-122"/>
                <a:ea typeface="OPPOSans R" panose="00020600040101010101" charset="-122"/>
              </a:rPr>
              <a:t>0.54 </a:t>
            </a:r>
            <a:r>
              <a:rPr sz="1400" b="0">
                <a:latin typeface="OPPOSans R" panose="00020600040101010101" charset="-122"/>
                <a:ea typeface="OPPOSans R" panose="00020600040101010101" charset="-122"/>
              </a:rPr>
              <a:t>s</a:t>
            </a:r>
            <a:endParaRPr sz="1400" b="0">
              <a:solidFill>
                <a:srgbClr val="595959"/>
              </a:solidFill>
              <a:latin typeface="OPPOSans R" panose="00020600040101010101" charset="-122"/>
              <a:ea typeface="OPPOSans R" panose="00020600040101010101" charset="-122"/>
            </a:endParaRPr>
          </a:p>
        </p:txBody>
      </p:sp>
      <p:sp>
        <p:nvSpPr>
          <p:cNvPr id="20" name="Rectangle 19"/>
          <p:cNvSpPr/>
          <p:nvPr/>
        </p:nvSpPr>
        <p:spPr>
          <a:xfrm>
            <a:off x="502920" y="3161538"/>
            <a:ext cx="2651760" cy="5029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1" name="TextBox 20"/>
          <p:cNvSpPr txBox="1"/>
          <p:nvPr/>
        </p:nvSpPr>
        <p:spPr>
          <a:xfrm>
            <a:off x="502920" y="3291904"/>
            <a:ext cx="2651760" cy="233045"/>
          </a:xfrm>
          <a:prstGeom prst="rect">
            <a:avLst/>
          </a:prstGeom>
          <a:noFill/>
        </p:spPr>
        <p:txBody>
          <a:bodyPr wrap="square" lIns="18288" tIns="9144" rIns="18288" bIns="9144" anchor="ctr">
            <a:spAutoFit/>
          </a:bodyPr>
          <a:p>
            <a:pPr lvl="0" algn="ctr">
              <a:spcAft>
                <a:spcPts val="400"/>
              </a:spcAft>
              <a:buClrTx/>
              <a:buSzTx/>
              <a:buFontTx/>
            </a:pPr>
            <a:r>
              <a:rPr sz="1400">
                <a:solidFill>
                  <a:schemeClr val="accent1"/>
                </a:solidFill>
                <a:latin typeface="OPPOSans B" panose="00020600040101010101" charset="-122"/>
                <a:ea typeface="OPPOSans B" panose="00020600040101010101" charset="-122"/>
                <a:cs typeface="OPPOSans B" panose="00020600040101010101" charset="-122"/>
                <a:sym typeface="+mn-ea"/>
              </a:rPr>
              <a:t>自命题 200 题（开放问答）</a:t>
            </a:r>
            <a:endParaRPr sz="1400">
              <a:solidFill>
                <a:schemeClr val="accent1"/>
              </a:solidFill>
              <a:latin typeface="OPPOSans B" panose="00020600040101010101" charset="-122"/>
              <a:ea typeface="OPPOSans B" panose="00020600040101010101" charset="-122"/>
              <a:cs typeface="OPPOSans B" panose="00020600040101010101" charset="-122"/>
              <a:sym typeface="+mn-ea"/>
            </a:endParaRPr>
          </a:p>
        </p:txBody>
      </p:sp>
      <p:sp>
        <p:nvSpPr>
          <p:cNvPr id="22" name="Rectangle 21"/>
          <p:cNvSpPr/>
          <p:nvPr/>
        </p:nvSpPr>
        <p:spPr>
          <a:xfrm>
            <a:off x="3154680" y="3161538"/>
            <a:ext cx="1417320" cy="5029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3" name="TextBox 22"/>
          <p:cNvSpPr txBox="1"/>
          <p:nvPr/>
        </p:nvSpPr>
        <p:spPr>
          <a:xfrm>
            <a:off x="3154680" y="3291904"/>
            <a:ext cx="1417320" cy="233045"/>
          </a:xfrm>
          <a:prstGeom prst="rect">
            <a:avLst/>
          </a:prstGeom>
          <a:noFill/>
        </p:spPr>
        <p:txBody>
          <a:bodyPr wrap="square" lIns="18288" tIns="9144" rIns="18288" bIns="9144" anchor="ctr">
            <a:spAutoFit/>
          </a:bodyPr>
          <a:p>
            <a:pPr algn="ctr">
              <a:spcAft>
                <a:spcPts val="400"/>
              </a:spcAft>
            </a:pPr>
            <a:r>
              <a:rPr sz="1400" b="0">
                <a:solidFill>
                  <a:srgbClr val="595959"/>
                </a:solidFill>
                <a:latin typeface="OPPOSans R" panose="00020600040101010101" charset="-122"/>
                <a:ea typeface="OPPOSans R" panose="00020600040101010101" charset="-122"/>
              </a:rPr>
              <a:t>28.</a:t>
            </a:r>
            <a:r>
              <a:rPr sz="1400" b="0">
                <a:latin typeface="OPPOSans R" panose="00020600040101010101" charset="-122"/>
                <a:ea typeface="OPPOSans R" panose="00020600040101010101" charset="-122"/>
              </a:rPr>
              <a:t>4 </a:t>
            </a:r>
            <a:r>
              <a:rPr sz="1400" b="0">
                <a:solidFill>
                  <a:srgbClr val="595959"/>
                </a:solidFill>
                <a:latin typeface="OPPOSans R" panose="00020600040101010101" charset="-122"/>
                <a:ea typeface="OPPOSans R" panose="00020600040101010101" charset="-122"/>
              </a:rPr>
              <a:t>s</a:t>
            </a:r>
            <a:endParaRPr sz="1400" b="0">
              <a:solidFill>
                <a:srgbClr val="595959"/>
              </a:solidFill>
              <a:latin typeface="OPPOSans R" panose="00020600040101010101" charset="-122"/>
              <a:ea typeface="OPPOSans R" panose="00020600040101010101" charset="-122"/>
            </a:endParaRPr>
          </a:p>
        </p:txBody>
      </p:sp>
      <p:sp>
        <p:nvSpPr>
          <p:cNvPr id="24" name="Rectangle 23"/>
          <p:cNvSpPr/>
          <p:nvPr/>
        </p:nvSpPr>
        <p:spPr>
          <a:xfrm>
            <a:off x="4572000" y="3161538"/>
            <a:ext cx="1417320" cy="5029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5" name="TextBox 24"/>
          <p:cNvSpPr txBox="1"/>
          <p:nvPr/>
        </p:nvSpPr>
        <p:spPr>
          <a:xfrm>
            <a:off x="4572000" y="3291904"/>
            <a:ext cx="1417320" cy="233045"/>
          </a:xfrm>
          <a:prstGeom prst="rect">
            <a:avLst/>
          </a:prstGeom>
          <a:noFill/>
        </p:spPr>
        <p:txBody>
          <a:bodyPr wrap="square" lIns="18288" tIns="9144" rIns="18288" bIns="9144" anchor="ctr">
            <a:spAutoFit/>
          </a:bodyPr>
          <a:p>
            <a:pPr algn="ctr">
              <a:spcAft>
                <a:spcPts val="400"/>
              </a:spcAft>
            </a:pPr>
            <a:r>
              <a:rPr sz="1400" b="0">
                <a:solidFill>
                  <a:srgbClr val="595959"/>
                </a:solidFill>
                <a:latin typeface="OPPOSans R" panose="00020600040101010101" charset="-122"/>
                <a:ea typeface="OPPOSans R" panose="00020600040101010101" charset="-122"/>
              </a:rPr>
              <a:t>17.9 s</a:t>
            </a:r>
            <a:endParaRPr sz="1400" b="0">
              <a:solidFill>
                <a:srgbClr val="595959"/>
              </a:solidFill>
              <a:latin typeface="OPPOSans R" panose="00020600040101010101" charset="-122"/>
              <a:ea typeface="OPPOSans R" panose="00020600040101010101" charset="-122"/>
            </a:endParaRPr>
          </a:p>
        </p:txBody>
      </p:sp>
      <p:sp>
        <p:nvSpPr>
          <p:cNvPr id="26" name="TextBox 25"/>
          <p:cNvSpPr txBox="1"/>
          <p:nvPr/>
        </p:nvSpPr>
        <p:spPr>
          <a:xfrm>
            <a:off x="502920" y="3681729"/>
            <a:ext cx="6400800" cy="1412875"/>
          </a:xfrm>
          <a:prstGeom prst="rect">
            <a:avLst/>
          </a:prstGeom>
          <a:noFill/>
        </p:spPr>
        <p:txBody>
          <a:bodyPr wrap="square" lIns="18288" tIns="9144" rIns="18288" bIns="9144" anchor="t">
            <a:spAutoFit/>
          </a:bodyPr>
          <a:p>
            <a:pPr algn="l">
              <a:lnSpc>
                <a:spcPct val="15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双引擎分工：</a:t>
            </a:r>
            <a:r>
              <a:rPr sz="1400">
                <a:solidFill>
                  <a:schemeClr val="tx1"/>
                </a:solidFill>
                <a:latin typeface="OPPOSans R" panose="00020600040101010101" charset="-122"/>
                <a:ea typeface="OPPOSans R" panose="00020600040101010101" charset="-122"/>
                <a:cs typeface="OPPOSans R" panose="00020600040101010101" charset="-122"/>
              </a:rPr>
              <a:t>检索、重排与表格计算本地执行，复杂文本按需调用模型。</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a:lnSpc>
                <a:spcPct val="15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GPU 加速：</a:t>
            </a:r>
            <a:r>
              <a:rPr sz="1400">
                <a:solidFill>
                  <a:schemeClr val="tx1"/>
                </a:solidFill>
                <a:latin typeface="OPPOSans R" panose="00020600040101010101" charset="-122"/>
                <a:ea typeface="OPPOSans R" panose="00020600040101010101" charset="-122"/>
                <a:cs typeface="OPPOSans R" panose="00020600040101010101" charset="-122"/>
              </a:rPr>
              <a:t>历史开放题平均 </a:t>
            </a:r>
            <a:r>
              <a:rPr sz="1400">
                <a:solidFill>
                  <a:schemeClr val="accent1"/>
                </a:solidFill>
                <a:latin typeface="OPPOSans B" panose="00020600040101010101" charset="-122"/>
                <a:ea typeface="OPPOSans B" panose="00020600040101010101" charset="-122"/>
                <a:cs typeface="OPPOSans R" panose="00020600040101010101" charset="-122"/>
                <a:sym typeface="+mn-ea"/>
              </a:rPr>
              <a:t>28.4s 降至 17.9s</a:t>
            </a:r>
            <a:r>
              <a:rPr sz="1400">
                <a:solidFill>
                  <a:schemeClr val="tx1"/>
                </a:solidFill>
                <a:latin typeface="OPPOSans R" panose="00020600040101010101" charset="-122"/>
                <a:ea typeface="OPPOSans R" panose="00020600040101010101" charset="-122"/>
                <a:cs typeface="OPPOSans R" panose="00020600040101010101" charset="-122"/>
              </a:rPr>
              <a:t>，约 1.6 倍；长尾受外部 API 波动影响。</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a:lnSpc>
                <a:spcPct val="15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离线与在线分工：</a:t>
            </a:r>
            <a:r>
              <a:rPr sz="1400">
                <a:solidFill>
                  <a:schemeClr val="tx1"/>
                </a:solidFill>
                <a:latin typeface="OPPOSans R" panose="00020600040101010101" charset="-122"/>
                <a:ea typeface="OPPOSans R" panose="00020600040101010101" charset="-122"/>
                <a:cs typeface="OPPOSans R" panose="00020600040101010101" charset="-122"/>
              </a:rPr>
              <a:t>知识构建独立执行，在线服务复用索引，支持持续维护。</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27" name="Rectangle 26"/>
          <p:cNvSpPr/>
          <p:nvPr/>
        </p:nvSpPr>
        <p:spPr>
          <a:xfrm>
            <a:off x="7236460" y="1974850"/>
            <a:ext cx="4462145" cy="311975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8" name="TextBox 27"/>
          <p:cNvSpPr txBox="1"/>
          <p:nvPr/>
        </p:nvSpPr>
        <p:spPr>
          <a:xfrm>
            <a:off x="7424927" y="2110740"/>
            <a:ext cx="4023360" cy="411480"/>
          </a:xfrm>
          <a:prstGeom prst="rect">
            <a:avLst/>
          </a:prstGeom>
          <a:noFill/>
        </p:spPr>
        <p:txBody>
          <a:bodyPr wrap="square" lIns="18288" tIns="9144" rIns="18288" bIns="9144" anchor="t">
            <a:spAutoFit/>
          </a:bodyPr>
          <a:p>
            <a:pPr algn="l">
              <a:spcAft>
                <a:spcPts val="400"/>
              </a:spcAft>
            </a:pPr>
            <a:r>
              <a:rPr sz="1500" b="1">
                <a:solidFill>
                  <a:srgbClr val="1F3864"/>
                </a:solidFill>
                <a:latin typeface="微软雅黑" panose="020B0503020204020204" pitchFamily="34" charset="-122"/>
                <a:ea typeface="微软雅黑" panose="020B0503020204020204" pitchFamily="34" charset="-122"/>
              </a:rPr>
              <a:t>部署、稳定与运行保障</a:t>
            </a:r>
            <a:endParaRPr sz="1500" b="1">
              <a:solidFill>
                <a:srgbClr val="1F3864"/>
              </a:solidFill>
              <a:latin typeface="微软雅黑" panose="020B0503020204020204" pitchFamily="34" charset="-122"/>
              <a:ea typeface="微软雅黑" panose="020B0503020204020204" pitchFamily="34" charset="-122"/>
            </a:endParaRPr>
          </a:p>
        </p:txBody>
      </p:sp>
      <p:sp>
        <p:nvSpPr>
          <p:cNvPr id="29" name="TextBox 28"/>
          <p:cNvSpPr txBox="1"/>
          <p:nvPr/>
        </p:nvSpPr>
        <p:spPr>
          <a:xfrm>
            <a:off x="7424927" y="2435098"/>
            <a:ext cx="4069080" cy="571500"/>
          </a:xfrm>
          <a:prstGeom prst="rect">
            <a:avLst/>
          </a:prstGeom>
          <a:noFill/>
        </p:spPr>
        <p:txBody>
          <a:bodyPr wrap="square" lIns="18288" tIns="9144" rIns="18288" bIns="9144" anchor="t">
            <a:spAutoFit/>
          </a:bodyPr>
          <a:p>
            <a:pPr algn="l">
              <a:lnSpc>
                <a:spcPct val="150000"/>
              </a:lnSpc>
              <a:spcAft>
                <a:spcPts val="300"/>
              </a:spcAft>
            </a:pPr>
            <a:r>
              <a:rPr sz="1200" b="1">
                <a:solidFill>
                  <a:srgbClr val="C00000"/>
                </a:solidFill>
                <a:latin typeface="OPPOSans R" panose="00020600040101010101" charset="-122"/>
                <a:ea typeface="OPPOSans R" panose="00020600040101010101" charset="-122"/>
                <a:cs typeface="OPPOSans R" panose="00020600040101010101" charset="-122"/>
              </a:rPr>
              <a:t>▪ </a:t>
            </a:r>
            <a:r>
              <a:rPr sz="1200">
                <a:solidFill>
                  <a:srgbClr val="2E5AA8"/>
                </a:solidFill>
                <a:latin typeface="OPPOSans B" panose="00020600040101010101" charset="-122"/>
                <a:ea typeface="OPPOSans B" panose="00020600040101010101" charset="-122"/>
                <a:cs typeface="OPPOSans B" panose="00020600040101010101" charset="-122"/>
              </a:rPr>
              <a:t>部署适配：</a:t>
            </a:r>
            <a:r>
              <a:rPr sz="1200">
                <a:solidFill>
                  <a:schemeClr val="tx1"/>
                </a:solidFill>
                <a:latin typeface="OPPOSans R" panose="00020600040101010101" charset="-122"/>
                <a:ea typeface="OPPOSans R" panose="00020600040101010101" charset="-122"/>
                <a:cs typeface="OPPOSans R" panose="00020600040101010101" charset="-122"/>
              </a:rPr>
              <a:t>Docker CPU/GPU 双配置；候选预算 CPU 12 / GPU 24，10 月 GPU 重排微基准约 0.30–0.53s。</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30" name="TextBox 29"/>
          <p:cNvSpPr txBox="1"/>
          <p:nvPr/>
        </p:nvSpPr>
        <p:spPr>
          <a:xfrm>
            <a:off x="7424927" y="3116453"/>
            <a:ext cx="4069080" cy="571500"/>
          </a:xfrm>
          <a:prstGeom prst="rect">
            <a:avLst/>
          </a:prstGeom>
          <a:noFill/>
        </p:spPr>
        <p:txBody>
          <a:bodyPr wrap="square" lIns="18288" tIns="9144" rIns="18288" bIns="9144" anchor="t">
            <a:spAutoFit/>
          </a:bodyPr>
          <a:p>
            <a:pPr algn="l">
              <a:lnSpc>
                <a:spcPct val="150000"/>
              </a:lnSpc>
              <a:spcAft>
                <a:spcPts val="300"/>
              </a:spcAft>
            </a:pPr>
            <a:r>
              <a:rPr sz="1200" b="1">
                <a:solidFill>
                  <a:srgbClr val="C00000"/>
                </a:solidFill>
                <a:latin typeface="OPPOSans R" panose="00020600040101010101" charset="-122"/>
                <a:ea typeface="OPPOSans R" panose="00020600040101010101" charset="-122"/>
                <a:cs typeface="OPPOSans R" panose="00020600040101010101" charset="-122"/>
              </a:rPr>
              <a:t>▪ </a:t>
            </a:r>
            <a:r>
              <a:rPr sz="1200">
                <a:solidFill>
                  <a:srgbClr val="2E5AA8"/>
                </a:solidFill>
                <a:latin typeface="OPPOSans B" panose="00020600040101010101" charset="-122"/>
                <a:ea typeface="OPPOSans B" panose="00020600040101010101" charset="-122"/>
                <a:cs typeface="OPPOSans B" panose="00020600040101010101" charset="-122"/>
              </a:rPr>
              <a:t>并发稳定：</a:t>
            </a:r>
            <a:r>
              <a:rPr sz="1200">
                <a:solidFill>
                  <a:schemeClr val="tx1"/>
                </a:solidFill>
                <a:latin typeface="OPPOSans R" panose="00020600040101010101" charset="-122"/>
                <a:ea typeface="OPPOSans R" panose="00020600040101010101" charset="-122"/>
                <a:cs typeface="OPPOSans R" panose="00020600040101010101" charset="-122"/>
              </a:rPr>
              <a:t>锁优化与瞬态重试；历史 4 个 worker 处理 40 题的并发测试，0 运行错误。</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31" name="TextBox 30"/>
          <p:cNvSpPr txBox="1"/>
          <p:nvPr/>
        </p:nvSpPr>
        <p:spPr>
          <a:xfrm>
            <a:off x="7424927" y="3797808"/>
            <a:ext cx="4069080" cy="571500"/>
          </a:xfrm>
          <a:prstGeom prst="rect">
            <a:avLst/>
          </a:prstGeom>
          <a:noFill/>
        </p:spPr>
        <p:txBody>
          <a:bodyPr wrap="square" lIns="18288" tIns="9144" rIns="18288" bIns="9144" anchor="t">
            <a:spAutoFit/>
          </a:bodyPr>
          <a:p>
            <a:pPr algn="l">
              <a:lnSpc>
                <a:spcPct val="150000"/>
              </a:lnSpc>
              <a:spcAft>
                <a:spcPts val="300"/>
              </a:spcAft>
            </a:pPr>
            <a:r>
              <a:rPr sz="1200" b="1">
                <a:solidFill>
                  <a:srgbClr val="C00000"/>
                </a:solidFill>
                <a:latin typeface="OPPOSans R" panose="00020600040101010101" charset="-122"/>
                <a:ea typeface="OPPOSans R" panose="00020600040101010101" charset="-122"/>
                <a:cs typeface="OPPOSans R" panose="00020600040101010101" charset="-122"/>
              </a:rPr>
              <a:t>▪ </a:t>
            </a:r>
            <a:r>
              <a:rPr sz="1200">
                <a:solidFill>
                  <a:srgbClr val="2E5AA8"/>
                </a:solidFill>
                <a:latin typeface="OPPOSans B" panose="00020600040101010101" charset="-122"/>
                <a:ea typeface="OPPOSans B" panose="00020600040101010101" charset="-122"/>
                <a:cs typeface="OPPOSans B" panose="00020600040101010101" charset="-122"/>
              </a:rPr>
              <a:t>故障恢复：</a:t>
            </a:r>
            <a:r>
              <a:rPr sz="1200">
                <a:solidFill>
                  <a:schemeClr val="tx1"/>
                </a:solidFill>
                <a:latin typeface="OPPOSans R" panose="00020600040101010101" charset="-122"/>
                <a:ea typeface="OPPOSans R" panose="00020600040101010101" charset="-122"/>
                <a:cs typeface="OPPOSans R" panose="00020600040101010101" charset="-122"/>
              </a:rPr>
              <a:t>规划超时降级、外部调用重试；SQLite WAL 容错与 busy timeout 缓解存储异常。</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32" name="TextBox 31"/>
          <p:cNvSpPr txBox="1"/>
          <p:nvPr/>
        </p:nvSpPr>
        <p:spPr>
          <a:xfrm>
            <a:off x="7425055" y="4479163"/>
            <a:ext cx="4204970" cy="571500"/>
          </a:xfrm>
          <a:prstGeom prst="rect">
            <a:avLst/>
          </a:prstGeom>
          <a:noFill/>
        </p:spPr>
        <p:txBody>
          <a:bodyPr wrap="square" lIns="18288" tIns="9144" rIns="18288" bIns="9144" anchor="t">
            <a:spAutoFit/>
          </a:bodyPr>
          <a:p>
            <a:pPr algn="l">
              <a:lnSpc>
                <a:spcPct val="150000"/>
              </a:lnSpc>
              <a:spcAft>
                <a:spcPts val="300"/>
              </a:spcAft>
            </a:pPr>
            <a:r>
              <a:rPr sz="1200" b="1">
                <a:solidFill>
                  <a:srgbClr val="C00000"/>
                </a:solidFill>
                <a:latin typeface="OPPOSans R" panose="00020600040101010101" charset="-122"/>
                <a:ea typeface="OPPOSans R" panose="00020600040101010101" charset="-122"/>
                <a:cs typeface="OPPOSans R" panose="00020600040101010101" charset="-122"/>
              </a:rPr>
              <a:t>▪ </a:t>
            </a:r>
            <a:r>
              <a:rPr sz="1200">
                <a:solidFill>
                  <a:srgbClr val="2E5AA8"/>
                </a:solidFill>
                <a:latin typeface="OPPOSans B" panose="00020600040101010101" charset="-122"/>
                <a:ea typeface="OPPOSans B" panose="00020600040101010101" charset="-122"/>
                <a:cs typeface="OPPOSans B" panose="00020600040101010101" charset="-122"/>
              </a:rPr>
              <a:t>过程可观测：</a:t>
            </a:r>
            <a:r>
              <a:rPr sz="1200">
                <a:solidFill>
                  <a:schemeClr val="tx1"/>
                </a:solidFill>
                <a:latin typeface="OPPOSans R" panose="00020600040101010101" charset="-122"/>
                <a:ea typeface="OPPOSans R" panose="00020600040101010101" charset="-122"/>
                <a:cs typeface="OPPOSans R" panose="00020600040101010101" charset="-122"/>
              </a:rPr>
              <a:t>展示阶段进度、已核验内容与引用，关联诊断记录，支持业务复核和异常定位。</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35" name="Rectangle 34"/>
          <p:cNvSpPr/>
          <p:nvPr/>
        </p:nvSpPr>
        <p:spPr>
          <a:xfrm>
            <a:off x="502920" y="5215890"/>
            <a:ext cx="11183112" cy="54864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6" name="TextBox 35"/>
          <p:cNvSpPr txBox="1"/>
          <p:nvPr/>
        </p:nvSpPr>
        <p:spPr>
          <a:xfrm>
            <a:off x="777240" y="5349304"/>
            <a:ext cx="10698480" cy="263525"/>
          </a:xfrm>
          <a:prstGeom prst="rect">
            <a:avLst/>
          </a:prstGeom>
          <a:noFill/>
        </p:spPr>
        <p:txBody>
          <a:bodyPr wrap="square" lIns="18288" tIns="9144" rIns="18288" bIns="9144" anchor="ctr">
            <a:spAutoFit/>
          </a:bodyPr>
          <a:p>
            <a:pPr algn="l">
              <a:spcAft>
                <a:spcPts val="400"/>
              </a:spcAft>
            </a:pPr>
            <a:r>
              <a:rPr sz="1600">
                <a:solidFill>
                  <a:srgbClr val="CE0000"/>
                </a:solidFill>
                <a:latin typeface="OPPOSans B" panose="00020600040101010101" charset="-122"/>
                <a:ea typeface="OPPOSans B" panose="00020600040101010101" charset="-122"/>
                <a:cs typeface="OPPOSans B" panose="00020600040101010101" charset="-122"/>
              </a:rPr>
              <a:t>知识构建：</a:t>
            </a:r>
            <a:r>
              <a:rPr sz="1600">
                <a:solidFill>
                  <a:schemeClr val="tx1"/>
                </a:solidFill>
                <a:latin typeface="OPPOSans R" panose="00020600040101010101" charset="-122"/>
                <a:ea typeface="OPPOSans R" panose="00020600040101010101" charset="-122"/>
                <a:cs typeface="OPPOSans R" panose="00020600040101010101" charset="-122"/>
              </a:rPr>
              <a:t>500 份文件解析、切分与持久化约 34 分钟；离线构建、在线问答分工，支持知识更新与环境复现。</a:t>
            </a:r>
            <a:endParaRPr sz="1600">
              <a:solidFill>
                <a:schemeClr val="tx1"/>
              </a:solidFill>
              <a:latin typeface="OPPOSans R" panose="00020600040101010101" charset="-122"/>
              <a:ea typeface="OPPOSans R" panose="00020600040101010101" charset="-122"/>
              <a:cs typeface="OPPOSans R" panose="00020600040101010101" charset="-122"/>
            </a:endParaRPr>
          </a:p>
        </p:txBody>
      </p:sp>
      <p:sp>
        <p:nvSpPr>
          <p:cNvPr id="40" name="TextBox 12"/>
          <p:cNvSpPr txBox="1"/>
          <p:nvPr/>
        </p:nvSpPr>
        <p:spPr>
          <a:xfrm>
            <a:off x="4572000" y="2291334"/>
            <a:ext cx="1417320" cy="233045"/>
          </a:xfrm>
          <a:prstGeom prst="rect">
            <a:avLst/>
          </a:prstGeom>
          <a:noFill/>
        </p:spPr>
        <p:txBody>
          <a:bodyPr wrap="square" lIns="18288" tIns="9144" rIns="18288" bIns="9144" anchor="t">
            <a:spAutoFit/>
          </a:bodyPr>
          <a:p>
            <a:pPr lvl="0" algn="ctr">
              <a:spcAft>
                <a:spcPts val="400"/>
              </a:spcAft>
              <a:buClrTx/>
              <a:buSzTx/>
              <a:buFontTx/>
            </a:pPr>
            <a:r>
              <a:rPr sz="1400">
                <a:solidFill>
                  <a:srgbClr val="FFFFFF"/>
                </a:solidFill>
                <a:latin typeface="OPPOSans B" panose="00020600040101010101" charset="-122"/>
                <a:ea typeface="OPPOSans B" panose="00020600040101010101" charset="-122"/>
                <a:sym typeface="+mn-ea"/>
              </a:rPr>
              <a:t>GPU 平均</a:t>
            </a:r>
            <a:endParaRPr sz="1400">
              <a:solidFill>
                <a:srgbClr val="FFFFFF"/>
              </a:solidFill>
              <a:latin typeface="OPPOSans B" panose="00020600040101010101" charset="-122"/>
              <a:ea typeface="OPPOSans B" panose="00020600040101010101" charset="-122"/>
              <a:sym typeface="+mn-ea"/>
            </a:endParaRPr>
          </a:p>
        </p:txBody>
      </p:sp>
      <p:sp>
        <p:nvSpPr>
          <p:cNvPr id="41" name="TextBox 8"/>
          <p:cNvSpPr txBox="1"/>
          <p:nvPr/>
        </p:nvSpPr>
        <p:spPr>
          <a:xfrm>
            <a:off x="502920" y="2291969"/>
            <a:ext cx="2651760" cy="233045"/>
          </a:xfrm>
          <a:prstGeom prst="rect">
            <a:avLst/>
          </a:prstGeom>
          <a:noFill/>
        </p:spPr>
        <p:txBody>
          <a:bodyPr wrap="square" lIns="18288" tIns="9144" rIns="18288" bIns="9144" anchor="t">
            <a:spAutoFit/>
          </a:bodyPr>
          <a:p>
            <a:pPr algn="ctr">
              <a:spcAft>
                <a:spcPts val="400"/>
              </a:spcAft>
            </a:pPr>
            <a:r>
              <a:rPr sz="1400">
                <a:solidFill>
                  <a:srgbClr val="FFFFFF"/>
                </a:solidFill>
                <a:latin typeface="OPPOSans B" panose="00020600040101010101" charset="-122"/>
                <a:ea typeface="OPPOSans B" panose="00020600040101010101" charset="-122"/>
              </a:rPr>
              <a:t>评测集</a:t>
            </a:r>
            <a:endParaRPr sz="1400">
              <a:solidFill>
                <a:srgbClr val="FFFFFF"/>
              </a:solidFill>
              <a:latin typeface="OPPOSans B" panose="00020600040101010101" charset="-122"/>
              <a:ea typeface="OPPOSans B" panose="00020600040101010101" charset="-122"/>
            </a:endParaRPr>
          </a:p>
        </p:txBody>
      </p:sp>
      <p:sp>
        <p:nvSpPr>
          <p:cNvPr id="42" name="TextBox 10"/>
          <p:cNvSpPr txBox="1"/>
          <p:nvPr/>
        </p:nvSpPr>
        <p:spPr>
          <a:xfrm>
            <a:off x="3154680" y="2291969"/>
            <a:ext cx="1417320" cy="233045"/>
          </a:xfrm>
          <a:prstGeom prst="rect">
            <a:avLst/>
          </a:prstGeom>
          <a:noFill/>
        </p:spPr>
        <p:txBody>
          <a:bodyPr wrap="square" lIns="18288" tIns="9144" rIns="18288" bIns="9144" anchor="t">
            <a:spAutoFit/>
          </a:bodyPr>
          <a:p>
            <a:pPr lvl="0" algn="ctr">
              <a:spcAft>
                <a:spcPts val="400"/>
              </a:spcAft>
              <a:buClrTx/>
              <a:buSzTx/>
              <a:buFontTx/>
            </a:pPr>
            <a:r>
              <a:rPr sz="1400">
                <a:solidFill>
                  <a:srgbClr val="FFFFFF"/>
                </a:solidFill>
                <a:latin typeface="OPPOSans B" panose="00020600040101010101" charset="-122"/>
                <a:ea typeface="OPPOSans B" panose="00020600040101010101" charset="-122"/>
                <a:sym typeface="+mn-ea"/>
              </a:rPr>
              <a:t>CPU 平均</a:t>
            </a:r>
            <a:endParaRPr sz="1400">
              <a:solidFill>
                <a:srgbClr val="FFFFFF"/>
              </a:solidFill>
              <a:latin typeface="OPPOSans B" panose="00020600040101010101" charset="-122"/>
              <a:ea typeface="OPPOSans B" panose="00020600040101010101"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06</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落地价值</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23215" y="608330"/>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落地价值：构建银行可复用的监管知识服务底座</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2330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cs typeface="OPPOSans R" panose="00020600040101010101" charset="-122"/>
                <a:sym typeface="+mn-ea"/>
              </a:rPr>
              <a:t>面向合规、报送与审计岗位，将带依据的制度答复、可复算的指标结果与处理记录嵌入日常业务流程。</a:t>
            </a:r>
            <a:endParaRPr sz="1400">
              <a:latin typeface="OPPOSans R" panose="00020600040101010101" charset="-122"/>
              <a:ea typeface="OPPOSans R" panose="00020600040101010101" charset="-122"/>
              <a:cs typeface="OPPOSans R" panose="00020600040101010101" charset="-122"/>
              <a:sym typeface="+mn-ea"/>
            </a:endParaRPr>
          </a:p>
        </p:txBody>
      </p:sp>
      <p:sp>
        <p:nvSpPr>
          <p:cNvPr id="52" name="Rectangle 5"/>
          <p:cNvSpPr/>
          <p:nvPr/>
        </p:nvSpPr>
        <p:spPr>
          <a:xfrm>
            <a:off x="502920" y="1840230"/>
            <a:ext cx="11124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3" name="Rectangle 22"/>
          <p:cNvSpPr/>
          <p:nvPr/>
        </p:nvSpPr>
        <p:spPr>
          <a:xfrm>
            <a:off x="393700" y="5092700"/>
            <a:ext cx="11313160" cy="82296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4" name="TextBox 23"/>
          <p:cNvSpPr txBox="1"/>
          <p:nvPr/>
        </p:nvSpPr>
        <p:spPr>
          <a:xfrm>
            <a:off x="472440" y="5310823"/>
            <a:ext cx="11442700" cy="386715"/>
          </a:xfrm>
          <a:prstGeom prst="rect">
            <a:avLst/>
          </a:prstGeom>
          <a:noFill/>
        </p:spPr>
        <p:txBody>
          <a:bodyPr wrap="square" lIns="18288" tIns="9144" rIns="18288" bIns="9144" anchor="ctr">
            <a:spAutoFit/>
          </a:bodyPr>
          <a:p>
            <a:pPr algn="l">
              <a:spcAft>
                <a:spcPts val="400"/>
              </a:spcAft>
            </a:pPr>
            <a:r>
              <a:rPr sz="2000" b="1">
                <a:solidFill>
                  <a:srgbClr val="FFFFFF"/>
                </a:solidFill>
                <a:latin typeface="OPPOSans R" panose="00020600040101010101" charset="-122"/>
                <a:ea typeface="OPPOSans R" panose="00020600040101010101" charset="-122"/>
              </a:rPr>
              <a:t>建议推广路径：</a:t>
            </a:r>
            <a:r>
              <a:rPr sz="2400">
                <a:solidFill>
                  <a:srgbClr val="F0C800"/>
                </a:solidFill>
                <a:latin typeface="OPPOSans B" panose="00020600040101010101" charset="-122"/>
                <a:ea typeface="OPPOSans B" panose="00020600040101010101" charset="-122"/>
              </a:rPr>
              <a:t>合规查询试点</a:t>
            </a:r>
            <a:r>
              <a:rPr sz="2000" b="1">
                <a:solidFill>
                  <a:srgbClr val="FFFFFF"/>
                </a:solidFill>
                <a:latin typeface="OPPOSans R" panose="00020600040101010101" charset="-122"/>
                <a:ea typeface="OPPOSans R" panose="00020600040101010101" charset="-122"/>
              </a:rPr>
              <a:t> → </a:t>
            </a:r>
            <a:r>
              <a:rPr sz="2400">
                <a:solidFill>
                  <a:srgbClr val="F0C800"/>
                </a:solidFill>
                <a:latin typeface="OPPOSans B" panose="00020600040101010101" charset="-122"/>
                <a:ea typeface="OPPOSans B" panose="00020600040101010101" charset="-122"/>
              </a:rPr>
              <a:t>内规与报送附件扩展</a:t>
            </a:r>
            <a:r>
              <a:rPr sz="2000" b="1">
                <a:solidFill>
                  <a:srgbClr val="FFFFFF"/>
                </a:solidFill>
                <a:latin typeface="OPPOSans R" panose="00020600040101010101" charset="-122"/>
                <a:ea typeface="OPPOSans R" panose="00020600040101010101" charset="-122"/>
              </a:rPr>
              <a:t> → </a:t>
            </a:r>
            <a:r>
              <a:rPr sz="2400">
                <a:solidFill>
                  <a:srgbClr val="F0C800"/>
                </a:solidFill>
                <a:latin typeface="OPPOSans B" panose="00020600040101010101" charset="-122"/>
                <a:ea typeface="OPPOSans B" panose="00020600040101010101" charset="-122"/>
              </a:rPr>
              <a:t>业务门户集成</a:t>
            </a:r>
            <a:endParaRPr sz="2400">
              <a:solidFill>
                <a:srgbClr val="F0C800"/>
              </a:solidFill>
              <a:latin typeface="OPPOSans B" panose="00020600040101010101" charset="-122"/>
              <a:ea typeface="OPPOSans B" panose="00020600040101010101" charset="-122"/>
            </a:endParaRPr>
          </a:p>
        </p:txBody>
      </p:sp>
      <p:grpSp>
        <p:nvGrpSpPr>
          <p:cNvPr id="3" name="组合 2"/>
          <p:cNvGrpSpPr/>
          <p:nvPr/>
        </p:nvGrpSpPr>
        <p:grpSpPr>
          <a:xfrm>
            <a:off x="737870" y="1988185"/>
            <a:ext cx="3401695" cy="3031490"/>
            <a:chOff x="812" y="3129"/>
            <a:chExt cx="5357" cy="4774"/>
          </a:xfrm>
        </p:grpSpPr>
        <p:sp>
          <p:nvSpPr>
            <p:cNvPr id="13" name="Rectangle 7"/>
            <p:cNvSpPr/>
            <p:nvPr/>
          </p:nvSpPr>
          <p:spPr>
            <a:xfrm>
              <a:off x="812" y="3129"/>
              <a:ext cx="5357" cy="4774"/>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3" name="Rectangle 8"/>
            <p:cNvSpPr/>
            <p:nvPr/>
          </p:nvSpPr>
          <p:spPr>
            <a:xfrm>
              <a:off x="812" y="3129"/>
              <a:ext cx="5357" cy="1224"/>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endParaRPr>
                <a:solidFill>
                  <a:srgbClr val="195CC4"/>
                </a:solidFill>
              </a:endParaRPr>
            </a:p>
          </p:txBody>
        </p:sp>
        <p:sp>
          <p:nvSpPr>
            <p:cNvPr id="38" name="TextBox 11"/>
            <p:cNvSpPr txBox="1"/>
            <p:nvPr/>
          </p:nvSpPr>
          <p:spPr>
            <a:xfrm>
              <a:off x="1100" y="4459"/>
              <a:ext cx="4824" cy="3280"/>
            </a:xfrm>
            <a:prstGeom prst="rect">
              <a:avLst/>
            </a:prstGeom>
            <a:noFill/>
          </p:spPr>
          <p:txBody>
            <a:bodyPr wrap="square" lIns="18288" tIns="9144" rIns="18288" bIns="9144" anchor="t">
              <a:spAutoFit/>
            </a:bodyPr>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合规岗：</a:t>
              </a:r>
              <a:r>
                <a:rPr sz="1400" b="0">
                  <a:solidFill>
                    <a:srgbClr val="595959"/>
                  </a:solidFill>
                  <a:latin typeface="OPPOSans R" panose="00020600040101010101" charset="-122"/>
                  <a:ea typeface="OPPOSans R" panose="00020600040101010101" charset="-122"/>
                  <a:cs typeface="OPPOSans R" panose="00020600040101010101" charset="-122"/>
                </a:rPr>
                <a:t>查询条款、适用条件与例外，交付</a:t>
              </a:r>
              <a:r>
                <a:rPr sz="1400">
                  <a:solidFill>
                    <a:schemeClr val="accent1"/>
                  </a:solidFill>
                  <a:latin typeface="OPPOSans B" panose="00020600040101010101" charset="-122"/>
                  <a:ea typeface="OPPOSans B" panose="00020600040101010101" charset="-122"/>
                  <a:cs typeface="OPPOSans R" panose="00020600040101010101" charset="-122"/>
                  <a:sym typeface="+mn-ea"/>
                </a:rPr>
                <a:t>结论及原文依据</a:t>
              </a:r>
              <a:r>
                <a:rPr sz="1400" b="0">
                  <a:solidFill>
                    <a:srgbClr val="595959"/>
                  </a:solidFill>
                  <a:latin typeface="OPPOSans R" panose="00020600040101010101" charset="-122"/>
                  <a:ea typeface="OPPOSans R" panose="00020600040101010101" charset="-122"/>
                  <a:cs typeface="OPPOSans R" panose="00020600040101010101" charset="-122"/>
                </a:rPr>
                <a:t>，辅助业务判断。</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报送岗：</a:t>
              </a:r>
              <a:r>
                <a:rPr sz="1400" b="0">
                  <a:solidFill>
                    <a:srgbClr val="595959"/>
                  </a:solidFill>
                  <a:latin typeface="OPPOSans R" panose="00020600040101010101" charset="-122"/>
                  <a:ea typeface="OPPOSans R" panose="00020600040101010101" charset="-122"/>
                  <a:cs typeface="OPPOSans R" panose="00020600040101010101" charset="-122"/>
                </a:rPr>
                <a:t>核对指标、期间与单位，交付</a:t>
              </a:r>
              <a:r>
                <a:rPr sz="1400">
                  <a:solidFill>
                    <a:schemeClr val="accent1"/>
                  </a:solidFill>
                  <a:latin typeface="OPPOSans B" panose="00020600040101010101" charset="-122"/>
                  <a:ea typeface="OPPOSans B" panose="00020600040101010101" charset="-122"/>
                  <a:cs typeface="OPPOSans R" panose="00020600040101010101" charset="-122"/>
                  <a:sym typeface="+mn-ea"/>
                </a:rPr>
                <a:t>可复算结果及坐标</a:t>
              </a:r>
              <a:r>
                <a:rPr sz="1400" b="0">
                  <a:solidFill>
                    <a:srgbClr val="595959"/>
                  </a:solidFill>
                  <a:latin typeface="OPPOSans R" panose="00020600040101010101" charset="-122"/>
                  <a:ea typeface="OPPOSans R" panose="00020600040101010101" charset="-122"/>
                  <a:cs typeface="OPPOSans R" panose="00020600040101010101" charset="-122"/>
                </a:rPr>
                <a:t>，减少口径核对。</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审计岗：</a:t>
              </a:r>
              <a:r>
                <a:rPr sz="1400" b="0">
                  <a:solidFill>
                    <a:srgbClr val="595959"/>
                  </a:solidFill>
                  <a:latin typeface="OPPOSans R" panose="00020600040101010101" charset="-122"/>
                  <a:ea typeface="OPPOSans R" panose="00020600040101010101" charset="-122"/>
                  <a:cs typeface="OPPOSans R" panose="00020600040101010101" charset="-122"/>
                </a:rPr>
                <a:t>复核结论和原始依据，通过问答记录</a:t>
              </a:r>
              <a:r>
                <a:rPr sz="1400">
                  <a:solidFill>
                    <a:schemeClr val="accent1"/>
                  </a:solidFill>
                  <a:latin typeface="OPPOSans B" panose="00020600040101010101" charset="-122"/>
                  <a:ea typeface="OPPOSans B" panose="00020600040101010101" charset="-122"/>
                  <a:cs typeface="OPPOSans R" panose="00020600040101010101" charset="-122"/>
                  <a:sym typeface="+mn-ea"/>
                </a:rPr>
                <a:t>追踪来源与处理过程</a:t>
              </a:r>
              <a:r>
                <a:rPr sz="1400" b="0">
                  <a:solidFill>
                    <a:srgbClr val="595959"/>
                  </a:solidFill>
                  <a:latin typeface="OPPOSans R" panose="00020600040101010101" charset="-122"/>
                  <a:ea typeface="OPPOSans R" panose="00020600040101010101" charset="-122"/>
                  <a:cs typeface="OPPOSans R" panose="00020600040101010101" charset="-122"/>
                </a:rPr>
                <a:t>。</a:t>
              </a:r>
              <a:endParaRPr sz="1400" b="0">
                <a:solidFill>
                  <a:srgbClr val="595959"/>
                </a:solidFill>
                <a:latin typeface="OPPOSans R" panose="00020600040101010101" charset="-122"/>
                <a:ea typeface="OPPOSans R" panose="00020600040101010101" charset="-122"/>
                <a:cs typeface="OPPOSans R" panose="00020600040101010101" charset="-122"/>
              </a:endParaRPr>
            </a:p>
          </p:txBody>
        </p:sp>
        <p:sp>
          <p:nvSpPr>
            <p:cNvPr id="68" name="TextBox 9"/>
            <p:cNvSpPr txBox="1"/>
            <p:nvPr/>
          </p:nvSpPr>
          <p:spPr>
            <a:xfrm>
              <a:off x="1071" y="3201"/>
              <a:ext cx="4896" cy="512"/>
            </a:xfrm>
            <a:prstGeom prst="rect">
              <a:avLst/>
            </a:prstGeom>
            <a:noFill/>
          </p:spPr>
          <p:txBody>
            <a:bodyPr wrap="square" lIns="18288" tIns="9144" rIns="18288" bIns="9144" anchor="t">
              <a:spAutoFit/>
            </a:bodyPr>
            <a:p>
              <a:pPr algn="l">
                <a:spcAft>
                  <a:spcPts val="400"/>
                </a:spcAft>
              </a:pPr>
              <a:r>
                <a:rPr sz="2000">
                  <a:solidFill>
                    <a:srgbClr val="FFFFFF"/>
                  </a:solidFill>
                  <a:latin typeface="OPPOSans B" panose="00020600040101010101" charset="-122"/>
                  <a:ea typeface="OPPOSans B" panose="00020600040101010101" charset="-122"/>
                </a:rPr>
                <a:t>业务价值</a:t>
              </a:r>
              <a:endParaRPr sz="2000">
                <a:solidFill>
                  <a:srgbClr val="FFFFFF"/>
                </a:solidFill>
                <a:latin typeface="OPPOSans B" panose="00020600040101010101" charset="-122"/>
                <a:ea typeface="OPPOSans B" panose="00020600040101010101" charset="-122"/>
              </a:endParaRPr>
            </a:p>
          </p:txBody>
        </p:sp>
        <p:sp>
          <p:nvSpPr>
            <p:cNvPr id="69" name="TextBox 10"/>
            <p:cNvSpPr txBox="1"/>
            <p:nvPr/>
          </p:nvSpPr>
          <p:spPr>
            <a:xfrm>
              <a:off x="1071" y="3849"/>
              <a:ext cx="4896" cy="367"/>
            </a:xfrm>
            <a:prstGeom prst="rect">
              <a:avLst/>
            </a:prstGeom>
            <a:noFill/>
          </p:spPr>
          <p:txBody>
            <a:bodyPr wrap="square" lIns="18288" tIns="9144" rIns="18288" bIns="9144" anchor="t">
              <a:spAutoFit/>
            </a:bodyPr>
            <a:p>
              <a:pPr algn="l">
                <a:spcAft>
                  <a:spcPts val="400"/>
                </a:spcAft>
              </a:pPr>
              <a:r>
                <a:rPr sz="1400">
                  <a:solidFill>
                    <a:srgbClr val="F0C800"/>
                  </a:solidFill>
                  <a:latin typeface="OPPOSans B" panose="00020600040101010101" charset="-122"/>
                  <a:ea typeface="OPPOSans B" panose="00020600040101010101" charset="-122"/>
                </a:rPr>
                <a:t>岗位明确，成果可复核</a:t>
              </a:r>
              <a:endParaRPr sz="1400">
                <a:solidFill>
                  <a:srgbClr val="F0C800"/>
                </a:solidFill>
                <a:latin typeface="OPPOSans B" panose="00020600040101010101" charset="-122"/>
                <a:ea typeface="OPPOSans B" panose="00020600040101010101" charset="-122"/>
              </a:endParaRPr>
            </a:p>
          </p:txBody>
        </p:sp>
      </p:grpSp>
      <p:grpSp>
        <p:nvGrpSpPr>
          <p:cNvPr id="4" name="组合 3"/>
          <p:cNvGrpSpPr/>
          <p:nvPr/>
        </p:nvGrpSpPr>
        <p:grpSpPr>
          <a:xfrm>
            <a:off x="4366895" y="1987550"/>
            <a:ext cx="3401695" cy="3031490"/>
            <a:chOff x="6442" y="3129"/>
            <a:chExt cx="5357" cy="4774"/>
          </a:xfrm>
        </p:grpSpPr>
        <p:sp>
          <p:nvSpPr>
            <p:cNvPr id="39" name="Rectangle 12"/>
            <p:cNvSpPr/>
            <p:nvPr/>
          </p:nvSpPr>
          <p:spPr>
            <a:xfrm>
              <a:off x="6442" y="3129"/>
              <a:ext cx="5357" cy="4774"/>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3" name="Rectangle 13"/>
            <p:cNvSpPr/>
            <p:nvPr/>
          </p:nvSpPr>
          <p:spPr>
            <a:xfrm>
              <a:off x="6442" y="3129"/>
              <a:ext cx="5357" cy="1224"/>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endParaRPr>
                <a:solidFill>
                  <a:srgbClr val="195CC4"/>
                </a:solidFill>
              </a:endParaRPr>
            </a:p>
          </p:txBody>
        </p:sp>
        <p:sp>
          <p:nvSpPr>
            <p:cNvPr id="46" name="TextBox 16"/>
            <p:cNvSpPr txBox="1"/>
            <p:nvPr/>
          </p:nvSpPr>
          <p:spPr>
            <a:xfrm>
              <a:off x="6730" y="4459"/>
              <a:ext cx="4824" cy="3280"/>
            </a:xfrm>
            <a:prstGeom prst="rect">
              <a:avLst/>
            </a:prstGeom>
            <a:noFill/>
          </p:spPr>
          <p:txBody>
            <a:bodyPr wrap="square" lIns="18288" tIns="9144" rIns="18288" bIns="9144" anchor="t">
              <a:spAutoFit/>
            </a:bodyPr>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组件复用：</a:t>
              </a:r>
              <a:r>
                <a:rPr sz="1400">
                  <a:solidFill>
                    <a:schemeClr val="accent1"/>
                  </a:solidFill>
                  <a:latin typeface="OPPOSans B" panose="00020600040101010101" charset="-122"/>
                  <a:ea typeface="OPPOSans B" panose="00020600040101010101" charset="-122"/>
                  <a:cs typeface="OPPOSans R" panose="00020600040101010101" charset="-122"/>
                  <a:sym typeface="+mn-ea"/>
                </a:rPr>
                <a:t>解析、检索、计算与校验</a:t>
              </a:r>
              <a:r>
                <a:rPr sz="1400" b="0">
                  <a:solidFill>
                    <a:srgbClr val="595959"/>
                  </a:solidFill>
                  <a:latin typeface="OPPOSans R" panose="00020600040101010101" charset="-122"/>
                  <a:ea typeface="OPPOSans R" panose="00020600040101010101" charset="-122"/>
                  <a:cs typeface="OPPOSans R" panose="00020600040101010101" charset="-122"/>
                </a:rPr>
                <a:t>统一服务，便于接入内部制度与统计附件。</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部署适配：</a:t>
              </a:r>
              <a:r>
                <a:rPr sz="1400">
                  <a:solidFill>
                    <a:schemeClr val="accent1"/>
                  </a:solidFill>
                  <a:latin typeface="OPPOSans B" panose="00020600040101010101" charset="-122"/>
                  <a:ea typeface="OPPOSans B" panose="00020600040101010101" charset="-122"/>
                  <a:cs typeface="OPPOSans R" panose="00020600040101010101" charset="-122"/>
                  <a:sym typeface="+mn-ea"/>
                </a:rPr>
                <a:t>Docker + CPU/GPU 双配置</a:t>
              </a:r>
              <a:r>
                <a:rPr sz="1400" b="0">
                  <a:solidFill>
                    <a:srgbClr val="595959"/>
                  </a:solidFill>
                  <a:latin typeface="OPPOSans R" panose="00020600040101010101" charset="-122"/>
                  <a:ea typeface="OPPOSans R" panose="00020600040101010101" charset="-122"/>
                  <a:cs typeface="OPPOSans R" panose="00020600040101010101" charset="-122"/>
                </a:rPr>
                <a:t>，本地处理与外部模型协同。</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接口集成：</a:t>
              </a:r>
              <a:r>
                <a:rPr sz="1400" b="0">
                  <a:solidFill>
                    <a:srgbClr val="595959"/>
                  </a:solidFill>
                  <a:latin typeface="OPPOSans R" panose="00020600040101010101" charset="-122"/>
                  <a:ea typeface="OPPOSans R" panose="00020600040101010101" charset="-122"/>
                  <a:cs typeface="OPPOSans R" panose="00020600040101010101" charset="-122"/>
                </a:rPr>
                <a:t>通过 API 对接</a:t>
              </a:r>
              <a:r>
                <a:rPr sz="1400">
                  <a:solidFill>
                    <a:schemeClr val="accent1"/>
                  </a:solidFill>
                  <a:latin typeface="OPPOSans B" panose="00020600040101010101" charset="-122"/>
                  <a:ea typeface="OPPOSans B" panose="00020600040101010101" charset="-122"/>
                  <a:cs typeface="OPPOSans R" panose="00020600040101010101" charset="-122"/>
                  <a:sym typeface="+mn-ea"/>
                </a:rPr>
                <a:t>业务门户与工作台</a:t>
              </a:r>
              <a:r>
                <a:rPr sz="1400" b="0">
                  <a:solidFill>
                    <a:srgbClr val="595959"/>
                  </a:solidFill>
                  <a:latin typeface="OPPOSans R" panose="00020600040101010101" charset="-122"/>
                  <a:ea typeface="OPPOSans R" panose="00020600040101010101" charset="-122"/>
                  <a:cs typeface="OPPOSans R" panose="00020600040101010101" charset="-122"/>
                </a:rPr>
                <a:t>，形成可复用的知识服务入口。</a:t>
              </a:r>
              <a:endParaRPr sz="1400" b="0">
                <a:solidFill>
                  <a:srgbClr val="595959"/>
                </a:solidFill>
                <a:latin typeface="OPPOSans R" panose="00020600040101010101" charset="-122"/>
                <a:ea typeface="OPPOSans R" panose="00020600040101010101" charset="-122"/>
                <a:cs typeface="OPPOSans R" panose="00020600040101010101" charset="-122"/>
              </a:endParaRPr>
            </a:p>
          </p:txBody>
        </p:sp>
        <p:sp>
          <p:nvSpPr>
            <p:cNvPr id="70" name="TextBox 14"/>
            <p:cNvSpPr txBox="1"/>
            <p:nvPr/>
          </p:nvSpPr>
          <p:spPr>
            <a:xfrm>
              <a:off x="6702" y="3201"/>
              <a:ext cx="4896" cy="512"/>
            </a:xfrm>
            <a:prstGeom prst="rect">
              <a:avLst/>
            </a:prstGeom>
            <a:noFill/>
          </p:spPr>
          <p:txBody>
            <a:bodyPr wrap="square" lIns="18288" tIns="9144" rIns="18288" bIns="9144" anchor="t">
              <a:spAutoFit/>
            </a:bodyPr>
            <a:p>
              <a:pPr lvl="0" algn="l">
                <a:spcAft>
                  <a:spcPts val="400"/>
                </a:spcAft>
                <a:buClrTx/>
                <a:buSzTx/>
                <a:buFontTx/>
              </a:pPr>
              <a:r>
                <a:rPr sz="2000">
                  <a:solidFill>
                    <a:srgbClr val="FFFFFF"/>
                  </a:solidFill>
                  <a:latin typeface="OPPOSans B" panose="00020600040101010101" charset="-122"/>
                  <a:ea typeface="OPPOSans B" panose="00020600040101010101" charset="-122"/>
                  <a:sym typeface="+mn-ea"/>
                </a:rPr>
                <a:t>技术价值</a:t>
              </a:r>
              <a:endParaRPr sz="2000">
                <a:solidFill>
                  <a:srgbClr val="FFFFFF"/>
                </a:solidFill>
                <a:latin typeface="OPPOSans B" panose="00020600040101010101" charset="-122"/>
                <a:ea typeface="OPPOSans B" panose="00020600040101010101" charset="-122"/>
                <a:sym typeface="+mn-ea"/>
              </a:endParaRPr>
            </a:p>
          </p:txBody>
        </p:sp>
        <p:sp>
          <p:nvSpPr>
            <p:cNvPr id="71" name="TextBox 15"/>
            <p:cNvSpPr txBox="1"/>
            <p:nvPr/>
          </p:nvSpPr>
          <p:spPr>
            <a:xfrm>
              <a:off x="6702" y="3849"/>
              <a:ext cx="4896" cy="367"/>
            </a:xfrm>
            <a:prstGeom prst="rect">
              <a:avLst/>
            </a:prstGeom>
            <a:noFill/>
          </p:spPr>
          <p:txBody>
            <a:bodyPr wrap="square" lIns="18288" tIns="9144" rIns="18288" bIns="9144" anchor="t">
              <a:spAutoFit/>
            </a:bodyPr>
            <a:p>
              <a:pPr lvl="0" algn="l">
                <a:spcAft>
                  <a:spcPts val="400"/>
                </a:spcAft>
                <a:buClrTx/>
                <a:buSzTx/>
                <a:buFontTx/>
              </a:pPr>
              <a:r>
                <a:rPr sz="1400">
                  <a:solidFill>
                    <a:srgbClr val="F0C800"/>
                  </a:solidFill>
                  <a:latin typeface="OPPOSans B" panose="00020600040101010101" charset="-122"/>
                  <a:ea typeface="OPPOSans B" panose="00020600040101010101" charset="-122"/>
                  <a:sym typeface="+mn-ea"/>
                </a:rPr>
                <a:t>能力复用，部署可行</a:t>
              </a:r>
              <a:endParaRPr sz="1400">
                <a:solidFill>
                  <a:srgbClr val="F0C800"/>
                </a:solidFill>
                <a:latin typeface="OPPOSans B" panose="00020600040101010101" charset="-122"/>
                <a:ea typeface="OPPOSans B" panose="00020600040101010101" charset="-122"/>
                <a:sym typeface="+mn-ea"/>
              </a:endParaRPr>
            </a:p>
          </p:txBody>
        </p:sp>
      </p:grpSp>
      <p:grpSp>
        <p:nvGrpSpPr>
          <p:cNvPr id="77" name="组合 76"/>
          <p:cNvGrpSpPr/>
          <p:nvPr/>
        </p:nvGrpSpPr>
        <p:grpSpPr>
          <a:xfrm>
            <a:off x="7995920" y="1988185"/>
            <a:ext cx="3401695" cy="3031490"/>
            <a:chOff x="12073" y="3129"/>
            <a:chExt cx="5357" cy="4774"/>
          </a:xfrm>
        </p:grpSpPr>
        <p:sp>
          <p:nvSpPr>
            <p:cNvPr id="47" name="Rectangle 17"/>
            <p:cNvSpPr/>
            <p:nvPr/>
          </p:nvSpPr>
          <p:spPr>
            <a:xfrm>
              <a:off x="12073" y="3129"/>
              <a:ext cx="5357" cy="4774"/>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8" name="Rectangle 18"/>
            <p:cNvSpPr/>
            <p:nvPr/>
          </p:nvSpPr>
          <p:spPr>
            <a:xfrm>
              <a:off x="12073" y="3129"/>
              <a:ext cx="5357" cy="1224"/>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endParaRPr>
                <a:solidFill>
                  <a:srgbClr val="195CC4"/>
                </a:solidFill>
              </a:endParaRPr>
            </a:p>
          </p:txBody>
        </p:sp>
        <p:sp>
          <p:nvSpPr>
            <p:cNvPr id="51" name="TextBox 21"/>
            <p:cNvSpPr txBox="1"/>
            <p:nvPr/>
          </p:nvSpPr>
          <p:spPr>
            <a:xfrm>
              <a:off x="12361" y="4711"/>
              <a:ext cx="4824" cy="2873"/>
            </a:xfrm>
            <a:prstGeom prst="rect">
              <a:avLst/>
            </a:prstGeom>
            <a:noFill/>
          </p:spPr>
          <p:txBody>
            <a:bodyPr wrap="square" lIns="18288" tIns="9144" rIns="18288" bIns="9144" anchor="t">
              <a:spAutoFit/>
            </a:bodyPr>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知识维护：</a:t>
              </a:r>
              <a:r>
                <a:rPr sz="1400" b="0">
                  <a:solidFill>
                    <a:srgbClr val="595959"/>
                  </a:solidFill>
                  <a:latin typeface="OPPOSans R" panose="00020600040101010101" charset="-122"/>
                  <a:ea typeface="OPPOSans R" panose="00020600040101010101" charset="-122"/>
                  <a:cs typeface="OPPOSans R" panose="00020600040101010101" charset="-122"/>
                </a:rPr>
                <a:t>接入文档、核对身份并重建索引，维护</a:t>
              </a:r>
              <a:r>
                <a:rPr sz="1400">
                  <a:solidFill>
                    <a:schemeClr val="accent1"/>
                  </a:solidFill>
                  <a:latin typeface="OPPOSans B" panose="00020600040101010101" charset="-122"/>
                  <a:ea typeface="OPPOSans B" panose="00020600040101010101" charset="-122"/>
                  <a:cs typeface="OPPOSans R" panose="00020600040101010101" charset="-122"/>
                  <a:sym typeface="+mn-ea"/>
                </a:rPr>
                <a:t>可更新的知识资产</a:t>
              </a:r>
              <a:r>
                <a:rPr sz="1400" b="0">
                  <a:solidFill>
                    <a:srgbClr val="595959"/>
                  </a:solidFill>
                  <a:latin typeface="OPPOSans R" panose="00020600040101010101" charset="-122"/>
                  <a:ea typeface="OPPOSans R" panose="00020600040101010101" charset="-122"/>
                  <a:cs typeface="OPPOSans R" panose="00020600040101010101" charset="-122"/>
                </a:rPr>
                <a:t>。</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质量运营：</a:t>
              </a:r>
              <a:r>
                <a:rPr sz="1400" b="0">
                  <a:solidFill>
                    <a:srgbClr val="595959"/>
                  </a:solidFill>
                  <a:latin typeface="OPPOSans R" panose="00020600040101010101" charset="-122"/>
                  <a:ea typeface="OPPOSans R" panose="00020600040101010101" charset="-122"/>
                  <a:cs typeface="OPPOSans R" panose="00020600040101010101" charset="-122"/>
                </a:rPr>
                <a:t>问题留痕与题集回归结合，支持</a:t>
              </a:r>
              <a:r>
                <a:rPr sz="1400">
                  <a:solidFill>
                    <a:schemeClr val="accent1"/>
                  </a:solidFill>
                  <a:latin typeface="OPPOSans B" panose="00020600040101010101" charset="-122"/>
                  <a:ea typeface="OPPOSans B" panose="00020600040101010101" charset="-122"/>
                  <a:cs typeface="OPPOSans R" panose="00020600040101010101" charset="-122"/>
                  <a:sym typeface="+mn-ea"/>
                </a:rPr>
                <a:t>来源追踪和持续改进</a:t>
              </a:r>
              <a:r>
                <a:rPr sz="1400" b="0">
                  <a:solidFill>
                    <a:srgbClr val="595959"/>
                  </a:solidFill>
                  <a:latin typeface="OPPOSans R" panose="00020600040101010101" charset="-122"/>
                  <a:ea typeface="OPPOSans R" panose="00020600040101010101" charset="-122"/>
                  <a:cs typeface="OPPOSans R" panose="00020600040101010101" charset="-122"/>
                </a:rPr>
                <a:t>。</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试点衡量：</a:t>
              </a:r>
              <a:r>
                <a:rPr sz="1400" b="0">
                  <a:solidFill>
                    <a:srgbClr val="595959"/>
                  </a:solidFill>
                  <a:latin typeface="OPPOSans R" panose="00020600040101010101" charset="-122"/>
                  <a:ea typeface="OPPOSans R" panose="00020600040101010101" charset="-122"/>
                  <a:cs typeface="OPPOSans R" panose="00020600040101010101" charset="-122"/>
                </a:rPr>
                <a:t>跟踪查询与复核耗时、人工修订率、单次服务成本，评估推广成效。</a:t>
              </a:r>
              <a:endParaRPr sz="1400" b="0">
                <a:solidFill>
                  <a:srgbClr val="595959"/>
                </a:solidFill>
                <a:latin typeface="OPPOSans R" panose="00020600040101010101" charset="-122"/>
                <a:ea typeface="OPPOSans R" panose="00020600040101010101" charset="-122"/>
                <a:cs typeface="OPPOSans R" panose="00020600040101010101" charset="-122"/>
              </a:endParaRPr>
            </a:p>
          </p:txBody>
        </p:sp>
        <p:sp>
          <p:nvSpPr>
            <p:cNvPr id="72" name="TextBox 19"/>
            <p:cNvSpPr txBox="1"/>
            <p:nvPr/>
          </p:nvSpPr>
          <p:spPr>
            <a:xfrm>
              <a:off x="12332" y="3201"/>
              <a:ext cx="4896" cy="512"/>
            </a:xfrm>
            <a:prstGeom prst="rect">
              <a:avLst/>
            </a:prstGeom>
            <a:noFill/>
          </p:spPr>
          <p:txBody>
            <a:bodyPr wrap="square" lIns="18288" tIns="9144" rIns="18288" bIns="9144" anchor="t">
              <a:spAutoFit/>
            </a:bodyPr>
            <a:p>
              <a:pPr lvl="0" algn="l">
                <a:spcAft>
                  <a:spcPts val="400"/>
                </a:spcAft>
                <a:buClrTx/>
                <a:buSzTx/>
                <a:buFontTx/>
              </a:pPr>
              <a:r>
                <a:rPr sz="2000">
                  <a:solidFill>
                    <a:srgbClr val="FFFFFF"/>
                  </a:solidFill>
                  <a:latin typeface="OPPOSans B" panose="00020600040101010101" charset="-122"/>
                  <a:ea typeface="OPPOSans B" panose="00020600040101010101" charset="-122"/>
                  <a:sym typeface="+mn-ea"/>
                </a:rPr>
                <a:t>运营价值</a:t>
              </a:r>
              <a:endParaRPr sz="2000">
                <a:solidFill>
                  <a:srgbClr val="FFFFFF"/>
                </a:solidFill>
                <a:latin typeface="OPPOSans B" panose="00020600040101010101" charset="-122"/>
                <a:ea typeface="OPPOSans B" panose="00020600040101010101" charset="-122"/>
                <a:sym typeface="+mn-ea"/>
              </a:endParaRPr>
            </a:p>
          </p:txBody>
        </p:sp>
        <p:sp>
          <p:nvSpPr>
            <p:cNvPr id="73" name="TextBox 20"/>
            <p:cNvSpPr txBox="1"/>
            <p:nvPr/>
          </p:nvSpPr>
          <p:spPr>
            <a:xfrm>
              <a:off x="12332" y="3849"/>
              <a:ext cx="4896" cy="367"/>
            </a:xfrm>
            <a:prstGeom prst="rect">
              <a:avLst/>
            </a:prstGeom>
            <a:noFill/>
          </p:spPr>
          <p:txBody>
            <a:bodyPr wrap="square" lIns="18288" tIns="9144" rIns="18288" bIns="9144" anchor="t">
              <a:spAutoFit/>
            </a:bodyPr>
            <a:p>
              <a:pPr lvl="0" algn="l">
                <a:spcAft>
                  <a:spcPts val="400"/>
                </a:spcAft>
                <a:buClrTx/>
                <a:buSzTx/>
                <a:buFontTx/>
              </a:pPr>
              <a:r>
                <a:rPr sz="1400">
                  <a:solidFill>
                    <a:srgbClr val="F0C800"/>
                  </a:solidFill>
                  <a:latin typeface="OPPOSans B" panose="00020600040101010101" charset="-122"/>
                  <a:ea typeface="OPPOSans B" panose="00020600040101010101" charset="-122"/>
                  <a:sym typeface="+mn-ea"/>
                </a:rPr>
                <a:t>持续运营，成效可量化</a:t>
              </a:r>
              <a:endParaRPr sz="1400">
                <a:solidFill>
                  <a:srgbClr val="F0C800"/>
                </a:solidFill>
                <a:latin typeface="OPPOSans B" panose="00020600040101010101" charset="-122"/>
                <a:ea typeface="OPPOSans B" panose="00020600040101010101" charset="-122"/>
                <a:sym typeface="+mn-ea"/>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文本框 1"/>
          <p:cNvSpPr txBox="1"/>
          <p:nvPr/>
        </p:nvSpPr>
        <p:spPr>
          <a:xfrm>
            <a:off x="3118105" y="1445752"/>
            <a:ext cx="6345936"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谢谢观看！</a:t>
            </a:r>
            <a:endParaRPr kumimoji="0" lang="zh-CN" altLang="en-US" sz="9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2814955" y="3635375"/>
            <a:ext cx="6557010" cy="7683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V</a:t>
            </a:r>
            <a:r>
              <a:rPr kumimoji="0" lang="en-US" altLang="zh-CN"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a:t>
            </a:r>
            <a:r>
              <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rtex </a:t>
            </a:r>
            <a:r>
              <a:rPr lang="zh-CN" altLang="en-US" sz="4400" b="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sym typeface="+mn-ea"/>
              </a:rPr>
              <a:t>团队</a:t>
            </a:r>
            <a:endPar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sym typeface="+mn-ea"/>
            </a:endParaRPr>
          </a:p>
        </p:txBody>
      </p:sp>
      <p:sp>
        <p:nvSpPr>
          <p:cNvPr id="16" name="文本框 15"/>
          <p:cNvSpPr txBox="1"/>
          <p:nvPr/>
        </p:nvSpPr>
        <p:spPr>
          <a:xfrm>
            <a:off x="6674350" y="4925066"/>
            <a:ext cx="4206238"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队员：李思、刘晨阳</a:t>
            </a:r>
            <a:endPar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20" name="文本框 19"/>
          <p:cNvSpPr txBox="1"/>
          <p:nvPr/>
        </p:nvSpPr>
        <p:spPr>
          <a:xfrm>
            <a:off x="2263351" y="4925066"/>
            <a:ext cx="2525267"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队长：王博震</a:t>
            </a:r>
            <a:endPar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37185" y="64833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noAutofit/>
          </a:bodyPr>
          <a:p>
            <a:pPr algn="l">
              <a:spcAft>
                <a:spcPts val="200"/>
              </a:spcAft>
            </a:pPr>
            <a:r>
              <a:rPr sz="3000">
                <a:solidFill>
                  <a:srgbClr val="195CC4"/>
                </a:solidFill>
                <a:latin typeface="OPPOSans B" panose="00020600040101010101" charset="-122"/>
                <a:ea typeface="OPPOSans B" panose="00020600040101010101" charset="-122"/>
                <a:cs typeface="OPPOSans B" panose="00020600040101010101" charset="-122"/>
              </a:rPr>
              <a:t>案例二：保险监管报表的跨表勾稽核验</a:t>
            </a:r>
          </a:p>
        </p:txBody>
      </p:sp>
      <p:sp>
        <p:nvSpPr>
          <p:cNvPr id="7" name="TextBox 4"/>
          <p:cNvSpPr txBox="1"/>
          <p:nvPr/>
        </p:nvSpPr>
        <p:spPr>
          <a:xfrm>
            <a:off x="713232" y="1575054"/>
            <a:ext cx="10789920" cy="233045"/>
          </a:xfrm>
          <a:prstGeom prst="rect">
            <a:avLst/>
          </a:prstGeom>
          <a:noFill/>
        </p:spPr>
        <p:txBody>
          <a:bodyPr wrap="square" lIns="18288" tIns="9144" rIns="18288" bIns="9144" anchor="ctr">
            <a:noAutofit/>
          </a:bodyPr>
          <a:p>
            <a:pPr algn="l">
              <a:spcAft>
                <a:spcPts val="200"/>
              </a:spcAft>
            </a:pPr>
            <a:r>
              <a:rPr sz="1400">
                <a:solidFill>
                  <a:srgbClr val="000000"/>
                </a:solidFill>
                <a:latin typeface="OPPOSans R" panose="00020600040101010101" charset="-122"/>
                <a:ea typeface="OPPOSans R" panose="00020600040101010101" charset="-122"/>
                <a:cs typeface="OPPOSans R" panose="00020600040101010101" charset="-122"/>
              </a:rPr>
              <a:t>历史成功回归案例（2026-07-23）：跨三份报表统一期间、累计口径与单位，保留有符号差额。</a:t>
            </a:r>
          </a:p>
        </p:txBody>
      </p:sp>
      <p:sp>
        <p:nvSpPr>
          <p:cNvPr id="52"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5" name="Rectangle 6"/>
          <p:cNvSpPr/>
          <p:nvPr/>
        </p:nvSpPr>
        <p:spPr>
          <a:xfrm>
            <a:off x="502920" y="1916430"/>
            <a:ext cx="1737360"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6" name="TextBox 7"/>
          <p:cNvSpPr txBox="1"/>
          <p:nvPr/>
        </p:nvSpPr>
        <p:spPr>
          <a:xfrm>
            <a:off x="566928" y="2116582"/>
            <a:ext cx="1609344" cy="294640"/>
          </a:xfrm>
          <a:prstGeom prst="rect">
            <a:avLst/>
          </a:prstGeom>
          <a:noFill/>
        </p:spPr>
        <p:txBody>
          <a:bodyPr wrap="square" lIns="18288" tIns="9144" rIns="18288" bIns="9144" anchor="ctr">
            <a:noAutofit/>
          </a:bodyPr>
          <a:p>
            <a:pPr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业务提问</a:t>
            </a:r>
          </a:p>
        </p:txBody>
      </p:sp>
      <p:sp>
        <p:nvSpPr>
          <p:cNvPr id="77" name="Rectangle 8"/>
          <p:cNvSpPr/>
          <p:nvPr/>
        </p:nvSpPr>
        <p:spPr>
          <a:xfrm>
            <a:off x="2240280" y="1916430"/>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8" name="TextBox 9"/>
          <p:cNvSpPr txBox="1"/>
          <p:nvPr/>
        </p:nvSpPr>
        <p:spPr>
          <a:xfrm>
            <a:off x="2423160" y="1981430"/>
            <a:ext cx="9144000" cy="580000"/>
          </a:xfrm>
          <a:prstGeom prst="rect">
            <a:avLst/>
          </a:prstGeom>
          <a:noFill/>
        </p:spPr>
        <p:txBody>
          <a:bodyPr wrap="square" lIns="18288" tIns="9144" rIns="18288" bIns="9144" anchor="ctr">
            <a:noAutofit/>
          </a:bodyPr>
          <a:p>
            <a:pPr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2025 年 3 月原保险保费收入：保险业合计减去人身险、再减去财产险，差额是多少？</a:t>
            </a:r>
          </a:p>
        </p:txBody>
      </p:sp>
      <p:sp>
        <p:nvSpPr>
          <p:cNvPr id="79" name="Rectangle 10"/>
          <p:cNvSpPr/>
          <p:nvPr/>
        </p:nvSpPr>
        <p:spPr>
          <a:xfrm>
            <a:off x="502920" y="2721102"/>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0" name="TextBox 11"/>
          <p:cNvSpPr txBox="1"/>
          <p:nvPr/>
        </p:nvSpPr>
        <p:spPr>
          <a:xfrm>
            <a:off x="566928" y="2921254"/>
            <a:ext cx="1609344" cy="294640"/>
          </a:xfrm>
          <a:prstGeom prst="rect">
            <a:avLst/>
          </a:prstGeom>
          <a:noFill/>
        </p:spPr>
        <p:txBody>
          <a:bodyPr wrap="square" lIns="18288" tIns="9144" rIns="18288" bIns="9144" anchor="ctr">
            <a:noAutofit/>
          </a:bodyPr>
          <a:p>
            <a:pPr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对齐口径</a:t>
            </a:r>
          </a:p>
        </p:txBody>
      </p:sp>
      <p:sp>
        <p:nvSpPr>
          <p:cNvPr id="81" name="Rectangle 12"/>
          <p:cNvSpPr/>
          <p:nvPr/>
        </p:nvSpPr>
        <p:spPr>
          <a:xfrm>
            <a:off x="2240280" y="2721102"/>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2" name="TextBox 13"/>
          <p:cNvSpPr txBox="1"/>
          <p:nvPr/>
        </p:nvSpPr>
        <p:spPr>
          <a:xfrm>
            <a:off x="2423160" y="2786102"/>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同一期：2025 年 3 月；同一指标：原保险保费收入；同一口径：本年累计；单位：亿元。</a:t>
            </a: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跨文件匹配总表与两份分表，核对指标及表头，避免错行和混用当月值。</a:t>
            </a:r>
          </a:p>
        </p:txBody>
      </p:sp>
      <p:sp>
        <p:nvSpPr>
          <p:cNvPr id="83" name="Rectangle 14"/>
          <p:cNvSpPr/>
          <p:nvPr/>
        </p:nvSpPr>
        <p:spPr>
          <a:xfrm>
            <a:off x="502920" y="3525774"/>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4" name="TextBox 15"/>
          <p:cNvSpPr txBox="1"/>
          <p:nvPr/>
        </p:nvSpPr>
        <p:spPr>
          <a:xfrm>
            <a:off x="566928" y="3725926"/>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三表取数</a:t>
            </a:r>
          </a:p>
        </p:txBody>
      </p:sp>
      <p:sp>
        <p:nvSpPr>
          <p:cNvPr id="85" name="Rectangle 16"/>
          <p:cNvSpPr/>
          <p:nvPr/>
        </p:nvSpPr>
        <p:spPr>
          <a:xfrm>
            <a:off x="2240280" y="3525774"/>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6" name="TextBox 17"/>
          <p:cNvSpPr txBox="1"/>
          <p:nvPr/>
        </p:nvSpPr>
        <p:spPr>
          <a:xfrm>
            <a:off x="2423160" y="3590774"/>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保险业经营数据（月度）!C6 = 21,745；人身保险公司（月度）!C6 = 16,590.18。</a:t>
            </a: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产险公司数据（月度）!C7 = 5,155；对应三份 2025 年 3 月经营情况表。[1]</a:t>
            </a:r>
          </a:p>
        </p:txBody>
      </p:sp>
      <p:sp>
        <p:nvSpPr>
          <p:cNvPr id="87" name="Rectangle 18"/>
          <p:cNvSpPr/>
          <p:nvPr/>
        </p:nvSpPr>
        <p:spPr>
          <a:xfrm>
            <a:off x="502920" y="4330446"/>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8" name="TextBox 19"/>
          <p:cNvSpPr txBox="1"/>
          <p:nvPr/>
        </p:nvSpPr>
        <p:spPr>
          <a:xfrm>
            <a:off x="566928" y="4530598"/>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勾稽结果</a:t>
            </a:r>
          </a:p>
        </p:txBody>
      </p:sp>
      <p:sp>
        <p:nvSpPr>
          <p:cNvPr id="89" name="Rectangle 20"/>
          <p:cNvSpPr/>
          <p:nvPr/>
        </p:nvSpPr>
        <p:spPr>
          <a:xfrm>
            <a:off x="2240280" y="4330446"/>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0" name="TextBox 21"/>
          <p:cNvSpPr txBox="1"/>
          <p:nvPr/>
        </p:nvSpPr>
        <p:spPr>
          <a:xfrm>
            <a:off x="2423160" y="4395446"/>
            <a:ext cx="9144000" cy="580000"/>
          </a:xfrm>
          <a:prstGeom prst="rect">
            <a:avLst/>
          </a:prstGeom>
          <a:noFill/>
        </p:spPr>
        <p:txBody>
          <a:bodyPr wrap="square" lIns="18288" tIns="9144" rIns="18288" bIns="9144" anchor="ctr">
            <a:noAutofit/>
          </a:bodyPr>
          <a:p>
            <a:pPr lvl="0" algn="l">
              <a:spcAft>
                <a:spcPts val="200"/>
              </a:spcAft>
            </a:pPr>
            <a:r>
              <a:rPr sz="1600">
                <a:solidFill>
                  <a:srgbClr val="CE0000"/>
                </a:solidFill>
                <a:latin typeface="OPPOSans R" panose="00020600040101010101" charset="-122"/>
                <a:ea typeface="OPPOSans R" panose="00020600040101010101" charset="-122"/>
                <a:cs typeface="OPPOSans R" panose="00020600040101010101" charset="-122"/>
              </a:rPr>
              <a:t>21,745 − 16,590.18 − 5,155 = −0.18 亿元。[1]</a:t>
            </a: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总表比两分表合计少 0.18 亿元，差额符号完整保留。</a:t>
            </a:r>
          </a:p>
        </p:txBody>
      </p:sp>
      <p:sp>
        <p:nvSpPr>
          <p:cNvPr id="91" name="Rectangle 22"/>
          <p:cNvSpPr/>
          <p:nvPr/>
        </p:nvSpPr>
        <p:spPr>
          <a:xfrm>
            <a:off x="502920" y="5135118"/>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2" name="TextBox 23"/>
          <p:cNvSpPr txBox="1"/>
          <p:nvPr/>
        </p:nvSpPr>
        <p:spPr>
          <a:xfrm>
            <a:off x="566928" y="5335270"/>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核验边界</a:t>
            </a:r>
          </a:p>
        </p:txBody>
      </p:sp>
      <p:sp>
        <p:nvSpPr>
          <p:cNvPr id="93" name="Rectangle 24"/>
          <p:cNvSpPr/>
          <p:nvPr/>
        </p:nvSpPr>
        <p:spPr>
          <a:xfrm>
            <a:off x="2240280" y="5135118"/>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4" name="TextBox 25"/>
          <p:cNvSpPr txBox="1"/>
          <p:nvPr/>
        </p:nvSpPr>
        <p:spPr>
          <a:xfrm>
            <a:off x="2423160" y="5200118"/>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答复同时保留算式、单位、三表原值与单元格坐标，支持报送复核人员复算。</a:t>
            </a: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差额原因尚无证据，不能据此认定为四舍五入、报送错误或机构不合规。</a:t>
            </a:r>
          </a:p>
        </p:txBody>
      </p:sp>
      <p:sp>
        <p:nvSpPr>
          <p:cNvPr id="101" name="TextBox 50"/>
          <p:cNvSpPr txBox="1"/>
          <p:nvPr/>
        </p:nvSpPr>
        <p:spPr>
          <a:xfrm>
            <a:off x="11384280" y="6748780"/>
            <a:ext cx="640080" cy="320040"/>
          </a:xfrm>
          <a:prstGeom prst="rect">
            <a:avLst/>
          </a:prstGeom>
          <a:noFill/>
        </p:spPr>
        <p:txBody>
          <a:bodyPr wrap="square" lIns="18288" tIns="9144" rIns="18288" bIns="9144" anchor="t">
            <a:spAutoFit/>
          </a:bodyPr>
          <a:p>
            <a:pPr algn="r">
              <a:spcAft>
                <a:spcPts val="400"/>
              </a:spcAft>
            </a:pPr>
          </a:p>
        </p:txBody>
      </p:sp>
      <p:sp>
        <p:nvSpPr>
          <p:cNvPr id="102" name="Rectangle 26"/>
          <p:cNvSpPr/>
          <p:nvPr/>
        </p:nvSpPr>
        <p:spPr>
          <a:xfrm>
            <a:off x="502920" y="5951220"/>
            <a:ext cx="11183112" cy="68580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3" name="Rectangle 27"/>
          <p:cNvSpPr/>
          <p:nvPr/>
        </p:nvSpPr>
        <p:spPr>
          <a:xfrm>
            <a:off x="502920" y="5951220"/>
            <a:ext cx="82296" cy="685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4" name="TextBox 28"/>
          <p:cNvSpPr txBox="1"/>
          <p:nvPr/>
        </p:nvSpPr>
        <p:spPr>
          <a:xfrm>
            <a:off x="674370" y="6160135"/>
            <a:ext cx="10950575" cy="294640"/>
          </a:xfrm>
          <a:prstGeom prst="rect">
            <a:avLst/>
          </a:prstGeom>
          <a:noFill/>
        </p:spPr>
        <p:txBody>
          <a:bodyPr wrap="square" lIns="18288" tIns="9144" rIns="18288" bIns="9144" anchor="ctr">
            <a:noAutofit/>
          </a:bodyPr>
          <a:p>
            <a:pPr algn="l">
              <a:spcAft>
                <a:spcPts val="200"/>
              </a:spcAft>
            </a:pPr>
            <a:r>
              <a:rPr sz="1800">
                <a:solidFill>
                  <a:srgbClr val="1F3864"/>
                </a:solidFill>
                <a:latin typeface="OPPOSans B" panose="00020600040101010101" charset="-122"/>
                <a:ea typeface="OPPOSans B" panose="00020600040101010101" charset="-122"/>
                <a:cs typeface="OPPOSans B" panose="00020600040101010101" charset="-122"/>
              </a:rPr>
              <a:t>监管报送与统计复核岗位：跨表定位真实差异，再依据证据开展核查。</a:t>
            </a:r>
          </a:p>
        </p:txBody>
      </p:sp>
    </p:spTree>
  </p:cSld>
  <p:clrMapOvr>
    <a:masterClrMapping/>
  </p:clrMapOvr>
</p:sld>
</file>

<file path=ppt/tags/tag1.xml><?xml version="1.0" encoding="utf-8"?>
<p:tagLst xmlns:p="http://schemas.openxmlformats.org/presentationml/2006/main">
  <p:tag name="KSO_WM_DIAGRAM_VIRTUALLY_FRAME" val="{&quot;height&quot;:146.2,&quot;left&quot;:39.6,&quot;top&quot;:153.85,&quot;width&quot;:880.5599212598424}"/>
</p:tagLst>
</file>

<file path=ppt/tags/tag2.xml><?xml version="1.0" encoding="utf-8"?>
<p:tagLst xmlns:p="http://schemas.openxmlformats.org/presentationml/2006/main">
  <p:tag name="KSO_WM_DIAGRAM_VIRTUALLY_FRAME" val="{&quot;height&quot;:146.2,&quot;left&quot;:39.6,&quot;top&quot;:153.85,&quot;width&quot;:880.5599212598424}"/>
</p:tagLst>
</file>

<file path=ppt/tags/tag3.xml><?xml version="1.0" encoding="utf-8"?>
<p:tagLst xmlns:p="http://schemas.openxmlformats.org/presentationml/2006/main">
  <p:tag name="KSO_WM_DIAGRAM_VIRTUALLY_FRAME" val="{&quot;height&quot;:146.2,&quot;left&quot;:39.6,&quot;top&quot;:153.85,&quot;width&quot;:880.5599212598424}"/>
</p:tagLst>
</file>

<file path=ppt/tags/tag4.xml><?xml version="1.0" encoding="utf-8"?>
<p:tagLst xmlns:p="http://schemas.openxmlformats.org/presentationml/2006/main">
  <p:tag name="KSO_WM_DIAGRAM_VIRTUALLY_FRAME" val="{&quot;height&quot;:146.2,&quot;left&quot;:39.6,&quot;top&quot;:153.85,&quot;width&quot;:880.5599212598424}"/>
</p:tagLst>
</file>

<file path=ppt/tags/tag5.xml><?xml version="1.0" encoding="utf-8"?>
<p:tagLst xmlns:p="http://schemas.openxmlformats.org/presentationml/2006/main">
  <p:tag name="KSO_WM_DIAGRAM_VIRTUALLY_FRAME" val="{&quot;height&quot;:146.2,&quot;left&quot;:39.6,&quot;top&quot;:153.85,&quot;width&quot;:880.5599212598424}"/>
</p:tagLst>
</file>

<file path=ppt/tags/tag6.xml><?xml version="1.0" encoding="utf-8"?>
<p:tagLst xmlns:p="http://schemas.openxmlformats.org/presentationml/2006/main">
  <p:tag name="KSO_WM_DIAGRAM_VIRTUALLY_FRAME" val="{&quot;height&quot;:146.2,&quot;left&quot;:39.6,&quot;top&quot;:153.85,&quot;width&quot;:880.5599212598424}"/>
</p:tagLst>
</file>

<file path=ppt/tags/tag7.xml><?xml version="1.0" encoding="utf-8"?>
<p:tagLst xmlns:p="http://schemas.openxmlformats.org/presentationml/2006/main">
  <p:tag name="KSO_WM_DIAGRAM_VIRTUALLY_FRAME" val="{&quot;height&quot;:146.2,&quot;left&quot;:39.6,&quot;top&quot;:153.85,&quot;width&quot;:880.5599212598424}"/>
</p:tagLst>
</file>

<file path=ppt/tags/tag8.xml><?xml version="1.0" encoding="utf-8"?>
<p:tagLst xmlns:p="http://schemas.openxmlformats.org/presentationml/2006/main">
  <p:tag name="KSO_WM_DIAGRAM_VIRTUALLY_FRAME" val="{&quot;height&quot;:146.2,&quot;left&quot;:39.6,&quot;top&quot;:153.85,&quot;width&quot;:880.5599212598424}"/>
</p:tagLst>
</file>

<file path=ppt/tags/tag9.xml><?xml version="1.0" encoding="utf-8"?>
<p:tagLst xmlns:p="http://schemas.openxmlformats.org/presentationml/2006/main">
  <p:tag name="KSO_WM_DIAGRAM_VIRTUALLY_FRAME" val="{&quot;height&quot;:146.2,&quot;left&quot;:39.6,&quot;top&quot;:153.85,&quot;width&quot;:880.5599212598424}"/>
</p:tagLst>
</file>

<file path=ppt/tags/tag10.xml><?xml version="1.0" encoding="utf-8"?>
<p:tagLst xmlns:p="http://schemas.openxmlformats.org/presentationml/2006/main">
  <p:tag name="KSO_WM_DIAGRAM_VIRTUALLY_FRAME" val="{&quot;height&quot;:146.2,&quot;left&quot;:39.6,&quot;top&quot;:153.85,&quot;width&quot;:880.5599212598424}"/>
</p:tagLst>
</file>

<file path=ppt/tags/tag11.xml><?xml version="1.0" encoding="utf-8"?>
<p:tagLst xmlns:p="http://schemas.openxmlformats.org/presentationml/2006/main">
  <p:tag name="KSO_WM_DIAGRAM_VIRTUALLY_FRAME" val="{&quot;height&quot;:146.2,&quot;left&quot;:39.6,&quot;top&quot;:153.85,&quot;width&quot;:880.5599212598424}"/>
</p:tagLst>
</file>

<file path=ppt/tags/tag12.xml><?xml version="1.0" encoding="utf-8"?>
<p:tagLst xmlns:p="http://schemas.openxmlformats.org/presentationml/2006/main">
  <p:tag name="KSO_WM_DIAGRAM_VIRTUALLY_FRAME" val="{&quot;height&quot;:146.2,&quot;left&quot;:39.6,&quot;top&quot;:153.85,&quot;width&quot;:880.5599212598424}"/>
</p:tagLst>
</file>

<file path=ppt/tags/tag13.xml><?xml version="1.0" encoding="utf-8"?>
<p:tagLst xmlns:p="http://schemas.openxmlformats.org/presentationml/2006/main">
  <p:tag name="KSO_WM_DIAGRAM_VIRTUALLY_FRAME" val="{&quot;height&quot;:326.7,&quot;left&quot;:39.6,&quot;top&quot;:136,&quot;width&quot;:881.55}"/>
</p:tagLst>
</file>

<file path=ppt/tags/tag14.xml><?xml version="1.0" encoding="utf-8"?>
<p:tagLst xmlns:p="http://schemas.openxmlformats.org/presentationml/2006/main">
  <p:tag name="KSO_WM_DIAGRAM_VIRTUALLY_FRAME" val="{&quot;height&quot;:326.7,&quot;left&quot;:39.6,&quot;top&quot;:136,&quot;width&quot;:881.55}"/>
</p:tagLst>
</file>

<file path=ppt/tags/tag15.xml><?xml version="1.0" encoding="utf-8"?>
<p:tagLst xmlns:p="http://schemas.openxmlformats.org/presentationml/2006/main">
  <p:tag name="KSO_WM_DIAGRAM_VIRTUALLY_FRAME" val="{&quot;height&quot;:326.7,&quot;left&quot;:39.6,&quot;top&quot;:136,&quot;width&quot;:881.55}"/>
</p:tagLst>
</file>

<file path=ppt/tags/tag16.xml><?xml version="1.0" encoding="utf-8"?>
<p:tagLst xmlns:p="http://schemas.openxmlformats.org/presentationml/2006/main">
  <p:tag name="KSO_WM_DIAGRAM_VIRTUALLY_FRAME" val="{&quot;height&quot;:326.7,&quot;left&quot;:39.6,&quot;top&quot;:136,&quot;width&quot;:881.55}"/>
</p:tagLst>
</file>

<file path=ppt/tags/tag17.xml><?xml version="1.0" encoding="utf-8"?>
<p:tagLst xmlns:p="http://schemas.openxmlformats.org/presentationml/2006/main">
  <p:tag name="KSO_WM_DIAGRAM_VIRTUALLY_FRAME" val="{&quot;height&quot;:326.7,&quot;left&quot;:39.6,&quot;top&quot;:136,&quot;width&quot;:881.55}"/>
</p:tagLst>
</file>

<file path=ppt/tags/tag18.xml><?xml version="1.0" encoding="utf-8"?>
<p:tagLst xmlns:p="http://schemas.openxmlformats.org/presentationml/2006/main">
  <p:tag name="KSO_WM_DIAGRAM_VIRTUALLY_FRAME" val="{&quot;height&quot;:326.7,&quot;left&quot;:39.6,&quot;top&quot;:136,&quot;width&quot;:881.55}"/>
</p:tagLst>
</file>

<file path=ppt/tags/tag19.xml><?xml version="1.0" encoding="utf-8"?>
<p:tagLst xmlns:p="http://schemas.openxmlformats.org/presentationml/2006/main">
  <p:tag name="KSO_WM_DIAGRAM_VIRTUALLY_FRAME" val="{&quot;height&quot;:326.7,&quot;left&quot;:39.6,&quot;top&quot;:136,&quot;width&quot;:881.55}"/>
</p:tagLst>
</file>

<file path=ppt/tags/tag20.xml><?xml version="1.0" encoding="utf-8"?>
<p:tagLst xmlns:p="http://schemas.openxmlformats.org/presentationml/2006/main">
  <p:tag name="KSO_WM_DIAGRAM_VIRTUALLY_FRAME" val="{&quot;height&quot;:326.7,&quot;left&quot;:39.6,&quot;top&quot;:136,&quot;width&quot;:881.55}"/>
</p:tagLst>
</file>

<file path=ppt/tags/tag21.xml><?xml version="1.0" encoding="utf-8"?>
<p:tagLst xmlns:p="http://schemas.openxmlformats.org/presentationml/2006/main">
  <p:tag name="KSO_WM_DIAGRAM_VIRTUALLY_FRAME" val="{&quot;height&quot;:326.7,&quot;left&quot;:39.6,&quot;top&quot;:136,&quot;width&quot;:881.55}"/>
</p:tagLst>
</file>

<file path=ppt/tags/tag22.xml><?xml version="1.0" encoding="utf-8"?>
<p:tagLst xmlns:p="http://schemas.openxmlformats.org/presentationml/2006/main">
  <p:tag name="KSO_WM_DIAGRAM_VIRTUALLY_FRAME" val="{&quot;height&quot;:326.7,&quot;left&quot;:39.6,&quot;top&quot;:136,&quot;width&quot;:881.55}"/>
</p:tagLst>
</file>

<file path=ppt/tags/tag23.xml><?xml version="1.0" encoding="utf-8"?>
<p:tagLst xmlns:p="http://schemas.openxmlformats.org/presentationml/2006/main">
  <p:tag name="KSO_WM_DIAGRAM_VIRTUALLY_FRAME" val="{&quot;height&quot;:326.7,&quot;left&quot;:39.6,&quot;top&quot;:136,&quot;width&quot;:881.55}"/>
</p:tagLst>
</file>

<file path=ppt/tags/tag24.xml><?xml version="1.0" encoding="utf-8"?>
<p:tagLst xmlns:p="http://schemas.openxmlformats.org/presentationml/2006/main">
  <p:tag name="KSO_WM_DIAGRAM_VIRTUALLY_FRAME" val="{&quot;height&quot;:326.7,&quot;left&quot;:39.6,&quot;top&quot;:136,&quot;width&quot;:881.55}"/>
</p:tagLst>
</file>

<file path=ppt/tags/tag25.xml><?xml version="1.0" encoding="utf-8"?>
<p:tagLst xmlns:p="http://schemas.openxmlformats.org/presentationml/2006/main">
  <p:tag name="KSO_WM_DIAGRAM_VIRTUALLY_FRAME" val="{&quot;height&quot;:326.7,&quot;left&quot;:39.6,&quot;top&quot;:136,&quot;width&quot;:881.55}"/>
</p:tagLst>
</file>

<file path=ppt/tags/tag26.xml><?xml version="1.0" encoding="utf-8"?>
<p:tagLst xmlns:p="http://schemas.openxmlformats.org/presentationml/2006/main">
  <p:tag name="KSO_WM_DIAGRAM_VIRTUALLY_FRAME" val="{&quot;height&quot;:326.7,&quot;left&quot;:39.6,&quot;top&quot;:136,&quot;width&quot;:881.55}"/>
</p:tagLst>
</file>

<file path=ppt/tags/tag27.xml><?xml version="1.0" encoding="utf-8"?>
<p:tagLst xmlns:p="http://schemas.openxmlformats.org/presentationml/2006/main">
  <p:tag name="KSO_WM_DIAGRAM_VIRTUALLY_FRAME" val="{&quot;height&quot;:326.7,&quot;left&quot;:39.6,&quot;top&quot;:136,&quot;width&quot;:881.55}"/>
</p:tagLst>
</file>

<file path=ppt/tags/tag28.xml><?xml version="1.0" encoding="utf-8"?>
<p:tagLst xmlns:p="http://schemas.openxmlformats.org/presentationml/2006/main">
  <p:tag name="KSO_WM_DIAGRAM_VIRTUALLY_FRAME" val="{&quot;height&quot;:326.7,&quot;left&quot;:39.6,&quot;top&quot;:136,&quot;width&quot;:881.55}"/>
</p:tagLst>
</file>

<file path=ppt/tags/tag29.xml><?xml version="1.0" encoding="utf-8"?>
<p:tagLst xmlns:p="http://schemas.openxmlformats.org/presentationml/2006/main">
  <p:tag name="KSO_WM_DIAGRAM_VIRTUALLY_FRAME" val="{&quot;height&quot;:326.7,&quot;left&quot;:39.6,&quot;top&quot;:136,&quot;width&quot;:881.55}"/>
</p:tagLst>
</file>

<file path=ppt/tags/tag30.xml><?xml version="1.0" encoding="utf-8"?>
<p:tagLst xmlns:p="http://schemas.openxmlformats.org/presentationml/2006/main">
  <p:tag name="KSO_WM_DIAGRAM_VIRTUALLY_FRAME" val="{&quot;height&quot;:326.7,&quot;left&quot;:39.6,&quot;top&quot;:136,&quot;width&quot;:881.55}"/>
</p:tagLst>
</file>

<file path=ppt/tags/tag31.xml><?xml version="1.0" encoding="utf-8"?>
<p:tagLst xmlns:p="http://schemas.openxmlformats.org/presentationml/2006/main">
  <p:tag name="KSO_WM_DIAGRAM_VIRTUALLY_FRAME" val="{&quot;height&quot;:326.7,&quot;left&quot;:39.6,&quot;top&quot;:136,&quot;width&quot;:881.55}"/>
</p:tagLst>
</file>

<file path=ppt/tags/tag32.xml><?xml version="1.0" encoding="utf-8"?>
<p:tagLst xmlns:p="http://schemas.openxmlformats.org/presentationml/2006/main">
  <p:tag name="KSO_WM_DIAGRAM_VIRTUALLY_FRAME" val="{&quot;height&quot;:326.7,&quot;left&quot;:39.6,&quot;top&quot;:136,&quot;width&quot;:881.55}"/>
</p:tagLst>
</file>

<file path=ppt/tags/tag33.xml><?xml version="1.0" encoding="utf-8"?>
<p:tagLst xmlns:p="http://schemas.openxmlformats.org/presentationml/2006/main">
  <p:tag name="KSO_WM_DIAGRAM_VIRTUALLY_FRAME" val="{&quot;height&quot;:326.7,&quot;left&quot;:39.6,&quot;top&quot;:136,&quot;width&quot;:881.55}"/>
</p:tagLst>
</file>

<file path=ppt/tags/tag34.xml><?xml version="1.0" encoding="utf-8"?>
<p:tagLst xmlns:p="http://schemas.openxmlformats.org/presentationml/2006/main">
  <p:tag name="KSO_WM_DIAGRAM_VIRTUALLY_FRAME" val="{&quot;height&quot;:326.7,&quot;left&quot;:39.6,&quot;top&quot;:136,&quot;width&quot;:881.55}"/>
</p:tagLst>
</file>

<file path=ppt/tags/tag35.xml><?xml version="1.0" encoding="utf-8"?>
<p:tagLst xmlns:p="http://schemas.openxmlformats.org/presentationml/2006/main">
  <p:tag name="KSO_WM_DIAGRAM_VIRTUALLY_FRAME" val="{&quot;height&quot;:326.7,&quot;left&quot;:39.6,&quot;top&quot;:136,&quot;width&quot;:881.55}"/>
</p:tagLst>
</file>

<file path=ppt/tags/tag36.xml><?xml version="1.0" encoding="utf-8"?>
<p:tagLst xmlns:p="http://schemas.openxmlformats.org/presentationml/2006/main">
  <p:tag name="KSO_WM_DIAGRAM_VIRTUALLY_FRAME" val="{&quot;height&quot;:326.7,&quot;left&quot;:39.6,&quot;top&quot;:136,&quot;width&quot;:881.55}"/>
</p:tagLst>
</file>

<file path=ppt/tags/tag37.xml><?xml version="1.0" encoding="utf-8"?>
<p:tagLst xmlns:p="http://schemas.openxmlformats.org/presentationml/2006/main">
  <p:tag name="KSO_WM_DIAGRAM_VIRTUALLY_FRAME" val="{&quot;height&quot;:310.1,&quot;left&quot;:37.4,&quot;top&quot;:156.55,&quot;width&quot;:878.15}"/>
</p:tagLst>
</file>

<file path=ppt/tags/tag38.xml><?xml version="1.0" encoding="utf-8"?>
<p:tagLst xmlns:p="http://schemas.openxmlformats.org/presentationml/2006/main">
  <p:tag name="KSO_WM_DIAGRAM_VIRTUALLY_FRAME" val="{&quot;height&quot;:310.1,&quot;left&quot;:37.4,&quot;top&quot;:156.55,&quot;width&quot;:878.15}"/>
</p:tagLst>
</file>

<file path=ppt/tags/tag39.xml><?xml version="1.0" encoding="utf-8"?>
<p:tagLst xmlns:p="http://schemas.openxmlformats.org/presentationml/2006/main">
  <p:tag name="KSO_WM_DIAGRAM_VIRTUALLY_FRAME" val="{&quot;height&quot;:310.1,&quot;left&quot;:37.4,&quot;top&quot;:156.55,&quot;width&quot;:878.15}"/>
</p:tagLst>
</file>

<file path=ppt/tags/tag40.xml><?xml version="1.0" encoding="utf-8"?>
<p:tagLst xmlns:p="http://schemas.openxmlformats.org/presentationml/2006/main">
  <p:tag name="KSO_WM_DIAGRAM_VIRTUALLY_FRAME" val="{&quot;height&quot;:310.1,&quot;left&quot;:37.4,&quot;top&quot;:156.55,&quot;width&quot;:878.15}"/>
</p:tagLst>
</file>

<file path=ppt/tags/tag41.xml><?xml version="1.0" encoding="utf-8"?>
<p:tagLst xmlns:p="http://schemas.openxmlformats.org/presentationml/2006/main">
  <p:tag name="KSO_WM_DIAGRAM_VIRTUALLY_FRAME" val="{&quot;height&quot;:310.1,&quot;left&quot;:37.4,&quot;top&quot;:156.55,&quot;width&quot;:878.15}"/>
</p:tagLst>
</file>

<file path=ppt/tags/tag42.xml><?xml version="1.0" encoding="utf-8"?>
<p:tagLst xmlns:p="http://schemas.openxmlformats.org/presentationml/2006/main">
  <p:tag name="KSO_WM_DIAGRAM_VIRTUALLY_FRAME" val="{&quot;height&quot;:310.1,&quot;left&quot;:37.4,&quot;top&quot;:156.55,&quot;width&quot;:878.15}"/>
</p:tagLst>
</file>

<file path=ppt/tags/tag43.xml><?xml version="1.0" encoding="utf-8"?>
<p:tagLst xmlns:p="http://schemas.openxmlformats.org/presentationml/2006/main">
  <p:tag name="KSO_WM_DIAGRAM_VIRTUALLY_FRAME" val="{&quot;height&quot;:310.1,&quot;left&quot;:37.4,&quot;top&quot;:156.55,&quot;width&quot;:878.15}"/>
</p:tagLst>
</file>

<file path=ppt/tags/tag44.xml><?xml version="1.0" encoding="utf-8"?>
<p:tagLst xmlns:p="http://schemas.openxmlformats.org/presentationml/2006/main">
  <p:tag name="KSO_WM_DIAGRAM_VIRTUALLY_FRAME" val="{&quot;height&quot;:310.1,&quot;left&quot;:37.4,&quot;top&quot;:156.55,&quot;width&quot;:878.15}"/>
</p:tagLst>
</file>

<file path=ppt/tags/tag45.xml><?xml version="1.0" encoding="utf-8"?>
<p:tagLst xmlns:p="http://schemas.openxmlformats.org/presentationml/2006/main">
  <p:tag name="KSO_WM_DIAGRAM_VIRTUALLY_FRAME" val="{&quot;height&quot;:310.1,&quot;left&quot;:37.4,&quot;top&quot;:156.55,&quot;width&quot;:878.15}"/>
</p:tagLst>
</file>

<file path=ppt/tags/tag46.xml><?xml version="1.0" encoding="utf-8"?>
<p:tagLst xmlns:p="http://schemas.openxmlformats.org/presentationml/2006/main">
  <p:tag name="KSO_WM_DIAGRAM_VIRTUALLY_FRAME" val="{&quot;height&quot;:310.1,&quot;left&quot;:37.4,&quot;top&quot;:156.55,&quot;width&quot;:878.15}"/>
</p:tagLst>
</file>

<file path=ppt/tags/tag47.xml><?xml version="1.0" encoding="utf-8"?>
<p:tagLst xmlns:p="http://schemas.openxmlformats.org/presentationml/2006/main">
  <p:tag name="KSO_WM_DIAGRAM_VIRTUALLY_FRAME" val="{&quot;height&quot;:310.1,&quot;left&quot;:37.4,&quot;top&quot;:156.55,&quot;width&quot;:878.15}"/>
</p:tagLst>
</file>

<file path=ppt/tags/tag48.xml><?xml version="1.0" encoding="utf-8"?>
<p:tagLst xmlns:p="http://schemas.openxmlformats.org/presentationml/2006/main">
  <p:tag name="KSO_WM_DIAGRAM_VIRTUALLY_FRAME" val="{&quot;height&quot;:310.1,&quot;left&quot;:37.4,&quot;top&quot;:156.55,&quot;width&quot;:878.15}"/>
</p:tagLst>
</file>

<file path=ppt/tags/tag49.xml><?xml version="1.0" encoding="utf-8"?>
<p:tagLst xmlns:p="http://schemas.openxmlformats.org/presentationml/2006/main">
  <p:tag name="KSO_WM_DIAGRAM_VIRTUALLY_FRAME" val="{&quot;height&quot;:310.1,&quot;left&quot;:37.4,&quot;top&quot;:156.55,&quot;width&quot;:878.15}"/>
</p:tagLst>
</file>

<file path=ppt/tags/tag50.xml><?xml version="1.0" encoding="utf-8"?>
<p:tagLst xmlns:p="http://schemas.openxmlformats.org/presentationml/2006/main">
  <p:tag name="KSO_WM_DIAGRAM_VIRTUALLY_FRAME" val="{&quot;height&quot;:310.1,&quot;left&quot;:37.4,&quot;top&quot;:156.55,&quot;width&quot;:878.15}"/>
</p:tagLst>
</file>

<file path=ppt/tags/tag51.xml><?xml version="1.0" encoding="utf-8"?>
<p:tagLst xmlns:p="http://schemas.openxmlformats.org/presentationml/2006/main">
  <p:tag name="KSO_WM_DIAGRAM_VIRTUALLY_FRAME" val="{&quot;height&quot;:310.1,&quot;left&quot;:37.4,&quot;top&quot;:156.55,&quot;width&quot;:878.15}"/>
</p:tagLst>
</file>

<file path=ppt/tags/tag52.xml><?xml version="1.0" encoding="utf-8"?>
<p:tagLst xmlns:p="http://schemas.openxmlformats.org/presentationml/2006/main">
  <p:tag name="KSO_WM_DIAGRAM_VIRTUALLY_FRAME" val="{&quot;height&quot;:310.1,&quot;left&quot;:37.4,&quot;top&quot;:156.55,&quot;width&quot;:878.15}"/>
</p:tagLst>
</file>

<file path=ppt/tags/tag53.xml><?xml version="1.0" encoding="utf-8"?>
<p:tagLst xmlns:p="http://schemas.openxmlformats.org/presentationml/2006/main">
  <p:tag name="KSO_WM_DIAGRAM_VIRTUALLY_FRAME" val="{&quot;height&quot;:310.1,&quot;left&quot;:37.4,&quot;top&quot;:156.55,&quot;width&quot;:878.15}"/>
</p:tagLst>
</file>

<file path=ppt/tags/tag54.xml><?xml version="1.0" encoding="utf-8"?>
<p:tagLst xmlns:p="http://schemas.openxmlformats.org/presentationml/2006/main">
  <p:tag name="KSO_WM_DIAGRAM_VIRTUALLY_FRAME" val="{&quot;height&quot;:310.1,&quot;left&quot;:37.4,&quot;top&quot;:156.55,&quot;width&quot;:878.15}"/>
</p:tagLst>
</file>

<file path=ppt/tags/tag55.xml><?xml version="1.0" encoding="utf-8"?>
<p:tagLst xmlns:p="http://schemas.openxmlformats.org/presentationml/2006/main">
  <p:tag name="KSO_WM_DIAGRAM_VIRTUALLY_FRAME" val="{&quot;height&quot;:310.1,&quot;left&quot;:37.4,&quot;top&quot;:156.55,&quot;width&quot;:878.15}"/>
</p:tagLst>
</file>

<file path=ppt/tags/tag56.xml><?xml version="1.0" encoding="utf-8"?>
<p:tagLst xmlns:p="http://schemas.openxmlformats.org/presentationml/2006/main">
  <p:tag name="KSO_WM_DIAGRAM_VIRTUALLY_FRAME" val="{&quot;height&quot;:310.1,&quot;left&quot;:37.4,&quot;top&quot;:156.55,&quot;width&quot;:878.15}"/>
</p:tagLst>
</file>

<file path=ppt/tags/tag57.xml><?xml version="1.0" encoding="utf-8"?>
<p:tagLst xmlns:p="http://schemas.openxmlformats.org/presentationml/2006/main">
  <p:tag name="KSO_WM_DIAGRAM_VIRTUALLY_FRAME" val="{&quot;height&quot;:310.1,&quot;left&quot;:37.4,&quot;top&quot;:156.55,&quot;width&quot;:878.15}"/>
</p:tagLst>
</file>

<file path=ppt/tags/tag58.xml><?xml version="1.0" encoding="utf-8"?>
<p:tagLst xmlns:p="http://schemas.openxmlformats.org/presentationml/2006/main">
  <p:tag name="KSO_WM_DIAGRAM_VIRTUALLY_FRAME" val="{&quot;height&quot;:310.1,&quot;left&quot;:37.4,&quot;top&quot;:156.55,&quot;width&quot;:878.15}"/>
</p:tagLst>
</file>

<file path=ppt/tags/tag59.xml><?xml version="1.0" encoding="utf-8"?>
<p:tagLst xmlns:p="http://schemas.openxmlformats.org/presentationml/2006/main">
  <p:tag name="KSO_WM_DIAGRAM_VIRTUALLY_FRAME" val="{&quot;height&quot;:310.1,&quot;left&quot;:37.4,&quot;top&quot;:156.55,&quot;width&quot;:878.15}"/>
</p:tagLst>
</file>

<file path=ppt/tags/tag60.xml><?xml version="1.0" encoding="utf-8"?>
<p:tagLst xmlns:p="http://schemas.openxmlformats.org/presentationml/2006/main">
  <p:tag name="KSO_WM_DIAGRAM_VIRTUALLY_FRAME" val="{&quot;height&quot;:310.1,&quot;left&quot;:37.4,&quot;top&quot;:156.55,&quot;width&quot;:878.15}"/>
</p:tagLst>
</file>

<file path=ppt/tags/tag61.xml><?xml version="1.0" encoding="utf-8"?>
<p:tagLst xmlns:p="http://schemas.openxmlformats.org/presentationml/2006/main">
  <p:tag name="KSO_WM_DIAGRAM_VIRTUALLY_FRAME" val="{&quot;height&quot;:310.1,&quot;left&quot;:37.4,&quot;top&quot;:156.55,&quot;width&quot;:878.15}"/>
</p:tagLst>
</file>

<file path=ppt/tags/tag62.xml><?xml version="1.0" encoding="utf-8"?>
<p:tagLst xmlns:p="http://schemas.openxmlformats.org/presentationml/2006/main">
  <p:tag name="KSO_WM_DIAGRAM_VIRTUALLY_FRAME" val="{&quot;height&quot;:310.1,&quot;left&quot;:37.4,&quot;top&quot;:156.55,&quot;width&quot;:878.15}"/>
</p:tagLst>
</file>

<file path=ppt/tags/tag63.xml><?xml version="1.0" encoding="utf-8"?>
<p:tagLst xmlns:p="http://schemas.openxmlformats.org/presentationml/2006/main">
  <p:tag name="KSO_WM_DIAGRAM_VIRTUALLY_FRAME" val="{&quot;height&quot;:310.1,&quot;left&quot;:37.4,&quot;top&quot;:156.55,&quot;width&quot;:878.15}"/>
</p:tagLst>
</file>

<file path=ppt/tags/tag64.xml><?xml version="1.0" encoding="utf-8"?>
<p:tagLst xmlns:p="http://schemas.openxmlformats.org/presentationml/2006/main">
  <p:tag name="KSO_WM_DIAGRAM_VIRTUALLY_FRAME" val="{&quot;height&quot;:310.1,&quot;left&quot;:37.4,&quot;top&quot;:156.55,&quot;width&quot;:878.15}"/>
</p:tagLst>
</file>

<file path=ppt/tags/tag65.xml><?xml version="1.0" encoding="utf-8"?>
<p:tagLst xmlns:p="http://schemas.openxmlformats.org/presentationml/2006/main">
  <p:tag name="KSO_WM_DIAGRAM_VIRTUALLY_FRAME" val="{&quot;height&quot;:310.1,&quot;left&quot;:37.4,&quot;top&quot;:156.55,&quot;width&quot;:878.15}"/>
</p:tagLst>
</file>

<file path=ppt/tags/tag66.xml><?xml version="1.0" encoding="utf-8"?>
<p:tagLst xmlns:p="http://schemas.openxmlformats.org/presentationml/2006/main">
  <p:tag name="KSO_WM_DIAGRAM_VIRTUALLY_FRAME" val="{&quot;height&quot;:310.1,&quot;left&quot;:37.4,&quot;top&quot;:156.55,&quot;width&quot;:878.15}"/>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5198</Words>
  <Application>WPS 演示</Application>
  <PresentationFormat>宽屏</PresentationFormat>
  <Paragraphs>449</Paragraphs>
  <Slides>22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21</vt:i4>
      </vt:variant>
    </vt:vector>
  </HeadingPairs>
  <TitlesOfParts>
    <vt:vector size="32" baseType="lpstr">
      <vt:lpstr>Arial</vt:lpstr>
      <vt:lpstr>宋体</vt:lpstr>
      <vt:lpstr>Wingdings</vt:lpstr>
      <vt:lpstr>庞门正道标题体</vt:lpstr>
      <vt:lpstr>Franklin Gothic Book</vt:lpstr>
      <vt:lpstr>微软雅黑</vt:lpstr>
      <vt:lpstr>Calibri</vt:lpstr>
      <vt:lpstr>OPPOSans B</vt:lpstr>
      <vt:lpstr>OPPOSans R</vt:lpstr>
      <vt:lpstr>Arial Unicode MS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dc:creator>
  <cp:lastModifiedBy>博</cp:lastModifiedBy>
  <cp:revision>30</cp:revision>
  <dcterms:created xsi:type="dcterms:W3CDTF">2023-08-09T12:44:00Z</dcterms:created>
  <dcterms:modified xsi:type="dcterms:W3CDTF">2026-10-16T00:17:00Z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624A8775239844D99DE3F9D5E909B592_12</vt:lpwstr>
  </property>
</Properties>
</file>
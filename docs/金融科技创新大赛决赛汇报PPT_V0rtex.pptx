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2" r:id="rId4"/>
    <p:sldId id="257" r:id="rId5"/>
    <p:sldId id="258" r:id="rId6"/>
    <p:sldId id="261" r:id="rId7"/>
    <p:sldId id="270" r:id="rId8"/>
    <p:sldId id="267" r:id="rId9"/>
    <p:sldId id="268" r:id="rId10"/>
    <p:sldId id="269" r:id="rId11"/>
    <p:sldId id="281" r:id="rId12"/>
    <p:sldId id="272" r:id="rId13"/>
    <p:sldId id="282" r:id="rId14"/>
    <p:sldId id="286" r:id="rId15"/>
    <p:sldId id="274" r:id="rId16"/>
    <p:sldId id="294" r:id="rId17"/>
    <p:sldId id="293" r:id="rId18"/>
    <p:sldId id="283" r:id="rId19"/>
    <p:sldId id="295" r:id="rId20"/>
    <p:sldId id="284" r:id="rId21"/>
    <p:sldId id="300" r:id="rId22"/>
    <p:sldId id="263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7" userDrawn="1">
          <p15:clr>
            <a:srgbClr val="A4A3A4"/>
          </p15:clr>
        </p15:guide>
        <p15:guide id="2" pos="3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AA8"/>
    <a:srgbClr val="195CC4"/>
    <a:srgbClr val="D9DEE8"/>
    <a:srgbClr val="FBF3F3"/>
    <a:srgbClr val="CE0000"/>
    <a:srgbClr val="1C41A9"/>
    <a:srgbClr val="7FA0C0"/>
    <a:srgbClr val="004182"/>
    <a:srgbClr val="B6C7EA"/>
    <a:srgbClr val="2120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360" y="504"/>
      </p:cViewPr>
      <p:guideLst>
        <p:guide orient="horz" pos="3467"/>
        <p:guide pos="38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37"/>
          <a:stretch>
            <a:fillRect/>
          </a:stretch>
        </p:blipFill>
        <p:spPr>
          <a:xfrm>
            <a:off x="0" y="40"/>
            <a:ext cx="12192000" cy="685791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6080" y="1358900"/>
            <a:ext cx="11510645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200" dirty="0">
                <a:solidFill>
                  <a:schemeClr val="bg1"/>
                </a:solidFill>
                <a:latin typeface="庞门正道标题体" panose="02010600030101010101" charset="-122"/>
                <a:ea typeface="庞门正道标题体" panose="02010600030101010101" charset="-122"/>
              </a:rPr>
              <a:t>第五届中国研究生金融科技创新大赛</a:t>
            </a:r>
            <a:endParaRPr lang="zh-CN" altLang="en-US" sz="5200" dirty="0">
              <a:solidFill>
                <a:schemeClr val="bg1"/>
              </a:solidFill>
              <a:latin typeface="庞门正道标题体" panose="02010600030101010101" charset="-122"/>
              <a:ea typeface="庞门正道标题体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2800" y="2066290"/>
            <a:ext cx="106337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en-US" altLang="zh-CN" sz="2800" dirty="0">
                <a:solidFill>
                  <a:schemeClr val="bg1"/>
                </a:solidFill>
                <a:latin typeface="Franklin Gothic Book" panose="020B0503020102020204" charset="0"/>
                <a:cs typeface="Franklin Gothic Book" panose="020B0503020102020204" charset="0"/>
              </a:rPr>
              <a:t>The 5th CHINA POSTGRADUATE FINTECH INNOVATION COMPETITION</a:t>
            </a:r>
            <a:endParaRPr lang="en-US" altLang="zh-CN" sz="2800" dirty="0">
              <a:solidFill>
                <a:schemeClr val="bg1"/>
              </a:solidFill>
              <a:latin typeface="Franklin Gothic Book" panose="020B0503020102020204" charset="0"/>
              <a:cs typeface="Franklin Gothic Book" panose="020B0503020102020204" charset="0"/>
            </a:endParaRPr>
          </a:p>
        </p:txBody>
      </p:sp>
      <p:pic>
        <p:nvPicPr>
          <p:cNvPr id="6" name="图片 5" descr="未标题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812" y="3054985"/>
            <a:ext cx="9096375" cy="24441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7950" y="1979930"/>
            <a:ext cx="1197991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ReguMate 可信RAG问答系统</a:t>
            </a:r>
            <a:endParaRPr kumimoji="0" lang="zh-CN" altLang="en-US" sz="66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14955" y="3635375"/>
            <a:ext cx="65570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</a:t>
            </a: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rtex </a:t>
            </a:r>
            <a:r>
              <a:rPr lang="zh-CN" altLang="en-US" sz="4400" b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团队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74350" y="4925066"/>
            <a:ext cx="42062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队员：李思、刘晨阳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63351" y="4925066"/>
            <a:ext cx="252526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队长：王博震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39247" y="1136396"/>
            <a:ext cx="38779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  <a:endParaRPr kumimoji="0" lang="zh-CN" altLang="en-US" sz="36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903095" y="2504440"/>
            <a:ext cx="3223895" cy="585470"/>
            <a:chOff x="2178" y="5402"/>
            <a:chExt cx="5077" cy="922"/>
          </a:xfrm>
        </p:grpSpPr>
        <p:sp>
          <p:nvSpPr>
            <p:cNvPr id="3" name="文本框 2"/>
            <p:cNvSpPr txBox="1"/>
            <p:nvPr/>
          </p:nvSpPr>
          <p:spPr>
            <a:xfrm>
              <a:off x="3565" y="5402"/>
              <a:ext cx="3690" cy="90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背景与问题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178" y="5419"/>
              <a:ext cx="1715" cy="90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01</a:t>
              </a:r>
              <a:endPara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902968" y="3629660"/>
            <a:ext cx="3224022" cy="585725"/>
            <a:chOff x="2178" y="5402"/>
            <a:chExt cx="5077" cy="922"/>
          </a:xfrm>
        </p:grpSpPr>
        <p:sp>
          <p:nvSpPr>
            <p:cNvPr id="22" name="文本框 21"/>
            <p:cNvSpPr txBox="1"/>
            <p:nvPr/>
          </p:nvSpPr>
          <p:spPr>
            <a:xfrm>
              <a:off x="3565" y="5402"/>
              <a:ext cx="3690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解决方案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2178" y="5419"/>
              <a:ext cx="1290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02</a:t>
              </a:r>
              <a:endPara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902968" y="4767580"/>
            <a:ext cx="3224022" cy="585725"/>
            <a:chOff x="2178" y="5402"/>
            <a:chExt cx="5077" cy="922"/>
          </a:xfrm>
        </p:grpSpPr>
        <p:sp>
          <p:nvSpPr>
            <p:cNvPr id="25" name="文本框 24"/>
            <p:cNvSpPr txBox="1"/>
            <p:nvPr/>
          </p:nvSpPr>
          <p:spPr>
            <a:xfrm>
              <a:off x="3565" y="5402"/>
              <a:ext cx="3690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技术亮点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178" y="5419"/>
              <a:ext cx="1290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03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384288" y="2515235"/>
            <a:ext cx="3224022" cy="585725"/>
            <a:chOff x="2178" y="5402"/>
            <a:chExt cx="5077" cy="922"/>
          </a:xfrm>
        </p:grpSpPr>
        <p:sp>
          <p:nvSpPr>
            <p:cNvPr id="31" name="文本框 30"/>
            <p:cNvSpPr txBox="1"/>
            <p:nvPr/>
          </p:nvSpPr>
          <p:spPr>
            <a:xfrm>
              <a:off x="3565" y="5402"/>
              <a:ext cx="3690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评测结果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178" y="5419"/>
              <a:ext cx="1387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04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7384288" y="3618865"/>
            <a:ext cx="3686955" cy="585725"/>
            <a:chOff x="2178" y="5402"/>
            <a:chExt cx="5806" cy="922"/>
          </a:xfrm>
        </p:grpSpPr>
        <p:sp>
          <p:nvSpPr>
            <p:cNvPr id="34" name="文本框 33"/>
            <p:cNvSpPr txBox="1"/>
            <p:nvPr/>
          </p:nvSpPr>
          <p:spPr>
            <a:xfrm>
              <a:off x="3565" y="5402"/>
              <a:ext cx="4419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性能与稳定性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2178" y="5419"/>
              <a:ext cx="1387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05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384288" y="4756785"/>
            <a:ext cx="3224022" cy="585725"/>
            <a:chOff x="2178" y="5402"/>
            <a:chExt cx="5077" cy="922"/>
          </a:xfrm>
        </p:grpSpPr>
        <p:sp>
          <p:nvSpPr>
            <p:cNvPr id="37" name="文本框 36"/>
            <p:cNvSpPr txBox="1"/>
            <p:nvPr/>
          </p:nvSpPr>
          <p:spPr>
            <a:xfrm>
              <a:off x="3565" y="5402"/>
              <a:ext cx="3690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落地价值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2178" y="5419"/>
              <a:ext cx="1387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06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191318" y="1942677"/>
            <a:ext cx="3798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en-US" altLang="zh-CN" sz="13800" b="0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9637" y="3869267"/>
            <a:ext cx="5283200" cy="777875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背景与问题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18" name="组合 8"/>
          <p:cNvGrpSpPr/>
          <p:nvPr/>
        </p:nvGrpSpPr>
        <p:grpSpPr>
          <a:xfrm>
            <a:off x="3671887" y="1422930"/>
            <a:ext cx="4848225" cy="350837"/>
            <a:chOff x="5783" y="848"/>
            <a:chExt cx="7636" cy="551"/>
          </a:xfrm>
        </p:grpSpPr>
        <p:sp>
          <p:nvSpPr>
            <p:cNvPr id="19" name="任意多边形: 形状 187"/>
            <p:cNvSpPr/>
            <p:nvPr/>
          </p:nvSpPr>
          <p:spPr>
            <a:xfrm>
              <a:off x="5783" y="848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任意多边形: 形状 188"/>
            <p:cNvSpPr/>
            <p:nvPr/>
          </p:nvSpPr>
          <p:spPr>
            <a:xfrm>
              <a:off x="7826" y="10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7"/>
          <p:cNvGrpSpPr/>
          <p:nvPr/>
        </p:nvGrpSpPr>
        <p:grpSpPr>
          <a:xfrm flipV="1">
            <a:off x="3671887" y="4972580"/>
            <a:ext cx="4849813" cy="336550"/>
            <a:chOff x="5975" y="1069"/>
            <a:chExt cx="7636" cy="530"/>
          </a:xfrm>
        </p:grpSpPr>
        <p:sp>
          <p:nvSpPr>
            <p:cNvPr id="22" name="任意多边形: 形状 187"/>
            <p:cNvSpPr/>
            <p:nvPr/>
          </p:nvSpPr>
          <p:spPr>
            <a:xfrm>
              <a:off x="5975" y="1069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任意多边形: 形状 188"/>
            <p:cNvSpPr/>
            <p:nvPr/>
          </p:nvSpPr>
          <p:spPr>
            <a:xfrm>
              <a:off x="8026" y="12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23215" y="726440"/>
            <a:ext cx="12862560" cy="5641340"/>
          </a:xfrm>
          <a:prstGeom prst="rect">
            <a:avLst/>
          </a:prstGeom>
          <a:solidFill>
            <a:schemeClr val="bg1"/>
          </a:solidFill>
          <a:ln>
            <a:solidFill>
              <a:srgbClr val="012F8D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</a:rPr>
              <a:t>背景与问题：银行真实业务场景的监管问答之痛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575054"/>
            <a:ext cx="107899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</a:rPr>
              <a:t>信贷审批、风险分类、资本管理、消保投诉、反洗钱、支付结算、普惠金融、监管报送等场景均需快速查询制度依据与指标口径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954530"/>
            <a:ext cx="3611880" cy="185610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54530"/>
            <a:ext cx="3611880" cy="566928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44637"/>
            <a:ext cx="3337560" cy="38671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2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资料分散、格式多样</a:t>
            </a:r>
            <a:endParaRPr sz="2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385" y="2658745"/>
            <a:ext cx="3401060" cy="98679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50000"/>
              </a:lnSpc>
              <a:spcAft>
                <a:spcPts val="400"/>
              </a:spcAft>
            </a:pP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监管文件分散于</a:t>
            </a:r>
            <a:r>
              <a:rPr sz="1400" b="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金融监管总局、人民银行、政府网站</a:t>
            </a: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等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多渠道</a:t>
            </a: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，</a:t>
            </a:r>
            <a:r>
              <a:rPr sz="1400" b="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Word / PDF / Excel / 附件</a:t>
            </a: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并存，更新频繁、版本差异明显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88790" y="1954530"/>
            <a:ext cx="3611880" cy="185610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1954530"/>
            <a:ext cx="3611880" cy="566928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2075434"/>
            <a:ext cx="333756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人工查询易出错</a:t>
            </a:r>
            <a:endParaRPr sz="2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13250" y="2658745"/>
            <a:ext cx="3517265" cy="98679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易漏查、误用旧规、条款定位不准、表格指标口径混淆</a:t>
            </a: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；固定报表与自助分析难以满足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跨文件、跨版本、跨表格</a:t>
            </a: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的监管问答需求</a:t>
            </a:r>
            <a:endParaRPr sz="140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2" name="Rectangle 14"/>
          <p:cNvSpPr/>
          <p:nvPr/>
        </p:nvSpPr>
        <p:spPr>
          <a:xfrm>
            <a:off x="8074025" y="1954530"/>
            <a:ext cx="3611880" cy="185610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1" y="1953895"/>
            <a:ext cx="3611880" cy="56692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1" y="2075434"/>
            <a:ext cx="333756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业务要求准确可追溯</a:t>
            </a:r>
            <a:endParaRPr sz="2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38743" y="2658618"/>
            <a:ext cx="3291840" cy="98679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业务判断要求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“准确可追溯”</a:t>
            </a: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，但现有查询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流程分散、格式复杂、人工检索</a:t>
            </a: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难以稳定保证可信性</a:t>
            </a:r>
            <a:endParaRPr sz="140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3915918"/>
            <a:ext cx="11183112" cy="2057400"/>
          </a:xfrm>
          <a:prstGeom prst="rect">
            <a:avLst/>
          </a:prstGeom>
          <a:solidFill>
            <a:srgbClr val="FB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915918"/>
            <a:ext cx="82296" cy="2057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989070"/>
            <a:ext cx="10698480" cy="38671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24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命题四大技术卡点</a:t>
            </a:r>
            <a:endParaRPr sz="2400">
              <a:solidFill>
                <a:srgbClr val="C00000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4383405"/>
            <a:ext cx="10698480" cy="16484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50000"/>
              </a:lnSpc>
              <a:spcAft>
                <a:spcPts val="400"/>
              </a:spcAft>
            </a:pPr>
            <a:r>
              <a:rPr sz="125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 </a:t>
            </a:r>
            <a:r>
              <a:rPr sz="16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多源异构文档解析难</a:t>
            </a:r>
            <a:r>
              <a:rPr sz="125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版式差异大，常规切分难以保留标题层级、条款编号、表头结构、单位与时间维度</a:t>
            </a:r>
            <a:r>
              <a:rPr lang="zh-CN"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；</a:t>
            </a:r>
            <a:endParaRPr sz="1400" b="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25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 </a:t>
            </a:r>
            <a:r>
              <a:rPr sz="16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检索精度与证据定位难：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仅关键词召回易同名文件、新旧版本混淆，无法稳定返回最小充分证据</a:t>
            </a:r>
            <a:r>
              <a:rPr lang="zh-CN"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；</a:t>
            </a:r>
            <a:endParaRPr sz="1400" b="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25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</a:t>
            </a:r>
            <a:r>
              <a:rPr sz="16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</a:rPr>
              <a:t> </a:t>
            </a:r>
            <a:r>
              <a:rPr sz="16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跨文件跨模态推理难：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需同时理解制度正文与统计报表，通用模型易跳过依据生成不可核验答案</a:t>
            </a:r>
            <a:r>
              <a:rPr lang="zh-CN"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；</a:t>
            </a:r>
            <a:endParaRPr sz="1400" b="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25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 </a:t>
            </a:r>
            <a:r>
              <a:rPr sz="16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金融合规表达要求高：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须区分“应当/可以/不得/原则上”，数字、日期、机构、文号细微错误影响业务判断</a:t>
            </a:r>
            <a:r>
              <a:rPr lang="zh-CN"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。</a:t>
            </a:r>
            <a:endParaRPr lang="zh-CN" sz="1400" b="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23" name="Rectangle 5"/>
          <p:cNvSpPr/>
          <p:nvPr/>
        </p:nvSpPr>
        <p:spPr>
          <a:xfrm>
            <a:off x="502920" y="1840230"/>
            <a:ext cx="11183112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191318" y="1942677"/>
            <a:ext cx="3798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kumimoji="0" lang="en-US" altLang="zh-CN" sz="13800" b="0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9637" y="3869267"/>
            <a:ext cx="5283200" cy="777875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解决方案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18" name="组合 8"/>
          <p:cNvGrpSpPr/>
          <p:nvPr/>
        </p:nvGrpSpPr>
        <p:grpSpPr>
          <a:xfrm>
            <a:off x="3671887" y="1422930"/>
            <a:ext cx="4848225" cy="350837"/>
            <a:chOff x="5783" y="848"/>
            <a:chExt cx="7636" cy="551"/>
          </a:xfrm>
        </p:grpSpPr>
        <p:sp>
          <p:nvSpPr>
            <p:cNvPr id="19" name="任意多边形: 形状 187"/>
            <p:cNvSpPr/>
            <p:nvPr/>
          </p:nvSpPr>
          <p:spPr>
            <a:xfrm>
              <a:off x="5783" y="848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任意多边形: 形状 188"/>
            <p:cNvSpPr/>
            <p:nvPr/>
          </p:nvSpPr>
          <p:spPr>
            <a:xfrm>
              <a:off x="7826" y="10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7"/>
          <p:cNvGrpSpPr/>
          <p:nvPr/>
        </p:nvGrpSpPr>
        <p:grpSpPr>
          <a:xfrm flipV="1">
            <a:off x="3671887" y="4972580"/>
            <a:ext cx="4849813" cy="336550"/>
            <a:chOff x="5975" y="1069"/>
            <a:chExt cx="7636" cy="530"/>
          </a:xfrm>
        </p:grpSpPr>
        <p:sp>
          <p:nvSpPr>
            <p:cNvPr id="22" name="任意多边形: 形状 187"/>
            <p:cNvSpPr/>
            <p:nvPr/>
          </p:nvSpPr>
          <p:spPr>
            <a:xfrm>
              <a:off x="5975" y="1069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任意多边形: 形状 188"/>
            <p:cNvSpPr/>
            <p:nvPr/>
          </p:nvSpPr>
          <p:spPr>
            <a:xfrm>
              <a:off x="8026" y="12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50520" y="721360"/>
            <a:ext cx="12862560" cy="5641340"/>
          </a:xfrm>
          <a:prstGeom prst="rect">
            <a:avLst/>
          </a:prstGeom>
          <a:solidFill>
            <a:schemeClr val="bg1"/>
          </a:solidFill>
          <a:ln>
            <a:solidFill>
              <a:srgbClr val="012F8D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总体思路：以可信 RAG 为核心的端到端业务链路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23" name="Rectangle 5"/>
          <p:cNvSpPr/>
          <p:nvPr/>
        </p:nvSpPr>
        <p:spPr>
          <a:xfrm>
            <a:off x="713105" y="1553845"/>
            <a:ext cx="11016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3420" y="1686560"/>
            <a:ext cx="11155680" cy="26352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864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构建 “</a:t>
            </a:r>
            <a:r>
              <a:rPr sz="16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输入 → 结构化处理 → 检索推理 → 可信校验 → 可溯源输出 → 审计评测</a:t>
            </a:r>
            <a:r>
              <a:rPr sz="1600" b="1">
                <a:solidFill>
                  <a:srgbClr val="1F3864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” 全链路，打造监管知识问答系统 </a:t>
            </a:r>
            <a:endParaRPr sz="1600" b="1">
              <a:solidFill>
                <a:srgbClr val="1F3864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24" name="Pentagon 6"/>
          <p:cNvSpPr/>
          <p:nvPr/>
        </p:nvSpPr>
        <p:spPr>
          <a:xfrm>
            <a:off x="502920" y="2101850"/>
            <a:ext cx="1691640" cy="566928"/>
          </a:xfrm>
          <a:prstGeom prst="homePlat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5" name="TextBox 7"/>
          <p:cNvSpPr txBox="1"/>
          <p:nvPr/>
        </p:nvSpPr>
        <p:spPr>
          <a:xfrm>
            <a:off x="612648" y="2228851"/>
            <a:ext cx="146304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输入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26" name="Chevron 8"/>
          <p:cNvSpPr/>
          <p:nvPr/>
        </p:nvSpPr>
        <p:spPr>
          <a:xfrm>
            <a:off x="2377439" y="2101850"/>
            <a:ext cx="1691640" cy="566928"/>
          </a:xfrm>
          <a:prstGeom prst="chevron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7" name="TextBox 9"/>
          <p:cNvSpPr txBox="1"/>
          <p:nvPr/>
        </p:nvSpPr>
        <p:spPr>
          <a:xfrm>
            <a:off x="2540508" y="2228851"/>
            <a:ext cx="146304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  <a:buClrTx/>
              <a:buSzTx/>
              <a:buFontTx/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结构化处理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28" name="Chevron 10"/>
          <p:cNvSpPr/>
          <p:nvPr/>
        </p:nvSpPr>
        <p:spPr>
          <a:xfrm>
            <a:off x="4251959" y="2101850"/>
            <a:ext cx="1691640" cy="566928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9" name="TextBox 11"/>
          <p:cNvSpPr txBox="1"/>
          <p:nvPr/>
        </p:nvSpPr>
        <p:spPr>
          <a:xfrm>
            <a:off x="4392168" y="2228851"/>
            <a:ext cx="146304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检索推理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30" name="Chevron 12"/>
          <p:cNvSpPr/>
          <p:nvPr/>
        </p:nvSpPr>
        <p:spPr>
          <a:xfrm>
            <a:off x="6126479" y="2101850"/>
            <a:ext cx="1691640" cy="566928"/>
          </a:xfrm>
          <a:prstGeom prst="chevron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1" name="TextBox 13"/>
          <p:cNvSpPr txBox="1"/>
          <p:nvPr/>
        </p:nvSpPr>
        <p:spPr>
          <a:xfrm>
            <a:off x="6266687" y="2228851"/>
            <a:ext cx="146304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可信校验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32" name="Chevron 14"/>
          <p:cNvSpPr/>
          <p:nvPr/>
        </p:nvSpPr>
        <p:spPr>
          <a:xfrm>
            <a:off x="8001000" y="2101850"/>
            <a:ext cx="1691640" cy="566928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3" name="TextBox 15"/>
          <p:cNvSpPr txBox="1"/>
          <p:nvPr/>
        </p:nvSpPr>
        <p:spPr>
          <a:xfrm>
            <a:off x="8179307" y="2228851"/>
            <a:ext cx="146304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可溯源输出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34" name="Chevron 16"/>
          <p:cNvSpPr/>
          <p:nvPr/>
        </p:nvSpPr>
        <p:spPr>
          <a:xfrm>
            <a:off x="9875520" y="2101850"/>
            <a:ext cx="1691640" cy="566928"/>
          </a:xfrm>
          <a:prstGeom prst="chevron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5" name="TextBox 17"/>
          <p:cNvSpPr txBox="1"/>
          <p:nvPr/>
        </p:nvSpPr>
        <p:spPr>
          <a:xfrm>
            <a:off x="10030968" y="2228851"/>
            <a:ext cx="146304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审计评测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36" name="TextBox 18"/>
          <p:cNvSpPr txBox="1"/>
          <p:nvPr/>
        </p:nvSpPr>
        <p:spPr>
          <a:xfrm>
            <a:off x="502920" y="2750820"/>
            <a:ext cx="11155680" cy="38671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24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设计原则</a:t>
            </a:r>
            <a:endParaRPr sz="2400">
              <a:solidFill>
                <a:srgbClr val="C00000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37" name="Rectangle 19"/>
          <p:cNvSpPr/>
          <p:nvPr/>
        </p:nvSpPr>
        <p:spPr>
          <a:xfrm>
            <a:off x="502920" y="3238500"/>
            <a:ext cx="548640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8" name="Rectangle 20"/>
          <p:cNvSpPr/>
          <p:nvPr/>
        </p:nvSpPr>
        <p:spPr>
          <a:xfrm>
            <a:off x="502920" y="3238500"/>
            <a:ext cx="82296" cy="105156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9" name="TextBox 21"/>
          <p:cNvSpPr txBox="1"/>
          <p:nvPr/>
        </p:nvSpPr>
        <p:spPr>
          <a:xfrm>
            <a:off x="731520" y="3288792"/>
            <a:ext cx="5120640" cy="325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1. 确定性优先</a:t>
            </a:r>
            <a:endParaRPr sz="20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40" name="TextBox 22"/>
          <p:cNvSpPr txBox="1"/>
          <p:nvPr/>
        </p:nvSpPr>
        <p:spPr>
          <a:xfrm>
            <a:off x="731520" y="3670300"/>
            <a:ext cx="5257800" cy="53403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表格取数、计算、拒答边界全部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程序化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，不依赖</a:t>
            </a:r>
            <a:r>
              <a:rPr lang="zh-CN"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大语言模型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 LLM 猜测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41" name="Rectangle 23"/>
          <p:cNvSpPr/>
          <p:nvPr/>
        </p:nvSpPr>
        <p:spPr>
          <a:xfrm>
            <a:off x="6199505" y="3238500"/>
            <a:ext cx="554355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2" name="Rectangle 24"/>
          <p:cNvSpPr/>
          <p:nvPr/>
        </p:nvSpPr>
        <p:spPr>
          <a:xfrm>
            <a:off x="6199632" y="3238500"/>
            <a:ext cx="82296" cy="1051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3" name="TextBox 25"/>
          <p:cNvSpPr txBox="1"/>
          <p:nvPr/>
        </p:nvSpPr>
        <p:spPr>
          <a:xfrm>
            <a:off x="6428232" y="3288792"/>
            <a:ext cx="5120640" cy="325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2. 证据闭环</a:t>
            </a:r>
            <a:endParaRPr sz="20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44" name="TextBox 26"/>
          <p:cNvSpPr txBox="1"/>
          <p:nvPr/>
        </p:nvSpPr>
        <p:spPr>
          <a:xfrm>
            <a:off x="6428105" y="3670300"/>
            <a:ext cx="5120640" cy="53403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答案必须引用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条款/段落/单元格证据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，事实校验失败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自动修复或拒答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45" name="Rectangle 27"/>
          <p:cNvSpPr/>
          <p:nvPr/>
        </p:nvSpPr>
        <p:spPr>
          <a:xfrm>
            <a:off x="502920" y="4445508"/>
            <a:ext cx="548640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6" name="Rectangle 28"/>
          <p:cNvSpPr/>
          <p:nvPr/>
        </p:nvSpPr>
        <p:spPr>
          <a:xfrm>
            <a:off x="502920" y="4445508"/>
            <a:ext cx="82296" cy="1051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7" name="TextBox 29"/>
          <p:cNvSpPr txBox="1"/>
          <p:nvPr/>
        </p:nvSpPr>
        <p:spPr>
          <a:xfrm>
            <a:off x="731520" y="4480560"/>
            <a:ext cx="5120640" cy="325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3. 通用能力</a:t>
            </a:r>
            <a:endParaRPr sz="20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48" name="TextBox 30"/>
          <p:cNvSpPr txBox="1"/>
          <p:nvPr/>
        </p:nvSpPr>
        <p:spPr>
          <a:xfrm>
            <a:off x="731520" y="4862195"/>
            <a:ext cx="5120005" cy="53403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sym typeface="+mn-ea"/>
              </a:rPr>
              <a:t>均为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语言与结构层面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sym typeface="+mn-ea"/>
              </a:rPr>
              <a:t>通用改进，不绑定具体题目，评测集做回归门禁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sym typeface="+mn-ea"/>
            </a:endParaRPr>
          </a:p>
        </p:txBody>
      </p:sp>
      <p:sp>
        <p:nvSpPr>
          <p:cNvPr id="49" name="Rectangle 31"/>
          <p:cNvSpPr/>
          <p:nvPr/>
        </p:nvSpPr>
        <p:spPr>
          <a:xfrm>
            <a:off x="6199505" y="4445635"/>
            <a:ext cx="554355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0" name="Rectangle 32"/>
          <p:cNvSpPr/>
          <p:nvPr/>
        </p:nvSpPr>
        <p:spPr>
          <a:xfrm>
            <a:off x="6199632" y="4445508"/>
            <a:ext cx="82296" cy="1051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1" name="TextBox 33"/>
          <p:cNvSpPr txBox="1"/>
          <p:nvPr/>
        </p:nvSpPr>
        <p:spPr>
          <a:xfrm>
            <a:off x="6428232" y="4480560"/>
            <a:ext cx="5120640" cy="325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4. 可</a:t>
            </a:r>
            <a:r>
              <a:rPr lang="zh-CN"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溯源</a:t>
            </a:r>
            <a:endParaRPr lang="zh-CN" sz="20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52" name="TextBox 34"/>
          <p:cNvSpPr txBox="1"/>
          <p:nvPr/>
        </p:nvSpPr>
        <p:spPr>
          <a:xfrm>
            <a:off x="6428105" y="4862195"/>
            <a:ext cx="5314950" cy="53403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入库、评测、评分全</a:t>
            </a:r>
            <a:r>
              <a:rPr lang="zh-CN"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部</a:t>
            </a:r>
            <a:r>
              <a:rPr sz="1400" b="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脚本化</a:t>
            </a: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，manifest 记录 doc_id 与 SHA-256 溯源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53" name="TextBox 35"/>
          <p:cNvSpPr txBox="1"/>
          <p:nvPr/>
        </p:nvSpPr>
        <p:spPr>
          <a:xfrm>
            <a:off x="1369695" y="5614035"/>
            <a:ext cx="9408160" cy="38671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ctr">
              <a:spcAft>
                <a:spcPts val="400"/>
              </a:spcAft>
            </a:pPr>
            <a:r>
              <a:rPr sz="20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目标：形成 “</a:t>
            </a:r>
            <a:r>
              <a:rPr sz="24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问得准、找得到、答得清、可追溯、可</a:t>
            </a:r>
            <a:r>
              <a:rPr lang="zh-CN" sz="24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溯源</a:t>
            </a:r>
            <a:r>
              <a:rPr sz="20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” 的系统方案</a:t>
            </a:r>
            <a:endParaRPr sz="20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50520" y="70294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系统架构：FastAPI + React 前后端分离，双存储双引擎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4997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sym typeface="+mn-ea"/>
              </a:rPr>
              <a:t>Docker 一键镜像部署，CPU/GPU 双配置，全链路留存文件哈希与条款编号溯源凭证</a:t>
            </a:r>
            <a:endParaRPr sz="1400" b="0">
              <a:latin typeface="OPPOSans R" panose="00020600040101010101" charset="-122"/>
              <a:ea typeface="OPPOSans R" panose="00020600040101010101" charset="-122"/>
            </a:endParaRPr>
          </a:p>
          <a:p>
            <a:pPr algn="l">
              <a:spcAft>
                <a:spcPts val="400"/>
              </a:spcAft>
            </a:pP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59" name="Rectangle 8"/>
          <p:cNvSpPr/>
          <p:nvPr/>
        </p:nvSpPr>
        <p:spPr>
          <a:xfrm>
            <a:off x="502920" y="2663190"/>
            <a:ext cx="36118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0" name="Rectangle 9"/>
          <p:cNvSpPr/>
          <p:nvPr/>
        </p:nvSpPr>
        <p:spPr>
          <a:xfrm>
            <a:off x="502920" y="2663190"/>
            <a:ext cx="3611880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1" name="TextBox 10"/>
          <p:cNvSpPr txBox="1"/>
          <p:nvPr/>
        </p:nvSpPr>
        <p:spPr>
          <a:xfrm>
            <a:off x="612648" y="2744471"/>
            <a:ext cx="338328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查询规划 QueryPlanner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62" name="TextBox 11"/>
          <p:cNvSpPr txBox="1"/>
          <p:nvPr/>
        </p:nvSpPr>
        <p:spPr>
          <a:xfrm>
            <a:off x="640080" y="3166872"/>
            <a:ext cx="3337560" cy="6635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50000"/>
              </a:lnSpc>
              <a:spcAft>
                <a:spcPts val="400"/>
              </a:spcAft>
            </a:pP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多视角子查询
HyDE 补检索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63" name="Rectangle 12"/>
          <p:cNvSpPr/>
          <p:nvPr/>
        </p:nvSpPr>
        <p:spPr>
          <a:xfrm>
            <a:off x="4288536" y="2663190"/>
            <a:ext cx="36118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4" name="Rectangle 13"/>
          <p:cNvSpPr/>
          <p:nvPr/>
        </p:nvSpPr>
        <p:spPr>
          <a:xfrm>
            <a:off x="4288536" y="2663190"/>
            <a:ext cx="3611880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5" name="TextBox 14"/>
          <p:cNvSpPr txBox="1"/>
          <p:nvPr/>
        </p:nvSpPr>
        <p:spPr>
          <a:xfrm>
            <a:off x="4398264" y="2760028"/>
            <a:ext cx="338328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混合</a:t>
            </a: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检索</a:t>
            </a: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层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66" name="TextBox 15"/>
          <p:cNvSpPr txBox="1"/>
          <p:nvPr/>
        </p:nvSpPr>
        <p:spPr>
          <a:xfrm>
            <a:off x="4425696" y="3166872"/>
            <a:ext cx="3337560" cy="6635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稠密/稀疏/关键词
表格单元检索 · BGE 重排</a:t>
            </a:r>
            <a:endParaRPr sz="140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67" name="Rectangle 16"/>
          <p:cNvSpPr/>
          <p:nvPr/>
        </p:nvSpPr>
        <p:spPr>
          <a:xfrm>
            <a:off x="8074151" y="2663190"/>
            <a:ext cx="36118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8" name="Rectangle 17"/>
          <p:cNvSpPr/>
          <p:nvPr/>
        </p:nvSpPr>
        <p:spPr>
          <a:xfrm>
            <a:off x="8074151" y="2663190"/>
            <a:ext cx="3611880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9" name="TextBox 18"/>
          <p:cNvSpPr txBox="1"/>
          <p:nvPr/>
        </p:nvSpPr>
        <p:spPr>
          <a:xfrm>
            <a:off x="8183879" y="2760028"/>
            <a:ext cx="338328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生成层 LLM+证据受限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70" name="TextBox 19"/>
          <p:cNvSpPr txBox="1"/>
          <p:nvPr/>
        </p:nvSpPr>
        <p:spPr>
          <a:xfrm>
            <a:off x="8211311" y="3166872"/>
            <a:ext cx="3337560" cy="6635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prompt 组装→生成→修复→降级
CRAG-lite 分级路由</a:t>
            </a:r>
            <a:endParaRPr sz="140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71" name="Rectangle 20"/>
          <p:cNvSpPr/>
          <p:nvPr/>
        </p:nvSpPr>
        <p:spPr>
          <a:xfrm>
            <a:off x="502920" y="3961637"/>
            <a:ext cx="36118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2" name="Rectangle 21"/>
          <p:cNvSpPr/>
          <p:nvPr/>
        </p:nvSpPr>
        <p:spPr>
          <a:xfrm>
            <a:off x="502920" y="3961637"/>
            <a:ext cx="3611880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3" name="TextBox 22"/>
          <p:cNvSpPr txBox="1"/>
          <p:nvPr/>
        </p:nvSpPr>
        <p:spPr>
          <a:xfrm>
            <a:off x="612648" y="4042917"/>
            <a:ext cx="338328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确定性表格链路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74" name="TextBox 23"/>
          <p:cNvSpPr txBox="1"/>
          <p:nvPr/>
        </p:nvSpPr>
        <p:spPr>
          <a:xfrm>
            <a:off x="640080" y="4465320"/>
            <a:ext cx="3337560" cy="6635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取数 / 计算 / 比较
毫秒级返回</a:t>
            </a:r>
            <a:endParaRPr sz="140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75" name="Rectangle 24"/>
          <p:cNvSpPr/>
          <p:nvPr/>
        </p:nvSpPr>
        <p:spPr>
          <a:xfrm>
            <a:off x="4288536" y="3961637"/>
            <a:ext cx="36118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6" name="Rectangle 25"/>
          <p:cNvSpPr/>
          <p:nvPr/>
        </p:nvSpPr>
        <p:spPr>
          <a:xfrm>
            <a:off x="4288536" y="3961637"/>
            <a:ext cx="3611880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7" name="TextBox 26"/>
          <p:cNvSpPr txBox="1"/>
          <p:nvPr/>
        </p:nvSpPr>
        <p:spPr>
          <a:xfrm>
            <a:off x="4398264" y="4058475"/>
            <a:ext cx="338328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事实/引用校验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78" name="TextBox 27"/>
          <p:cNvSpPr txBox="1"/>
          <p:nvPr/>
        </p:nvSpPr>
        <p:spPr>
          <a:xfrm>
            <a:off x="4425696" y="4465320"/>
            <a:ext cx="3337560" cy="6635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数字/日期/机构/文号
确定性校验</a:t>
            </a:r>
            <a:endParaRPr sz="140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79" name="Rectangle 28"/>
          <p:cNvSpPr/>
          <p:nvPr/>
        </p:nvSpPr>
        <p:spPr>
          <a:xfrm>
            <a:off x="8074151" y="3961637"/>
            <a:ext cx="36118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0" name="Rectangle 29"/>
          <p:cNvSpPr/>
          <p:nvPr/>
        </p:nvSpPr>
        <p:spPr>
          <a:xfrm>
            <a:off x="8074151" y="3961637"/>
            <a:ext cx="3611880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1" name="TextBox 30"/>
          <p:cNvSpPr txBox="1"/>
          <p:nvPr/>
        </p:nvSpPr>
        <p:spPr>
          <a:xfrm>
            <a:off x="8183879" y="4058475"/>
            <a:ext cx="338328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拒答边界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82" name="TextBox 31"/>
          <p:cNvSpPr txBox="1"/>
          <p:nvPr/>
        </p:nvSpPr>
        <p:spPr>
          <a:xfrm>
            <a:off x="8211311" y="4465320"/>
            <a:ext cx="3337560" cy="6635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依据不足/库外/冲突
结构化拒答不补写</a:t>
            </a:r>
            <a:endParaRPr sz="140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84" name="TextBox 33"/>
          <p:cNvSpPr txBox="1"/>
          <p:nvPr/>
        </p:nvSpPr>
        <p:spPr>
          <a:xfrm>
            <a:off x="433832" y="5367528"/>
            <a:ext cx="201168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Qdrant 向量索引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85" name="TextBox 34"/>
          <p:cNvSpPr txBox="1"/>
          <p:nvPr/>
        </p:nvSpPr>
        <p:spPr>
          <a:xfrm>
            <a:off x="691642" y="5684520"/>
            <a:ext cx="2011680" cy="20193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2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45,530 条</a:t>
            </a:r>
            <a:endParaRPr sz="12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87" name="TextBox 36"/>
          <p:cNvSpPr txBox="1"/>
          <p:nvPr/>
        </p:nvSpPr>
        <p:spPr>
          <a:xfrm>
            <a:off x="2595880" y="5368163"/>
            <a:ext cx="201168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SQLite 双存储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88" name="TextBox 37"/>
          <p:cNvSpPr txBox="1"/>
          <p:nvPr/>
        </p:nvSpPr>
        <p:spPr>
          <a:xfrm>
            <a:off x="2160270" y="5684520"/>
            <a:ext cx="2258695" cy="20193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2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46,551 chunk / 133,001 单元格</a:t>
            </a:r>
            <a:endParaRPr sz="12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90" name="TextBox 39"/>
          <p:cNvSpPr txBox="1"/>
          <p:nvPr/>
        </p:nvSpPr>
        <p:spPr>
          <a:xfrm>
            <a:off x="4573905" y="5370195"/>
            <a:ext cx="29794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</a:rPr>
              <a:t>BGE-M3 + BGE-reranker-v2-m3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91" name="TextBox 40"/>
          <p:cNvSpPr txBox="1"/>
          <p:nvPr/>
        </p:nvSpPr>
        <p:spPr>
          <a:xfrm>
            <a:off x="5444998" y="5684520"/>
            <a:ext cx="2011680" cy="20193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2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</a:rPr>
              <a:t>本地嵌入与重排</a:t>
            </a:r>
            <a:endParaRPr sz="12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93" name="TextBox 42"/>
          <p:cNvSpPr txBox="1"/>
          <p:nvPr/>
        </p:nvSpPr>
        <p:spPr>
          <a:xfrm>
            <a:off x="7721346" y="5368798"/>
            <a:ext cx="201168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</a:rPr>
              <a:t>DeepSeek API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94" name="TextBox 43"/>
          <p:cNvSpPr txBox="1"/>
          <p:nvPr/>
        </p:nvSpPr>
        <p:spPr>
          <a:xfrm>
            <a:off x="7783576" y="5684520"/>
            <a:ext cx="2011680" cy="20193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2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生成 / 规划 / 校验</a:t>
            </a:r>
            <a:endParaRPr sz="12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96" name="TextBox 45"/>
          <p:cNvSpPr txBox="1"/>
          <p:nvPr/>
        </p:nvSpPr>
        <p:spPr>
          <a:xfrm>
            <a:off x="9316720" y="5369560"/>
            <a:ext cx="256413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</a:rPr>
              <a:t>LibreOffice + pymupdf4llm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97" name="TextBox 46"/>
          <p:cNvSpPr txBox="1"/>
          <p:nvPr/>
        </p:nvSpPr>
        <p:spPr>
          <a:xfrm>
            <a:off x="9610344" y="5684520"/>
            <a:ext cx="2011680" cy="20193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2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PDF / Word / Excel 解析</a:t>
            </a:r>
            <a:endParaRPr sz="12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98" name="Rectangle 5"/>
          <p:cNvSpPr/>
          <p:nvPr/>
        </p:nvSpPr>
        <p:spPr>
          <a:xfrm>
            <a:off x="502920" y="1840230"/>
            <a:ext cx="11183112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1" name="Rectangle 6"/>
          <p:cNvSpPr/>
          <p:nvPr/>
        </p:nvSpPr>
        <p:spPr>
          <a:xfrm>
            <a:off x="502920" y="1924050"/>
            <a:ext cx="11183112" cy="685800"/>
          </a:xfrm>
          <a:prstGeom prst="rect">
            <a:avLst/>
          </a:prstGeom>
          <a:solidFill>
            <a:srgbClr val="19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2" name="TextBox 7"/>
          <p:cNvSpPr txBox="1"/>
          <p:nvPr/>
        </p:nvSpPr>
        <p:spPr>
          <a:xfrm>
            <a:off x="685800" y="2090674"/>
            <a:ext cx="1078992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前端</a:t>
            </a: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1600" b="0">
                <a:solidFill>
                  <a:schemeClr val="bg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React + TypeScript + Vite —— 问答页 / 文档管理页 / 审计页（流式答案、引用来源展示、系统状态）</a:t>
            </a:r>
            <a:endParaRPr sz="1600" b="0">
              <a:solidFill>
                <a:schemeClr val="bg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104" name="矩形: 圆角 22"/>
          <p:cNvSpPr/>
          <p:nvPr/>
        </p:nvSpPr>
        <p:spPr>
          <a:xfrm flipV="1">
            <a:off x="294640" y="5268595"/>
            <a:ext cx="11586845" cy="721995"/>
          </a:xfrm>
          <a:prstGeom prst="roundRect">
            <a:avLst>
              <a:gd name="adj" fmla="val 4633"/>
            </a:avLst>
          </a:prstGeom>
          <a:noFill/>
          <a:ln>
            <a:solidFill>
              <a:srgbClr val="00418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37185" y="67119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任务一：多源异构文档解析与结构化索引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sym typeface="+mn-ea"/>
              </a:rPr>
              <a:t>500 份监管文件 100% 入库（0 失败、0 降级），解析成功率 100%  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98" name="Rectangle 5"/>
          <p:cNvSpPr/>
          <p:nvPr/>
        </p:nvSpPr>
        <p:spPr>
          <a:xfrm>
            <a:off x="502920" y="1840230"/>
            <a:ext cx="11412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" name="Rectangle 6"/>
          <p:cNvSpPr/>
          <p:nvPr/>
        </p:nvSpPr>
        <p:spPr>
          <a:xfrm>
            <a:off x="502920" y="1929765"/>
            <a:ext cx="5257800" cy="208343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21205"/>
            <a:ext cx="5029200" cy="325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</a:rPr>
              <a:t>多格式解析管线</a:t>
            </a:r>
            <a:endParaRPr sz="20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2443480"/>
            <a:ext cx="5029200" cy="14636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 .pdf：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pymupdf4llm 版式感知解析文本段落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 .doc / .docx：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python-docx + LibreOffice 结构抽取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.xls / .xlsx：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解析为带行/列标签、坐标、数值、单位、公式的单元格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Word/表格元数据：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段落、表格、章节结构与条款号元数据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40425" y="1929765"/>
            <a:ext cx="5974715" cy="208343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0572" y="2021205"/>
            <a:ext cx="5029200" cy="325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结构化索引（解决“常规切分丢结构”）</a:t>
            </a:r>
            <a:endParaRPr sz="20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00445" y="2443480"/>
            <a:ext cx="5746115" cy="1412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条款级元数据：</a:t>
            </a: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chunk 挂载 section_number、parent_section、前后邻接，监管“第X条”结构得以保留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表格单元级索引：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E</a:t>
            </a: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xcel 附件不按文本切分，133,001 个结构化单元格支持按指标/期间/机构精确召回与确定性取数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双索引并行：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SQLite（元数据+单元格）与 Qdrant（向量）双引擎</a:t>
            </a:r>
            <a:endParaRPr sz="1400" b="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502920" y="4093845"/>
            <a:ext cx="2157730" cy="1051560"/>
            <a:chOff x="792" y="6615"/>
            <a:chExt cx="3398" cy="1656"/>
          </a:xfrm>
        </p:grpSpPr>
        <p:sp>
          <p:nvSpPr>
            <p:cNvPr id="13" name="Rectangle 12"/>
            <p:cNvSpPr/>
            <p:nvPr/>
          </p:nvSpPr>
          <p:spPr>
            <a:xfrm>
              <a:off x="792" y="6615"/>
              <a:ext cx="3398" cy="1656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64" y="6782"/>
              <a:ext cx="3254" cy="803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ctr">
                <a:spcAft>
                  <a:spcPts val="400"/>
                </a:spcAft>
              </a:pPr>
              <a:r>
                <a:rPr sz="32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</a:rPr>
                <a:t>500</a:t>
              </a:r>
              <a:endParaRPr sz="32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</a:endParaRPr>
            </a:p>
          </p:txBody>
        </p:sp>
        <p:sp>
          <p:nvSpPr>
            <p:cNvPr id="4" name="TextBox 14"/>
            <p:cNvSpPr txBox="1"/>
            <p:nvPr/>
          </p:nvSpPr>
          <p:spPr>
            <a:xfrm>
              <a:off x="864" y="7650"/>
              <a:ext cx="3254" cy="415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ctr">
                <a:spcAft>
                  <a:spcPts val="400"/>
                </a:spcAft>
              </a:pPr>
              <a:r>
                <a:rPr sz="1600" b="0">
                  <a:solidFill>
                    <a:srgbClr val="FFFFFF"/>
                  </a:solidFill>
                  <a:latin typeface="OPPOSans R" panose="00020600040101010101" charset="-122"/>
                  <a:ea typeface="OPPOSans R" panose="00020600040101010101" charset="-122"/>
                </a:rPr>
                <a:t>监管文件全量入库</a:t>
              </a:r>
              <a:endParaRPr sz="1600" b="0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2790190" y="4093845"/>
            <a:ext cx="2157730" cy="1051560"/>
            <a:chOff x="4349" y="6615"/>
            <a:chExt cx="3398" cy="1656"/>
          </a:xfrm>
        </p:grpSpPr>
        <p:sp>
          <p:nvSpPr>
            <p:cNvPr id="16" name="Rectangle 15"/>
            <p:cNvSpPr/>
            <p:nvPr/>
          </p:nvSpPr>
          <p:spPr>
            <a:xfrm>
              <a:off x="4349" y="6615"/>
              <a:ext cx="3398" cy="1656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421" y="6782"/>
              <a:ext cx="3254" cy="803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ctr">
                <a:spcAft>
                  <a:spcPts val="400"/>
                </a:spcAft>
                <a:buClrTx/>
                <a:buSzTx/>
                <a:buFontTx/>
              </a:pPr>
              <a:r>
                <a:rPr sz="32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</a:rPr>
                <a:t>45,530</a:t>
              </a:r>
              <a:endParaRPr sz="32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21" y="7650"/>
              <a:ext cx="3254" cy="415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ctr">
                <a:spcAft>
                  <a:spcPts val="400"/>
                </a:spcAft>
                <a:buClrTx/>
                <a:buSzTx/>
                <a:buFontTx/>
              </a:pPr>
              <a:r>
                <a:rPr sz="1600">
                  <a:solidFill>
                    <a:srgbClr val="FFFFFF"/>
                  </a:solidFill>
                  <a:latin typeface="OPPOSans R" panose="00020600040101010101" charset="-122"/>
                  <a:ea typeface="OPPOSans R" panose="00020600040101010101" charset="-122"/>
                  <a:sym typeface="+mn-ea"/>
                </a:rPr>
                <a:t>Qdrant 向量索引</a:t>
              </a:r>
              <a:endParaRPr sz="1600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  <a:sym typeface="+mn-ea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077460" y="4093845"/>
            <a:ext cx="2157730" cy="1051560"/>
            <a:chOff x="7906" y="6615"/>
            <a:chExt cx="3398" cy="1656"/>
          </a:xfrm>
        </p:grpSpPr>
        <p:sp>
          <p:nvSpPr>
            <p:cNvPr id="19" name="Rectangle 18"/>
            <p:cNvSpPr/>
            <p:nvPr/>
          </p:nvSpPr>
          <p:spPr>
            <a:xfrm>
              <a:off x="7906" y="6615"/>
              <a:ext cx="3398" cy="1656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7978" y="6782"/>
              <a:ext cx="3254" cy="1282"/>
              <a:chOff x="7978" y="6782"/>
              <a:chExt cx="3254" cy="1282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7978" y="6782"/>
                <a:ext cx="3254" cy="706"/>
              </a:xfrm>
              <a:prstGeom prst="rect">
                <a:avLst/>
              </a:prstGeom>
              <a:noFill/>
            </p:spPr>
            <p:txBody>
              <a:bodyPr wrap="square" lIns="18288" tIns="9144" rIns="18288" bIns="9144" anchor="t">
                <a:spAutoFit/>
              </a:bodyPr>
              <a:p>
                <a:pPr algn="ctr">
                  <a:spcAft>
                    <a:spcPts val="400"/>
                  </a:spcAft>
                  <a:buClrTx/>
                  <a:buSzTx/>
                  <a:buFontTx/>
                </a:pPr>
                <a:r>
                  <a:rPr sz="3200">
                    <a:solidFill>
                      <a:srgbClr val="F0C800"/>
                    </a:solidFill>
                    <a:latin typeface="OPPOSans B" panose="00020600040101010101" charset="-122"/>
                    <a:ea typeface="OPPOSans B" panose="00020600040101010101" charset="-122"/>
                  </a:rPr>
                  <a:t>46,551</a:t>
                </a:r>
                <a:endParaRPr sz="32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7978" y="7650"/>
                <a:ext cx="3254" cy="415"/>
              </a:xfrm>
              <a:prstGeom prst="rect">
                <a:avLst/>
              </a:prstGeom>
              <a:noFill/>
            </p:spPr>
            <p:txBody>
              <a:bodyPr wrap="square" lIns="18288" tIns="9144" rIns="18288" bIns="9144" anchor="t">
                <a:spAutoFit/>
              </a:bodyPr>
              <a:p>
                <a:pPr lvl="0" algn="ctr">
                  <a:spcAft>
                    <a:spcPts val="400"/>
                  </a:spcAft>
                  <a:buClrTx/>
                  <a:buSzTx/>
                  <a:buFontTx/>
                </a:pPr>
                <a:r>
                  <a:rPr sz="1600">
                    <a:solidFill>
                      <a:srgbClr val="FFFFFF"/>
                    </a:solidFill>
                    <a:latin typeface="OPPOSans R" panose="00020600040101010101" charset="-122"/>
                    <a:ea typeface="OPPOSans R" panose="00020600040101010101" charset="-122"/>
                    <a:sym typeface="+mn-ea"/>
                  </a:rPr>
                  <a:t>chunk 元数据</a:t>
                </a:r>
                <a:endParaRPr sz="1600">
                  <a:solidFill>
                    <a:srgbClr val="FFFFFF"/>
                  </a:solidFill>
                  <a:latin typeface="OPPOSans R" panose="00020600040101010101" charset="-122"/>
                  <a:ea typeface="OPPOSans R" panose="00020600040101010101" charset="-122"/>
                  <a:sym typeface="+mn-ea"/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7364730" y="4093845"/>
            <a:ext cx="2157730" cy="1051560"/>
            <a:chOff x="11462" y="6615"/>
            <a:chExt cx="3398" cy="1656"/>
          </a:xfrm>
        </p:grpSpPr>
        <p:sp>
          <p:nvSpPr>
            <p:cNvPr id="22" name="Rectangle 21"/>
            <p:cNvSpPr/>
            <p:nvPr/>
          </p:nvSpPr>
          <p:spPr>
            <a:xfrm>
              <a:off x="11462" y="6615"/>
              <a:ext cx="3398" cy="1656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534" y="6782"/>
              <a:ext cx="3254" cy="706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ctr">
                <a:spcAft>
                  <a:spcPts val="400"/>
                </a:spcAft>
                <a:buClrTx/>
                <a:buSzTx/>
                <a:buFontTx/>
              </a:pPr>
              <a:r>
                <a:rPr sz="32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</a:rPr>
                <a:t>133,001</a:t>
              </a:r>
              <a:endParaRPr sz="32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534" y="7650"/>
              <a:ext cx="3254" cy="415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ctr">
                <a:spcAft>
                  <a:spcPts val="400"/>
                </a:spcAft>
                <a:buClrTx/>
                <a:buSzTx/>
                <a:buFontTx/>
              </a:pPr>
              <a:r>
                <a:rPr sz="1600">
                  <a:solidFill>
                    <a:srgbClr val="FFFFFF"/>
                  </a:solidFill>
                  <a:latin typeface="OPPOSans R" panose="00020600040101010101" charset="-122"/>
                  <a:ea typeface="OPPOSans R" panose="00020600040101010101" charset="-122"/>
                  <a:sym typeface="+mn-ea"/>
                </a:rPr>
                <a:t>结构化表格单元格</a:t>
              </a:r>
              <a:endParaRPr sz="1600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  <a:sym typeface="+mn-ea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9652000" y="4093845"/>
            <a:ext cx="2157730" cy="1051560"/>
            <a:chOff x="15127" y="6615"/>
            <a:chExt cx="3398" cy="1656"/>
          </a:xfrm>
        </p:grpSpPr>
        <p:sp>
          <p:nvSpPr>
            <p:cNvPr id="25" name="Rectangle 24"/>
            <p:cNvSpPr/>
            <p:nvPr/>
          </p:nvSpPr>
          <p:spPr>
            <a:xfrm>
              <a:off x="15127" y="6615"/>
              <a:ext cx="3398" cy="1656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5199" y="6782"/>
              <a:ext cx="3254" cy="803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ctr">
                <a:spcAft>
                  <a:spcPts val="400"/>
                </a:spcAft>
              </a:pPr>
              <a:r>
                <a:rPr sz="32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</a:rPr>
                <a:t>100%</a:t>
              </a:r>
              <a:endParaRPr sz="2800" b="1">
                <a:solidFill>
                  <a:srgbClr val="F0C8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5199" y="7650"/>
              <a:ext cx="3254" cy="415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ctr">
                <a:spcAft>
                  <a:spcPts val="400"/>
                </a:spcAft>
                <a:buClrTx/>
                <a:buSzTx/>
                <a:buFontTx/>
              </a:pPr>
              <a:r>
                <a:rPr sz="1600">
                  <a:solidFill>
                    <a:srgbClr val="FFFFFF"/>
                  </a:solidFill>
                  <a:latin typeface="OPPOSans R" panose="00020600040101010101" charset="-122"/>
                  <a:ea typeface="OPPOSans R" panose="00020600040101010101" charset="-122"/>
                  <a:sym typeface="+mn-ea"/>
                </a:rPr>
                <a:t>解析成功率</a:t>
              </a:r>
              <a:endParaRPr sz="1600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  <a:sym typeface="+mn-ea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41655" y="5255895"/>
            <a:ext cx="11346180" cy="7556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24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全链路可溯源</a:t>
            </a:r>
            <a:r>
              <a:rPr sz="2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：</a:t>
            </a:r>
            <a:r>
              <a:rPr sz="16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manifest 记录 doc_id / 标题 / SHA-256 / 解析结果，入库、评测、评分全脚本化，可一键重建与评测环境一致的 500 份文件知识库</a:t>
            </a:r>
            <a:endParaRPr sz="16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37" name="矩形: 圆角 22"/>
          <p:cNvSpPr/>
          <p:nvPr/>
        </p:nvSpPr>
        <p:spPr>
          <a:xfrm flipV="1">
            <a:off x="503555" y="5286375"/>
            <a:ext cx="11343640" cy="721995"/>
          </a:xfrm>
          <a:prstGeom prst="roundRect">
            <a:avLst>
              <a:gd name="adj" fmla="val 4633"/>
            </a:avLst>
          </a:prstGeom>
          <a:noFill/>
          <a:ln>
            <a:solidFill>
              <a:srgbClr val="00418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323215" y="69024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任务二：多路混合检索与跨文档推理引擎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sym typeface="+mn-ea"/>
              </a:rPr>
              <a:t> </a:t>
            </a:r>
            <a:r>
              <a:rPr sz="1400">
                <a:latin typeface="OPPOSans R" panose="00020600040101010101" charset="-122"/>
                <a:ea typeface="OPPOSans R" panose="00020600040101010101" charset="-122"/>
                <a:sym typeface="+mn-ea"/>
              </a:rPr>
              <a:t>稠密 + 稀疏 + BM25 + 元数据过滤四路召回，RRF 融合排序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98" name="Rectangle 5"/>
          <p:cNvSpPr/>
          <p:nvPr/>
        </p:nvSpPr>
        <p:spPr>
          <a:xfrm>
            <a:off x="502920" y="1840230"/>
            <a:ext cx="11412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grpSp>
        <p:nvGrpSpPr>
          <p:cNvPr id="38" name="组合 37"/>
          <p:cNvGrpSpPr/>
          <p:nvPr/>
        </p:nvGrpSpPr>
        <p:grpSpPr>
          <a:xfrm>
            <a:off x="475615" y="1988185"/>
            <a:ext cx="5457190" cy="1487805"/>
            <a:chOff x="749" y="3033"/>
            <a:chExt cx="8594" cy="2343"/>
          </a:xfrm>
        </p:grpSpPr>
        <p:sp>
          <p:nvSpPr>
            <p:cNvPr id="21" name="Rectangle 8"/>
            <p:cNvSpPr/>
            <p:nvPr/>
          </p:nvSpPr>
          <p:spPr>
            <a:xfrm>
              <a:off x="749" y="3397"/>
              <a:ext cx="8594" cy="1979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22" name="Rectangle 9"/>
            <p:cNvSpPr/>
            <p:nvPr/>
          </p:nvSpPr>
          <p:spPr>
            <a:xfrm>
              <a:off x="749" y="3033"/>
              <a:ext cx="3543" cy="720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23" name="TextBox 10"/>
            <p:cNvSpPr txBox="1"/>
            <p:nvPr/>
          </p:nvSpPr>
          <p:spPr>
            <a:xfrm>
              <a:off x="922" y="3161"/>
              <a:ext cx="3370" cy="46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混合检索 </a:t>
              </a:r>
              <a:r>
                <a:rPr lang="zh-CN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规划查询</a:t>
              </a:r>
              <a:endPara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endParaRPr>
            </a:p>
          </p:txBody>
        </p:sp>
        <p:sp>
          <p:nvSpPr>
            <p:cNvPr id="24" name="TextBox 11"/>
            <p:cNvSpPr txBox="1"/>
            <p:nvPr/>
          </p:nvSpPr>
          <p:spPr>
            <a:xfrm>
              <a:off x="965" y="3868"/>
              <a:ext cx="8024" cy="1248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l" fontAlgn="auto">
                <a:lnSpc>
                  <a:spcPct val="120000"/>
                </a:lnSpc>
                <a:spcAft>
                  <a:spcPts val="400"/>
                </a:spcAft>
              </a:pP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BGE-M3 稠密/稀疏 + BM25 关键词 + 元数据过滤</a:t>
              </a:r>
              <a:r>
                <a:rPr sz="1400"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  <a:sym typeface="+mn-ea"/>
                </a:rPr>
                <a:t>四路召回，RRF 融合；支持文件名、主题、条款编号、指标名称、期间维度过滤</a:t>
              </a:r>
              <a:r>
                <a:rPr lang="zh-CN" sz="1400"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  <a:sym typeface="+mn-ea"/>
                </a:rPr>
                <a:t>；</a:t>
              </a:r>
              <a:r>
                <a:rPr sz="1400"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  <a:sym typeface="+mn-ea"/>
                </a:rPr>
                <a:t>复杂问题自动生成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多视角子查询</a:t>
              </a:r>
              <a:r>
                <a:rPr sz="1400"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  <a:sym typeface="+mn-ea"/>
                </a:rPr>
                <a:t>分别检索、合并证据；</a:t>
              </a:r>
              <a:endPara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74980" y="3596005"/>
            <a:ext cx="5457825" cy="1127760"/>
            <a:chOff x="748" y="5516"/>
            <a:chExt cx="8595" cy="1776"/>
          </a:xfrm>
        </p:grpSpPr>
        <p:sp>
          <p:nvSpPr>
            <p:cNvPr id="35" name="Rectangle 8"/>
            <p:cNvSpPr/>
            <p:nvPr/>
          </p:nvSpPr>
          <p:spPr>
            <a:xfrm>
              <a:off x="748" y="5880"/>
              <a:ext cx="8595" cy="1412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36" name="Rectangle 9"/>
            <p:cNvSpPr/>
            <p:nvPr/>
          </p:nvSpPr>
          <p:spPr>
            <a:xfrm>
              <a:off x="748" y="5516"/>
              <a:ext cx="3871" cy="720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37" name="TextBox 10"/>
            <p:cNvSpPr txBox="1"/>
            <p:nvPr/>
          </p:nvSpPr>
          <p:spPr>
            <a:xfrm>
              <a:off x="921" y="5644"/>
              <a:ext cx="3698" cy="46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HyDE 缺口补检索</a:t>
              </a:r>
              <a:endPara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endParaRPr>
            </a:p>
          </p:txBody>
        </p:sp>
        <p:sp>
          <p:nvSpPr>
            <p:cNvPr id="39" name="TextBox 11"/>
            <p:cNvSpPr txBox="1"/>
            <p:nvPr/>
          </p:nvSpPr>
          <p:spPr>
            <a:xfrm>
              <a:off x="964" y="6351"/>
              <a:ext cx="8294" cy="841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lnSpc>
                  <a:spcPct val="120000"/>
                </a:lnSpc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  <a:sym typeface="+mn-ea"/>
                </a:rPr>
                <a:t>未覆盖 aspect 由 LLM 生成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“假设条款”</a:t>
              </a:r>
              <a:r>
                <a:rPr sz="1400"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  <a:sym typeface="+mn-ea"/>
                </a:rPr>
                <a:t>参与补检，缓解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监管术语问法与文档措辞不匹配</a:t>
              </a:r>
              <a:endPara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128385" y="4861560"/>
            <a:ext cx="5457825" cy="1064895"/>
            <a:chOff x="9651" y="7655"/>
            <a:chExt cx="8595" cy="1677"/>
          </a:xfrm>
        </p:grpSpPr>
        <p:sp>
          <p:nvSpPr>
            <p:cNvPr id="64" name="Rectangle 8"/>
            <p:cNvSpPr/>
            <p:nvPr/>
          </p:nvSpPr>
          <p:spPr>
            <a:xfrm>
              <a:off x="9651" y="8019"/>
              <a:ext cx="8595" cy="1313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65" name="Rectangle 9"/>
            <p:cNvSpPr/>
            <p:nvPr/>
          </p:nvSpPr>
          <p:spPr>
            <a:xfrm>
              <a:off x="9651" y="7655"/>
              <a:ext cx="3871" cy="720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66" name="TextBox 10"/>
            <p:cNvSpPr txBox="1"/>
            <p:nvPr/>
          </p:nvSpPr>
          <p:spPr>
            <a:xfrm>
              <a:off x="9824" y="7783"/>
              <a:ext cx="3698" cy="46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确定性表格链路</a:t>
              </a:r>
              <a:endPara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endParaRPr>
            </a:p>
          </p:txBody>
        </p:sp>
        <p:sp>
          <p:nvSpPr>
            <p:cNvPr id="67" name="TextBox 11"/>
            <p:cNvSpPr txBox="1"/>
            <p:nvPr/>
          </p:nvSpPr>
          <p:spPr>
            <a:xfrm>
              <a:off x="9867" y="8490"/>
              <a:ext cx="8294" cy="841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lnSpc>
                  <a:spcPct val="120000"/>
                </a:lnSpc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  <a:sym typeface="+mn-ea"/>
                </a:rPr>
                <a:t>按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指标+期间+机构维度程序化</a:t>
              </a:r>
              <a:r>
                <a:rPr sz="1400"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  <a:sym typeface="+mn-ea"/>
                </a:rPr>
                <a:t>取数，算术仅限安全算子、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变量必须来自证据</a:t>
              </a:r>
              <a:r>
                <a:rPr sz="1400"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  <a:sym typeface="+mn-ea"/>
                </a:rPr>
                <a:t>，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LLM 不参与数值计算</a:t>
              </a:r>
              <a:r>
                <a:rPr sz="1400"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  <a:sym typeface="+mn-ea"/>
                </a:rPr>
                <a:t>——表格取数、计算实测 100%</a:t>
              </a:r>
              <a:endPara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170295" y="2014855"/>
            <a:ext cx="5457190" cy="1205865"/>
            <a:chOff x="9717" y="3033"/>
            <a:chExt cx="8594" cy="1899"/>
          </a:xfrm>
        </p:grpSpPr>
        <p:sp>
          <p:nvSpPr>
            <p:cNvPr id="4" name="Rectangle 8"/>
            <p:cNvSpPr/>
            <p:nvPr/>
          </p:nvSpPr>
          <p:spPr>
            <a:xfrm>
              <a:off x="9717" y="3397"/>
              <a:ext cx="8594" cy="1535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6" name="Rectangle 9"/>
            <p:cNvSpPr/>
            <p:nvPr/>
          </p:nvSpPr>
          <p:spPr>
            <a:xfrm>
              <a:off x="9717" y="3033"/>
              <a:ext cx="3871" cy="720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8" name="TextBox 10"/>
            <p:cNvSpPr txBox="1"/>
            <p:nvPr/>
          </p:nvSpPr>
          <p:spPr>
            <a:xfrm>
              <a:off x="9890" y="3161"/>
              <a:ext cx="3698" cy="46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条款级索引 定义定位</a:t>
              </a:r>
              <a:endPara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endParaRPr>
            </a:p>
          </p:txBody>
        </p:sp>
        <p:sp>
          <p:nvSpPr>
            <p:cNvPr id="9" name="TextBox 11"/>
            <p:cNvSpPr txBox="1"/>
            <p:nvPr/>
          </p:nvSpPr>
          <p:spPr>
            <a:xfrm>
              <a:off x="9933" y="3868"/>
              <a:ext cx="8025" cy="841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lnSpc>
                  <a:spcPct val="120000"/>
                </a:lnSpc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  <a:sym typeface="+mn-ea"/>
                </a:rPr>
                <a:t>“X 是指”类定义问题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先定位定义条款</a:t>
              </a:r>
              <a:r>
                <a:rPr sz="1400"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  <a:sym typeface="+mn-ea"/>
                </a:rPr>
                <a:t>，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再取前后邻接 chunk</a:t>
              </a:r>
              <a:r>
                <a:rPr sz="1400"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  <a:sym typeface="+mn-ea"/>
                </a:rPr>
                <a:t>，解决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定义句被切碎、同概念条款错位</a:t>
              </a:r>
              <a:endPara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169660" y="3484245"/>
            <a:ext cx="5457825" cy="1202055"/>
            <a:chOff x="9716" y="5399"/>
            <a:chExt cx="8595" cy="1893"/>
          </a:xfrm>
        </p:grpSpPr>
        <p:sp>
          <p:nvSpPr>
            <p:cNvPr id="10" name="Rectangle 8"/>
            <p:cNvSpPr/>
            <p:nvPr/>
          </p:nvSpPr>
          <p:spPr>
            <a:xfrm>
              <a:off x="9716" y="5763"/>
              <a:ext cx="8595" cy="1529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11" name="Rectangle 9"/>
            <p:cNvSpPr/>
            <p:nvPr/>
          </p:nvSpPr>
          <p:spPr>
            <a:xfrm>
              <a:off x="9716" y="5399"/>
              <a:ext cx="3871" cy="720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12" name="TextBox 10"/>
            <p:cNvSpPr txBox="1"/>
            <p:nvPr/>
          </p:nvSpPr>
          <p:spPr>
            <a:xfrm>
              <a:off x="9889" y="5527"/>
              <a:ext cx="3698" cy="46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CRAG-lite 分级路由</a:t>
              </a:r>
              <a:endPara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endParaRPr>
            </a:p>
          </p:txBody>
        </p:sp>
        <p:sp>
          <p:nvSpPr>
            <p:cNvPr id="13" name="TextBox 11"/>
            <p:cNvSpPr txBox="1"/>
            <p:nvPr/>
          </p:nvSpPr>
          <p:spPr>
            <a:xfrm>
              <a:off x="9932" y="6234"/>
              <a:ext cx="8294" cy="841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lnSpc>
                  <a:spcPct val="120000"/>
                </a:lnSpc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  <a:sym typeface="+mn-ea"/>
                </a:rPr>
                <a:t>生成前判断证据覆盖度：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正确→直接生成</a:t>
              </a:r>
              <a:r>
                <a:rPr sz="1400"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  <a:sym typeface="+mn-ea"/>
                </a:rPr>
                <a:t>；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缺失→定向补检索</a:t>
              </a:r>
              <a:r>
                <a:rPr sz="1400"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  <a:sym typeface="+mn-ea"/>
                </a:rPr>
                <a:t>（禁止性规定、兜底条款、列表枚举模式）；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仍不足→结构化拒答</a:t>
              </a:r>
              <a:endPara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74980" y="4844415"/>
            <a:ext cx="5457825" cy="1064895"/>
            <a:chOff x="748" y="7531"/>
            <a:chExt cx="8595" cy="1677"/>
          </a:xfrm>
        </p:grpSpPr>
        <p:sp>
          <p:nvSpPr>
            <p:cNvPr id="14" name="Rectangle 8"/>
            <p:cNvSpPr/>
            <p:nvPr/>
          </p:nvSpPr>
          <p:spPr>
            <a:xfrm>
              <a:off x="748" y="7895"/>
              <a:ext cx="8595" cy="1313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15" name="Rectangle 9"/>
            <p:cNvSpPr/>
            <p:nvPr/>
          </p:nvSpPr>
          <p:spPr>
            <a:xfrm>
              <a:off x="748" y="7531"/>
              <a:ext cx="3871" cy="720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16" name="TextBox 10"/>
            <p:cNvSpPr txBox="1"/>
            <p:nvPr/>
          </p:nvSpPr>
          <p:spPr>
            <a:xfrm>
              <a:off x="921" y="7659"/>
              <a:ext cx="3698" cy="46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条款引用多跳图</a:t>
              </a:r>
              <a:endPara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endParaRPr>
            </a:p>
          </p:txBody>
        </p:sp>
        <p:sp>
          <p:nvSpPr>
            <p:cNvPr id="17" name="TextBox 11"/>
            <p:cNvSpPr txBox="1"/>
            <p:nvPr/>
          </p:nvSpPr>
          <p:spPr>
            <a:xfrm>
              <a:off x="964" y="8366"/>
              <a:ext cx="8294" cy="841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lnSpc>
                  <a:spcPct val="120000"/>
                </a:lnSpc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  <a:sym typeface="+mn-ea"/>
                </a:rPr>
                <a:t>解析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“本办法第X条”</a:t>
              </a:r>
              <a:r>
                <a:rPr sz="1400"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  <a:sym typeface="+mn-ea"/>
                </a:rPr>
                <a:t>引用关系，跨章节定位被引条款，补齐跨条款依据，支撑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跨文档深度推理</a:t>
              </a:r>
              <a:endParaRPr sz="1400" b="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37185" y="64833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答案可验证性与幻觉抑制：三道防线的可信屏障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4997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sym typeface="+mn-ea"/>
              </a:rPr>
              <a:t>从生成受限 → 事实校验 → 拒答兜底，杜绝“语言流畅但依据错误”的答案进入业务流程</a:t>
            </a:r>
            <a:endParaRPr sz="1400" b="0">
              <a:latin typeface="OPPOSans R" panose="00020600040101010101" charset="-122"/>
              <a:ea typeface="OPPOSans R" panose="00020600040101010101" charset="-122"/>
            </a:endParaRPr>
          </a:p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sym typeface="+mn-ea"/>
              </a:rPr>
              <a:t> 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29" name="Rectangle 6"/>
          <p:cNvSpPr/>
          <p:nvPr/>
        </p:nvSpPr>
        <p:spPr>
          <a:xfrm>
            <a:off x="502920" y="1927860"/>
            <a:ext cx="3611880" cy="54864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8" name="TextBox 7"/>
          <p:cNvSpPr txBox="1"/>
          <p:nvPr/>
        </p:nvSpPr>
        <p:spPr>
          <a:xfrm>
            <a:off x="640080" y="2030477"/>
            <a:ext cx="333756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01  证据受限生成</a:t>
            </a:r>
            <a:endParaRPr sz="20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39" name="Rectangle 8"/>
          <p:cNvSpPr/>
          <p:nvPr/>
        </p:nvSpPr>
        <p:spPr>
          <a:xfrm>
            <a:off x="502920" y="2476500"/>
            <a:ext cx="3611880" cy="263017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0" name="TextBox 9"/>
          <p:cNvSpPr txBox="1"/>
          <p:nvPr/>
        </p:nvSpPr>
        <p:spPr>
          <a:xfrm>
            <a:off x="667385" y="2613660"/>
            <a:ext cx="3382645" cy="213423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</a:t>
            </a: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 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提示词强制：</a:t>
            </a: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仅使用</a:t>
            </a:r>
            <a:r>
              <a:rPr sz="1400" b="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知识片段原文</a:t>
            </a: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组句、逐条引用 [n] 标注来源</a:t>
            </a:r>
            <a:endParaRPr sz="1400" b="0">
              <a:solidFill>
                <a:srgbClr val="595959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每条 </a:t>
            </a:r>
            <a:r>
              <a:rPr sz="1400" b="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citations</a:t>
            </a: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 携带 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doc_id / chunk_id / 文件名 / 章节 / 摘录</a:t>
            </a:r>
            <a:endParaRPr sz="1400" b="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证据粒度：</a:t>
            </a:r>
            <a:r>
              <a:rPr sz="1400" b="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条款级 / 段落级 / 表格单元级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三种粒度返回</a:t>
            </a:r>
            <a:endParaRPr sz="1400">
              <a:solidFill>
                <a:srgbClr val="1F3864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 b="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证据不足必须拒答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41" name="Rectangle 10"/>
          <p:cNvSpPr/>
          <p:nvPr/>
        </p:nvSpPr>
        <p:spPr>
          <a:xfrm>
            <a:off x="4288536" y="1927860"/>
            <a:ext cx="3611880" cy="548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2" name="TextBox 11"/>
          <p:cNvSpPr txBox="1"/>
          <p:nvPr/>
        </p:nvSpPr>
        <p:spPr>
          <a:xfrm>
            <a:off x="4425696" y="2030477"/>
            <a:ext cx="333756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02  事实校验 Grounding</a:t>
            </a:r>
            <a:endParaRPr sz="20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43" name="Rectangle 12"/>
          <p:cNvSpPr/>
          <p:nvPr/>
        </p:nvSpPr>
        <p:spPr>
          <a:xfrm>
            <a:off x="4288790" y="2476500"/>
            <a:ext cx="3611880" cy="263017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4" name="TextBox 13"/>
          <p:cNvSpPr txBox="1"/>
          <p:nvPr/>
        </p:nvSpPr>
        <p:spPr>
          <a:xfrm>
            <a:off x="4453127" y="2613660"/>
            <a:ext cx="3291840" cy="187579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关键数字、比例、日期、机构名称、文号与证据</a:t>
            </a:r>
            <a:r>
              <a:rPr sz="1400" b="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一致性核验</a:t>
            </a:r>
            <a:endParaRPr sz="1400" b="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引用标签按</a:t>
            </a:r>
            <a:r>
              <a:rPr sz="1400" b="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词面重叠重定向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LLM 自由发挥内容在</a:t>
            </a:r>
            <a:r>
              <a:rPr sz="1400" b="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校验前清理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校验失败最多</a:t>
            </a:r>
            <a:r>
              <a:rPr sz="1400" b="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一次自动修</a:t>
            </a: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复，仍失败则</a:t>
            </a:r>
            <a:r>
              <a:rPr sz="1400" b="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拒答</a:t>
            </a:r>
            <a:endParaRPr sz="1400" b="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R" panose="00020600040101010101" charset="-122"/>
            </a:endParaRPr>
          </a:p>
        </p:txBody>
      </p:sp>
      <p:sp>
        <p:nvSpPr>
          <p:cNvPr id="45" name="Rectangle 14"/>
          <p:cNvSpPr/>
          <p:nvPr/>
        </p:nvSpPr>
        <p:spPr>
          <a:xfrm>
            <a:off x="8074151" y="1927860"/>
            <a:ext cx="361188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6" name="TextBox 15"/>
          <p:cNvSpPr txBox="1"/>
          <p:nvPr/>
        </p:nvSpPr>
        <p:spPr>
          <a:xfrm>
            <a:off x="8211311" y="2030477"/>
            <a:ext cx="333756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03  拒答边界</a:t>
            </a:r>
            <a:endParaRPr sz="20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47" name="Rectangle 16"/>
          <p:cNvSpPr/>
          <p:nvPr/>
        </p:nvSpPr>
        <p:spPr>
          <a:xfrm>
            <a:off x="8074025" y="2476500"/>
            <a:ext cx="3611880" cy="263017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8" name="TextBox 17"/>
          <p:cNvSpPr txBox="1"/>
          <p:nvPr/>
        </p:nvSpPr>
        <p:spPr>
          <a:xfrm>
            <a:off x="8238743" y="2613660"/>
            <a:ext cx="3291840" cy="15144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依据不足、资料冲突、问题含糊、知识库外问题一律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结构化拒答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拒答时给出原因，</a:t>
            </a:r>
            <a:r>
              <a:rPr sz="1400" b="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不补写、不猜测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自命题 200 题中 40 道依据不足题拒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答率100%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R" panose="00020600040101010101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502920" y="5219700"/>
            <a:ext cx="11182350" cy="612000"/>
            <a:chOff x="792" y="7776"/>
            <a:chExt cx="17610" cy="1440"/>
          </a:xfrm>
        </p:grpSpPr>
        <p:sp>
          <p:nvSpPr>
            <p:cNvPr id="49" name="Rectangle 18"/>
            <p:cNvSpPr/>
            <p:nvPr/>
          </p:nvSpPr>
          <p:spPr>
            <a:xfrm>
              <a:off x="792" y="7776"/>
              <a:ext cx="17611" cy="1440"/>
            </a:xfrm>
            <a:prstGeom prst="rect">
              <a:avLst/>
            </a:prstGeom>
            <a:solidFill>
              <a:srgbClr val="FB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50" name="Rectangle 19"/>
            <p:cNvSpPr/>
            <p:nvPr/>
          </p:nvSpPr>
          <p:spPr>
            <a:xfrm>
              <a:off x="792" y="7776"/>
              <a:ext cx="130" cy="144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</p:grpSp>
      <p:sp>
        <p:nvSpPr>
          <p:cNvPr id="51" name="TextBox 20"/>
          <p:cNvSpPr txBox="1"/>
          <p:nvPr/>
        </p:nvSpPr>
        <p:spPr>
          <a:xfrm>
            <a:off x="653415" y="5392420"/>
            <a:ext cx="1098423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6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引用返回率</a:t>
            </a:r>
            <a:r>
              <a:rPr sz="1600" b="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 100% </a:t>
            </a:r>
            <a:r>
              <a:rPr sz="16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｜ 关键实体错误率</a:t>
            </a:r>
            <a:r>
              <a:rPr sz="1600" b="0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 </a:t>
            </a:r>
            <a:r>
              <a:rPr sz="1600" b="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2.4%</a:t>
            </a:r>
            <a:r>
              <a:rPr sz="16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（ ≤5%）｜ 证据引用命中率</a:t>
            </a:r>
            <a:r>
              <a:rPr sz="1600" b="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 91%+</a:t>
            </a:r>
            <a:r>
              <a:rPr sz="16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（ ≥90%）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｜ 拒答率 </a:t>
            </a:r>
            <a:r>
              <a:rPr sz="16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100%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（ ≥80%）</a:t>
            </a:r>
            <a:endParaRPr sz="16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52" name="Rectangle 5"/>
          <p:cNvSpPr/>
          <p:nvPr/>
        </p:nvSpPr>
        <p:spPr>
          <a:xfrm>
            <a:off x="502920" y="1840230"/>
            <a:ext cx="11196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191318" y="1942677"/>
            <a:ext cx="3798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kumimoji="0" lang="en-US" altLang="zh-CN" sz="13800" b="0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9637" y="3869267"/>
            <a:ext cx="5283200" cy="777875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技术亮点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18" name="组合 8"/>
          <p:cNvGrpSpPr/>
          <p:nvPr/>
        </p:nvGrpSpPr>
        <p:grpSpPr>
          <a:xfrm>
            <a:off x="3671887" y="1422930"/>
            <a:ext cx="4848225" cy="350837"/>
            <a:chOff x="5783" y="848"/>
            <a:chExt cx="7636" cy="551"/>
          </a:xfrm>
        </p:grpSpPr>
        <p:sp>
          <p:nvSpPr>
            <p:cNvPr id="19" name="任意多边形: 形状 187"/>
            <p:cNvSpPr/>
            <p:nvPr/>
          </p:nvSpPr>
          <p:spPr>
            <a:xfrm>
              <a:off x="5783" y="848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任意多边形: 形状 188"/>
            <p:cNvSpPr/>
            <p:nvPr/>
          </p:nvSpPr>
          <p:spPr>
            <a:xfrm>
              <a:off x="7826" y="10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7"/>
          <p:cNvGrpSpPr/>
          <p:nvPr/>
        </p:nvGrpSpPr>
        <p:grpSpPr>
          <a:xfrm flipV="1">
            <a:off x="3671887" y="4972580"/>
            <a:ext cx="4849813" cy="336550"/>
            <a:chOff x="5975" y="1069"/>
            <a:chExt cx="7636" cy="530"/>
          </a:xfrm>
        </p:grpSpPr>
        <p:sp>
          <p:nvSpPr>
            <p:cNvPr id="22" name="任意多边形: 形状 187"/>
            <p:cNvSpPr/>
            <p:nvPr/>
          </p:nvSpPr>
          <p:spPr>
            <a:xfrm>
              <a:off x="5975" y="1069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任意多边形: 形状 188"/>
            <p:cNvSpPr/>
            <p:nvPr/>
          </p:nvSpPr>
          <p:spPr>
            <a:xfrm>
              <a:off x="8026" y="12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37185" y="64833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技术亮点：相比现有技术的六项突破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52" name="Rectangle 5"/>
          <p:cNvSpPr/>
          <p:nvPr/>
        </p:nvSpPr>
        <p:spPr>
          <a:xfrm>
            <a:off x="502920" y="1626870"/>
            <a:ext cx="11196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502920" y="1727200"/>
            <a:ext cx="5486400" cy="1259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704215" y="2321560"/>
            <a:ext cx="5120640" cy="4597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2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按</a:t>
            </a: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“</a:t>
            </a: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第</a:t>
            </a: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X</a:t>
            </a: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条—章节—上下级标题—前后</a:t>
            </a: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邻接</a:t>
            </a: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”</a:t>
            </a:r>
            <a:r>
              <a:rPr sz="12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建立条款级索引，先定位核心条款再补齐上下文，降低条款错位与断章取义风险</a:t>
            </a:r>
            <a:endParaRPr sz="120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60" name="Rectangle 9"/>
          <p:cNvSpPr/>
          <p:nvPr>
            <p:custDataLst>
              <p:tags r:id="rId3"/>
            </p:custDataLst>
          </p:nvPr>
        </p:nvSpPr>
        <p:spPr>
          <a:xfrm>
            <a:off x="505460" y="1727200"/>
            <a:ext cx="2884805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1" name="TextBox 10"/>
          <p:cNvSpPr txBox="1"/>
          <p:nvPr>
            <p:custDataLst>
              <p:tags r:id="rId4"/>
            </p:custDataLst>
          </p:nvPr>
        </p:nvSpPr>
        <p:spPr>
          <a:xfrm>
            <a:off x="615315" y="1808480"/>
            <a:ext cx="277558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>
                <a:solidFill>
                  <a:schemeClr val="bg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① 监管条款“保持结构”</a:t>
            </a:r>
            <a:endParaRPr>
              <a:solidFill>
                <a:schemeClr val="bg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14" name="Rectangle 13"/>
          <p:cNvSpPr/>
          <p:nvPr>
            <p:custDataLst>
              <p:tags r:id="rId5"/>
            </p:custDataLst>
          </p:nvPr>
        </p:nvSpPr>
        <p:spPr>
          <a:xfrm>
            <a:off x="502920" y="3171825"/>
            <a:ext cx="5486400" cy="1259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704215" y="3759200"/>
            <a:ext cx="5120640" cy="4597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复杂问题自动拆解为多检索方面；解析</a:t>
            </a: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“本办法第X条”引用关系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，沿章节邻接与引用边补齐跨条款依据，增强跨文件证据完整性</a:t>
            </a:r>
            <a:endParaRPr sz="12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33" name="Rectangle 9"/>
          <p:cNvSpPr/>
          <p:nvPr>
            <p:custDataLst>
              <p:tags r:id="rId7"/>
            </p:custDataLst>
          </p:nvPr>
        </p:nvSpPr>
        <p:spPr>
          <a:xfrm>
            <a:off x="505460" y="3163570"/>
            <a:ext cx="2884805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4" name="TextBox 10"/>
          <p:cNvSpPr txBox="1"/>
          <p:nvPr>
            <p:custDataLst>
              <p:tags r:id="rId8"/>
            </p:custDataLst>
          </p:nvPr>
        </p:nvSpPr>
        <p:spPr>
          <a:xfrm>
            <a:off x="615315" y="3244850"/>
            <a:ext cx="277558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>
                <a:solidFill>
                  <a:schemeClr val="bg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③ 复杂问题沿证据链推理</a:t>
            </a:r>
            <a:endParaRPr>
              <a:solidFill>
                <a:schemeClr val="bg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22" name="Rectangle 21"/>
          <p:cNvSpPr/>
          <p:nvPr>
            <p:custDataLst>
              <p:tags r:id="rId9"/>
            </p:custDataLst>
          </p:nvPr>
        </p:nvSpPr>
        <p:spPr>
          <a:xfrm>
            <a:off x="502920" y="4616450"/>
            <a:ext cx="5486400" cy="1259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0"/>
            </p:custDataLst>
          </p:nvPr>
        </p:nvSpPr>
        <p:spPr>
          <a:xfrm>
            <a:off x="704215" y="5182870"/>
            <a:ext cx="5120640" cy="4597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“</a:t>
            </a: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结论—引用—原文”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闭环校验，自动检查数字/日期/机构/文号/引用标签；失败依次执行引用修复、证据受限再生成或结构化拒答</a:t>
            </a:r>
            <a:endParaRPr sz="12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40" name="Rectangle 9"/>
          <p:cNvSpPr/>
          <p:nvPr>
            <p:custDataLst>
              <p:tags r:id="rId11"/>
            </p:custDataLst>
          </p:nvPr>
        </p:nvSpPr>
        <p:spPr>
          <a:xfrm>
            <a:off x="505460" y="4608195"/>
            <a:ext cx="2884805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1" name="TextBox 10"/>
          <p:cNvSpPr txBox="1"/>
          <p:nvPr>
            <p:custDataLst>
              <p:tags r:id="rId12"/>
            </p:custDataLst>
          </p:nvPr>
        </p:nvSpPr>
        <p:spPr>
          <a:xfrm>
            <a:off x="615315" y="4689475"/>
            <a:ext cx="277558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>
                <a:solidFill>
                  <a:schemeClr val="bg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⑤ 答案“可信防火墙”</a:t>
            </a:r>
            <a:endParaRPr>
              <a:solidFill>
                <a:schemeClr val="bg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89" name="Rectangle 17"/>
          <p:cNvSpPr/>
          <p:nvPr>
            <p:custDataLst>
              <p:tags r:id="rId13"/>
            </p:custDataLst>
          </p:nvPr>
        </p:nvSpPr>
        <p:spPr>
          <a:xfrm>
            <a:off x="6199505" y="3154045"/>
            <a:ext cx="5486400" cy="1259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0" name="TextBox 20"/>
          <p:cNvSpPr txBox="1"/>
          <p:nvPr>
            <p:custDataLst>
              <p:tags r:id="rId14"/>
            </p:custDataLst>
          </p:nvPr>
        </p:nvSpPr>
        <p:spPr>
          <a:xfrm>
            <a:off x="6400800" y="3741420"/>
            <a:ext cx="5120640" cy="4597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13.3 万</a:t>
            </a:r>
            <a:r>
              <a:rPr sz="12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单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元格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结构化索引，取数/求和/差值/比例/最值由安全算子程序化执行，答案同步返回计算式与单元格坐标——表格问答实测 </a:t>
            </a: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100%</a:t>
            </a:r>
            <a:endParaRPr sz="12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91" name="Rectangle 9"/>
          <p:cNvSpPr/>
          <p:nvPr>
            <p:custDataLst>
              <p:tags r:id="rId15"/>
            </p:custDataLst>
          </p:nvPr>
        </p:nvSpPr>
        <p:spPr>
          <a:xfrm>
            <a:off x="6207760" y="3145790"/>
            <a:ext cx="3129915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2" name="TextBox 10"/>
          <p:cNvSpPr txBox="1"/>
          <p:nvPr>
            <p:custDataLst>
              <p:tags r:id="rId16"/>
            </p:custDataLst>
          </p:nvPr>
        </p:nvSpPr>
        <p:spPr>
          <a:xfrm>
            <a:off x="6317615" y="3223895"/>
            <a:ext cx="301498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>
                <a:solidFill>
                  <a:schemeClr val="bg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④ 表格问答脱离大模型估算</a:t>
            </a:r>
            <a:endParaRPr>
              <a:solidFill>
                <a:schemeClr val="bg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94" name="Rectangle 9"/>
          <p:cNvSpPr/>
          <p:nvPr>
            <p:custDataLst>
              <p:tags r:id="rId17"/>
            </p:custDataLst>
          </p:nvPr>
        </p:nvSpPr>
        <p:spPr>
          <a:xfrm>
            <a:off x="6212205" y="1727200"/>
            <a:ext cx="5486400" cy="1259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5" name="TextBox 12"/>
          <p:cNvSpPr txBox="1"/>
          <p:nvPr>
            <p:custDataLst>
              <p:tags r:id="rId18"/>
            </p:custDataLst>
          </p:nvPr>
        </p:nvSpPr>
        <p:spPr>
          <a:xfrm>
            <a:off x="6413500" y="2321560"/>
            <a:ext cx="5120640" cy="4597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CRAG-lite 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生成前诊断覆盖缺口，禁止性规定、兜底条款、列表枚举定向补搜；</a:t>
            </a: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HyDE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 生成假设条款补检，而非让模型绕过证据直接作答</a:t>
            </a:r>
            <a:endParaRPr sz="12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96" name="Rectangle 9"/>
          <p:cNvSpPr/>
          <p:nvPr>
            <p:custDataLst>
              <p:tags r:id="rId19"/>
            </p:custDataLst>
          </p:nvPr>
        </p:nvSpPr>
        <p:spPr>
          <a:xfrm>
            <a:off x="6202680" y="1727200"/>
            <a:ext cx="3129915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7" name="TextBox 10"/>
          <p:cNvSpPr txBox="1"/>
          <p:nvPr>
            <p:custDataLst>
              <p:tags r:id="rId20"/>
            </p:custDataLst>
          </p:nvPr>
        </p:nvSpPr>
        <p:spPr>
          <a:xfrm>
            <a:off x="6330315" y="1808480"/>
            <a:ext cx="277558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>
                <a:solidFill>
                  <a:schemeClr val="bg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② 检索“会自检、会补证”</a:t>
            </a:r>
            <a:endParaRPr>
              <a:solidFill>
                <a:schemeClr val="bg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99" name="Rectangle 25"/>
          <p:cNvSpPr/>
          <p:nvPr>
            <p:custDataLst>
              <p:tags r:id="rId21"/>
            </p:custDataLst>
          </p:nvPr>
        </p:nvSpPr>
        <p:spPr>
          <a:xfrm>
            <a:off x="6212205" y="4616450"/>
            <a:ext cx="5486400" cy="1259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0" name="TextBox 28"/>
          <p:cNvSpPr txBox="1"/>
          <p:nvPr>
            <p:custDataLst>
              <p:tags r:id="rId22"/>
            </p:custDataLst>
          </p:nvPr>
        </p:nvSpPr>
        <p:spPr>
          <a:xfrm>
            <a:off x="6413500" y="5182870"/>
            <a:ext cx="5120640" cy="4597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官方 300 题 + 自建 200 题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冻结评测集，确定性评分逐事实比对；</a:t>
            </a: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45,530 向量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与 </a:t>
            </a: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133,001 单元格索引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全量构建，多项指标全部达标</a:t>
            </a:r>
            <a:endParaRPr sz="12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101" name="Rectangle 9"/>
          <p:cNvSpPr/>
          <p:nvPr>
            <p:custDataLst>
              <p:tags r:id="rId23"/>
            </p:custDataLst>
          </p:nvPr>
        </p:nvSpPr>
        <p:spPr>
          <a:xfrm>
            <a:off x="6202680" y="4608195"/>
            <a:ext cx="3129915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2" name="TextBox 10"/>
          <p:cNvSpPr txBox="1"/>
          <p:nvPr>
            <p:custDataLst>
              <p:tags r:id="rId24"/>
            </p:custDataLst>
          </p:nvPr>
        </p:nvSpPr>
        <p:spPr>
          <a:xfrm>
            <a:off x="6330315" y="4689475"/>
            <a:ext cx="300164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>
                <a:solidFill>
                  <a:schemeClr val="bg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⑥ 双层评测验证明工程能力</a:t>
            </a:r>
            <a:endParaRPr>
              <a:solidFill>
                <a:schemeClr val="bg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191318" y="1942677"/>
            <a:ext cx="3798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04</a:t>
            </a:r>
            <a:endParaRPr kumimoji="0" lang="en-US" altLang="zh-CN" sz="13800" b="0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9637" y="3869267"/>
            <a:ext cx="5283200" cy="777875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测评结果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18" name="组合 8"/>
          <p:cNvGrpSpPr/>
          <p:nvPr/>
        </p:nvGrpSpPr>
        <p:grpSpPr>
          <a:xfrm>
            <a:off x="3671887" y="1422930"/>
            <a:ext cx="4848225" cy="350837"/>
            <a:chOff x="5783" y="848"/>
            <a:chExt cx="7636" cy="551"/>
          </a:xfrm>
        </p:grpSpPr>
        <p:sp>
          <p:nvSpPr>
            <p:cNvPr id="19" name="任意多边形: 形状 187"/>
            <p:cNvSpPr/>
            <p:nvPr/>
          </p:nvSpPr>
          <p:spPr>
            <a:xfrm>
              <a:off x="5783" y="848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任意多边形: 形状 188"/>
            <p:cNvSpPr/>
            <p:nvPr/>
          </p:nvSpPr>
          <p:spPr>
            <a:xfrm>
              <a:off x="7826" y="10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7"/>
          <p:cNvGrpSpPr/>
          <p:nvPr/>
        </p:nvGrpSpPr>
        <p:grpSpPr>
          <a:xfrm flipV="1">
            <a:off x="3671887" y="4972580"/>
            <a:ext cx="4849813" cy="336550"/>
            <a:chOff x="5975" y="1069"/>
            <a:chExt cx="7636" cy="530"/>
          </a:xfrm>
        </p:grpSpPr>
        <p:sp>
          <p:nvSpPr>
            <p:cNvPr id="22" name="任意多边形: 形状 187"/>
            <p:cNvSpPr/>
            <p:nvPr/>
          </p:nvSpPr>
          <p:spPr>
            <a:xfrm>
              <a:off x="5975" y="1069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任意多边形: 形状 188"/>
            <p:cNvSpPr/>
            <p:nvPr/>
          </p:nvSpPr>
          <p:spPr>
            <a:xfrm>
              <a:off x="8026" y="12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37185" y="64833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评测结果：赛题五项量化指标全部达标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官方 300 题（选择题）+ 自命题 200 题（开放问答，金标逐事实确定性评分）双评测体系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52" name="Rectangle 5"/>
          <p:cNvSpPr/>
          <p:nvPr/>
        </p:nvSpPr>
        <p:spPr>
          <a:xfrm>
            <a:off x="502920" y="1840230"/>
            <a:ext cx="11196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" name="Rectangle 6"/>
          <p:cNvSpPr/>
          <p:nvPr/>
        </p:nvSpPr>
        <p:spPr>
          <a:xfrm>
            <a:off x="511810" y="1939290"/>
            <a:ext cx="3840480" cy="502920"/>
          </a:xfrm>
          <a:prstGeom prst="rect">
            <a:avLst/>
          </a:prstGeom>
          <a:solidFill>
            <a:srgbClr val="2E5AA8"/>
          </a:solidFill>
          <a:ln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52290" y="1939290"/>
            <a:ext cx="2377440" cy="502920"/>
          </a:xfrm>
          <a:prstGeom prst="rect">
            <a:avLst/>
          </a:prstGeom>
          <a:solidFill>
            <a:srgbClr val="2E5AA8"/>
          </a:solidFill>
          <a:ln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729730" y="1939290"/>
            <a:ext cx="4949825" cy="502920"/>
          </a:xfrm>
          <a:prstGeom prst="rect">
            <a:avLst/>
          </a:prstGeom>
          <a:solidFill>
            <a:srgbClr val="2E5AA8"/>
          </a:solidFill>
          <a:ln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1810" y="2442210"/>
            <a:ext cx="384048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538" y="2609152"/>
            <a:ext cx="362102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官方 300 题准确率</a:t>
            </a:r>
            <a:endParaRPr sz="14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4" name="Rectangle 14"/>
          <p:cNvSpPr/>
          <p:nvPr/>
        </p:nvSpPr>
        <p:spPr>
          <a:xfrm>
            <a:off x="4352290" y="2442210"/>
            <a:ext cx="237744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018" y="2624709"/>
            <a:ext cx="2157984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OPPOSans B" panose="00020600040101010101" charset="-122"/>
                <a:ea typeface="OPPOSans B" panose="00020600040101010101" charset="-122"/>
              </a:rPr>
              <a:t>—</a:t>
            </a:r>
            <a:endParaRPr sz="1200" b="0">
              <a:solidFill>
                <a:schemeClr val="tx1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729730" y="2442210"/>
            <a:ext cx="4949825" cy="567055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810" y="3009138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538" y="3176080"/>
            <a:ext cx="362102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制度事实类准确率</a:t>
            </a:r>
            <a:endParaRPr sz="14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352290" y="3009138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018" y="3176080"/>
            <a:ext cx="215798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OPPOSans B" panose="00020600040101010101" charset="-122"/>
                <a:ea typeface="OPPOSans B" panose="00020600040101010101" charset="-122"/>
              </a:rPr>
              <a:t>≥85%</a:t>
            </a:r>
            <a:endParaRPr sz="1400" b="0">
              <a:solidFill>
                <a:srgbClr val="595959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29730" y="3009265"/>
            <a:ext cx="4949825" cy="56705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1810" y="3576066"/>
            <a:ext cx="384048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538" y="3743008"/>
            <a:ext cx="362102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表格取数类准确率</a:t>
            </a:r>
            <a:endParaRPr sz="14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52290" y="3576066"/>
            <a:ext cx="237744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018" y="3743008"/>
            <a:ext cx="215798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  <a:buClrTx/>
              <a:buSzTx/>
              <a:buFontTx/>
            </a:pPr>
            <a:r>
              <a:rPr sz="1400" b="0">
                <a:solidFill>
                  <a:srgbClr val="595959"/>
                </a:solidFill>
                <a:latin typeface="OPPOSans B" panose="00020600040101010101" charset="-122"/>
                <a:ea typeface="OPPOSans B" panose="00020600040101010101" charset="-122"/>
              </a:rPr>
              <a:t>≥80%</a:t>
            </a:r>
            <a:endParaRPr sz="1400" b="0">
              <a:solidFill>
                <a:srgbClr val="595959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6" name="Rectangle 28"/>
          <p:cNvSpPr/>
          <p:nvPr/>
        </p:nvSpPr>
        <p:spPr>
          <a:xfrm>
            <a:off x="6729730" y="3576320"/>
            <a:ext cx="4949825" cy="567055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1810" y="4142994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538" y="4309936"/>
            <a:ext cx="362102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证据引用命中率</a:t>
            </a:r>
            <a:endParaRPr sz="14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352290" y="4142994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2018" y="4309936"/>
            <a:ext cx="215798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  <a:buClrTx/>
              <a:buSzTx/>
              <a:buFontTx/>
            </a:pPr>
            <a:r>
              <a:rPr sz="1400" b="0">
                <a:solidFill>
                  <a:srgbClr val="595959"/>
                </a:solidFill>
                <a:latin typeface="OPPOSans B" panose="00020600040101010101" charset="-122"/>
                <a:ea typeface="OPPOSans B" panose="00020600040101010101" charset="-122"/>
              </a:rPr>
              <a:t>≥90%</a:t>
            </a:r>
            <a:endParaRPr sz="1400" b="0">
              <a:solidFill>
                <a:srgbClr val="595959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729730" y="4142740"/>
            <a:ext cx="4949825" cy="56705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1810" y="4709922"/>
            <a:ext cx="384048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3" name="TextBox 37"/>
          <p:cNvSpPr txBox="1"/>
          <p:nvPr/>
        </p:nvSpPr>
        <p:spPr>
          <a:xfrm>
            <a:off x="621538" y="4876864"/>
            <a:ext cx="362102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关键数字/日期/机构/文号错误率</a:t>
            </a:r>
            <a:endParaRPr sz="14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54" name="Rectangle 38"/>
          <p:cNvSpPr/>
          <p:nvPr/>
        </p:nvSpPr>
        <p:spPr>
          <a:xfrm>
            <a:off x="4352290" y="4709922"/>
            <a:ext cx="237744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6" name="TextBox 39"/>
          <p:cNvSpPr txBox="1"/>
          <p:nvPr/>
        </p:nvSpPr>
        <p:spPr>
          <a:xfrm>
            <a:off x="4462018" y="4876864"/>
            <a:ext cx="215798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  <a:buClrTx/>
              <a:buSzTx/>
              <a:buFontTx/>
            </a:pPr>
            <a:r>
              <a:rPr sz="1400" b="0">
                <a:solidFill>
                  <a:srgbClr val="595959"/>
                </a:solidFill>
                <a:latin typeface="OPPOSans B" panose="00020600040101010101" charset="-122"/>
                <a:ea typeface="OPPOSans B" panose="00020600040101010101" charset="-122"/>
              </a:rPr>
              <a:t>≤5%</a:t>
            </a:r>
            <a:endParaRPr sz="1400" b="0">
              <a:solidFill>
                <a:srgbClr val="595959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57" name="Rectangle 40"/>
          <p:cNvSpPr/>
          <p:nvPr/>
        </p:nvSpPr>
        <p:spPr>
          <a:xfrm>
            <a:off x="6729730" y="4709795"/>
            <a:ext cx="4949825" cy="567055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9" name="Rectangle 42"/>
          <p:cNvSpPr/>
          <p:nvPr/>
        </p:nvSpPr>
        <p:spPr>
          <a:xfrm>
            <a:off x="511810" y="5276850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0" name="TextBox 43"/>
          <p:cNvSpPr txBox="1"/>
          <p:nvPr/>
        </p:nvSpPr>
        <p:spPr>
          <a:xfrm>
            <a:off x="621538" y="5443792"/>
            <a:ext cx="362102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拒答/澄清率</a:t>
            </a:r>
            <a:endParaRPr sz="14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61" name="Rectangle 44"/>
          <p:cNvSpPr/>
          <p:nvPr/>
        </p:nvSpPr>
        <p:spPr>
          <a:xfrm>
            <a:off x="4352290" y="527685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2" name="TextBox 45"/>
          <p:cNvSpPr txBox="1"/>
          <p:nvPr/>
        </p:nvSpPr>
        <p:spPr>
          <a:xfrm>
            <a:off x="4462018" y="5443792"/>
            <a:ext cx="215798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  <a:buClrTx/>
              <a:buSzTx/>
              <a:buFontTx/>
            </a:pPr>
            <a:r>
              <a:rPr sz="1400" b="0">
                <a:solidFill>
                  <a:srgbClr val="595959"/>
                </a:solidFill>
                <a:latin typeface="OPPOSans B" panose="00020600040101010101" charset="-122"/>
                <a:ea typeface="OPPOSans B" panose="00020600040101010101" charset="-122"/>
              </a:rPr>
              <a:t>≥80%</a:t>
            </a:r>
            <a:endParaRPr sz="1400" b="0">
              <a:solidFill>
                <a:srgbClr val="595959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63" name="Rectangle 46"/>
          <p:cNvSpPr/>
          <p:nvPr/>
        </p:nvSpPr>
        <p:spPr>
          <a:xfrm>
            <a:off x="6729730" y="5276850"/>
            <a:ext cx="4949825" cy="56705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2" name="TextBox 7"/>
          <p:cNvSpPr txBox="1"/>
          <p:nvPr/>
        </p:nvSpPr>
        <p:spPr>
          <a:xfrm>
            <a:off x="511810" y="2047240"/>
            <a:ext cx="384048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ctr"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指标</a:t>
            </a:r>
            <a:endParaRPr sz="1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73" name="TextBox 9"/>
          <p:cNvSpPr txBox="1"/>
          <p:nvPr/>
        </p:nvSpPr>
        <p:spPr>
          <a:xfrm>
            <a:off x="4352290" y="2047240"/>
            <a:ext cx="237744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ctr"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赛题要求</a:t>
            </a:r>
            <a:endParaRPr sz="1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8" name="TextBox 17"/>
          <p:cNvSpPr txBox="1"/>
          <p:nvPr/>
        </p:nvSpPr>
        <p:spPr>
          <a:xfrm>
            <a:off x="6839458" y="2609152"/>
            <a:ext cx="3986783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300/300（100%），0 错误，多次回归一致</a:t>
            </a:r>
            <a:endParaRPr sz="1400">
              <a:solidFill>
                <a:srgbClr val="CE0000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10" name="TextBox 23"/>
          <p:cNvSpPr txBox="1"/>
          <p:nvPr/>
        </p:nvSpPr>
        <p:spPr>
          <a:xfrm>
            <a:off x="6839458" y="3176080"/>
            <a:ext cx="3986783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89.3%（CPU）/ 85.7%（GPU）</a:t>
            </a:r>
            <a:endParaRPr sz="1400">
              <a:solidFill>
                <a:srgbClr val="CE0000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12" name="TextBox 29"/>
          <p:cNvSpPr txBox="1"/>
          <p:nvPr/>
        </p:nvSpPr>
        <p:spPr>
          <a:xfrm>
            <a:off x="6839585" y="3743008"/>
            <a:ext cx="5010785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100%（40/40）；官方 300 中取数 34/34、计算 33/33</a:t>
            </a:r>
            <a:endParaRPr sz="1400">
              <a:solidFill>
                <a:srgbClr val="CE0000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29" name="TextBox 35"/>
          <p:cNvSpPr txBox="1"/>
          <p:nvPr/>
        </p:nvSpPr>
        <p:spPr>
          <a:xfrm>
            <a:off x="6839585" y="4310063"/>
            <a:ext cx="476631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91.3%（CPU）/ 91.9%（GPU），引用返回率 100%</a:t>
            </a:r>
            <a:endParaRPr sz="1400">
              <a:solidFill>
                <a:srgbClr val="CE0000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38" name="TextBox 41"/>
          <p:cNvSpPr txBox="1"/>
          <p:nvPr/>
        </p:nvSpPr>
        <p:spPr>
          <a:xfrm>
            <a:off x="6839458" y="4876864"/>
            <a:ext cx="3986783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2.4%（按事实计）</a:t>
            </a:r>
            <a:endParaRPr sz="1400">
              <a:solidFill>
                <a:srgbClr val="CE0000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40" name="TextBox 11"/>
          <p:cNvSpPr txBox="1"/>
          <p:nvPr/>
        </p:nvSpPr>
        <p:spPr>
          <a:xfrm>
            <a:off x="6729730" y="2047240"/>
            <a:ext cx="420624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ctr"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实测结果</a:t>
            </a:r>
            <a:endParaRPr sz="1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42" name="TextBox 47"/>
          <p:cNvSpPr txBox="1"/>
          <p:nvPr/>
        </p:nvSpPr>
        <p:spPr>
          <a:xfrm>
            <a:off x="6839458" y="5443792"/>
            <a:ext cx="3986783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100%（40/40 依据不足题全部结构化拒答）</a:t>
            </a:r>
            <a:endParaRPr sz="1400">
              <a:solidFill>
                <a:srgbClr val="CE0000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95" name="Rectangle 26"/>
          <p:cNvSpPr/>
          <p:nvPr/>
        </p:nvSpPr>
        <p:spPr>
          <a:xfrm>
            <a:off x="502920" y="5951220"/>
            <a:ext cx="11183112" cy="685800"/>
          </a:xfrm>
          <a:prstGeom prst="rect">
            <a:avLst/>
          </a:prstGeom>
          <a:solidFill>
            <a:srgbClr val="FB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6" name="Rectangle 27"/>
          <p:cNvSpPr/>
          <p:nvPr/>
        </p:nvSpPr>
        <p:spPr>
          <a:xfrm>
            <a:off x="502920" y="5951220"/>
            <a:ext cx="82296" cy="685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7" name="TextBox 28"/>
          <p:cNvSpPr txBox="1"/>
          <p:nvPr/>
        </p:nvSpPr>
        <p:spPr>
          <a:xfrm>
            <a:off x="674370" y="6160135"/>
            <a:ext cx="1095057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自命题 200 题总准确率：</a:t>
            </a:r>
            <a:r>
              <a:rPr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183/200 = 91.5%（CPU）   180/200 = 90.0%（GPU），两轮 0 运行错误</a:t>
            </a:r>
            <a:endParaRPr b="1">
              <a:solidFill>
                <a:srgbClr val="C00000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37185" y="64833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实验迭代：RAGAS 三层归因驱动的四阶段升级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4997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200 题联合评测曾卡在 87%，分层归因确认瓶颈在检索层而非生成层：≥15/26 失败题为证据拿不到或拿错</a:t>
            </a:r>
            <a:endParaRPr sz="1400" b="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>
              <a:spcAft>
                <a:spcPts val="400"/>
              </a:spcAft>
            </a:pP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52" name="Rectangle 5"/>
          <p:cNvSpPr/>
          <p:nvPr/>
        </p:nvSpPr>
        <p:spPr>
          <a:xfrm>
            <a:off x="502920" y="1840230"/>
            <a:ext cx="11196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5" name="Rectangle 6"/>
          <p:cNvSpPr/>
          <p:nvPr/>
        </p:nvSpPr>
        <p:spPr>
          <a:xfrm>
            <a:off x="502920" y="1916430"/>
            <a:ext cx="1737360" cy="7132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6" name="TextBox 7"/>
          <p:cNvSpPr txBox="1"/>
          <p:nvPr/>
        </p:nvSpPr>
        <p:spPr>
          <a:xfrm>
            <a:off x="566928" y="2116582"/>
            <a:ext cx="1609344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问题归因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77" name="Rectangle 8"/>
          <p:cNvSpPr/>
          <p:nvPr/>
        </p:nvSpPr>
        <p:spPr>
          <a:xfrm>
            <a:off x="2240280" y="1916430"/>
            <a:ext cx="9445752" cy="7132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8" name="TextBox 9"/>
          <p:cNvSpPr txBox="1"/>
          <p:nvPr/>
        </p:nvSpPr>
        <p:spPr>
          <a:xfrm>
            <a:off x="2423160" y="2132140"/>
            <a:ext cx="914400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6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证据拿不到：定义条款被挤出 top-k、同概念附件错位；多文档题只检索到一份；校验机制可靠</a:t>
            </a:r>
            <a:endParaRPr sz="16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79" name="Rectangle 10"/>
          <p:cNvSpPr/>
          <p:nvPr/>
        </p:nvSpPr>
        <p:spPr>
          <a:xfrm>
            <a:off x="502920" y="2721102"/>
            <a:ext cx="1737360" cy="713232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0" name="TextBox 11"/>
          <p:cNvSpPr txBox="1"/>
          <p:nvPr/>
        </p:nvSpPr>
        <p:spPr>
          <a:xfrm>
            <a:off x="566928" y="2921254"/>
            <a:ext cx="1609344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阶段一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81" name="Rectangle 12"/>
          <p:cNvSpPr/>
          <p:nvPr/>
        </p:nvSpPr>
        <p:spPr>
          <a:xfrm>
            <a:off x="2240280" y="2721102"/>
            <a:ext cx="9445752" cy="7132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2" name="TextBox 13"/>
          <p:cNvSpPr txBox="1"/>
          <p:nvPr/>
        </p:nvSpPr>
        <p:spPr>
          <a:xfrm>
            <a:off x="2423160" y="2936812"/>
            <a:ext cx="914400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6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条款级索引 + </a:t>
            </a:r>
            <a:r>
              <a:rPr sz="16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定义</a:t>
            </a:r>
            <a:r>
              <a:rPr sz="16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条款定位 + 附件/章节限定加权 → 定义类 26/30→29/30，错位题恢复</a:t>
            </a:r>
            <a:endParaRPr sz="160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83" name="Rectangle 14"/>
          <p:cNvSpPr/>
          <p:nvPr/>
        </p:nvSpPr>
        <p:spPr>
          <a:xfrm>
            <a:off x="502920" y="3525774"/>
            <a:ext cx="1737360" cy="713232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4" name="TextBox 15"/>
          <p:cNvSpPr txBox="1"/>
          <p:nvPr/>
        </p:nvSpPr>
        <p:spPr>
          <a:xfrm>
            <a:off x="566928" y="3725926"/>
            <a:ext cx="1609344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ctr">
              <a:spcAft>
                <a:spcPts val="400"/>
              </a:spcAft>
              <a:buClrTx/>
              <a:buSzTx/>
              <a:buFontTx/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阶段二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85" name="Rectangle 16"/>
          <p:cNvSpPr/>
          <p:nvPr/>
        </p:nvSpPr>
        <p:spPr>
          <a:xfrm>
            <a:off x="2240280" y="3525774"/>
            <a:ext cx="9445752" cy="7132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6" name="TextBox 17"/>
          <p:cNvSpPr txBox="1"/>
          <p:nvPr/>
        </p:nvSpPr>
        <p:spPr>
          <a:xfrm>
            <a:off x="2423160" y="3741484"/>
            <a:ext cx="914400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6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CRAG-lite 分级路由 + 列表完整性补搜 + 引用修复 → 拒答边界修复</a:t>
            </a:r>
            <a:endParaRPr sz="160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87" name="Rectangle 18"/>
          <p:cNvSpPr/>
          <p:nvPr/>
        </p:nvSpPr>
        <p:spPr>
          <a:xfrm>
            <a:off x="502920" y="4330446"/>
            <a:ext cx="1737360" cy="713232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8" name="TextBox 19"/>
          <p:cNvSpPr txBox="1"/>
          <p:nvPr/>
        </p:nvSpPr>
        <p:spPr>
          <a:xfrm>
            <a:off x="566928" y="4530598"/>
            <a:ext cx="1609344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ctr">
              <a:spcAft>
                <a:spcPts val="400"/>
              </a:spcAft>
              <a:buClrTx/>
              <a:buSzTx/>
              <a:buFontTx/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阶段三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89" name="Rectangle 20"/>
          <p:cNvSpPr/>
          <p:nvPr/>
        </p:nvSpPr>
        <p:spPr>
          <a:xfrm>
            <a:off x="2240280" y="4330446"/>
            <a:ext cx="9445752" cy="7132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0" name="TextBox 21"/>
          <p:cNvSpPr txBox="1"/>
          <p:nvPr/>
        </p:nvSpPr>
        <p:spPr>
          <a:xfrm>
            <a:off x="2423160" y="4546156"/>
            <a:ext cx="914400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6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并发 503 修复 + 延迟优化 → 40 题并发 0 错误，rerank 耗时减半（17.5s→8.9s）</a:t>
            </a:r>
            <a:endParaRPr sz="160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91" name="Rectangle 22"/>
          <p:cNvSpPr/>
          <p:nvPr/>
        </p:nvSpPr>
        <p:spPr>
          <a:xfrm>
            <a:off x="502920" y="5135118"/>
            <a:ext cx="1737360" cy="713232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2" name="TextBox 23"/>
          <p:cNvSpPr txBox="1"/>
          <p:nvPr/>
        </p:nvSpPr>
        <p:spPr>
          <a:xfrm>
            <a:off x="566928" y="5335270"/>
            <a:ext cx="1609344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ctr">
              <a:spcAft>
                <a:spcPts val="400"/>
              </a:spcAft>
              <a:buClrTx/>
              <a:buSzTx/>
              <a:buFontTx/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阶段四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93" name="Rectangle 24"/>
          <p:cNvSpPr/>
          <p:nvPr/>
        </p:nvSpPr>
        <p:spPr>
          <a:xfrm>
            <a:off x="2240280" y="5135118"/>
            <a:ext cx="9445752" cy="7132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4" name="TextBox 25"/>
          <p:cNvSpPr txBox="1"/>
          <p:nvPr/>
        </p:nvSpPr>
        <p:spPr>
          <a:xfrm>
            <a:off x="2423160" y="5350828"/>
            <a:ext cx="914400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6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HyDE 覆盖缺口补检索 + 条款引用多跳 → 拒答/0 分题恢复</a:t>
            </a:r>
            <a:r>
              <a:rPr sz="16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识片段</a:t>
            </a:r>
            <a:endParaRPr sz="160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101" name="TextBox 50"/>
          <p:cNvSpPr txBox="1"/>
          <p:nvPr/>
        </p:nvSpPr>
        <p:spPr>
          <a:xfrm>
            <a:off x="11384280" y="6748780"/>
            <a:ext cx="64008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r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sz="11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Rectangle 26"/>
          <p:cNvSpPr/>
          <p:nvPr/>
        </p:nvSpPr>
        <p:spPr>
          <a:xfrm>
            <a:off x="502920" y="5951220"/>
            <a:ext cx="11183112" cy="685800"/>
          </a:xfrm>
          <a:prstGeom prst="rect">
            <a:avLst/>
          </a:prstGeom>
          <a:solidFill>
            <a:srgbClr val="FB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3" name="Rectangle 27"/>
          <p:cNvSpPr/>
          <p:nvPr/>
        </p:nvSpPr>
        <p:spPr>
          <a:xfrm>
            <a:off x="502920" y="5951220"/>
            <a:ext cx="82296" cy="685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" name="TextBox 28"/>
          <p:cNvSpPr txBox="1"/>
          <p:nvPr/>
        </p:nvSpPr>
        <p:spPr>
          <a:xfrm>
            <a:off x="674370" y="6160135"/>
            <a:ext cx="1095057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合计：</a:t>
            </a:r>
            <a:r>
              <a:rPr b="1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自命题 200 题 87% → 91.5%（CPU），官方 300 题全程保持 300/300、0 错误</a:t>
            </a:r>
            <a:endParaRPr b="1">
              <a:solidFill>
                <a:srgbClr val="C00000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191318" y="1942677"/>
            <a:ext cx="3798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05</a:t>
            </a:r>
            <a:endParaRPr kumimoji="0" lang="en-US" altLang="zh-CN" sz="13800" b="0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9637" y="3869267"/>
            <a:ext cx="5283200" cy="777875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性能与稳定性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18" name="组合 8"/>
          <p:cNvGrpSpPr/>
          <p:nvPr/>
        </p:nvGrpSpPr>
        <p:grpSpPr>
          <a:xfrm>
            <a:off x="3671887" y="1422930"/>
            <a:ext cx="4848225" cy="350837"/>
            <a:chOff x="5783" y="848"/>
            <a:chExt cx="7636" cy="551"/>
          </a:xfrm>
        </p:grpSpPr>
        <p:sp>
          <p:nvSpPr>
            <p:cNvPr id="19" name="任意多边形: 形状 187"/>
            <p:cNvSpPr/>
            <p:nvPr/>
          </p:nvSpPr>
          <p:spPr>
            <a:xfrm>
              <a:off x="5783" y="848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任意多边形: 形状 188"/>
            <p:cNvSpPr/>
            <p:nvPr/>
          </p:nvSpPr>
          <p:spPr>
            <a:xfrm>
              <a:off x="7826" y="10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7"/>
          <p:cNvGrpSpPr/>
          <p:nvPr/>
        </p:nvGrpSpPr>
        <p:grpSpPr>
          <a:xfrm flipV="1">
            <a:off x="3671887" y="4972580"/>
            <a:ext cx="4849813" cy="336550"/>
            <a:chOff x="5975" y="1069"/>
            <a:chExt cx="7636" cy="530"/>
          </a:xfrm>
        </p:grpSpPr>
        <p:sp>
          <p:nvSpPr>
            <p:cNvPr id="22" name="任意多边形: 形状 187"/>
            <p:cNvSpPr/>
            <p:nvPr/>
          </p:nvSpPr>
          <p:spPr>
            <a:xfrm>
              <a:off x="5975" y="1069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任意多边形: 形状 188"/>
            <p:cNvSpPr/>
            <p:nvPr/>
          </p:nvSpPr>
          <p:spPr>
            <a:xfrm>
              <a:off x="8026" y="12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04800" y="58737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性能与稳定性工程：从可用到可靠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4997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两轮各 500 题（300+200）CPU/GPU 全量测试 0 运行错误</a:t>
            </a:r>
            <a:endParaRPr sz="1400" b="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>
              <a:spcAft>
                <a:spcPts val="400"/>
              </a:spcAft>
            </a:pP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52" name="Rectangle 5"/>
          <p:cNvSpPr/>
          <p:nvPr/>
        </p:nvSpPr>
        <p:spPr>
          <a:xfrm>
            <a:off x="502920" y="1840230"/>
            <a:ext cx="11196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" name="TextBox 6"/>
          <p:cNvSpPr txBox="1"/>
          <p:nvPr/>
        </p:nvSpPr>
        <p:spPr>
          <a:xfrm>
            <a:off x="502920" y="1903730"/>
            <a:ext cx="6400800" cy="26352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6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单轮问答实测（串行，RTX 5070 Laptop / Ryzen 9 8945HX）</a:t>
            </a:r>
            <a:endParaRPr sz="16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2201418"/>
            <a:ext cx="2651760" cy="457200"/>
          </a:xfrm>
          <a:prstGeom prst="rect">
            <a:avLst/>
          </a:prstGeom>
          <a:solidFill>
            <a:srgbClr val="2E5AA8"/>
          </a:solidFill>
          <a:ln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54680" y="2201418"/>
            <a:ext cx="1417320" cy="457200"/>
          </a:xfrm>
          <a:prstGeom prst="rect">
            <a:avLst/>
          </a:prstGeom>
          <a:solidFill>
            <a:srgbClr val="2E5AA8"/>
          </a:solidFill>
          <a:ln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201418"/>
            <a:ext cx="1417320" cy="457200"/>
          </a:xfrm>
          <a:prstGeom prst="rect">
            <a:avLst/>
          </a:prstGeom>
          <a:solidFill>
            <a:srgbClr val="2E5AA8"/>
          </a:solidFill>
          <a:ln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58618"/>
            <a:ext cx="2651760" cy="5029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" name="TextBox 14"/>
          <p:cNvSpPr txBox="1"/>
          <p:nvPr/>
        </p:nvSpPr>
        <p:spPr>
          <a:xfrm>
            <a:off x="502920" y="2788983"/>
            <a:ext cx="265176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官方 300 题（选择题）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154680" y="2658618"/>
            <a:ext cx="1417320" cy="5029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2788983"/>
            <a:ext cx="141732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</a:rPr>
              <a:t>7.03 s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72000" y="2658618"/>
            <a:ext cx="1417320" cy="5029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788983"/>
            <a:ext cx="141732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</a:rPr>
              <a:t>0.54 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</a:rPr>
              <a:t>s</a:t>
            </a:r>
            <a:endParaRPr sz="1400" b="0">
              <a:solidFill>
                <a:srgbClr val="595959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" y="3161538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291904"/>
            <a:ext cx="265176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ctr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自命题 200 题（开放问答）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154680" y="3161538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3291904"/>
            <a:ext cx="141732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</a:rPr>
              <a:t>28.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</a:rPr>
              <a:t>4 </a:t>
            </a:r>
            <a:r>
              <a: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</a:rPr>
              <a:t>s</a:t>
            </a:r>
            <a:endParaRPr sz="1400" b="0">
              <a:solidFill>
                <a:srgbClr val="595959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0" y="3161538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291904"/>
            <a:ext cx="141732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</a:rPr>
              <a:t>17.9 s</a:t>
            </a:r>
            <a:endParaRPr sz="1400" b="0">
              <a:solidFill>
                <a:srgbClr val="595959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3681729"/>
            <a:ext cx="6400800" cy="14128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 </a:t>
            </a:r>
            <a:r>
              <a:rPr sz="14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选择题 P50 仅 0.22–0.26s：</a:t>
            </a:r>
            <a:r>
              <a: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</a:rPr>
              <a:t>大部分走确定性表格链路，毫秒级返回</a:t>
            </a:r>
            <a:endParaRPr sz="1400" b="0">
              <a:solidFill>
                <a:srgbClr val="595959"/>
              </a:solidFill>
              <a:latin typeface="OPPOSans R" panose="00020600040101010101" charset="-122"/>
              <a:ea typeface="OPPOSans R" panose="00020600040101010101" charset="-122"/>
            </a:endParaRP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 </a:t>
            </a:r>
            <a:r>
              <a:rPr sz="14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开放题延迟由 LLM API 主导（约 10–12s/题）：</a:t>
            </a:r>
            <a:r>
              <a: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GPU 将本地检索+重排从 ~15s 压到 ~3s，P50 提速 2.1 倍</a:t>
            </a:r>
            <a:endParaRPr sz="1400" b="0">
              <a:solidFill>
                <a:srgbClr val="595959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 </a:t>
            </a:r>
            <a:r>
              <a:rPr sz="14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长尾为 LLM API 偶发慢响应：</a:t>
            </a:r>
            <a:r>
              <a: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</a:rPr>
              <a:t>非本地计算瓶颈</a:t>
            </a:r>
            <a:endParaRPr sz="1400" b="0">
              <a:solidFill>
                <a:srgbClr val="595959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236460" y="1974850"/>
            <a:ext cx="4462145" cy="311975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4927" y="2110740"/>
            <a:ext cx="402336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稳定性问题 → 修复</a:t>
            </a:r>
            <a:endParaRPr sz="1500" b="1">
              <a:solidFill>
                <a:srgbClr val="1F386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24927" y="2435098"/>
            <a:ext cx="4069080" cy="5715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2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并发 503（修复前 31 个）：</a:t>
            </a:r>
            <a:r>
              <a:rPr sz="12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模型获取移出推理锁 + API 瞬态重试 → 4 workers × 40 题并发 0 错误</a:t>
            </a:r>
            <a:endParaRPr sz="1200" b="0">
              <a:solidFill>
                <a:srgbClr val="595959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24927" y="3116453"/>
            <a:ext cx="4069080" cy="5715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2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SQLite 无法打开数据库：</a:t>
            </a:r>
            <a:r>
              <a:rPr sz="12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WAL 移入 named volume + 回退 DELETE 模式 + busy timeout</a:t>
            </a:r>
            <a:endParaRPr sz="1200" b="0">
              <a:solidFill>
                <a:srgbClr val="595959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24927" y="3797808"/>
            <a:ext cx="4069080" cy="5715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2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rerank 慢（~1.3s/对）：</a:t>
            </a:r>
            <a:r>
              <a:rPr sz="12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输入 24→12、batch 16，rerank 17.5s→8.9s</a:t>
            </a:r>
            <a:endParaRPr sz="1200" b="0">
              <a:solidFill>
                <a:srgbClr val="595959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425055" y="4479163"/>
            <a:ext cx="4204970" cy="5715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</a:t>
            </a:r>
            <a:r>
              <a:rPr sz="12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 </a:t>
            </a:r>
            <a:r>
              <a:rPr sz="12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LLM 空输出：</a:t>
            </a:r>
            <a:r>
              <a:rPr sz="12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max_tokens 900→3000，流式/非流式交替重试</a:t>
            </a:r>
            <a:endParaRPr sz="1200" b="0">
              <a:solidFill>
                <a:srgbClr val="595959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02920" y="5215890"/>
            <a:ext cx="11183112" cy="548640"/>
          </a:xfrm>
          <a:prstGeom prst="rect">
            <a:avLst/>
          </a:prstGeom>
          <a:solidFill>
            <a:srgbClr val="FB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349304"/>
            <a:ext cx="1069848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6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入库性能：</a:t>
            </a:r>
            <a:r>
              <a:rPr sz="1600" b="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500 文件全量解析+切分+持久化 2,066.75 秒（约 34 分钟，一次性离线流程，不影响问答延迟）</a:t>
            </a:r>
            <a:endParaRPr sz="1600" b="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40" name="TextBox 12"/>
          <p:cNvSpPr txBox="1"/>
          <p:nvPr/>
        </p:nvSpPr>
        <p:spPr>
          <a:xfrm>
            <a:off x="4572000" y="2291334"/>
            <a:ext cx="14173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ctr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GPU 平均</a:t>
            </a:r>
            <a:endParaRPr sz="1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41" name="TextBox 8"/>
          <p:cNvSpPr txBox="1"/>
          <p:nvPr/>
        </p:nvSpPr>
        <p:spPr>
          <a:xfrm>
            <a:off x="502920" y="2291969"/>
            <a:ext cx="265176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ctr"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评测集</a:t>
            </a:r>
            <a:endParaRPr sz="1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42" name="TextBox 10"/>
          <p:cNvSpPr txBox="1"/>
          <p:nvPr/>
        </p:nvSpPr>
        <p:spPr>
          <a:xfrm>
            <a:off x="3154680" y="2291969"/>
            <a:ext cx="14173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ctr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CPU 平均</a:t>
            </a:r>
            <a:endParaRPr sz="1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191318" y="1942677"/>
            <a:ext cx="3798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06</a:t>
            </a:r>
            <a:endParaRPr kumimoji="0" lang="en-US" altLang="zh-CN" sz="13800" b="0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9637" y="3869267"/>
            <a:ext cx="5283200" cy="777875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落地价值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18" name="组合 8"/>
          <p:cNvGrpSpPr/>
          <p:nvPr/>
        </p:nvGrpSpPr>
        <p:grpSpPr>
          <a:xfrm>
            <a:off x="3671887" y="1422930"/>
            <a:ext cx="4848225" cy="350837"/>
            <a:chOff x="5783" y="848"/>
            <a:chExt cx="7636" cy="551"/>
          </a:xfrm>
        </p:grpSpPr>
        <p:sp>
          <p:nvSpPr>
            <p:cNvPr id="19" name="任意多边形: 形状 187"/>
            <p:cNvSpPr/>
            <p:nvPr/>
          </p:nvSpPr>
          <p:spPr>
            <a:xfrm>
              <a:off x="5783" y="848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任意多边形: 形状 188"/>
            <p:cNvSpPr/>
            <p:nvPr/>
          </p:nvSpPr>
          <p:spPr>
            <a:xfrm>
              <a:off x="7826" y="10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7"/>
          <p:cNvGrpSpPr/>
          <p:nvPr/>
        </p:nvGrpSpPr>
        <p:grpSpPr>
          <a:xfrm flipV="1">
            <a:off x="3671887" y="4972580"/>
            <a:ext cx="4849813" cy="336550"/>
            <a:chOff x="5975" y="1069"/>
            <a:chExt cx="7636" cy="530"/>
          </a:xfrm>
        </p:grpSpPr>
        <p:sp>
          <p:nvSpPr>
            <p:cNvPr id="22" name="任意多边形: 形状 187"/>
            <p:cNvSpPr/>
            <p:nvPr/>
          </p:nvSpPr>
          <p:spPr>
            <a:xfrm>
              <a:off x="5975" y="1069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任意多边形: 形状 188"/>
            <p:cNvSpPr/>
            <p:nvPr/>
          </p:nvSpPr>
          <p:spPr>
            <a:xfrm>
              <a:off x="8026" y="12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23215" y="608330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落地价值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ReguMate —— 从比赛方案走向银行真实业务的可信监管问答能力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52" name="Rectangle 5"/>
          <p:cNvSpPr/>
          <p:nvPr/>
        </p:nvSpPr>
        <p:spPr>
          <a:xfrm>
            <a:off x="502920" y="1840230"/>
            <a:ext cx="11124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3" name="Rectangle 22"/>
          <p:cNvSpPr/>
          <p:nvPr/>
        </p:nvSpPr>
        <p:spPr>
          <a:xfrm>
            <a:off x="393700" y="5092700"/>
            <a:ext cx="11313160" cy="82296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4" name="TextBox 23"/>
          <p:cNvSpPr txBox="1"/>
          <p:nvPr/>
        </p:nvSpPr>
        <p:spPr>
          <a:xfrm>
            <a:off x="472440" y="5310823"/>
            <a:ext cx="11442700" cy="38671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</a:rPr>
              <a:t>让每一份监管答案都</a:t>
            </a:r>
            <a:r>
              <a:rPr sz="2400" b="1">
                <a:solidFill>
                  <a:srgbClr val="F0C8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sz="24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</a:rPr>
              <a:t>有依据、可核验、可审计</a:t>
            </a:r>
            <a:r>
              <a:rPr sz="2400" b="1">
                <a:solidFill>
                  <a:srgbClr val="F0C8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sz="2000" b="1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</a:rPr>
              <a:t>，为银行合规数字化转型提供可信基础设施</a:t>
            </a:r>
            <a:endParaRPr sz="2000" b="1">
              <a:solidFill>
                <a:srgbClr val="FFFFFF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37870" y="1988185"/>
            <a:ext cx="3401695" cy="3031490"/>
            <a:chOff x="812" y="3129"/>
            <a:chExt cx="5357" cy="4774"/>
          </a:xfrm>
        </p:grpSpPr>
        <p:sp>
          <p:nvSpPr>
            <p:cNvPr id="13" name="Rectangle 7"/>
            <p:cNvSpPr/>
            <p:nvPr/>
          </p:nvSpPr>
          <p:spPr>
            <a:xfrm>
              <a:off x="812" y="3129"/>
              <a:ext cx="5357" cy="477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E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33" name="Rectangle 8"/>
            <p:cNvSpPr/>
            <p:nvPr/>
          </p:nvSpPr>
          <p:spPr>
            <a:xfrm>
              <a:off x="812" y="3129"/>
              <a:ext cx="5357" cy="1224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>
                <a:solidFill>
                  <a:srgbClr val="195CC4"/>
                </a:solidFill>
              </a:endParaRPr>
            </a:p>
          </p:txBody>
        </p:sp>
        <p:sp>
          <p:nvSpPr>
            <p:cNvPr id="38" name="TextBox 11"/>
            <p:cNvSpPr txBox="1"/>
            <p:nvPr/>
          </p:nvSpPr>
          <p:spPr>
            <a:xfrm>
              <a:off x="1100" y="4459"/>
              <a:ext cx="4824" cy="3280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覆盖核心场景：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信贷审批、风险分类、资本管理、消保投诉、反洗钱、支付结算、普惠金融、监管报送</a:t>
              </a:r>
              <a:endPara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回答可审计：</a:t>
              </a:r>
              <a:r>
                <a:rPr sz="1400" b="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条款级 / 单元格级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证据一键追溯，满足监管可解释硬性要求</a:t>
              </a:r>
              <a:endPara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▪</a:t>
              </a:r>
              <a:r>
                <a:rPr sz="1400">
                  <a:solidFill>
                    <a:srgbClr val="C00000"/>
                  </a:solidFill>
                  <a:latin typeface="OPPOSans B" panose="00020600040101010101" charset="-122"/>
                  <a:ea typeface="OPPOSans B" panose="00020600040101010101" charset="-122"/>
                  <a:cs typeface="OPPOSans B" panose="00020600040101010101" charset="-122"/>
                </a:rPr>
                <a:t>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B" panose="00020600040101010101" charset="-122"/>
                </a:rPr>
                <a:t>降低合规风险：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杜绝误用旧规、条款错引、数字失真，守住</a:t>
              </a:r>
              <a:r>
                <a:rPr sz="1400" b="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合</a:t>
              </a:r>
              <a:r>
                <a:rPr sz="1400" b="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规底线</a:t>
              </a:r>
              <a:endPara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</p:txBody>
        </p:sp>
        <p:sp>
          <p:nvSpPr>
            <p:cNvPr id="68" name="TextBox 9"/>
            <p:cNvSpPr txBox="1"/>
            <p:nvPr/>
          </p:nvSpPr>
          <p:spPr>
            <a:xfrm>
              <a:off x="1071" y="3201"/>
              <a:ext cx="4896" cy="512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l">
                <a:spcAft>
                  <a:spcPts val="400"/>
                </a:spcAft>
              </a:pPr>
              <a:r>
                <a:rPr sz="20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</a:rPr>
                <a:t>业务价值</a:t>
              </a:r>
              <a:endPara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endParaRPr>
            </a:p>
          </p:txBody>
        </p:sp>
        <p:sp>
          <p:nvSpPr>
            <p:cNvPr id="69" name="TextBox 10"/>
            <p:cNvSpPr txBox="1"/>
            <p:nvPr/>
          </p:nvSpPr>
          <p:spPr>
            <a:xfrm>
              <a:off x="1071" y="3849"/>
              <a:ext cx="4896" cy="367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l">
                <a:spcAft>
                  <a:spcPts val="400"/>
                </a:spcAft>
              </a:pPr>
              <a:r>
                <a:rPr sz="14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</a:rPr>
                <a:t>问答即合规</a:t>
              </a:r>
              <a:endParaRPr sz="14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366895" y="1987550"/>
            <a:ext cx="3401695" cy="3031490"/>
            <a:chOff x="6442" y="3129"/>
            <a:chExt cx="5357" cy="4774"/>
          </a:xfrm>
        </p:grpSpPr>
        <p:sp>
          <p:nvSpPr>
            <p:cNvPr id="39" name="Rectangle 12"/>
            <p:cNvSpPr/>
            <p:nvPr/>
          </p:nvSpPr>
          <p:spPr>
            <a:xfrm>
              <a:off x="6442" y="3129"/>
              <a:ext cx="5357" cy="477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E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43" name="Rectangle 13"/>
            <p:cNvSpPr/>
            <p:nvPr/>
          </p:nvSpPr>
          <p:spPr>
            <a:xfrm>
              <a:off x="6442" y="3129"/>
              <a:ext cx="5357" cy="1224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>
                <a:solidFill>
                  <a:srgbClr val="195CC4"/>
                </a:solidFill>
              </a:endParaRPr>
            </a:p>
          </p:txBody>
        </p:sp>
        <p:sp>
          <p:nvSpPr>
            <p:cNvPr id="46" name="TextBox 16"/>
            <p:cNvSpPr txBox="1"/>
            <p:nvPr/>
          </p:nvSpPr>
          <p:spPr>
            <a:xfrm>
              <a:off x="6730" y="4459"/>
              <a:ext cx="4824" cy="3280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▪</a:t>
              </a: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 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通用架构：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解析—检索—生成—校验全链路均为</a:t>
              </a:r>
              <a:r>
                <a:rPr sz="1400" b="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语言/结构层通用设计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，不绑定具体题目</a:t>
              </a:r>
              <a:endParaRPr sz="14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▪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快速适配：</a:t>
              </a:r>
              <a:r>
                <a:rPr sz="1400" b="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标准化文档处理流程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，可快速迁移至多类金融合规文档场景</a:t>
              </a:r>
              <a:endPara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▪ 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轻量部署：</a:t>
              </a:r>
              <a:r>
                <a:rPr sz="1400" b="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Docker 一键镜像部署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，CPU / GPU 双配置，门槛低、易推广</a:t>
              </a:r>
              <a:endPara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</p:txBody>
        </p:sp>
        <p:sp>
          <p:nvSpPr>
            <p:cNvPr id="70" name="TextBox 14"/>
            <p:cNvSpPr txBox="1"/>
            <p:nvPr/>
          </p:nvSpPr>
          <p:spPr>
            <a:xfrm>
              <a:off x="6702" y="3201"/>
              <a:ext cx="4896" cy="512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20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技术价值</a:t>
              </a:r>
              <a:endPara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endParaRPr>
            </a:p>
          </p:txBody>
        </p:sp>
        <p:sp>
          <p:nvSpPr>
            <p:cNvPr id="71" name="TextBox 15"/>
            <p:cNvSpPr txBox="1"/>
            <p:nvPr/>
          </p:nvSpPr>
          <p:spPr>
            <a:xfrm>
              <a:off x="6702" y="3849"/>
              <a:ext cx="4896" cy="367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方案可复制</a:t>
              </a:r>
              <a:endParaRPr sz="14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7995920" y="1988185"/>
            <a:ext cx="3401695" cy="3031490"/>
            <a:chOff x="12073" y="3129"/>
            <a:chExt cx="5357" cy="4774"/>
          </a:xfrm>
        </p:grpSpPr>
        <p:sp>
          <p:nvSpPr>
            <p:cNvPr id="47" name="Rectangle 17"/>
            <p:cNvSpPr/>
            <p:nvPr/>
          </p:nvSpPr>
          <p:spPr>
            <a:xfrm>
              <a:off x="12073" y="3129"/>
              <a:ext cx="5357" cy="477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E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48" name="Rectangle 18"/>
            <p:cNvSpPr/>
            <p:nvPr/>
          </p:nvSpPr>
          <p:spPr>
            <a:xfrm>
              <a:off x="12073" y="3129"/>
              <a:ext cx="5357" cy="1224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>
                <a:solidFill>
                  <a:srgbClr val="195CC4"/>
                </a:solidFill>
              </a:endParaRPr>
            </a:p>
          </p:txBody>
        </p:sp>
        <p:sp>
          <p:nvSpPr>
            <p:cNvPr id="51" name="TextBox 21"/>
            <p:cNvSpPr txBox="1"/>
            <p:nvPr/>
          </p:nvSpPr>
          <p:spPr>
            <a:xfrm>
              <a:off x="12361" y="4711"/>
              <a:ext cx="4824" cy="2873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▪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新文档快速接入：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幂等入库脚本，新监管文件发布即可增量构建索引</a:t>
              </a:r>
              <a:endPara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▪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质量可度量：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评测集作为回归门禁，每次升级可</a:t>
              </a:r>
              <a:r>
                <a:rPr sz="1400" b="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量</a:t>
              </a:r>
              <a:r>
                <a:rPr sz="1400" b="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化验证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、能力不退化</a:t>
              </a:r>
              <a:endPara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成本可控：</a:t>
              </a:r>
              <a:r>
                <a:rPr sz="1400" b="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本地嵌入+重排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与</a:t>
              </a:r>
              <a:r>
                <a:rPr sz="1400" b="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确定性链路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承担大部分查询，</a:t>
              </a:r>
              <a:r>
                <a:rPr sz="1400" b="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API 调用最小化</a:t>
              </a:r>
              <a:endPara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</p:txBody>
        </p:sp>
        <p:sp>
          <p:nvSpPr>
            <p:cNvPr id="72" name="TextBox 19"/>
            <p:cNvSpPr txBox="1"/>
            <p:nvPr/>
          </p:nvSpPr>
          <p:spPr>
            <a:xfrm>
              <a:off x="12332" y="3201"/>
              <a:ext cx="4896" cy="512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20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运营价值</a:t>
              </a:r>
              <a:endPara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endParaRPr>
            </a:p>
          </p:txBody>
        </p:sp>
        <p:sp>
          <p:nvSpPr>
            <p:cNvPr id="73" name="TextBox 20"/>
            <p:cNvSpPr txBox="1"/>
            <p:nvPr/>
          </p:nvSpPr>
          <p:spPr>
            <a:xfrm>
              <a:off x="12332" y="3849"/>
              <a:ext cx="4896" cy="367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能力可持续</a:t>
              </a:r>
              <a:endParaRPr sz="14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8105" y="1445752"/>
            <a:ext cx="63459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6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谢谢观看！</a:t>
            </a:r>
            <a:endParaRPr kumimoji="0" lang="zh-CN" altLang="en-US" sz="96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14955" y="3635375"/>
            <a:ext cx="65570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</a:t>
            </a: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rtex </a:t>
            </a:r>
            <a:r>
              <a:rPr lang="zh-CN" altLang="en-US" sz="4400" b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团队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74350" y="4925066"/>
            <a:ext cx="42062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队员：李思、刘晨阳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63351" y="4925066"/>
            <a:ext cx="252526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队长：王博震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2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3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4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5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6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7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8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9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10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11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12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13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14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15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16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17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18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19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20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21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22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23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24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5179</Words>
  <Application>WPS 演示</Application>
  <PresentationFormat>宽屏</PresentationFormat>
  <Paragraphs>448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0" baseType="lpstr">
      <vt:lpstr>Arial</vt:lpstr>
      <vt:lpstr>宋体</vt:lpstr>
      <vt:lpstr>Wingdings</vt:lpstr>
      <vt:lpstr>庞门正道标题体</vt:lpstr>
      <vt:lpstr>Franklin Gothic Book</vt:lpstr>
      <vt:lpstr>微软雅黑</vt:lpstr>
      <vt:lpstr>Calibri</vt:lpstr>
      <vt:lpstr>OPPOSans B</vt:lpstr>
      <vt:lpstr>OPPOSans R</vt:lpstr>
      <vt:lpstr>Arial Unicode MS</vt:lpstr>
      <vt:lpstr>Calibri</vt:lpstr>
      <vt:lpstr>OPPOSans B</vt:lpstr>
      <vt:lpstr>OPPOSans R</vt:lpstr>
      <vt:lpstr>庞门正道标题体</vt:lpstr>
      <vt:lpstr>Liberation Mono</vt:lpstr>
      <vt:lpstr>潇洒标题体</vt:lpstr>
      <vt:lpstr>The best part</vt:lpstr>
      <vt:lpstr>Retro Cute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</dc:creator>
  <cp:lastModifiedBy>博</cp:lastModifiedBy>
  <cp:revision>28</cp:revision>
  <dcterms:created xsi:type="dcterms:W3CDTF">2023-08-09T12:44:00Z</dcterms:created>
  <dcterms:modified xsi:type="dcterms:W3CDTF">2026-10-15T09:10:25Z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624A8775239844D99DE3F9D5E909B592_12</vt:lpwstr>
  </property>
</Properties>
</file>
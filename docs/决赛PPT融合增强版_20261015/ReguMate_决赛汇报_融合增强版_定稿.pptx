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ReguMateNotesMaster"/>
  </p:notesMasterIdLst>
  <p:sldIdLst>
    <p:sldId id="256" r:id="rId3"/>
    <p:sldId id="262" r:id="rId4"/>
    <p:sldId id="257" r:id="rId5"/>
    <p:sldId id="258" r:id="rId6"/>
    <p:sldId id="261" r:id="rId7"/>
    <p:sldId id="270" r:id="rId8"/>
    <p:sldId id="267" r:id="rId9"/>
    <p:sldId id="268" r:id="rId10"/>
    <p:sldId id="269" r:id="rId11"/>
    <p:sldId id="281" r:id="rId12"/>
    <p:sldId id="272" r:id="rId13"/>
    <p:sldId id="282" r:id="rId14"/>
    <p:sldId id="286" r:id="rId15"/>
    <p:sldId id="274" r:id="rId16"/>
    <p:sldId id="294" r:id="rId17"/>
    <p:sldId id="293" r:id="rId18"/>
    <p:sldId id="283" r:id="rId19"/>
    <p:sldId id="295" r:id="rId20"/>
    <p:sldId id="284" r:id="rId21"/>
    <p:sldId id="300" r:id="rId22"/>
    <p:sldId id="263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AA8"/>
    <a:srgbClr val="195CC4"/>
    <a:srgbClr val="D9DEE8"/>
    <a:srgbClr val="FBF3F3"/>
    <a:srgbClr val="CE0000"/>
    <a:srgbClr val="1C41A9"/>
    <a:srgbClr val="7FA0C0"/>
    <a:srgbClr val="004182"/>
    <a:srgbClr val="B6C7EA"/>
    <a:srgbClr val="2120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360" y="504"/>
      </p:cViewPr>
      <p:guideLst>
        <p:guide orient="horz" pos="3467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ReguMateNotesMaster" Type="http://schemas.openxmlformats.org/officeDocument/2006/relationships/notesMaster" Target="notesMasters/notes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ae0825d2e14d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9155ff7de04d37" /><Relationship Type="http://schemas.openxmlformats.org/officeDocument/2006/relationships/notesMaster" Target="/ppt/notesMasters/notesMaster1.xml" Id="Re7d12740ac18435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c89dc7a1d94a5a" /><Relationship Type="http://schemas.openxmlformats.org/officeDocument/2006/relationships/notesMaster" Target="/ppt/notesMasters/notesMaster1.xml" Id="Rb32868b8a16f41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9bcc4a5fea349cd" /><Relationship Type="http://schemas.openxmlformats.org/officeDocument/2006/relationships/notesMaster" Target="/ppt/notesMasters/notesMaster1.xml" Id="R6c34edebe49e447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d59e80c1ff45db" /><Relationship Type="http://schemas.openxmlformats.org/officeDocument/2006/relationships/notesMaster" Target="/ppt/notesMasters/notesMaster1.xml" Id="R8981c267191946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fc83a2e96fe4b9a" /><Relationship Type="http://schemas.openxmlformats.org/officeDocument/2006/relationships/notesMaster" Target="/ppt/notesMasters/notesMaster1.xml" Id="R06431323c5bd4d2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139d7123a034b84" /><Relationship Type="http://schemas.openxmlformats.org/officeDocument/2006/relationships/notesMaster" Target="/ppt/notesMasters/notesMaster1.xml" Id="R9308ec261f1143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b6d75b296ba4540" /><Relationship Type="http://schemas.openxmlformats.org/officeDocument/2006/relationships/notesMaster" Target="/ppt/notesMasters/notesMaster1.xml" Id="Raa8314b29a85420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15ef3246ed4c5a" /><Relationship Type="http://schemas.openxmlformats.org/officeDocument/2006/relationships/notesMaster" Target="/ppt/notesMasters/notesMaster1.xml" Id="R7a93372ad2d141d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e41a37a733e49dc" /><Relationship Type="http://schemas.openxmlformats.org/officeDocument/2006/relationships/notesMaster" Target="/ppt/notesMasters/notesMaster1.xml" Id="R1da7d6978a5d41a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be2074d254440c" /><Relationship Type="http://schemas.openxmlformats.org/officeDocument/2006/relationships/notesMaster" Target="/ppt/notesMasters/notesMaster1.xml" Id="R84d0d810f353435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8a3e391612f40e6" /><Relationship Type="http://schemas.openxmlformats.org/officeDocument/2006/relationships/notesMaster" Target="/ppt/notesMasters/notesMaster1.xml" Id="R661d709535eb4d80" /></Relationship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银行监管问答同时面临资料分散、口径多样与证据复核困难。既有原稿列出了信贷、风控、资本管理、消保、反洗钱、支付结算、普惠与监管报送场景，本页保持原有三类痛点与四项技术挑战结构。来源：docs/开发文档/技术文档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主线：让监管知识可查询，让报表数据可计算，让业务结论可核验。确定性优先是系统设计原则，实际能力由后续回归指标验证。系统对文件身份和证据进行留存与核对，不依据文件名或日期自动认定法规效力。来源：docs/开发文档/技术文档.md、docs/开发文档/可信能力与发布门禁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讲解重点：ReguMate 将文本理解、证据检索和确定性表格计算组织为统一业务服务。双引擎指文本证据链路与结构化单元格计算链路，双存储指 Qdrant 与 SQLite。查询规划、混合检索、生成与可信校验协同工作。来源：docs/开发文档/技术文档.md；backend/app/services/rag_service.py、query_planner_service.py、spreadsheet_retrieval_service.py。部署按试点环境配置，外部模型 API 与本地嵌入和重排协同。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讲解重点：监管文件不能只切成文字块，需要保留条款关系和数字的业务语义。500 份文件与索引规模来源：docs/开发文档/技术文档.md、evaluation/文档解析结果/文档解析结果说明.md。新增 440 条定义、164 行条款索引来源：docs/开发文档/数据驱动优化执行报告_202610.md（阶段二）。本批处理成功率指归档文件处理完成，不代表所有抽取字段均无误。结构索引以实际提取结果为准。外部技术背景：BGE-M3 官方文档 https://bge-model.com/bge/bge_m3.html，支持稠密和稀疏等表示；这里未将模型的全部功能都表述为系统已启用能力。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顺序：多路召回解决找得到，条款定位解决找得准，覆盖诊断与引用扩展解决证据补全，确定性计算解决数字可复算。真实回归案例：根据《2025年商业银行主要指标分机构类情况表（季度）》，农村商业银行三季度与二季度不良贷款余额差值。商业银行分机构类情况表!G27=8274.705191、G16=8051.364405，差值=223.340786 亿元。来源：evaluation/系统测试结果/自命题200题/GPU_最终回归_20261002/old_outputs.json（BW-TC6）。算法背景：HyDE 原论文 https://arxiv.org/abs/2212.10496；CRAG 原论文 https://arxiv.org/abs/2401.15884；BGE-M3 https://arxiv.org/abs/2402.03216。CRAG-lite 是本项目借鉴检索评估思想的工程化实现，采用受限知识库内的覆盖诊断与补搜，不等同于原论文的互联网检索系统。系统采用词面检索与元数据过滤，未将其强称为标准 BM25。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监管语义示例（机制示意）：证据写“符合条件时可以办理”，如果答案变成“必须办理”，即使主体和数字一致，义务强度也已经改变。系统抽取主体、行为、规范强度、条件、例外等监管语义框架，结合确定性检查与风险触发语义核验。来源：backend/app/services/regulatory_semantic_grounding_service.py、grounding_validation_service.py。最终指标来源：evaluation/系统测试结果/自命题200题/GPU_最终回归_20261002/old_outputs_diagnostic.json、new_outputs_diagnostic.json，表格 40/40、预设应拒答题40/40，来源文件覆盖149/160；引用携带率为实际已返回的159个答案均携带引用，不等于每条引用语义均正确，也不等于可回答题160/160。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六项创新属于面向金融监管场景的系统融合与工程设计，不作为相对所有现有方法的性能领先声明。结构与引用扩展来源：docs/开发文档/数据驱动优化执行报告_202610.md；检索补证来源：docs/开发文档/四阶段升级完成报告_20260805.md；表格证据来自最终回归 old_outputs.json/new_outputs.json；监管语义来自 backend/app/services/regulatory_semantic_grounding_service.py。技术参考：HyDE https://arxiv.org/abs/2212.10496；CRAG https://arxiv.org/abs/2401.15884。前沿方法启发了覆盖诊断和假设检索线索的表达，项目特点在于与条款、单元格和监管语义结合。未声称实现 GraphRAG 社区摘要或训练 Self-RAG 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口径：以2026-10-02最终GPU回归为主体。官方选择题300/300，0运行错误；自建开放题181/200=90.5%，包括旧批92/100、新批89/100。制度事实99/112=88.4%；表格取数20/20，计算20/20；预设应拒答题40/40；证据来源149/160=93.1%，为来源文件级覆盖，不能替代逐条引用语义正确率。关键数字、日期、机构、文号错误率2.4%来自2026-08-05历史专项统计，其余不是同一轮数据。来源：evaluation/系统测试结果/自命题200题/GPU_最终回归_20261002/score_summary.json、old_outputs_diagnostic.json、new_outputs_diagnostic.json、official300/official_300_results.json；docs/evaluation/关键指标总结_官方300与自命题200题_20260805.md。自建测试为内部回归，未声称第三方独立评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阶段升级来自2026-08-05历史工程迭代，87%→91.5%是当时CPU联合回归。10月进一步落地440条定义、164行条款索引和跨文档引用扩展，最终GPU200题回归90.5%。不同阶段和设备的数字保留日期，不能视为同一轮单模块消融实验。历史并发验证为4 workers、40题0错误，CPU重排17.5s→8.9s。来源：docs/开发文档/四阶段升级完成报告_20260805.md；docs/开发文档/数据驱动优化执行报告_202610.md；最终GPU回归score_summary.json。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端到端CPU/GPU表格沿用2026-08-05同期成对实验：官方300平均7.03s/0.54s，自建200平均28.4s/17.9s。平均速度比28.4/17.9≈1.59。硬件RTX5070 Laptop/Ryzen98945HX，串行测试。10月GPU24候选重排0.30–0.53s为独立微基准，不能代替端到端延迟。来源：docs/evaluation/关键指标总结_官方300与自命题200题_20260805.md；data/evaluation/benchmarks/reranker_v2m3_gpu_20261002.json；docs/开发文档/数据驱动优化执行报告_202610.md。并发与存储修复：docs/开发文档/四阶段升级完成报告_20260805.md。500文件约34分钟指解析、切分与持久化的离线知识构建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业务定位：让监管资料成为可调用的业务知识服务。典型流程示意：业务人员提出制度或报表问题，系统定位条款和单元格，给出答复与计算过程，合规人员基于证据复核并留存记录。推进路线是建议的试点方案：部门小范围验证，扩展内部制度，再通过API融入门户或工作台。查找耗时、复核耗时、人工修订率和单次服务成本是拟跟踪的试点指标，未声称已有客户上线或已兑现收益。行业参考：BIS Project Gaia https://www.bis.org/project/gaia 和 https://www.bis.org/publications/project-gaia-enabling-climate-risk-analysis-using-generative-ai，展示从异构报告中提取结构化指标并支持金融分析的应用方向。Gaia是外部行业案例，不属于本项目业绩。项目落地价值基于已具备的文档接入、问答、表格计算、引用展示、审计记录和Docker双配置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837"/>
          <a:stretch>
            <a:fillRect/>
          </a:stretch>
        </p:blipFill>
        <p:spPr>
          <a:xfrm>
            <a:off x="0" y="40"/>
            <a:ext cx="12192000" cy="685791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ReguMateNotes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86080" y="1358900"/>
            <a:ext cx="11510645" cy="891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200" dirty="0">
                <a:solidFill>
                  <a:schemeClr val="bg1"/>
                </a:solidFill>
                <a:latin typeface="庞门正道标题体" panose="02010600030101010101" charset="-122"/>
                <a:ea typeface="庞门正道标题体" panose="02010600030101010101" charset="-122"/>
              </a:rPr>
              <a:t>第五届中国研究生金融科技创新大赛</a:t>
            </a:r>
            <a:endParaRPr lang="zh-CN" altLang="en-US" sz="5200" dirty="0">
              <a:solidFill>
                <a:schemeClr val="bg1"/>
              </a:solidFill>
              <a:latin typeface="庞门正道标题体" panose="02010600030101010101" charset="-122"/>
              <a:ea typeface="庞门正道标题体" panose="0201060003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12800" y="2066290"/>
            <a:ext cx="1063371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dist"/>
            <a:r>
              <a:rPr lang="en-US" altLang="zh-CN" sz="2800" dirty="0">
                <a:solidFill>
                  <a:schemeClr val="bg1"/>
                </a:solidFill>
                <a:latin typeface="Franklin Gothic Book" panose="020B0503020102020204" charset="0"/>
                <a:cs typeface="Franklin Gothic Book" panose="020B0503020102020204" charset="0"/>
              </a:rPr>
              <a:t>The 5th CHINA POSTGRADUATE FINTECH INNOVATION COMPETITION</a:t>
            </a:r>
            <a:endParaRPr lang="en-US" altLang="zh-CN" sz="2800" dirty="0">
              <a:solidFill>
                <a:schemeClr val="bg1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</p:txBody>
      </p:sp>
      <p:pic>
        <p:nvPicPr>
          <p:cNvPr id="6" name="图片 5" descr="未标题-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7812" y="3054985"/>
            <a:ext cx="9096375" cy="244411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7950" y="1979930"/>
            <a:ext cx="1197991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6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ReguMate 可信RAG问答系统</a:t>
            </a:r>
            <a:endParaRPr kumimoji="0" lang="zh-CN" altLang="en-US" sz="66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14955" y="3635375"/>
            <a:ext cx="655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rtex </a:t>
            </a:r>
            <a:r>
              <a:rPr lang="zh-CN" altLang="en-US" sz="4400" b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团队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74350" y="4925066"/>
            <a:ext cx="4206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队员：李思、刘晨阳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3351" y="4925066"/>
            <a:ext cx="25252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队长：王博震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139247" y="1136396"/>
            <a:ext cx="387794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目录</a:t>
            </a:r>
            <a:endParaRPr kumimoji="0" lang="zh-CN" altLang="en-US" sz="36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903095" y="2504440"/>
            <a:ext cx="3223895" cy="585470"/>
            <a:chOff x="2178" y="5402"/>
            <a:chExt cx="5077" cy="922"/>
          </a:xfrm>
        </p:grpSpPr>
        <p:sp>
          <p:nvSpPr>
            <p:cNvPr id="3" name="文本框 2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背景与问题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2178" y="5419"/>
              <a:ext cx="1715" cy="905"/>
            </a:xfrm>
            <a:prstGeom prst="rect">
              <a:avLst/>
            </a:prstGeom>
            <a:noFill/>
          </p:spPr>
          <p:txBody>
            <a:bodyPr anchor="ctr"/>
            <a:lstStyle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01</a:t>
              </a:r>
              <a:endPara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1902968" y="3629660"/>
            <a:ext cx="3224022" cy="585725"/>
            <a:chOff x="2178" y="5402"/>
            <a:chExt cx="5077" cy="922"/>
          </a:xfrm>
        </p:grpSpPr>
        <p:sp>
          <p:nvSpPr>
            <p:cNvPr id="22" name="文本框 21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解决方案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2178" y="5419"/>
              <a:ext cx="12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02</a:t>
              </a:r>
              <a:endParaRPr kumimoji="0" lang="en-US" altLang="zh-CN" sz="40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902968" y="4767580"/>
            <a:ext cx="3224022" cy="585725"/>
            <a:chOff x="2178" y="5402"/>
            <a:chExt cx="5077" cy="922"/>
          </a:xfrm>
        </p:grpSpPr>
        <p:sp>
          <p:nvSpPr>
            <p:cNvPr id="25" name="文本框 24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技术亮点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178" y="5419"/>
              <a:ext cx="12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03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7384288" y="2515235"/>
            <a:ext cx="3224022" cy="585725"/>
            <a:chOff x="2178" y="5402"/>
            <a:chExt cx="5077" cy="922"/>
          </a:xfrm>
        </p:grpSpPr>
        <p:sp>
          <p:nvSpPr>
            <p:cNvPr id="31" name="文本框 30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评测结果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2178" y="5419"/>
              <a:ext cx="1387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04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7384288" y="3618865"/>
            <a:ext cx="3686955" cy="585725"/>
            <a:chOff x="2178" y="5402"/>
            <a:chExt cx="5806" cy="922"/>
          </a:xfrm>
        </p:grpSpPr>
        <p:sp>
          <p:nvSpPr>
            <p:cNvPr id="34" name="文本框 33"/>
            <p:cNvSpPr txBox="1"/>
            <p:nvPr/>
          </p:nvSpPr>
          <p:spPr>
            <a:xfrm>
              <a:off x="3565" y="5402"/>
              <a:ext cx="4419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性能与稳定性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178" y="5419"/>
              <a:ext cx="1387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05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384288" y="4756785"/>
            <a:ext cx="3224022" cy="585725"/>
            <a:chOff x="2178" y="5402"/>
            <a:chExt cx="5077" cy="922"/>
          </a:xfrm>
        </p:grpSpPr>
        <p:sp>
          <p:nvSpPr>
            <p:cNvPr id="37" name="文本框 36"/>
            <p:cNvSpPr txBox="1"/>
            <p:nvPr/>
          </p:nvSpPr>
          <p:spPr>
            <a:xfrm>
              <a:off x="3565" y="5402"/>
              <a:ext cx="3690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落地价值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2178" y="5419"/>
              <a:ext cx="1387" cy="905"/>
            </a:xfrm>
            <a:prstGeom prst="rect">
              <a:avLst/>
            </a:prstGeom>
            <a:noFill/>
          </p:spPr>
          <p:txBody>
            <a:bodyPr anchor="ctr"/>
            <a:p>
              <a:pPr marL="0" marR="0" lvl="0" indent="0" algn="l" defTabSz="914400" rtl="0" eaLnBrk="1" fontAlgn="t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0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+mn-ea"/>
                </a:rPr>
                <a:t>06</a:t>
              </a:r>
              <a:endParaRPr kumimoji="0" lang="en-US" altLang="zh-CN" sz="3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背景与问题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23215" y="726440"/>
            <a:ext cx="12862560" cy="5641340"/>
          </a:xfrm>
          <a:prstGeom prst="rect">
            <a:avLst/>
          </a:prstGeom>
          <a:solidFill>
            <a:schemeClr val="bg1"/>
          </a:solidFill>
          <a:ln>
            <a:solidFill>
              <a:srgbClr val="012F8D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</a:rPr>
              <a:t>背景与问题：银行真实业务场景的监管问答之痛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</a:rPr>
              <a:t>信贷审批、风险分类、资本管理、消保投诉、反洗钱、支付结算、普惠金融、监管报送等场景均需快速查询制度依据与指标口径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" y="1954530"/>
            <a:ext cx="3611880" cy="185610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54530"/>
            <a:ext cx="3611880" cy="566928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44637"/>
            <a:ext cx="3337560" cy="38671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2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资料分散、格式多样</a:t>
            </a:r>
            <a:endParaRPr sz="2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7385" y="2658745"/>
            <a:ext cx="3401060" cy="986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监管文件分散于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金融监管总局、人民银行、政府网站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等渠道，Word / PDF / Excel 与附件并存，更新频繁、版本差异明显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88790" y="1954530"/>
            <a:ext cx="3611880" cy="185610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88536" y="1954530"/>
            <a:ext cx="3611880" cy="566928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5696" y="2075434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人工查询易出错</a:t>
            </a:r>
            <a:endParaRPr sz="2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413250" y="2658745"/>
            <a:ext cx="3517265" cy="986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易漏查、误用旧规、条款定位不准、表格指标口径混淆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；固定报表与自助分析难以满足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跨文件、跨版本、跨表格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的监管问答需求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2" name="Rectangle 14"/>
          <p:cNvSpPr/>
          <p:nvPr/>
        </p:nvSpPr>
        <p:spPr>
          <a:xfrm>
            <a:off x="8074025" y="1954530"/>
            <a:ext cx="3611880" cy="185610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4151" y="1953895"/>
            <a:ext cx="3611880" cy="566928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2075434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业务要求准确可追溯</a:t>
            </a:r>
            <a:endParaRPr sz="2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38743" y="2658618"/>
            <a:ext cx="3291840" cy="986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业务判断要求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“准确可追溯”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，但现有查询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流程分散、格式复杂、人工检索</a:t>
            </a: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难以稳定保证可信性</a:t>
            </a:r>
            <a:endParaRPr sz="140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02920" y="3915918"/>
            <a:ext cx="11183112" cy="205740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15918"/>
            <a:ext cx="82296" cy="20574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89070"/>
            <a:ext cx="10698480" cy="3867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命题四大技术卡点</a:t>
            </a:r>
            <a:endParaRPr sz="2400">
              <a:solidFill>
                <a:srgbClr val="C00000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77240" y="4383405"/>
            <a:ext cx="10698480" cy="164846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多源异构文档解析难</a:t>
            </a: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版式差异大，常规切分难以保留标题层级、条款编号、表头结构、单位与时间维度</a:t>
            </a:r>
            <a:r>
              <a:rPr lang="zh-CN"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检索精度与证据定位难：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仅关键词召回易同名文件、新旧版本混淆，无法稳定返回最小充分证据</a:t>
            </a:r>
            <a:r>
              <a:rPr lang="zh-CN"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</a:t>
            </a:r>
            <a:r>
              <a:rPr sz="16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</a:rPr>
              <a:t> 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跨文件跨模态推理难：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需同时理解制度正文与统计报表，通用模型易跳过依据生成不可核验答案</a:t>
            </a:r>
            <a:r>
              <a:rPr lang="zh-CN"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；</a:t>
            </a:r>
            <a:endParaRPr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  <a:p>
            <a:pPr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250" b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▪ </a:t>
            </a:r>
            <a:r>
              <a:rPr sz="16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金融合规表达要求高：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须区分“应当/可以/不得/原则上”，数字、日期、机构、文号细微错误影响业务判断</a:t>
            </a:r>
            <a:r>
              <a:rPr lang="zh-CN" sz="1400" b="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。</a:t>
            </a:r>
            <a:endParaRPr lang="zh-CN" sz="1400" b="0"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502920" y="1840230"/>
            <a:ext cx="11183112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02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解决方案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50520" y="721360"/>
            <a:ext cx="12862560" cy="5641340"/>
          </a:xfrm>
          <a:prstGeom prst="rect">
            <a:avLst/>
          </a:prstGeom>
          <a:solidFill>
            <a:schemeClr val="bg1"/>
          </a:solidFill>
          <a:ln>
            <a:solidFill>
              <a:srgbClr val="012F8D"/>
            </a:solidFill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总体思路：以可信 RAG 为核心的端到端业务链路</a:t>
            </a:r>
            <a:endParaRPr sz="30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3" name="Rectangle 5"/>
          <p:cNvSpPr/>
          <p:nvPr/>
        </p:nvSpPr>
        <p:spPr>
          <a:xfrm>
            <a:off x="713105" y="1553845"/>
            <a:ext cx="1101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3420" y="1686560"/>
            <a:ext cx="11155680" cy="26352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 xml:space="preserve">构建“</a:t>
            </a: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输入 → 结构化处理 → 检索推理 → 可信校验 → 可溯源输出 → 审计评测</a:t>
            </a:r>
            <a:r>
              <a:rPr sz="16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 xml:space="preserve">”全链路，打造监管知识问答系统</a:t>
            </a:r>
          </a:p>
        </p:txBody>
      </p:sp>
      <p:sp>
        <p:nvSpPr>
          <p:cNvPr id="24" name="Pentagon 6"/>
          <p:cNvSpPr/>
          <p:nvPr/>
        </p:nvSpPr>
        <p:spPr>
          <a:xfrm>
            <a:off x="502920" y="2101850"/>
            <a:ext cx="1691640" cy="566928"/>
          </a:xfrm>
          <a:prstGeom prst="homePlate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TextBox 7"/>
          <p:cNvSpPr txBox="1"/>
          <p:nvPr/>
        </p:nvSpPr>
        <p:spPr>
          <a:xfrm>
            <a:off x="61264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输入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6" name="Chevron 8"/>
          <p:cNvSpPr/>
          <p:nvPr/>
        </p:nvSpPr>
        <p:spPr>
          <a:xfrm>
            <a:off x="2377439" y="2101850"/>
            <a:ext cx="1691640" cy="566928"/>
          </a:xfrm>
          <a:prstGeom prst="chevron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7" name="TextBox 9"/>
          <p:cNvSpPr txBox="1"/>
          <p:nvPr/>
        </p:nvSpPr>
        <p:spPr>
          <a:xfrm>
            <a:off x="254050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结构化处理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8" name="Chevron 10"/>
          <p:cNvSpPr/>
          <p:nvPr/>
        </p:nvSpPr>
        <p:spPr>
          <a:xfrm>
            <a:off x="4251959" y="2101850"/>
            <a:ext cx="1691640" cy="56692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9" name="TextBox 11"/>
          <p:cNvSpPr txBox="1"/>
          <p:nvPr/>
        </p:nvSpPr>
        <p:spPr>
          <a:xfrm>
            <a:off x="439216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检索推理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0" name="Chevron 12"/>
          <p:cNvSpPr/>
          <p:nvPr/>
        </p:nvSpPr>
        <p:spPr>
          <a:xfrm>
            <a:off x="6126479" y="2101850"/>
            <a:ext cx="1691640" cy="566928"/>
          </a:xfrm>
          <a:prstGeom prst="chevron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" name="TextBox 13"/>
          <p:cNvSpPr txBox="1"/>
          <p:nvPr/>
        </p:nvSpPr>
        <p:spPr>
          <a:xfrm>
            <a:off x="6266687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可信校验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2" name="Chevron 14"/>
          <p:cNvSpPr/>
          <p:nvPr/>
        </p:nvSpPr>
        <p:spPr>
          <a:xfrm>
            <a:off x="8001000" y="2101850"/>
            <a:ext cx="1691640" cy="566928"/>
          </a:xfrm>
          <a:prstGeom prst="chevron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3" name="TextBox 15"/>
          <p:cNvSpPr txBox="1"/>
          <p:nvPr/>
        </p:nvSpPr>
        <p:spPr>
          <a:xfrm>
            <a:off x="8179307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可溯源输出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4" name="Chevron 16"/>
          <p:cNvSpPr/>
          <p:nvPr/>
        </p:nvSpPr>
        <p:spPr>
          <a:xfrm>
            <a:off x="9875520" y="2101850"/>
            <a:ext cx="1691640" cy="566928"/>
          </a:xfrm>
          <a:prstGeom prst="chevron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5" name="TextBox 17"/>
          <p:cNvSpPr txBox="1"/>
          <p:nvPr/>
        </p:nvSpPr>
        <p:spPr>
          <a:xfrm>
            <a:off x="10030968" y="2228851"/>
            <a:ext cx="146304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审计评测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6" name="TextBox 18"/>
          <p:cNvSpPr txBox="1"/>
          <p:nvPr/>
        </p:nvSpPr>
        <p:spPr>
          <a:xfrm>
            <a:off x="502920" y="2750820"/>
            <a:ext cx="11155680" cy="3867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设计原则</a:t>
            </a:r>
            <a:endParaRPr sz="2400">
              <a:solidFill>
                <a:srgbClr val="C00000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7" name="Rectangle 19"/>
          <p:cNvSpPr/>
          <p:nvPr/>
        </p:nvSpPr>
        <p:spPr>
          <a:xfrm>
            <a:off x="502920" y="3238500"/>
            <a:ext cx="548640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8" name="Rectangle 20"/>
          <p:cNvSpPr/>
          <p:nvPr/>
        </p:nvSpPr>
        <p:spPr>
          <a:xfrm>
            <a:off x="502920" y="3238500"/>
            <a:ext cx="82296" cy="105156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9" name="TextBox 21"/>
          <p:cNvSpPr txBox="1"/>
          <p:nvPr/>
        </p:nvSpPr>
        <p:spPr>
          <a:xfrm>
            <a:off x="731520" y="3288792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1. 确定性优先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0" name="TextBox 22"/>
          <p:cNvSpPr txBox="1"/>
          <p:nvPr/>
        </p:nvSpPr>
        <p:spPr>
          <a:xfrm>
            <a:off x="731520" y="3670300"/>
            <a:ext cx="5257800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表格取数、计算、拒答边界全部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程序化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，不依赖</a:t>
            </a:r>
            <a:r>
              <a:rPr lang="zh-CN"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大语言模型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 LLM 猜测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41" name="Rectangle 23"/>
          <p:cNvSpPr/>
          <p:nvPr/>
        </p:nvSpPr>
        <p:spPr>
          <a:xfrm>
            <a:off x="6199505" y="3238500"/>
            <a:ext cx="554355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2" name="Rectangle 24"/>
          <p:cNvSpPr/>
          <p:nvPr/>
        </p:nvSpPr>
        <p:spPr>
          <a:xfrm>
            <a:off x="6199632" y="3238500"/>
            <a:ext cx="82296" cy="105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3" name="TextBox 25"/>
          <p:cNvSpPr txBox="1"/>
          <p:nvPr/>
        </p:nvSpPr>
        <p:spPr>
          <a:xfrm>
            <a:off x="6428232" y="3288792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2. 证据闭环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44" name="TextBox 26"/>
          <p:cNvSpPr txBox="1"/>
          <p:nvPr/>
        </p:nvSpPr>
        <p:spPr>
          <a:xfrm>
            <a:off x="6428105" y="3670300"/>
            <a:ext cx="5120640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答案必须引用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条款/段落/单元格证据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>，事实校验失败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自动修复或拒答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  <a:sym typeface="+mn-ea"/>
            </a:endParaRPr>
          </a:p>
        </p:txBody>
      </p:sp>
      <p:sp>
        <p:nvSpPr>
          <p:cNvPr id="45" name="Rectangle 27"/>
          <p:cNvSpPr/>
          <p:nvPr/>
        </p:nvSpPr>
        <p:spPr>
          <a:xfrm>
            <a:off x="502920" y="4445508"/>
            <a:ext cx="548640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6" name="Rectangle 28"/>
          <p:cNvSpPr/>
          <p:nvPr/>
        </p:nvSpPr>
        <p:spPr>
          <a:xfrm>
            <a:off x="502920" y="4445508"/>
            <a:ext cx="82296" cy="105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7" name="TextBox 29"/>
          <p:cNvSpPr txBox="1"/>
          <p:nvPr/>
        </p:nvSpPr>
        <p:spPr>
          <a:xfrm>
            <a:off x="731520" y="4480560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3. 通用能力</a:t>
            </a:r>
            <a:endParaRPr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8" name="TextBox 30"/>
          <p:cNvSpPr txBox="1"/>
          <p:nvPr/>
        </p:nvSpPr>
        <p:spPr>
          <a:xfrm>
            <a:off x="731520" y="4862195"/>
            <a:ext cx="5120005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rPr>
              <a:t>均为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>语言与结构层面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sym typeface="+mn-ea"/>
              </a:rPr>
              <a:t>通用改进，不绑定具体题目，评测集做回归门禁</a:t>
            </a:r>
            <a:endParaRPr sz="140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sym typeface="+mn-ea"/>
            </a:endParaRPr>
          </a:p>
        </p:txBody>
      </p:sp>
      <p:sp>
        <p:nvSpPr>
          <p:cNvPr id="49" name="Rectangle 31"/>
          <p:cNvSpPr/>
          <p:nvPr/>
        </p:nvSpPr>
        <p:spPr>
          <a:xfrm>
            <a:off x="6199505" y="4445635"/>
            <a:ext cx="5543550" cy="105156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0" name="Rectangle 32"/>
          <p:cNvSpPr/>
          <p:nvPr/>
        </p:nvSpPr>
        <p:spPr>
          <a:xfrm>
            <a:off x="6199632" y="4445508"/>
            <a:ext cx="82296" cy="105156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1" name="TextBox 33"/>
          <p:cNvSpPr txBox="1"/>
          <p:nvPr/>
        </p:nvSpPr>
        <p:spPr>
          <a:xfrm>
            <a:off x="6428232" y="4480560"/>
            <a:ext cx="512064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4. 可</a:t>
            </a:r>
            <a:r>
              <a:rPr lang="zh-CN"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溯源</a:t>
            </a:r>
            <a:endParaRPr lang="zh-CN" sz="20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52" name="TextBox 34"/>
          <p:cNvSpPr txBox="1"/>
          <p:nvPr/>
        </p:nvSpPr>
        <p:spPr>
          <a:xfrm>
            <a:off x="6428105" y="4862195"/>
            <a:ext cx="5314950" cy="5340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入库、评测、评分全</a:t>
            </a:r>
            <a:r>
              <a:rPr lang="zh-CN"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部</a:t>
            </a:r>
            <a:r>
              <a:rPr sz="1400" b="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>脚本化</a:t>
            </a: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，manifest 记录 doc_id 与 SHA-256 溯源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53" name="TextBox 35"/>
          <p:cNvSpPr txBox="1"/>
          <p:nvPr/>
        </p:nvSpPr>
        <p:spPr>
          <a:xfrm>
            <a:off x="1369695" y="5614035"/>
            <a:ext cx="9408160" cy="38671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20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目标：形成 “</a:t>
            </a: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问得准、找得到、答得清、可追溯、可</a:t>
            </a:r>
            <a:r>
              <a:rPr lang="zh-CN"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>溯源</a:t>
            </a:r>
            <a:r>
              <a:rPr sz="20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” 的系统方案</a:t>
            </a:r>
            <a:endParaRPr sz="20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50520" y="70294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系统架构：双引擎协同的可信监管知识中枢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 xml:space="preserve">FastAPI + React 前后端分离，文本推理与表格计算协同，构建检索、核验、交付一体化服务。</a:t>
            </a:r>
          </a:p>
        </p:txBody>
      </p:sp>
      <p:sp>
        <p:nvSpPr>
          <p:cNvPr id="59" name="Rectangle 8"/>
          <p:cNvSpPr/>
          <p:nvPr/>
        </p:nvSpPr>
        <p:spPr>
          <a:xfrm>
            <a:off x="502920" y="2663190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0" name="Rectangle 9"/>
          <p:cNvSpPr/>
          <p:nvPr/>
        </p:nvSpPr>
        <p:spPr>
          <a:xfrm>
            <a:off x="502920" y="2663190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1" name="TextBox 10"/>
          <p:cNvSpPr txBox="1"/>
          <p:nvPr/>
        </p:nvSpPr>
        <p:spPr>
          <a:xfrm>
            <a:off x="612648" y="2744471"/>
            <a:ext cx="338328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查询规划 QueryPlanner</a:t>
            </a:r>
          </a:p>
        </p:txBody>
      </p:sp>
      <p:sp>
        <p:nvSpPr>
          <p:cNvPr id="62" name="TextBox 11"/>
          <p:cNvSpPr txBox="1"/>
          <p:nvPr/>
        </p:nvSpPr>
        <p:spPr>
          <a:xfrm>
            <a:off x="640080" y="3166872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多视角子查询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与业务维度识别</a:t>
            </a:r>
          </a:p>
          <a:p>
            <a:pPr algn="l" fontAlgn="auto">
              <a:lnSpc>
                <a:spcPct val="150000"/>
              </a:lnSpc>
              <a:spcAft>
                <a:spcPts val="400"/>
              </a:spcAft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按证据缺口触发 HyDE 补检</a:t>
            </a:r>
          </a:p>
        </p:txBody>
      </p:sp>
      <p:sp>
        <p:nvSpPr>
          <p:cNvPr id="63" name="Rectangle 12"/>
          <p:cNvSpPr/>
          <p:nvPr/>
        </p:nvSpPr>
        <p:spPr>
          <a:xfrm>
            <a:off x="4288536" y="2663190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4" name="Rectangle 13"/>
          <p:cNvSpPr/>
          <p:nvPr/>
        </p:nvSpPr>
        <p:spPr>
          <a:xfrm>
            <a:off x="4288536" y="2663190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5" name="TextBox 14"/>
          <p:cNvSpPr txBox="1"/>
          <p:nvPr/>
        </p:nvSpPr>
        <p:spPr>
          <a:xfrm>
            <a:off x="4398264" y="2760028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混合检索与证据扩展</a:t>
            </a:r>
          </a:p>
        </p:txBody>
      </p:sp>
      <p:sp>
        <p:nvSpPr>
          <p:cNvPr id="66" name="TextBox 15"/>
          <p:cNvSpPr txBox="1"/>
          <p:nvPr/>
        </p:nvSpPr>
        <p:spPr>
          <a:xfrm>
            <a:off x="4425696" y="3166872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稠密 / 稀疏 / 词面召回 + RRF</a:t>
            </a: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条款定位、引用扩展与 BGE 重排</a:t>
            </a:r>
          </a:p>
        </p:txBody>
      </p:sp>
      <p:sp>
        <p:nvSpPr>
          <p:cNvPr id="67" name="Rectangle 16"/>
          <p:cNvSpPr/>
          <p:nvPr/>
        </p:nvSpPr>
        <p:spPr>
          <a:xfrm>
            <a:off x="8074151" y="2663190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8" name="Rectangle 17"/>
          <p:cNvSpPr/>
          <p:nvPr/>
        </p:nvSpPr>
        <p:spPr>
          <a:xfrm>
            <a:off x="8074151" y="2663190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9" name="TextBox 18"/>
          <p:cNvSpPr txBox="1"/>
          <p:nvPr/>
        </p:nvSpPr>
        <p:spPr>
          <a:xfrm>
            <a:off x="8183879" y="2760028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证据受限生成</a:t>
            </a:r>
          </a:p>
        </p:txBody>
      </p:sp>
      <p:sp>
        <p:nvSpPr>
          <p:cNvPr id="70" name="TextBox 19"/>
          <p:cNvSpPr txBox="1"/>
          <p:nvPr/>
        </p:nvSpPr>
        <p:spPr>
          <a:xfrm>
            <a:off x="8211311" y="3166872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CRAG-lite 覆盖诊断与定向补证</a:t>
            </a: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生成、引用修复与受限降级</a:t>
            </a:r>
          </a:p>
        </p:txBody>
      </p:sp>
      <p:sp>
        <p:nvSpPr>
          <p:cNvPr id="71" name="Rectangle 20"/>
          <p:cNvSpPr/>
          <p:nvPr/>
        </p:nvSpPr>
        <p:spPr>
          <a:xfrm>
            <a:off x="502920" y="3961637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2" name="Rectangle 21"/>
          <p:cNvSpPr/>
          <p:nvPr/>
        </p:nvSpPr>
        <p:spPr>
          <a:xfrm>
            <a:off x="502920" y="3961637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3" name="TextBox 22"/>
          <p:cNvSpPr txBox="1"/>
          <p:nvPr/>
        </p:nvSpPr>
        <p:spPr>
          <a:xfrm>
            <a:off x="612648" y="4042917"/>
            <a:ext cx="338328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确定性表格计算</a:t>
            </a:r>
          </a:p>
        </p:txBody>
      </p:sp>
      <p:sp>
        <p:nvSpPr>
          <p:cNvPr id="74" name="TextBox 23"/>
          <p:cNvSpPr txBox="1"/>
          <p:nvPr/>
        </p:nvSpPr>
        <p:spPr>
          <a:xfrm>
            <a:off x="640080" y="4465320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按指标 / 期间 / 机构精确取数</a:t>
            </a: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安全算子计算 + 单元格级溯源</a:t>
            </a:r>
          </a:p>
        </p:txBody>
      </p:sp>
      <p:sp>
        <p:nvSpPr>
          <p:cNvPr id="75" name="Rectangle 24"/>
          <p:cNvSpPr/>
          <p:nvPr/>
        </p:nvSpPr>
        <p:spPr>
          <a:xfrm>
            <a:off x="4288536" y="3961637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6" name="Rectangle 25"/>
          <p:cNvSpPr/>
          <p:nvPr/>
        </p:nvSpPr>
        <p:spPr>
          <a:xfrm>
            <a:off x="4288536" y="3961637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7" name="TextBox 26"/>
          <p:cNvSpPr txBox="1"/>
          <p:nvPr/>
        </p:nvSpPr>
        <p:spPr>
          <a:xfrm>
            <a:off x="4398264" y="4058475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事实与监管语义校验</a:t>
            </a:r>
          </a:p>
        </p:txBody>
      </p:sp>
      <p:sp>
        <p:nvSpPr>
          <p:cNvPr id="78" name="TextBox 27"/>
          <p:cNvSpPr txBox="1"/>
          <p:nvPr/>
        </p:nvSpPr>
        <p:spPr>
          <a:xfrm>
            <a:off x="4425696" y="4465320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核对数字、日期、机构与文号</a:t>
            </a: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识别规范强度、条件与例外</a:t>
            </a:r>
          </a:p>
        </p:txBody>
      </p:sp>
      <p:sp>
        <p:nvSpPr>
          <p:cNvPr id="79" name="Rectangle 28"/>
          <p:cNvSpPr/>
          <p:nvPr/>
        </p:nvSpPr>
        <p:spPr>
          <a:xfrm>
            <a:off x="8074151" y="3961637"/>
            <a:ext cx="3611880" cy="12344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0" name="Rectangle 29"/>
          <p:cNvSpPr/>
          <p:nvPr/>
        </p:nvSpPr>
        <p:spPr>
          <a:xfrm>
            <a:off x="8074151" y="3961637"/>
            <a:ext cx="3611880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1" name="TextBox 30"/>
          <p:cNvSpPr txBox="1"/>
          <p:nvPr/>
        </p:nvSpPr>
        <p:spPr>
          <a:xfrm>
            <a:off x="8183879" y="4058475"/>
            <a:ext cx="33832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8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风险边界与审计</a:t>
            </a:r>
          </a:p>
        </p:txBody>
      </p:sp>
      <p:sp>
        <p:nvSpPr>
          <p:cNvPr id="82" name="TextBox 31"/>
          <p:cNvSpPr txBox="1"/>
          <p:nvPr/>
        </p:nvSpPr>
        <p:spPr>
          <a:xfrm>
            <a:off x="8211311" y="4465320"/>
            <a:ext cx="3337560" cy="6635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依据不足时结构化拒答或澄清</a:t>
            </a:r>
          </a:p>
          <a:p>
            <a:pPr lvl="0" algn="l" fontAlgn="auto">
              <a:lnSpc>
                <a:spcPct val="150000"/>
              </a:lnSpc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回答、引用与问答记录关联留存</a:t>
            </a:r>
          </a:p>
        </p:txBody>
      </p:sp>
      <p:sp>
        <p:nvSpPr>
          <p:cNvPr id="84" name="TextBox 33"/>
          <p:cNvSpPr txBox="1"/>
          <p:nvPr/>
        </p:nvSpPr>
        <p:spPr>
          <a:xfrm>
            <a:off x="433832" y="5367528"/>
            <a:ext cx="20116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Qdrant 向量索引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85" name="TextBox 34"/>
          <p:cNvSpPr txBox="1"/>
          <p:nvPr/>
        </p:nvSpPr>
        <p:spPr>
          <a:xfrm>
            <a:off x="691642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45,530 条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87" name="TextBox 36"/>
          <p:cNvSpPr txBox="1"/>
          <p:nvPr/>
        </p:nvSpPr>
        <p:spPr>
          <a:xfrm>
            <a:off x="2595880" y="5368163"/>
            <a:ext cx="20116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SQLite 双存储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88" name="TextBox 37"/>
          <p:cNvSpPr txBox="1"/>
          <p:nvPr/>
        </p:nvSpPr>
        <p:spPr>
          <a:xfrm>
            <a:off x="2160270" y="5684520"/>
            <a:ext cx="2258695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46,551 chunk / 133,001 单元格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0" name="TextBox 39"/>
          <p:cNvSpPr txBox="1"/>
          <p:nvPr/>
        </p:nvSpPr>
        <p:spPr>
          <a:xfrm>
            <a:off x="4573905" y="5370195"/>
            <a:ext cx="29794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BGE-M3 + BGE-reranker-v2-m3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1" name="TextBox 40"/>
          <p:cNvSpPr txBox="1"/>
          <p:nvPr/>
        </p:nvSpPr>
        <p:spPr>
          <a:xfrm>
            <a:off x="5444998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</a:rPr>
              <a:t>本地嵌入与重排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93" name="TextBox 42"/>
          <p:cNvSpPr txBox="1"/>
          <p:nvPr/>
        </p:nvSpPr>
        <p:spPr>
          <a:xfrm>
            <a:off x="7721346" y="5368798"/>
            <a:ext cx="20116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DeepSeek API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4" name="TextBox 43"/>
          <p:cNvSpPr txBox="1"/>
          <p:nvPr/>
        </p:nvSpPr>
        <p:spPr>
          <a:xfrm>
            <a:off x="7783576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生成 / 规划 / 校验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6" name="TextBox 45"/>
          <p:cNvSpPr txBox="1"/>
          <p:nvPr/>
        </p:nvSpPr>
        <p:spPr>
          <a:xfrm>
            <a:off x="9316720" y="5369560"/>
            <a:ext cx="256413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>LibreOffice + pymupdf4llm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97" name="TextBox 46"/>
          <p:cNvSpPr txBox="1"/>
          <p:nvPr/>
        </p:nvSpPr>
        <p:spPr>
          <a:xfrm>
            <a:off x="9610344" y="5684520"/>
            <a:ext cx="2011680" cy="20193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2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>PDF / Word / Excel 解析</a:t>
            </a:r>
            <a:endParaRPr sz="12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  <a:cs typeface="OPPOSans R" panose="00020600040101010101" charset="-122"/>
            </a:endParaRPr>
          </a:p>
        </p:txBody>
      </p:sp>
      <p:sp>
        <p:nvSpPr>
          <p:cNvPr id="98" name="Rectangle 5"/>
          <p:cNvSpPr/>
          <p:nvPr/>
        </p:nvSpPr>
        <p:spPr>
          <a:xfrm>
            <a:off x="502920" y="1840230"/>
            <a:ext cx="11183112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1" name="Rectangle 6"/>
          <p:cNvSpPr/>
          <p:nvPr/>
        </p:nvSpPr>
        <p:spPr>
          <a:xfrm>
            <a:off x="502920" y="1924050"/>
            <a:ext cx="11183112" cy="685800"/>
          </a:xfrm>
          <a:prstGeom prst="rect">
            <a:avLst/>
          </a:prstGeom>
          <a:solidFill>
            <a:srgbClr val="195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2" name="TextBox 7"/>
          <p:cNvSpPr txBox="1"/>
          <p:nvPr/>
        </p:nvSpPr>
        <p:spPr>
          <a:xfrm>
            <a:off x="685800" y="2090674"/>
            <a:ext cx="1078992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 xml:space="preserve">统一业务入口</a:t>
            </a:r>
            <a:r>
              <a:rPr sz="1600" b="0">
                <a:solidFill>
                  <a:schemeClr val="bg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  </a:t>
            </a:r>
            <a:r>
              <a:rPr sz="1600" b="0">
                <a:solidFill>
                  <a:schemeClr val="bg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React + TypeScript + Vite：可信问答 / 文档管理 / 审计记录 / 进度与已核验内容预览</a:t>
            </a:r>
          </a:p>
        </p:txBody>
      </p:sp>
      <p:sp>
        <p:nvSpPr>
          <p:cNvPr id="104" name="矩形: 圆角 22"/>
          <p:cNvSpPr/>
          <p:nvPr/>
        </p:nvSpPr>
        <p:spPr>
          <a:xfrm flipV="1">
            <a:off x="294640" y="5268595"/>
            <a:ext cx="11586845" cy="721995"/>
          </a:xfrm>
          <a:prstGeom prst="roundRect">
            <a:avLst>
              <a:gd name="adj" fmla="val 4633"/>
            </a:avLst>
          </a:prstGeom>
          <a:noFill/>
          <a:ln>
            <a:solidFill>
              <a:srgbClr val="00418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7119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任务一：结构感知解析，构建可计算的监管知识底座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 xml:space="preserve">500 份制度与附件完成入库：保留条款上下文、表格业务维度与文件身份，支撑后续精准检索和核验。</a:t>
            </a:r>
          </a:p>
        </p:txBody>
      </p:sp>
      <p:sp>
        <p:nvSpPr>
          <p:cNvPr id="98" name="Rectangle 5"/>
          <p:cNvSpPr/>
          <p:nvPr/>
        </p:nvSpPr>
        <p:spPr>
          <a:xfrm>
            <a:off x="502920" y="1840230"/>
            <a:ext cx="11412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Rectangle 6"/>
          <p:cNvSpPr/>
          <p:nvPr/>
        </p:nvSpPr>
        <p:spPr>
          <a:xfrm>
            <a:off x="502920" y="1929765"/>
            <a:ext cx="5257800" cy="208343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021205"/>
            <a:ext cx="502920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</a:rPr>
              <a:t xml:space="preserve">多源异构文档解析管线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43480"/>
            <a:ext cx="5029200" cy="14636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PDF：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pymupdf4llm 版式解析，提取原文段落与标题。</a:t>
            </a: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Word：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python-docx + LibreOffice 抽取正文、表格与章节。</a:t>
            </a: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Excel：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关联表头、行列标签、期间、单位、数值与坐标。</a:t>
            </a: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统一产出：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制度与附件转化为文本片段和结构化单元格，保留业务语义。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0425" y="1929765"/>
            <a:ext cx="5974715" cy="208343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00572" y="2021205"/>
            <a:ext cx="5029200" cy="32512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条款、定义与单元格多粒度索引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0445" y="2443480"/>
            <a:ext cx="5746115" cy="14122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条款与定义索引：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关联章节及邻接片段；新增 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440 条定义、164 行条款索引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，直接定位核心依据。</a:t>
            </a: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表格单元级索引：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133,001 个单元格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绑定指标、期间、机构与坐标，支撑精确取数和安全计算。</a:t>
            </a:r>
          </a:p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双存储协同：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Qdrant 召回 + SQLite 取证，连接查询与计算。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502920" y="4093845"/>
            <a:ext cx="2157730" cy="1051560"/>
            <a:chOff x="792" y="6615"/>
            <a:chExt cx="3398" cy="1656"/>
          </a:xfrm>
        </p:grpSpPr>
        <p:sp>
          <p:nvSpPr>
            <p:cNvPr id="13" name="Rectangle 12"/>
            <p:cNvSpPr/>
            <p:nvPr/>
          </p:nvSpPr>
          <p:spPr>
            <a:xfrm>
              <a:off x="792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64" y="6782"/>
              <a:ext cx="3254" cy="80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500</a:t>
              </a:r>
              <a:endParaRPr sz="32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4" name="TextBox 14"/>
            <p:cNvSpPr txBox="1"/>
            <p:nvPr/>
          </p:nvSpPr>
          <p:spPr>
            <a:xfrm>
              <a:off x="864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</a:pPr>
              <a:r>
                <a:rPr sz="1600" b="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</a:rPr>
                <a:t xml:space="preserve">制度与统计附件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2790190" y="4093845"/>
            <a:ext cx="2157730" cy="1051560"/>
            <a:chOff x="4349" y="6615"/>
            <a:chExt cx="3398" cy="1656"/>
          </a:xfrm>
        </p:grpSpPr>
        <p:sp>
          <p:nvSpPr>
            <p:cNvPr id="16" name="Rectangle 15"/>
            <p:cNvSpPr/>
            <p:nvPr/>
          </p:nvSpPr>
          <p:spPr>
            <a:xfrm>
              <a:off x="4349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421" y="6782"/>
              <a:ext cx="3254" cy="80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  <a:buClrTx/>
                <a:buSzTx/>
                <a:buFontTx/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45,530</a:t>
              </a:r>
              <a:endParaRPr sz="32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21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ctr">
                <a:spcAft>
                  <a:spcPts val="400"/>
                </a:spcAft>
                <a:buClrTx/>
                <a:buSzTx/>
                <a:buFontTx/>
              </a:pPr>
              <a:r>
                <a: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 xml:space="preserve">Qdrant 向量索引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5077460" y="4093845"/>
            <a:ext cx="2157730" cy="1051560"/>
            <a:chOff x="7906" y="6615"/>
            <a:chExt cx="3398" cy="1656"/>
          </a:xfrm>
        </p:grpSpPr>
        <p:sp>
          <p:nvSpPr>
            <p:cNvPr id="19" name="Rectangle 18"/>
            <p:cNvSpPr/>
            <p:nvPr/>
          </p:nvSpPr>
          <p:spPr>
            <a:xfrm>
              <a:off x="7906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7978" y="6782"/>
              <a:ext cx="3254" cy="1282"/>
              <a:chOff x="7978" y="6782"/>
              <a:chExt cx="3254" cy="1282"/>
            </a:xfrm>
          </p:grpSpPr>
          <p:sp>
            <p:nvSpPr>
              <p:cNvPr id="20" name="TextBox 19"/>
              <p:cNvSpPr txBox="1"/>
              <p:nvPr/>
            </p:nvSpPr>
            <p:spPr>
              <a:xfrm>
                <a:off x="7978" y="6782"/>
                <a:ext cx="3254" cy="706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 anchor="t">
                <a:spAutoFit/>
              </a:bodyPr>
              <a:p>
                <a:pPr algn="ctr">
                  <a:spcAft>
                    <a:spcPts val="400"/>
                  </a:spcAft>
                  <a:buClrTx/>
                  <a:buSzTx/>
                  <a:buFontTx/>
                </a:pPr>
                <a:r>
                  <a:rPr sz="3200">
                    <a:solidFill>
                      <a:srgbClr val="F0C800"/>
                    </a:solidFill>
                    <a:latin typeface="OPPOSans B" panose="00020600040101010101" charset="-122"/>
                    <a:ea typeface="OPPOSans B" panose="00020600040101010101" charset="-122"/>
                  </a:rPr>
                  <a:t>46,551</a:t>
                </a:r>
                <a:endPara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endParaRP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978" y="7650"/>
                <a:ext cx="3254" cy="415"/>
              </a:xfrm>
              <a:prstGeom prst="rect">
                <a:avLst/>
              </a:prstGeom>
              <a:noFill/>
            </p:spPr>
            <p:txBody>
              <a:bodyPr wrap="square" lIns="18288" tIns="9144" rIns="18288" bIns="9144" anchor="t">
                <a:spAutoFit/>
              </a:bodyPr>
              <a:p>
                <a:pPr lvl="0" algn="ctr">
                  <a:spcAft>
                    <a:spcPts val="400"/>
                  </a:spcAft>
                  <a:buClrTx/>
                  <a:buSzTx/>
                  <a:buFontTx/>
                </a:pPr>
                <a:r>
                  <a:rPr sz="1600">
                    <a:solidFill>
                      <a:srgbClr val="FFFFFF"/>
                    </a:solidFill>
                    <a:latin typeface="OPPOSans R" panose="00020600040101010101" charset="-122"/>
                    <a:ea typeface="OPPOSans R" panose="00020600040101010101" charset="-122"/>
                    <a:sym typeface="+mn-ea"/>
                  </a:rPr>
                  <a:t xml:space="preserve">知识片段元数据</a:t>
                </a:r>
              </a:p>
            </p:txBody>
          </p:sp>
        </p:grpSp>
      </p:grpSp>
      <p:grpSp>
        <p:nvGrpSpPr>
          <p:cNvPr id="35" name="组合 34"/>
          <p:cNvGrpSpPr/>
          <p:nvPr/>
        </p:nvGrpSpPr>
        <p:grpSpPr>
          <a:xfrm>
            <a:off x="7364730" y="4093845"/>
            <a:ext cx="2157730" cy="1051560"/>
            <a:chOff x="11462" y="6615"/>
            <a:chExt cx="3398" cy="1656"/>
          </a:xfrm>
        </p:grpSpPr>
        <p:sp>
          <p:nvSpPr>
            <p:cNvPr id="22" name="Rectangle 21"/>
            <p:cNvSpPr/>
            <p:nvPr/>
          </p:nvSpPr>
          <p:spPr>
            <a:xfrm>
              <a:off x="11462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534" y="6782"/>
              <a:ext cx="3254" cy="706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  <a:buClrTx/>
                <a:buSzTx/>
                <a:buFontTx/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133,001</a:t>
              </a:r>
              <a:endParaRPr sz="32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1534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ctr">
                <a:spcAft>
                  <a:spcPts val="400"/>
                </a:spcAft>
                <a:buClrTx/>
                <a:buSzTx/>
                <a:buFontTx/>
              </a:pPr>
              <a:r>
                <a: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 xml:space="preserve">结构化表格单元格</a:t>
              </a: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9652000" y="4093845"/>
            <a:ext cx="2157730" cy="1051560"/>
            <a:chOff x="15127" y="6615"/>
            <a:chExt cx="3398" cy="1656"/>
          </a:xfrm>
        </p:grpSpPr>
        <p:sp>
          <p:nvSpPr>
            <p:cNvPr id="25" name="Rectangle 24"/>
            <p:cNvSpPr/>
            <p:nvPr/>
          </p:nvSpPr>
          <p:spPr>
            <a:xfrm>
              <a:off x="15127" y="6615"/>
              <a:ext cx="3398" cy="1656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>
                <a:sym typeface="+mn-ea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5199" y="6782"/>
              <a:ext cx="3254" cy="80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ctr">
                <a:spcAft>
                  <a:spcPts val="400"/>
                </a:spcAft>
              </a:pPr>
              <a:r>
                <a:rPr sz="32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>100%</a:t>
              </a:r>
              <a:endParaRPr sz="2800" b="1">
                <a:solidFill>
                  <a:srgbClr val="F0C8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5199" y="7650"/>
              <a:ext cx="3254" cy="415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ctr">
                <a:spcAft>
                  <a:spcPts val="400"/>
                </a:spcAft>
                <a:buClrTx/>
                <a:buSzTx/>
                <a:buFontTx/>
              </a:pPr>
              <a:r>
                <a:rPr sz="1600">
                  <a:solidFill>
                    <a:srgbClr val="FFFFFF"/>
                  </a:solidFill>
                  <a:latin typeface="OPPOSans R" panose="00020600040101010101" charset="-122"/>
                  <a:ea typeface="OPPOSans R" panose="00020600040101010101" charset="-122"/>
                  <a:sym typeface="+mn-ea"/>
                </a:rPr>
                <a:t xml:space="preserve">本批文件处理成功率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41655" y="5255895"/>
            <a:ext cx="11346180" cy="75565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 fontAlgn="auto">
              <a:lnSpc>
                <a:spcPct val="120000"/>
              </a:lnSpc>
              <a:spcAft>
                <a:spcPts val="400"/>
              </a:spcAft>
            </a:pPr>
            <a:r>
              <a:rPr sz="24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</a:rPr>
              <a:t xml:space="preserve">全链路可溯源：</a:t>
            </a:r>
            <a:r>
              <a:rPr sz="16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manifest 绑定 doc_id、标题、SHA-256 与解析结果，文件身份核对、索引构建与回归验证协同，形成可维护、可重建的监管知识资产。</a:t>
            </a:r>
          </a:p>
        </p:txBody>
      </p:sp>
      <p:sp>
        <p:nvSpPr>
          <p:cNvPr id="37" name="矩形: 圆角 22"/>
          <p:cNvSpPr/>
          <p:nvPr/>
        </p:nvSpPr>
        <p:spPr>
          <a:xfrm flipV="1">
            <a:off x="503555" y="5286375"/>
            <a:ext cx="11306175" cy="721995"/>
          </a:xfrm>
          <a:prstGeom prst="roundRect">
            <a:avLst>
              <a:gd name="adj" fmla="val 4633"/>
            </a:avLst>
          </a:prstGeom>
          <a:noFill/>
          <a:ln>
            <a:solidFill>
              <a:srgbClr val="004182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323215" y="69024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任务二：自适应检索与跨文档证据推理引擎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 xml:space="preserve">多路召回扩大覆盖，结构定位提高精度，缺口补证增强完整性，确定性计算连接制度与报表。</a:t>
            </a:r>
          </a:p>
        </p:txBody>
      </p:sp>
      <p:sp>
        <p:nvSpPr>
          <p:cNvPr id="98" name="Rectangle 5"/>
          <p:cNvSpPr/>
          <p:nvPr/>
        </p:nvSpPr>
        <p:spPr>
          <a:xfrm>
            <a:off x="502920" y="1840230"/>
            <a:ext cx="11412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grpSp>
        <p:nvGrpSpPr>
          <p:cNvPr id="38" name="组合 37"/>
          <p:cNvGrpSpPr/>
          <p:nvPr/>
        </p:nvGrpSpPr>
        <p:grpSpPr>
          <a:xfrm>
            <a:off x="475615" y="1988185"/>
            <a:ext cx="5457190" cy="1487805"/>
            <a:chOff x="749" y="3033"/>
            <a:chExt cx="8594" cy="2343"/>
          </a:xfrm>
        </p:grpSpPr>
        <p:sp>
          <p:nvSpPr>
            <p:cNvPr id="21" name="Rectangle 8"/>
            <p:cNvSpPr/>
            <p:nvPr/>
          </p:nvSpPr>
          <p:spPr>
            <a:xfrm>
              <a:off x="749" y="3397"/>
              <a:ext cx="8594" cy="1979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22" name="Rectangle 9"/>
            <p:cNvSpPr/>
            <p:nvPr/>
          </p:nvSpPr>
          <p:spPr>
            <a:xfrm>
              <a:off x="749" y="3033"/>
              <a:ext cx="3543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23" name="TextBox 10"/>
            <p:cNvSpPr txBox="1"/>
            <p:nvPr/>
          </p:nvSpPr>
          <p:spPr>
            <a:xfrm>
              <a:off x="922" y="3161"/>
              <a:ext cx="3370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 xml:space="preserve">多路召回与查询规划</a:t>
              </a:r>
            </a:p>
          </p:txBody>
        </p:sp>
        <p:sp>
          <p:nvSpPr>
            <p:cNvPr id="24" name="TextBox 11"/>
            <p:cNvSpPr txBox="1"/>
            <p:nvPr/>
          </p:nvSpPr>
          <p:spPr>
            <a:xfrm>
              <a:off x="965" y="3868"/>
              <a:ext cx="8024" cy="1248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400"/>
                </a:spcAft>
              </a:pP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BGE-M3 稠密 / 稀疏 + 词面检索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协同召回，经 RRF 融合与 BGE 交叉编码重排。结合主题、条款与期间过滤，多视角子查询分别检索后汇聚证据，兼顾语义相似和业务约束。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74980" y="3596005"/>
            <a:ext cx="5457825" cy="1127760"/>
            <a:chOff x="748" y="5516"/>
            <a:chExt cx="8595" cy="1776"/>
          </a:xfrm>
        </p:grpSpPr>
        <p:sp>
          <p:nvSpPr>
            <p:cNvPr id="35" name="Rectangle 8"/>
            <p:cNvSpPr/>
            <p:nvPr/>
          </p:nvSpPr>
          <p:spPr>
            <a:xfrm>
              <a:off x="748" y="5880"/>
              <a:ext cx="8595" cy="1412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36" name="Rectangle 9"/>
            <p:cNvSpPr/>
            <p:nvPr/>
          </p:nvSpPr>
          <p:spPr>
            <a:xfrm>
              <a:off x="748" y="5516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37" name="TextBox 10"/>
            <p:cNvSpPr txBox="1"/>
            <p:nvPr/>
          </p:nvSpPr>
          <p:spPr>
            <a:xfrm>
              <a:off x="921" y="5644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 xml:space="preserve">HyDE 缺口补检索</a:t>
              </a:r>
            </a:p>
          </p:txBody>
        </p:sp>
        <p:sp>
          <p:nvSpPr>
            <p:cNvPr id="39" name="TextBox 11"/>
            <p:cNvSpPr txBox="1"/>
            <p:nvPr/>
          </p:nvSpPr>
          <p:spPr>
            <a:xfrm>
              <a:off x="964" y="6351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针对未覆盖要点生成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“假设条款”检索线索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，弥合业务问法与监管术语差异；按预算补搜真实原文，作为最终依据。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6128385" y="4861560"/>
            <a:ext cx="5457825" cy="1064895"/>
            <a:chOff x="9651" y="7655"/>
            <a:chExt cx="8595" cy="1677"/>
          </a:xfrm>
        </p:grpSpPr>
        <p:sp>
          <p:nvSpPr>
            <p:cNvPr id="64" name="Rectangle 8"/>
            <p:cNvSpPr/>
            <p:nvPr/>
          </p:nvSpPr>
          <p:spPr>
            <a:xfrm>
              <a:off x="9651" y="8019"/>
              <a:ext cx="8595" cy="1313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5" name="Rectangle 9"/>
            <p:cNvSpPr/>
            <p:nvPr/>
          </p:nvSpPr>
          <p:spPr>
            <a:xfrm>
              <a:off x="9651" y="7655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6" name="TextBox 10"/>
            <p:cNvSpPr txBox="1"/>
            <p:nvPr/>
          </p:nvSpPr>
          <p:spPr>
            <a:xfrm>
              <a:off x="9824" y="7783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 xml:space="preserve">单元格级确定性计算</a:t>
              </a:r>
            </a:p>
          </p:txBody>
        </p:sp>
        <p:sp>
          <p:nvSpPr>
            <p:cNvPr id="67" name="TextBox 11"/>
            <p:cNvSpPr txBox="1"/>
            <p:nvPr/>
          </p:nvSpPr>
          <p:spPr>
            <a:xfrm>
              <a:off x="9867" y="8490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按业务维度取数，安全算子返回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算式、单位与坐标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。例：季度余额差值 G27−G16 = </a:t>
              </a:r>
              <a:r>
                <a:rPr sz="1400">
                  <a:solidFill>
                    <a:srgbClr val="CE0000"/>
                  </a:solidFill>
                  <a:latin typeface="OPPOSans B" panose="00020600040101010101" charset="-122"/>
                  <a:ea typeface="OPPOSans B" panose="00020600040101010101" charset="-122"/>
                  <a:cs typeface="OPPOSans B" panose="00020600040101010101" charset="-122"/>
                </a:rPr>
                <a:t xml:space="preserve">223.340786 亿元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，可回原表复算。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170295" y="2014855"/>
            <a:ext cx="5457190" cy="1205865"/>
            <a:chOff x="9717" y="3033"/>
            <a:chExt cx="8594" cy="1899"/>
          </a:xfrm>
        </p:grpSpPr>
        <p:sp>
          <p:nvSpPr>
            <p:cNvPr id="4" name="Rectangle 8"/>
            <p:cNvSpPr/>
            <p:nvPr/>
          </p:nvSpPr>
          <p:spPr>
            <a:xfrm>
              <a:off x="9717" y="3397"/>
              <a:ext cx="8594" cy="1535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6" name="Rectangle 9"/>
            <p:cNvSpPr/>
            <p:nvPr/>
          </p:nvSpPr>
          <p:spPr>
            <a:xfrm>
              <a:off x="9717" y="3033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8" name="TextBox 10"/>
            <p:cNvSpPr txBox="1"/>
            <p:nvPr/>
          </p:nvSpPr>
          <p:spPr>
            <a:xfrm>
              <a:off x="9890" y="3161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 xml:space="preserve">条款索引与定义定位</a:t>
              </a:r>
            </a:p>
          </p:txBody>
        </p:sp>
        <p:sp>
          <p:nvSpPr>
            <p:cNvPr id="9" name="TextBox 11"/>
            <p:cNvSpPr txBox="1"/>
            <p:nvPr/>
          </p:nvSpPr>
          <p:spPr>
            <a:xfrm>
              <a:off x="9933" y="3868"/>
              <a:ext cx="8025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识别“X 是指 / 所称 X”，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先定位定义条款，再补齐邻接上下文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；结合附件、章节限定，降低概念错位与断章取义风险。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169660" y="3484245"/>
            <a:ext cx="5457825" cy="1202055"/>
            <a:chOff x="9716" y="5399"/>
            <a:chExt cx="8595" cy="1893"/>
          </a:xfrm>
        </p:grpSpPr>
        <p:sp>
          <p:nvSpPr>
            <p:cNvPr id="10" name="Rectangle 8"/>
            <p:cNvSpPr/>
            <p:nvPr/>
          </p:nvSpPr>
          <p:spPr>
            <a:xfrm>
              <a:off x="9716" y="5763"/>
              <a:ext cx="8595" cy="1529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1" name="Rectangle 9"/>
            <p:cNvSpPr/>
            <p:nvPr/>
          </p:nvSpPr>
          <p:spPr>
            <a:xfrm>
              <a:off x="9716" y="5399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2" name="TextBox 10"/>
            <p:cNvSpPr txBox="1"/>
            <p:nvPr/>
          </p:nvSpPr>
          <p:spPr>
            <a:xfrm>
              <a:off x="9889" y="5527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 xml:space="preserve">CRAG-lite 覆盖诊断</a:t>
              </a:r>
            </a:p>
          </p:txBody>
        </p:sp>
        <p:sp>
          <p:nvSpPr>
            <p:cNvPr id="13" name="TextBox 11"/>
            <p:cNvSpPr txBox="1"/>
            <p:nvPr/>
          </p:nvSpPr>
          <p:spPr>
            <a:xfrm>
              <a:off x="9932" y="6234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生成前诊断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问题要点与证据覆盖度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，对禁止性规定、兜底条款与列表枚举定向补搜；仍有缺口则说明范围并拒答或澄清。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74980" y="4844415"/>
            <a:ext cx="5457825" cy="1064895"/>
            <a:chOff x="748" y="7531"/>
            <a:chExt cx="8595" cy="1677"/>
          </a:xfrm>
        </p:grpSpPr>
        <p:sp>
          <p:nvSpPr>
            <p:cNvPr id="14" name="Rectangle 8"/>
            <p:cNvSpPr/>
            <p:nvPr/>
          </p:nvSpPr>
          <p:spPr>
            <a:xfrm>
              <a:off x="748" y="7895"/>
              <a:ext cx="8595" cy="1313"/>
            </a:xfrm>
            <a:prstGeom prst="rect">
              <a:avLst/>
            </a:prstGeom>
            <a:solidFill>
              <a:srgbClr val="F2F5F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5" name="Rectangle 9"/>
            <p:cNvSpPr/>
            <p:nvPr/>
          </p:nvSpPr>
          <p:spPr>
            <a:xfrm>
              <a:off x="748" y="7531"/>
              <a:ext cx="3871" cy="720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16" name="TextBox 10"/>
            <p:cNvSpPr txBox="1"/>
            <p:nvPr/>
          </p:nvSpPr>
          <p:spPr>
            <a:xfrm>
              <a:off x="921" y="7659"/>
              <a:ext cx="3698" cy="464"/>
            </a:xfrm>
            <a:prstGeom prst="rect">
              <a:avLst/>
            </a:prstGeom>
            <a:noFill/>
          </p:spPr>
          <p:txBody>
            <a:bodyPr wrap="square" lIns="18288" tIns="9144" rIns="18288" bIns="9144" anchor="ctr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8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 xml:space="preserve">引用关联与多跳扩展</a:t>
              </a:r>
            </a:p>
          </p:txBody>
        </p:sp>
        <p:sp>
          <p:nvSpPr>
            <p:cNvPr id="17" name="TextBox 11"/>
            <p:cNvSpPr txBox="1"/>
            <p:nvPr/>
          </p:nvSpPr>
          <p:spPr>
            <a:xfrm>
              <a:off x="964" y="8366"/>
              <a:ext cx="8294" cy="841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lnSpc>
                  <a:spcPct val="120000"/>
                </a:lnSpc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解析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“本办法第X条”与“《标题》第X条”</a:t>
              </a:r>
              <a:r>
                <a:rPr sz="1400">
                  <a:solidFill>
                    <a:schemeClr val="tx1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，跨章节、跨文件定位被引条款，结合邻接片段补齐可追溯证据链。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可信防火墙：事实、引用与监管语义协同校验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sym typeface="+mn-ea"/>
              </a:rPr>
              <a:t xml:space="preserve">围绕“结论有依据、数字可复算、语义不失真”建立三道防线，将风险控制嵌入答案生成和交付过程。</a:t>
            </a:r>
          </a:p>
        </p:txBody>
      </p:sp>
      <p:sp>
        <p:nvSpPr>
          <p:cNvPr id="29" name="Rectangle 6"/>
          <p:cNvSpPr/>
          <p:nvPr/>
        </p:nvSpPr>
        <p:spPr>
          <a:xfrm>
            <a:off x="502920" y="1927860"/>
            <a:ext cx="3611880" cy="54864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8" name="TextBox 7"/>
          <p:cNvSpPr txBox="1"/>
          <p:nvPr/>
        </p:nvSpPr>
        <p:spPr>
          <a:xfrm>
            <a:off x="640080" y="2030477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01  证据受限生成</a:t>
            </a:r>
          </a:p>
        </p:txBody>
      </p:sp>
      <p:sp>
        <p:nvSpPr>
          <p:cNvPr id="39" name="Rectangle 8"/>
          <p:cNvSpPr/>
          <p:nvPr/>
        </p:nvSpPr>
        <p:spPr>
          <a:xfrm>
            <a:off x="502920" y="2476500"/>
            <a:ext cx="3611880" cy="263017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0" name="TextBox 9"/>
          <p:cNvSpPr txBox="1"/>
          <p:nvPr/>
        </p:nvSpPr>
        <p:spPr>
          <a:xfrm>
            <a:off x="667385" y="2613660"/>
            <a:ext cx="3382645" cy="213423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证据约束：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围绕检索原文组织结论，逐项关联 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引用标签与原文摘录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。</a:t>
            </a: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多粒度交付：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返回文档、章节、条款、工作表与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单元格坐标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，支持定位和复核。</a:t>
            </a: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计算过程透明：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数值计算绑定操作数、算式与单位，业务人员可回到原表复算。</a:t>
            </a: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引用一致性：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核对结论与所引证据，减少答案正确但引用错位的情况。</a:t>
            </a:r>
          </a:p>
        </p:txBody>
      </p:sp>
      <p:sp>
        <p:nvSpPr>
          <p:cNvPr id="41" name="Rectangle 10"/>
          <p:cNvSpPr/>
          <p:nvPr/>
        </p:nvSpPr>
        <p:spPr>
          <a:xfrm>
            <a:off x="4288536" y="1927860"/>
            <a:ext cx="361188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2" name="TextBox 11"/>
          <p:cNvSpPr txBox="1"/>
          <p:nvPr/>
        </p:nvSpPr>
        <p:spPr>
          <a:xfrm>
            <a:off x="4425696" y="2030477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02  事实与语义核验</a:t>
            </a:r>
          </a:p>
        </p:txBody>
      </p:sp>
      <p:sp>
        <p:nvSpPr>
          <p:cNvPr id="43" name="Rectangle 12"/>
          <p:cNvSpPr/>
          <p:nvPr/>
        </p:nvSpPr>
        <p:spPr>
          <a:xfrm>
            <a:off x="4288790" y="2476500"/>
            <a:ext cx="3611880" cy="263017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4" name="TextBox 13"/>
          <p:cNvSpPr txBox="1"/>
          <p:nvPr/>
        </p:nvSpPr>
        <p:spPr>
          <a:xfrm>
            <a:off x="4453127" y="2613660"/>
            <a:ext cx="3291840" cy="187579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关键事实校验：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检查数字、比例、日期、机构和文号与证据的一致性。</a:t>
            </a: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规范强度：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辨别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“应当 / 可以 / 不得”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与“原则上”的义务及许可差异。</a:t>
            </a: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条件例外核对：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结合适用主体、范围、前提与例外，识别监管含义的偏移。</a:t>
            </a: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异常修复：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执行引用修复、证据受限再生成或摘录式降级。</a:t>
            </a:r>
          </a:p>
        </p:txBody>
      </p:sp>
      <p:sp>
        <p:nvSpPr>
          <p:cNvPr id="45" name="Rectangle 14"/>
          <p:cNvSpPr/>
          <p:nvPr/>
        </p:nvSpPr>
        <p:spPr>
          <a:xfrm>
            <a:off x="8074151" y="1927860"/>
            <a:ext cx="3611880" cy="5486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6" name="TextBox 15"/>
          <p:cNvSpPr txBox="1"/>
          <p:nvPr/>
        </p:nvSpPr>
        <p:spPr>
          <a:xfrm>
            <a:off x="8211311" y="2030477"/>
            <a:ext cx="3337560" cy="32512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03  风险边界与复核</a:t>
            </a:r>
          </a:p>
        </p:txBody>
      </p:sp>
      <p:sp>
        <p:nvSpPr>
          <p:cNvPr id="47" name="Rectangle 16"/>
          <p:cNvSpPr/>
          <p:nvPr/>
        </p:nvSpPr>
        <p:spPr>
          <a:xfrm>
            <a:off x="8074025" y="2476500"/>
            <a:ext cx="3611880" cy="263017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8" name="TextBox 17"/>
          <p:cNvSpPr txBox="1"/>
          <p:nvPr/>
        </p:nvSpPr>
        <p:spPr>
          <a:xfrm>
            <a:off x="8238743" y="2613660"/>
            <a:ext cx="3291840" cy="15144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证据边界：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依据不足、范围不明或资料冲突时，结构化拒答或请求澄清。</a:t>
            </a: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原因可解释：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指出证据缺口和待补充材料，为业务复核提供明确线索。</a:t>
            </a: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过程可追踪：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关联问答记录、引用来源与处理状态，支持后续审计和问题定位。</a:t>
            </a:r>
          </a:p>
          <a:p>
            <a:pPr algn="l" fontAlgn="auto">
              <a:lnSpc>
                <a:spcPct val="120000"/>
              </a:lnSpc>
              <a:spcAft>
                <a:spcPts val="8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回归验证：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预设应拒答题 </a:t>
            </a: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40/40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，以固定题集持续检验边界。</a:t>
            </a:r>
          </a:p>
        </p:txBody>
      </p:sp>
      <p:grpSp>
        <p:nvGrpSpPr>
          <p:cNvPr id="55" name="组合 54"/>
          <p:cNvGrpSpPr/>
          <p:nvPr/>
        </p:nvGrpSpPr>
        <p:grpSpPr>
          <a:xfrm>
            <a:off x="502920" y="5219700"/>
            <a:ext cx="11182350" cy="612000"/>
            <a:chOff x="792" y="7776"/>
            <a:chExt cx="17610" cy="1440"/>
          </a:xfrm>
        </p:grpSpPr>
        <p:sp>
          <p:nvSpPr>
            <p:cNvPr id="49" name="Rectangle 18"/>
            <p:cNvSpPr/>
            <p:nvPr/>
          </p:nvSpPr>
          <p:spPr>
            <a:xfrm>
              <a:off x="792" y="7776"/>
              <a:ext cx="17611" cy="1440"/>
            </a:xfrm>
            <a:prstGeom prst="rect">
              <a:avLst/>
            </a:prstGeom>
            <a:solidFill>
              <a:srgbClr val="FBF3F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50" name="Rectangle 19"/>
            <p:cNvSpPr/>
            <p:nvPr/>
          </p:nvSpPr>
          <p:spPr>
            <a:xfrm>
              <a:off x="792" y="7776"/>
              <a:ext cx="130" cy="1440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</p:grpSp>
      <p:sp>
        <p:nvSpPr>
          <p:cNvPr id="51" name="TextBox 20"/>
          <p:cNvSpPr txBox="1"/>
          <p:nvPr/>
        </p:nvSpPr>
        <p:spPr>
          <a:xfrm>
            <a:off x="653415" y="5392420"/>
            <a:ext cx="1098423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 xml:space="preserve">最终回归：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表格题 </a:t>
            </a: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40/40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，应拒答题 </a:t>
            </a: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40/40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，来源文件覆盖 </a:t>
            </a: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93.1%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，已返回答案引用携带率 </a:t>
            </a: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100%</a:t>
            </a: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03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技术亮点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技术亮点：面向金融监管的六项融合创新</a:t>
            </a:r>
          </a:p>
        </p:txBody>
      </p:sp>
      <p:sp>
        <p:nvSpPr>
          <p:cNvPr id="52" name="Rectangle 5"/>
          <p:cNvSpPr/>
          <p:nvPr/>
        </p:nvSpPr>
        <p:spPr>
          <a:xfrm>
            <a:off x="502920" y="162687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2720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215" y="232156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条款层级、定义索引与邻接上下文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联合建模，将分散文档转化为可定位的监管知识。440 条定义与 164 行条款索引支撑核心依据直达，兼顾结构保真、检索精度与文件身份追溯。</a:t>
            </a:r>
          </a:p>
        </p:txBody>
      </p:sp>
      <p:sp>
        <p:nvSpPr>
          <p:cNvPr id="60" name="Rectangle 9"/>
          <p:cNvSpPr/>
          <p:nvPr/>
        </p:nvSpPr>
        <p:spPr>
          <a:xfrm>
            <a:off x="505460" y="1727200"/>
            <a:ext cx="288480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1" name="TextBox 10"/>
          <p:cNvSpPr txBox="1"/>
          <p:nvPr/>
        </p:nvSpPr>
        <p:spPr>
          <a:xfrm>
            <a:off x="615315" y="1808480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① 结构感知知识底座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171825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215" y="375920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多视角问题拆解 + 显式条款引用扩展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协同组织证据，解析文内条号与跨文档《标题》第X条，补齐引用链及邻接语境。把复杂问询拆成可检索、可关联、可复核的证据任务。</a:t>
            </a:r>
          </a:p>
        </p:txBody>
      </p:sp>
      <p:sp>
        <p:nvSpPr>
          <p:cNvPr id="33" name="Rectangle 9"/>
          <p:cNvSpPr/>
          <p:nvPr/>
        </p:nvSpPr>
        <p:spPr>
          <a:xfrm>
            <a:off x="505460" y="3163570"/>
            <a:ext cx="288480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4" name="TextBox 10"/>
          <p:cNvSpPr txBox="1"/>
          <p:nvPr/>
        </p:nvSpPr>
        <p:spPr>
          <a:xfrm>
            <a:off x="615315" y="3244850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③ 跨文档证据链推理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61645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215" y="518287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实体事实校验 + 监管语义框架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同时关注“数值是否一致”与“含义是否改变”。围绕主体、规范强度、条件及例外核对结论，结合引用修复、受限生成与拒答，降低措辞偏移带来的业务风险。</a:t>
            </a:r>
          </a:p>
        </p:txBody>
      </p:sp>
      <p:sp>
        <p:nvSpPr>
          <p:cNvPr id="40" name="Rectangle 9"/>
          <p:cNvSpPr/>
          <p:nvPr/>
        </p:nvSpPr>
        <p:spPr>
          <a:xfrm>
            <a:off x="505460" y="4608195"/>
            <a:ext cx="288480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1" name="TextBox 10"/>
          <p:cNvSpPr txBox="1"/>
          <p:nvPr/>
        </p:nvSpPr>
        <p:spPr>
          <a:xfrm>
            <a:off x="615315" y="4689475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⑤ 金融语义可信防火墙</a:t>
            </a:r>
          </a:p>
        </p:txBody>
      </p:sp>
      <p:sp>
        <p:nvSpPr>
          <p:cNvPr id="89" name="Rectangle 17"/>
          <p:cNvSpPr/>
          <p:nvPr/>
        </p:nvSpPr>
        <p:spPr>
          <a:xfrm>
            <a:off x="6199505" y="3154045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0" name="TextBox 20"/>
          <p:cNvSpPr txBox="1"/>
          <p:nvPr/>
        </p:nvSpPr>
        <p:spPr>
          <a:xfrm>
            <a:off x="6400800" y="374142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13.3 万单元格 + 安全算子 + 坐标溯源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贯通取数、计算和解释。求和、差值、比例与最值由程序执行，结果同时返回操作数、算式和单位；最终回归取数 20/20、计算 20/20。</a:t>
            </a:r>
          </a:p>
        </p:txBody>
      </p:sp>
      <p:sp>
        <p:nvSpPr>
          <p:cNvPr id="91" name="Rectangle 9"/>
          <p:cNvSpPr/>
          <p:nvPr/>
        </p:nvSpPr>
        <p:spPr>
          <a:xfrm>
            <a:off x="6207760" y="3145790"/>
            <a:ext cx="312991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2" name="TextBox 10"/>
          <p:cNvSpPr txBox="1"/>
          <p:nvPr/>
        </p:nvSpPr>
        <p:spPr>
          <a:xfrm>
            <a:off x="6317615" y="3227070"/>
            <a:ext cx="288417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④ 证据绑定确定性计算</a:t>
            </a:r>
          </a:p>
        </p:txBody>
      </p:sp>
      <p:sp>
        <p:nvSpPr>
          <p:cNvPr id="94" name="Rectangle 9"/>
          <p:cNvSpPr/>
          <p:nvPr/>
        </p:nvSpPr>
        <p:spPr>
          <a:xfrm>
            <a:off x="6212205" y="172720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5" name="TextBox 12"/>
          <p:cNvSpPr txBox="1"/>
          <p:nvPr/>
        </p:nvSpPr>
        <p:spPr>
          <a:xfrm>
            <a:off x="6413500" y="232156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CRAG-lite 覆盖诊断 + HyDE 缺口补检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形成检索反馈闭环。对定义、列表、禁止性规定与兜底条款定向补证，将“召回相关片段”推进为“检查回答所需依据”，降低漏项和不必要拒答。</a:t>
            </a:r>
          </a:p>
        </p:txBody>
      </p:sp>
      <p:sp>
        <p:nvSpPr>
          <p:cNvPr id="96" name="Rectangle 9"/>
          <p:cNvSpPr/>
          <p:nvPr/>
        </p:nvSpPr>
        <p:spPr>
          <a:xfrm>
            <a:off x="6202680" y="1727200"/>
            <a:ext cx="312991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7" name="TextBox 10"/>
          <p:cNvSpPr txBox="1"/>
          <p:nvPr/>
        </p:nvSpPr>
        <p:spPr>
          <a:xfrm>
            <a:off x="6330315" y="1808480"/>
            <a:ext cx="277558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② 覆盖驱动自适应检索</a:t>
            </a:r>
          </a:p>
        </p:txBody>
      </p:sp>
      <p:sp>
        <p:nvSpPr>
          <p:cNvPr id="99" name="Rectangle 25"/>
          <p:cNvSpPr/>
          <p:nvPr/>
        </p:nvSpPr>
        <p:spPr>
          <a:xfrm>
            <a:off x="6212205" y="4616450"/>
            <a:ext cx="5486400" cy="125984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0" name="TextBox 28"/>
          <p:cNvSpPr txBox="1"/>
          <p:nvPr/>
        </p:nvSpPr>
        <p:spPr>
          <a:xfrm>
            <a:off x="6413500" y="5182870"/>
            <a:ext cx="5120640" cy="4597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l" fontAlgn="auto">
              <a:lnSpc>
                <a:spcPct val="120000"/>
              </a:lnSpc>
              <a:spcAft>
                <a:spcPts val="400"/>
              </a:spcAft>
              <a:buClrTx/>
              <a:buSzTx/>
              <a:buFontTx/>
            </a:pPr>
            <a:r>
              <a:rPr sz="12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答案、引用、原文与问答记录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协同交付，支持进度展示和已核验内容预览。Docker CPU/GPU 双配置与官方 300 + 自建 200 题回归共同支撑部署复现、质量验证与持续维护。</a:t>
            </a:r>
          </a:p>
        </p:txBody>
      </p:sp>
      <p:sp>
        <p:nvSpPr>
          <p:cNvPr id="101" name="Rectangle 9"/>
          <p:cNvSpPr/>
          <p:nvPr/>
        </p:nvSpPr>
        <p:spPr>
          <a:xfrm>
            <a:off x="6202680" y="4608195"/>
            <a:ext cx="3129915" cy="45720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2" name="TextBox 10"/>
          <p:cNvSpPr txBox="1"/>
          <p:nvPr/>
        </p:nvSpPr>
        <p:spPr>
          <a:xfrm>
            <a:off x="6330315" y="4689475"/>
            <a:ext cx="2884170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chemeClr val="bg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⑥ 可追溯业务交付闭环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04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测评结果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评测结果：双层回归验证，核心指标逐项达标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 xml:space="preserve">官方 300 道选择题 + 自建 200 道开放题：覆盖制度事实、表格取数、数值计算、引用来源与拒答边界。</a:t>
            </a: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Rectangle 6"/>
          <p:cNvSpPr/>
          <p:nvPr/>
        </p:nvSpPr>
        <p:spPr>
          <a:xfrm>
            <a:off x="511810" y="1939290"/>
            <a:ext cx="3840480" cy="50292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352290" y="1939290"/>
            <a:ext cx="2377440" cy="50292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29730" y="1939290"/>
            <a:ext cx="4949825" cy="50292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11810" y="2442210"/>
            <a:ext cx="384048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538" y="2609152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官方 300 题准确率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4" name="Rectangle 14"/>
          <p:cNvSpPr/>
          <p:nvPr/>
        </p:nvSpPr>
        <p:spPr>
          <a:xfrm>
            <a:off x="4352290" y="2442210"/>
            <a:ext cx="237744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018" y="2624709"/>
            <a:ext cx="2157984" cy="20193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—</a:t>
            </a:r>
            <a:endParaRPr sz="1200" b="0">
              <a:solidFill>
                <a:schemeClr val="tx1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729730" y="2442210"/>
            <a:ext cx="4949825" cy="567055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810" y="3009138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538" y="3176080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制度事实类准确率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352290" y="3009138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018" y="3176080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≥85%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729730" y="3009265"/>
            <a:ext cx="494982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11810" y="3576066"/>
            <a:ext cx="384048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538" y="3743008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表格取数 / 计算准确率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52290" y="3576066"/>
            <a:ext cx="237744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018" y="3743008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≥80%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6" name="Rectangle 28"/>
          <p:cNvSpPr/>
          <p:nvPr/>
        </p:nvSpPr>
        <p:spPr>
          <a:xfrm>
            <a:off x="6729730" y="3576320"/>
            <a:ext cx="4949825" cy="567055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11810" y="4142994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538" y="4309936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证据来源命中率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52290" y="4142994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62018" y="4309936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≥90%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6729730" y="4142740"/>
            <a:ext cx="494982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1810" y="4709922"/>
            <a:ext cx="384048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3" name="TextBox 37"/>
          <p:cNvSpPr txBox="1"/>
          <p:nvPr/>
        </p:nvSpPr>
        <p:spPr>
          <a:xfrm>
            <a:off x="621538" y="4876864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关键数字 / 日期 / 机构 / 文号错误率</a:t>
            </a:r>
          </a:p>
        </p:txBody>
      </p:sp>
      <p:sp>
        <p:nvSpPr>
          <p:cNvPr id="54" name="Rectangle 38"/>
          <p:cNvSpPr/>
          <p:nvPr/>
        </p:nvSpPr>
        <p:spPr>
          <a:xfrm>
            <a:off x="4352290" y="4709922"/>
            <a:ext cx="2377440" cy="566928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6" name="TextBox 39"/>
          <p:cNvSpPr txBox="1"/>
          <p:nvPr/>
        </p:nvSpPr>
        <p:spPr>
          <a:xfrm>
            <a:off x="4462018" y="4876864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≤5%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57" name="Rectangle 40"/>
          <p:cNvSpPr/>
          <p:nvPr/>
        </p:nvSpPr>
        <p:spPr>
          <a:xfrm>
            <a:off x="6729730" y="4709795"/>
            <a:ext cx="4949825" cy="567055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9" name="Rectangle 42"/>
          <p:cNvSpPr/>
          <p:nvPr/>
        </p:nvSpPr>
        <p:spPr>
          <a:xfrm>
            <a:off x="511810" y="5276850"/>
            <a:ext cx="3840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0" name="TextBox 43"/>
          <p:cNvSpPr txBox="1"/>
          <p:nvPr/>
        </p:nvSpPr>
        <p:spPr>
          <a:xfrm>
            <a:off x="621538" y="5443792"/>
            <a:ext cx="362102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拒答/澄清率</a:t>
            </a:r>
            <a:endParaRPr sz="1400">
              <a:solidFill>
                <a:srgbClr val="1F386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61" name="Rectangle 44"/>
          <p:cNvSpPr/>
          <p:nvPr/>
        </p:nvSpPr>
        <p:spPr>
          <a:xfrm>
            <a:off x="4352290" y="5276850"/>
            <a:ext cx="23774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62" name="TextBox 45"/>
          <p:cNvSpPr txBox="1"/>
          <p:nvPr/>
        </p:nvSpPr>
        <p:spPr>
          <a:xfrm>
            <a:off x="4462018" y="5443792"/>
            <a:ext cx="2157984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  <a:buClrTx/>
              <a:buSzTx/>
              <a:buFontTx/>
            </a:pPr>
            <a:r>
              <a:rPr sz="1400" b="0">
                <a:solidFill>
                  <a:srgbClr val="595959"/>
                </a:solidFill>
                <a:latin typeface="OPPOSans B" panose="00020600040101010101" charset="-122"/>
                <a:ea typeface="OPPOSans B" panose="00020600040101010101" charset="-122"/>
              </a:rPr>
              <a:t>≥80%</a:t>
            </a:r>
            <a:endParaRPr sz="1400" b="0">
              <a:solidFill>
                <a:srgbClr val="595959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63" name="Rectangle 46"/>
          <p:cNvSpPr/>
          <p:nvPr/>
        </p:nvSpPr>
        <p:spPr>
          <a:xfrm>
            <a:off x="6729730" y="5276850"/>
            <a:ext cx="4949825" cy="567055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2" name="TextBox 7"/>
          <p:cNvSpPr txBox="1"/>
          <p:nvPr/>
        </p:nvSpPr>
        <p:spPr>
          <a:xfrm>
            <a:off x="511810" y="2047240"/>
            <a:ext cx="384048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指标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3" name="TextBox 9"/>
          <p:cNvSpPr txBox="1"/>
          <p:nvPr/>
        </p:nvSpPr>
        <p:spPr>
          <a:xfrm>
            <a:off x="4352290" y="2047240"/>
            <a:ext cx="237744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赛题要求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8" name="TextBox 17"/>
          <p:cNvSpPr txBox="1"/>
          <p:nvPr/>
        </p:nvSpPr>
        <p:spPr>
          <a:xfrm>
            <a:off x="6839458" y="2609152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300/300（100%），0 运行错误</a:t>
            </a:r>
          </a:p>
        </p:txBody>
      </p:sp>
      <p:sp>
        <p:nvSpPr>
          <p:cNvPr id="10" name="TextBox 23"/>
          <p:cNvSpPr txBox="1"/>
          <p:nvPr/>
        </p:nvSpPr>
        <p:spPr>
          <a:xfrm>
            <a:off x="6839458" y="3176080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99/112（88.4%），超过 85% 要求</a:t>
            </a:r>
          </a:p>
        </p:txBody>
      </p:sp>
      <p:sp>
        <p:nvSpPr>
          <p:cNvPr id="12" name="TextBox 29"/>
          <p:cNvSpPr txBox="1"/>
          <p:nvPr/>
        </p:nvSpPr>
        <p:spPr>
          <a:xfrm>
            <a:off x="6839585" y="3743008"/>
            <a:ext cx="5010785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取数 20/20，计算 20/20，合计 100%</a:t>
            </a:r>
          </a:p>
        </p:txBody>
      </p:sp>
      <p:sp>
        <p:nvSpPr>
          <p:cNvPr id="29" name="TextBox 35"/>
          <p:cNvSpPr txBox="1"/>
          <p:nvPr/>
        </p:nvSpPr>
        <p:spPr>
          <a:xfrm>
            <a:off x="6839585" y="4310063"/>
            <a:ext cx="476631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149/160（93.1%，来源文件级）</a:t>
            </a:r>
          </a:p>
        </p:txBody>
      </p:sp>
      <p:sp>
        <p:nvSpPr>
          <p:cNvPr id="38" name="TextBox 41"/>
          <p:cNvSpPr txBox="1"/>
          <p:nvPr/>
        </p:nvSpPr>
        <p:spPr>
          <a:xfrm>
            <a:off x="6839458" y="4876864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2.4%（8 月已归档专项统计）</a:t>
            </a:r>
          </a:p>
        </p:txBody>
      </p:sp>
      <p:sp>
        <p:nvSpPr>
          <p:cNvPr id="40" name="TextBox 11"/>
          <p:cNvSpPr txBox="1"/>
          <p:nvPr/>
        </p:nvSpPr>
        <p:spPr>
          <a:xfrm>
            <a:off x="6729730" y="2047240"/>
            <a:ext cx="420624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实测结果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42" name="TextBox 47"/>
          <p:cNvSpPr txBox="1"/>
          <p:nvPr/>
        </p:nvSpPr>
        <p:spPr>
          <a:xfrm>
            <a:off x="6839458" y="5443792"/>
            <a:ext cx="3986783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40/40（100%，预设应拒答题）</a:t>
            </a:r>
          </a:p>
        </p:txBody>
      </p:sp>
      <p:sp>
        <p:nvSpPr>
          <p:cNvPr id="95" name="Rectangle 26"/>
          <p:cNvSpPr/>
          <p:nvPr/>
        </p:nvSpPr>
        <p:spPr>
          <a:xfrm>
            <a:off x="502920" y="5951220"/>
            <a:ext cx="11183112" cy="68580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6" name="Rectangle 27"/>
          <p:cNvSpPr/>
          <p:nvPr/>
        </p:nvSpPr>
        <p:spPr>
          <a:xfrm>
            <a:off x="502920" y="5951220"/>
            <a:ext cx="82296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7" name="TextBox 28"/>
          <p:cNvSpPr txBox="1"/>
          <p:nvPr/>
        </p:nvSpPr>
        <p:spPr>
          <a:xfrm>
            <a:off x="674370" y="6160135"/>
            <a:ext cx="1095057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 xml:space="preserve">最终 200 题回归：</a:t>
            </a:r>
            <a:r>
              <a:rPr sz="18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181/200（90.5%），0 运行错误</a:t>
            </a:r>
            <a:r>
              <a:rPr sz="1800">
                <a:solidFill>
                  <a:srgbClr val="C0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 xml:space="preserve">。</a:t>
            </a:r>
            <a:r>
              <a:rPr sz="18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除实体错误率外，采用 2026-10-02 记录。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37185" y="64833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实验迭代：证据归因驱动的分层能力升级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 xml:space="preserve">围绕“证据是否找对、回答是否完整、运行是否稳定”分层诊断，将失败分析转化为索引、检索和工程改进。</a:t>
            </a: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5" name="Rectangle 6"/>
          <p:cNvSpPr/>
          <p:nvPr/>
        </p:nvSpPr>
        <p:spPr>
          <a:xfrm>
            <a:off x="502920" y="1916430"/>
            <a:ext cx="1737360" cy="71323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6" name="TextBox 7"/>
          <p:cNvSpPr txBox="1"/>
          <p:nvPr/>
        </p:nvSpPr>
        <p:spPr>
          <a:xfrm>
            <a:off x="566928" y="2116582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问题归因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77" name="Rectangle 8"/>
          <p:cNvSpPr/>
          <p:nvPr/>
        </p:nvSpPr>
        <p:spPr>
          <a:xfrm>
            <a:off x="2240280" y="1916430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78" name="TextBox 9"/>
          <p:cNvSpPr txBox="1"/>
          <p:nvPr/>
        </p:nvSpPr>
        <p:spPr>
          <a:xfrm>
            <a:off x="2423160" y="2132140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证据定位与覆盖：定义条款被挤出、附件与章节错位、复杂问询依据不全，叠加并发和外部调用波动。</a:t>
            </a:r>
          </a:p>
        </p:txBody>
      </p:sp>
      <p:sp>
        <p:nvSpPr>
          <p:cNvPr id="79" name="Rectangle 10"/>
          <p:cNvSpPr/>
          <p:nvPr/>
        </p:nvSpPr>
        <p:spPr>
          <a:xfrm>
            <a:off x="502920" y="2721102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0" name="TextBox 11"/>
          <p:cNvSpPr txBox="1"/>
          <p:nvPr/>
        </p:nvSpPr>
        <p:spPr>
          <a:xfrm>
            <a:off x="566928" y="2921254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阶段一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81" name="Rectangle 12"/>
          <p:cNvSpPr/>
          <p:nvPr/>
        </p:nvSpPr>
        <p:spPr>
          <a:xfrm>
            <a:off x="2240280" y="2721102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2" name="TextBox 13"/>
          <p:cNvSpPr txBox="1"/>
          <p:nvPr/>
        </p:nvSpPr>
        <p:spPr>
          <a:xfrm>
            <a:off x="2423160" y="2936812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条款索引 + 定义定位 + 附件 / 章节限定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：先找准核心依据，再补足上下文，减少同名概念错位。</a:t>
            </a:r>
          </a:p>
        </p:txBody>
      </p:sp>
      <p:sp>
        <p:nvSpPr>
          <p:cNvPr id="83" name="Rectangle 14"/>
          <p:cNvSpPr/>
          <p:nvPr/>
        </p:nvSpPr>
        <p:spPr>
          <a:xfrm>
            <a:off x="502920" y="3525774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4" name="TextBox 15"/>
          <p:cNvSpPr txBox="1"/>
          <p:nvPr/>
        </p:nvSpPr>
        <p:spPr>
          <a:xfrm>
            <a:off x="566928" y="3725926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阶段二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85" name="Rectangle 16"/>
          <p:cNvSpPr/>
          <p:nvPr/>
        </p:nvSpPr>
        <p:spPr>
          <a:xfrm>
            <a:off x="2240280" y="3525774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6" name="TextBox 17"/>
          <p:cNvSpPr txBox="1"/>
          <p:nvPr/>
        </p:nvSpPr>
        <p:spPr>
          <a:xfrm>
            <a:off x="2423160" y="3741484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覆盖诊断 + 列表补搜 + 引用修复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：逐项检查问题要点，补齐禁止性与兜底条款，改善答复完整性。</a:t>
            </a:r>
          </a:p>
        </p:txBody>
      </p:sp>
      <p:sp>
        <p:nvSpPr>
          <p:cNvPr id="87" name="Rectangle 18"/>
          <p:cNvSpPr/>
          <p:nvPr/>
        </p:nvSpPr>
        <p:spPr>
          <a:xfrm>
            <a:off x="502920" y="4330446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88" name="TextBox 19"/>
          <p:cNvSpPr txBox="1"/>
          <p:nvPr/>
        </p:nvSpPr>
        <p:spPr>
          <a:xfrm>
            <a:off x="566928" y="4530598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阶段三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89" name="Rectangle 20"/>
          <p:cNvSpPr/>
          <p:nvPr/>
        </p:nvSpPr>
        <p:spPr>
          <a:xfrm>
            <a:off x="2240280" y="4330446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0" name="TextBox 21"/>
          <p:cNvSpPr txBox="1"/>
          <p:nvPr/>
        </p:nvSpPr>
        <p:spPr>
          <a:xfrm>
            <a:off x="2423160" y="4546156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并发锁与重试优化 + 设备感知重排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：历史 40 题并发 0 错误，CPU 重排 17.5s 降至 8.9s。</a:t>
            </a:r>
          </a:p>
        </p:txBody>
      </p:sp>
      <p:sp>
        <p:nvSpPr>
          <p:cNvPr id="91" name="Rectangle 22"/>
          <p:cNvSpPr/>
          <p:nvPr/>
        </p:nvSpPr>
        <p:spPr>
          <a:xfrm>
            <a:off x="502920" y="5135118"/>
            <a:ext cx="1737360" cy="713232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2" name="TextBox 23"/>
          <p:cNvSpPr txBox="1"/>
          <p:nvPr/>
        </p:nvSpPr>
        <p:spPr>
          <a:xfrm>
            <a:off x="566928" y="5335270"/>
            <a:ext cx="1609344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阶段四</a:t>
            </a:r>
            <a:endParaRPr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93" name="Rectangle 24"/>
          <p:cNvSpPr/>
          <p:nvPr/>
        </p:nvSpPr>
        <p:spPr>
          <a:xfrm>
            <a:off x="2240280" y="5135118"/>
            <a:ext cx="9445752" cy="713232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94" name="TextBox 25"/>
          <p:cNvSpPr txBox="1"/>
          <p:nvPr/>
        </p:nvSpPr>
        <p:spPr>
          <a:xfrm>
            <a:off x="2423160" y="5350828"/>
            <a:ext cx="914400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l">
              <a:spcAft>
                <a:spcPts val="400"/>
              </a:spcAft>
              <a:buClrTx/>
              <a:buSzTx/>
              <a:buFontTx/>
            </a:pPr>
            <a:r>
              <a:rPr sz="16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HyDE 缺口补检 + 跨文档引用扩展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：让业务问法关联真实条款，沿“《标题》第X条”补齐跨文件依据。</a:t>
            </a:r>
          </a:p>
        </p:txBody>
      </p:sp>
      <p:sp>
        <p:nvSpPr>
          <p:cNvPr id="101" name="TextBox 50"/>
          <p:cNvSpPr txBox="1"/>
          <p:nvPr/>
        </p:nvSpPr>
        <p:spPr>
          <a:xfrm>
            <a:off x="11384280" y="6748780"/>
            <a:ext cx="640080" cy="32004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r">
              <a:spcAft>
                <a:spcPts val="400"/>
              </a:spcAft>
            </a:pPr>
          </a:p>
        </p:txBody>
      </p:sp>
      <p:sp>
        <p:nvSpPr>
          <p:cNvPr id="102" name="Rectangle 26"/>
          <p:cNvSpPr/>
          <p:nvPr/>
        </p:nvSpPr>
        <p:spPr>
          <a:xfrm>
            <a:off x="502920" y="5951220"/>
            <a:ext cx="11183112" cy="68580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3" name="Rectangle 27"/>
          <p:cNvSpPr/>
          <p:nvPr/>
        </p:nvSpPr>
        <p:spPr>
          <a:xfrm>
            <a:off x="502920" y="5951220"/>
            <a:ext cx="82296" cy="6858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4" name="TextBox 28"/>
          <p:cNvSpPr txBox="1"/>
          <p:nvPr/>
        </p:nvSpPr>
        <p:spPr>
          <a:xfrm>
            <a:off x="674370" y="6160135"/>
            <a:ext cx="10950575" cy="294640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8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8 月迭代：</a:t>
            </a:r>
            <a:r>
              <a:rPr sz="18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 xml:space="preserve">87% 提升至 91.5%（CPU）</a:t>
            </a:r>
            <a:r>
              <a:rPr b="1" sz="1800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 xml:space="preserve">。</a:t>
            </a:r>
            <a:r>
              <a:rPr sz="18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10 月最终回归：</a:t>
            </a:r>
            <a:r>
              <a:rPr sz="1800">
                <a:solidFill>
                  <a:srgbClr val="1F3864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</a:rPr>
              <a:t xml:space="preserve">90.5%，官方选择题 300/300。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05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性能与稳定性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04800" y="587375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性能与稳定性：可部署、可观测、可持续运行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4997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 xml:space="preserve">CPU/GPU 双配置成对实验：两轮各 500 题（300+200），均为 0 运行错误（2026-08-05）。</a:t>
            </a: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96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" name="TextBox 6"/>
          <p:cNvSpPr txBox="1"/>
          <p:nvPr/>
        </p:nvSpPr>
        <p:spPr>
          <a:xfrm>
            <a:off x="502920" y="1903730"/>
            <a:ext cx="6400800" cy="26352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单轮问答实测（串行，RTX 5070 Laptop / Ryzen 9 8945HX）</a:t>
            </a:r>
            <a:endParaRPr sz="1600">
              <a:solidFill>
                <a:srgbClr val="195CC4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2201418"/>
            <a:ext cx="2651760" cy="45720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54680" y="2201418"/>
            <a:ext cx="1417320" cy="45720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201418"/>
            <a:ext cx="1417320" cy="457200"/>
          </a:xfrm>
          <a:prstGeom prst="rect">
            <a:avLst/>
          </a:prstGeom>
          <a:solidFill>
            <a:srgbClr val="2E5AA8"/>
          </a:solidFill>
          <a:ln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658618"/>
            <a:ext cx="2651760" cy="5029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4" name="TextBox 14"/>
          <p:cNvSpPr txBox="1"/>
          <p:nvPr/>
        </p:nvSpPr>
        <p:spPr>
          <a:xfrm>
            <a:off x="502920" y="2788983"/>
            <a:ext cx="265176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>官方 300 题（选择题）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154680" y="2658618"/>
            <a:ext cx="1417320" cy="5029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54680" y="2788983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</a:rPr>
              <a:t>7.03 s</a:t>
            </a:r>
            <a:endParaRPr sz="1400" b="0">
              <a:solidFill>
                <a:schemeClr val="tx1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572000" y="2658618"/>
            <a:ext cx="1417320" cy="5029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788983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0.54 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</a:rPr>
              <a:t>s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02920" y="3161538"/>
            <a:ext cx="26517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91904"/>
            <a:ext cx="265176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  <a:sym typeface="+mn-ea"/>
              </a:rPr>
              <a:t>自命题 200 题（开放问答）</a:t>
            </a:r>
            <a:endParaRPr sz="1400">
              <a:solidFill>
                <a:schemeClr val="accent1"/>
              </a:solidFill>
              <a:latin typeface="OPPOSans B" panose="00020600040101010101" charset="-122"/>
              <a:ea typeface="OPPOSans B" panose="00020600040101010101" charset="-122"/>
              <a:cs typeface="OPPOSans B" panose="00020600040101010101" charset="-122"/>
              <a:sym typeface="+mn-e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154680" y="316153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54680" y="3291904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28.</a:t>
            </a:r>
            <a:r>
              <a:rPr sz="1400" b="0">
                <a:latin typeface="OPPOSans R" panose="00020600040101010101" charset="-122"/>
                <a:ea typeface="OPPOSans R" panose="00020600040101010101" charset="-122"/>
              </a:rPr>
              <a:t>4 </a:t>
            </a: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s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572000" y="3161538"/>
            <a:ext cx="14173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291904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OPPOSans R" panose="00020600040101010101" charset="-122"/>
                <a:ea typeface="OPPOSans R" panose="00020600040101010101" charset="-122"/>
              </a:rPr>
              <a:t>17.9 s</a:t>
            </a:r>
            <a:endParaRPr sz="1400" b="0">
              <a:solidFill>
                <a:srgbClr val="595959"/>
              </a:solidFill>
              <a:latin typeface="OPPOSans R" panose="00020600040101010101" charset="-122"/>
              <a:ea typeface="OPPOSans R" panose="00020600040101010101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3681729"/>
            <a:ext cx="6400800" cy="141287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双引擎分工：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检索、重排与表格计算本地执行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，复杂文本按需调用模型。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GPU 加速：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历史开放题平均 </a:t>
            </a:r>
            <a:r>
              <a:rPr sz="1400">
                <a:solidFill>
                  <a:schemeClr val="accent1"/>
                </a:solidFill>
                <a:latin typeface="OPPOSans B" panose="00020600040101010101" charset="-122"/>
                <a:ea typeface="OPPOSans B" panose="00020600040101010101" charset="-122"/>
                <a:cs typeface="OPPOSans R" panose="00020600040101010101" charset="-122"/>
                <a:sym typeface="+mn-ea"/>
              </a:rPr>
              <a:t xml:space="preserve">28.4s 降至 17.9s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，约 1.6 倍；长尾受外部 API 波动影响。</a:t>
            </a:r>
          </a:p>
          <a:p>
            <a:pPr algn="l">
              <a:lnSpc>
                <a:spcPct val="150000"/>
              </a:lnSpc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4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过程可见：</a:t>
            </a:r>
            <a:r>
              <a:rPr sz="14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阶段进度、已核验内容预览与引用展示，支持业务复核和异常定位。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36460" y="1974850"/>
            <a:ext cx="4462145" cy="3119755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2110740"/>
            <a:ext cx="4023360" cy="41148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500" b="1">
                <a:solidFill>
                  <a:srgbClr val="1F386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 xml:space="preserve">工程韧性与设备感知优化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2435098"/>
            <a:ext cx="406908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2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并发治理：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模型获取移出推理锁，结合瞬态重试；历史 4 workers × 40 题并发 0 错误。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4927" y="3116453"/>
            <a:ext cx="406908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2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存储韧性：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SQLite named volume、WAL 容错回退与 busy timeout，缓解并发存储异常。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4927" y="3797808"/>
            <a:ext cx="406908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2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设备感知预算：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CPU 12 / GPU 24 候选；10 月微基准 GPU 24 候选重排约 0.30–0.53s。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5055" y="4479163"/>
            <a:ext cx="4204970" cy="571500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lnSpc>
                <a:spcPct val="150000"/>
              </a:lnSpc>
              <a:spcAft>
                <a:spcPts val="300"/>
              </a:spcAft>
            </a:pPr>
            <a:r>
              <a:rPr sz="1200" b="1">
                <a:solidFill>
                  <a:srgbClr val="C00000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▪ </a:t>
            </a:r>
            <a:r>
              <a:rPr sz="1200">
                <a:solidFill>
                  <a:srgbClr val="2E5AA8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可恢复处理：</a:t>
            </a:r>
            <a:r>
              <a:rPr sz="12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规划超时降级、外部调用重试与受限生成，结合诊断记录控制故障传播。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215890"/>
            <a:ext cx="11183112" cy="548640"/>
          </a:xfrm>
          <a:prstGeom prst="rect">
            <a:avLst/>
          </a:prstGeom>
          <a:solidFill>
            <a:srgbClr val="FB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49304"/>
            <a:ext cx="10698480" cy="2635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1600">
                <a:solidFill>
                  <a:srgbClr val="CE0000"/>
                </a:solidFill>
                <a:latin typeface="OPPOSans B" panose="00020600040101010101" charset="-122"/>
                <a:ea typeface="OPPOSans B" panose="00020600040101010101" charset="-122"/>
                <a:cs typeface="OPPOSans B" panose="00020600040101010101" charset="-122"/>
              </a:rPr>
              <a:t xml:space="preserve">知识构建：</a:t>
            </a:r>
            <a:r>
              <a:rPr sz="1600">
                <a:solidFill>
                  <a:schemeClr val="tx1"/>
                </a:solidFill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</a:rPr>
              <a:t xml:space="preserve">500 份文件解析、切分与持久化约 34 分钟；离线构建、在线问答分工，支持知识更新与环境复现。</a:t>
            </a:r>
          </a:p>
        </p:txBody>
      </p:sp>
      <p:sp>
        <p:nvSpPr>
          <p:cNvPr id="40" name="TextBox 12"/>
          <p:cNvSpPr txBox="1"/>
          <p:nvPr/>
        </p:nvSpPr>
        <p:spPr>
          <a:xfrm>
            <a:off x="4572000" y="2291334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GPU 平均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  <p:sp>
        <p:nvSpPr>
          <p:cNvPr id="41" name="TextBox 8"/>
          <p:cNvSpPr txBox="1"/>
          <p:nvPr/>
        </p:nvSpPr>
        <p:spPr>
          <a:xfrm>
            <a:off x="502920" y="2291969"/>
            <a:ext cx="265176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ctr">
              <a:spcAft>
                <a:spcPts val="400"/>
              </a:spcAft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rPr>
              <a:t>评测集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</a:endParaRPr>
          </a:p>
        </p:txBody>
      </p:sp>
      <p:sp>
        <p:nvSpPr>
          <p:cNvPr id="42" name="TextBox 10"/>
          <p:cNvSpPr txBox="1"/>
          <p:nvPr/>
        </p:nvSpPr>
        <p:spPr>
          <a:xfrm>
            <a:off x="3154680" y="2291969"/>
            <a:ext cx="14173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lvl="0" algn="ctr">
              <a:spcAft>
                <a:spcPts val="400"/>
              </a:spcAft>
              <a:buClrTx/>
              <a:buSzTx/>
              <a:buFontTx/>
            </a:pPr>
            <a:r>
              <a:rPr sz="14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>CPU 平均</a:t>
            </a:r>
            <a:endParaRPr sz="1400">
              <a:solidFill>
                <a:srgbClr val="FFFFFF"/>
              </a:solidFill>
              <a:latin typeface="OPPOSans B" panose="00020600040101010101" charset="-122"/>
              <a:ea typeface="OPPOSans B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/>
          <p:cNvSpPr txBox="1"/>
          <p:nvPr/>
        </p:nvSpPr>
        <p:spPr>
          <a:xfrm>
            <a:off x="4191318" y="1942677"/>
            <a:ext cx="379857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3800" b="0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06</a:t>
            </a:r>
            <a:endParaRPr kumimoji="0" lang="en-US" altLang="zh-CN" sz="13800" b="0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449637" y="3869267"/>
            <a:ext cx="5283200" cy="777875"/>
          </a:xfrm>
          <a:prstGeom prst="rect">
            <a:avLst/>
          </a:prstGeom>
          <a:noFill/>
        </p:spPr>
        <p:txBody>
          <a:bodyPr anchor="ctr"/>
          <a:lstStyle/>
          <a:p>
            <a:pPr marL="0" marR="0" lvl="0" indent="0" algn="ctr" defTabSz="914400" rtl="0" eaLnBrk="1" fontAlgn="t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落地价值</a:t>
            </a:r>
            <a:endParaRPr kumimoji="0" lang="zh-CN" altLang="en-US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grpSp>
        <p:nvGrpSpPr>
          <p:cNvPr id="18" name="组合 8"/>
          <p:cNvGrpSpPr/>
          <p:nvPr/>
        </p:nvGrpSpPr>
        <p:grpSpPr>
          <a:xfrm>
            <a:off x="3671887" y="1422930"/>
            <a:ext cx="4848225" cy="350837"/>
            <a:chOff x="5783" y="848"/>
            <a:chExt cx="7636" cy="551"/>
          </a:xfrm>
        </p:grpSpPr>
        <p:sp>
          <p:nvSpPr>
            <p:cNvPr id="19" name="任意多边形: 形状 187"/>
            <p:cNvSpPr/>
            <p:nvPr/>
          </p:nvSpPr>
          <p:spPr>
            <a:xfrm>
              <a:off x="5783" y="848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0" name="任意多边形: 形状 188"/>
            <p:cNvSpPr/>
            <p:nvPr/>
          </p:nvSpPr>
          <p:spPr>
            <a:xfrm>
              <a:off x="7826" y="10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21" name="组合 7"/>
          <p:cNvGrpSpPr/>
          <p:nvPr/>
        </p:nvGrpSpPr>
        <p:grpSpPr>
          <a:xfrm flipV="1">
            <a:off x="3671887" y="4972580"/>
            <a:ext cx="4849813" cy="336550"/>
            <a:chOff x="5975" y="1069"/>
            <a:chExt cx="7636" cy="530"/>
          </a:xfrm>
        </p:grpSpPr>
        <p:sp>
          <p:nvSpPr>
            <p:cNvPr id="22" name="任意多边形: 形状 187"/>
            <p:cNvSpPr/>
            <p:nvPr/>
          </p:nvSpPr>
          <p:spPr>
            <a:xfrm>
              <a:off x="5975" y="1069"/>
              <a:ext cx="7637" cy="510"/>
            </a:xfrm>
            <a:custGeom>
              <a:avLst/>
              <a:gdLst/>
              <a:ahLst/>
              <a:cxnLst>
                <a:cxn ang="0">
                  <a:pos x="2326" y="31"/>
                </a:cxn>
                <a:cxn ang="0">
                  <a:pos x="3433" y="31"/>
                </a:cxn>
                <a:cxn ang="0">
                  <a:pos x="4216" y="31"/>
                </a:cxn>
                <a:cxn ang="0">
                  <a:pos x="5259" y="31"/>
                </a:cxn>
                <a:cxn ang="0">
                  <a:pos x="5738" y="512"/>
                </a:cxn>
                <a:cxn ang="0">
                  <a:pos x="7637" y="512"/>
                </a:cxn>
                <a:cxn ang="0">
                  <a:pos x="7637" y="494"/>
                </a:cxn>
                <a:cxn ang="0">
                  <a:pos x="5747" y="494"/>
                </a:cxn>
                <a:cxn ang="0">
                  <a:pos x="5266" y="13"/>
                </a:cxn>
                <a:cxn ang="0">
                  <a:pos x="4216" y="13"/>
                </a:cxn>
                <a:cxn ang="0">
                  <a:pos x="3433" y="13"/>
                </a:cxn>
                <a:cxn ang="0">
                  <a:pos x="2319" y="13"/>
                </a:cxn>
                <a:cxn ang="0">
                  <a:pos x="1838" y="494"/>
                </a:cxn>
                <a:cxn ang="0">
                  <a:pos x="13" y="494"/>
                </a:cxn>
                <a:cxn ang="0">
                  <a:pos x="13" y="512"/>
                </a:cxn>
                <a:cxn ang="0">
                  <a:pos x="1845" y="512"/>
                </a:cxn>
              </a:cxnLst>
              <a:rect l="0" t="0" r="0" b="0"/>
              <a:pathLst>
                <a:path w="4849342" h="324061">
                  <a:moveTo>
                    <a:pt x="1477371" y="20254"/>
                  </a:moveTo>
                  <a:lnTo>
                    <a:pt x="2179890" y="20254"/>
                  </a:lnTo>
                  <a:lnTo>
                    <a:pt x="2677555" y="20254"/>
                  </a:lnTo>
                  <a:lnTo>
                    <a:pt x="3339565" y="20254"/>
                  </a:lnTo>
                  <a:lnTo>
                    <a:pt x="3643951" y="325797"/>
                  </a:lnTo>
                  <a:lnTo>
                    <a:pt x="4849922" y="325797"/>
                  </a:lnTo>
                  <a:lnTo>
                    <a:pt x="4849922" y="314224"/>
                  </a:lnTo>
                  <a:lnTo>
                    <a:pt x="3649738" y="314224"/>
                  </a:lnTo>
                  <a:lnTo>
                    <a:pt x="3344195" y="8680"/>
                  </a:lnTo>
                  <a:lnTo>
                    <a:pt x="2677555" y="8680"/>
                  </a:lnTo>
                  <a:lnTo>
                    <a:pt x="2179890" y="8680"/>
                  </a:lnTo>
                  <a:lnTo>
                    <a:pt x="1472742" y="8680"/>
                  </a:lnTo>
                  <a:lnTo>
                    <a:pt x="1167199" y="314224"/>
                  </a:lnTo>
                  <a:lnTo>
                    <a:pt x="8680" y="314224"/>
                  </a:lnTo>
                  <a:lnTo>
                    <a:pt x="8680" y="325797"/>
                  </a:lnTo>
                  <a:lnTo>
                    <a:pt x="1171828" y="325797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23" name="任意多边形: 形状 188"/>
            <p:cNvSpPr/>
            <p:nvPr/>
          </p:nvSpPr>
          <p:spPr>
            <a:xfrm>
              <a:off x="8026" y="1217"/>
              <a:ext cx="3536" cy="383"/>
            </a:xfrm>
            <a:custGeom>
              <a:avLst/>
              <a:gdLst/>
              <a:ahLst/>
              <a:cxnLst>
                <a:cxn ang="0">
                  <a:pos x="3192" y="13"/>
                </a:cxn>
                <a:cxn ang="0">
                  <a:pos x="1845" y="13"/>
                </a:cxn>
                <a:cxn ang="0">
                  <a:pos x="1705" y="13"/>
                </a:cxn>
                <a:cxn ang="0">
                  <a:pos x="356" y="13"/>
                </a:cxn>
                <a:cxn ang="0">
                  <a:pos x="13" y="358"/>
                </a:cxn>
                <a:cxn ang="0">
                  <a:pos x="24" y="371"/>
                </a:cxn>
                <a:cxn ang="0">
                  <a:pos x="363" y="31"/>
                </a:cxn>
                <a:cxn ang="0">
                  <a:pos x="1705" y="31"/>
                </a:cxn>
                <a:cxn ang="0">
                  <a:pos x="1845" y="31"/>
                </a:cxn>
                <a:cxn ang="0">
                  <a:pos x="3185" y="31"/>
                </a:cxn>
                <a:cxn ang="0">
                  <a:pos x="3516" y="362"/>
                </a:cxn>
                <a:cxn ang="0">
                  <a:pos x="3529" y="351"/>
                </a:cxn>
              </a:cxnLst>
              <a:rect l="0" t="0" r="0" b="0"/>
              <a:pathLst>
                <a:path w="2245280" h="243045">
                  <a:moveTo>
                    <a:pt x="2027118" y="8680"/>
                  </a:moveTo>
                  <a:lnTo>
                    <a:pt x="1171828" y="8680"/>
                  </a:lnTo>
                  <a:lnTo>
                    <a:pt x="1082711" y="8680"/>
                  </a:lnTo>
                  <a:lnTo>
                    <a:pt x="226264" y="8680"/>
                  </a:lnTo>
                  <a:lnTo>
                    <a:pt x="8680" y="227421"/>
                  </a:lnTo>
                  <a:lnTo>
                    <a:pt x="15624" y="235523"/>
                  </a:lnTo>
                  <a:lnTo>
                    <a:pt x="230894" y="20254"/>
                  </a:lnTo>
                  <a:lnTo>
                    <a:pt x="1082711" y="20254"/>
                  </a:lnTo>
                  <a:lnTo>
                    <a:pt x="1171828" y="20254"/>
                  </a:lnTo>
                  <a:lnTo>
                    <a:pt x="2022488" y="20254"/>
                  </a:lnTo>
                  <a:lnTo>
                    <a:pt x="2233128" y="229736"/>
                  </a:lnTo>
                  <a:lnTo>
                    <a:pt x="2241230" y="222792"/>
                  </a:lnTo>
                  <a:close/>
                </a:path>
              </a:pathLst>
            </a:custGeom>
            <a:gradFill rotWithShape="1">
              <a:gsLst>
                <a:gs pos="0">
                  <a:srgbClr val="F7FAFD"/>
                </a:gs>
                <a:gs pos="100000">
                  <a:srgbClr val="AAECFB"/>
                </a:gs>
              </a:gsLst>
              <a:lin ang="5400000"/>
              <a:tileRect/>
            </a:gradFill>
            <a:ln w="9525">
              <a:noFill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-323215" y="608330"/>
            <a:ext cx="12862560" cy="5641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  <a:softEdge rad="3175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Rectangle 2"/>
          <p:cNvSpPr/>
          <p:nvPr/>
        </p:nvSpPr>
        <p:spPr>
          <a:xfrm>
            <a:off x="502920" y="1018413"/>
            <a:ext cx="82296" cy="566928"/>
          </a:xfrm>
          <a:prstGeom prst="rect">
            <a:avLst/>
          </a:prstGeom>
          <a:solidFill>
            <a:srgbClr val="1C4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>
              <a:sym typeface="+mn-ea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713232" y="1066736"/>
            <a:ext cx="10058400" cy="47942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3000">
                <a:solidFill>
                  <a:srgbClr val="195CC4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rPr>
              <a:t xml:space="preserve">落地价值：构建银行可复用的监管知识服务底座</a:t>
            </a:r>
          </a:p>
        </p:txBody>
      </p:sp>
      <p:sp>
        <p:nvSpPr>
          <p:cNvPr id="7" name="TextBox 4"/>
          <p:cNvSpPr txBox="1"/>
          <p:nvPr/>
        </p:nvSpPr>
        <p:spPr>
          <a:xfrm>
            <a:off x="713232" y="1575054"/>
            <a:ext cx="10789920" cy="233045"/>
          </a:xfrm>
          <a:prstGeom prst="rect">
            <a:avLst/>
          </a:prstGeom>
          <a:noFill/>
        </p:spPr>
        <p:txBody>
          <a:bodyPr wrap="square" lIns="18288" tIns="9144" rIns="18288" bIns="9144" anchor="t">
            <a:spAutoFit/>
          </a:bodyPr>
          <a:p>
            <a:pPr algn="l">
              <a:spcAft>
                <a:spcPts val="400"/>
              </a:spcAft>
            </a:pPr>
            <a:r>
              <a:rPr sz="1400">
                <a:latin typeface="OPPOSans R" panose="00020600040101010101" charset="-122"/>
                <a:ea typeface="OPPOSans R" panose="00020600040101010101" charset="-122"/>
                <a:cs typeface="OPPOSans R" panose="00020600040101010101" charset="-122"/>
                <a:sym typeface="+mn-ea"/>
              </a:rPr>
              <a:t xml:space="preserve">从制度查询与报表核对切入，将检索、计算和证据复核嵌入业务流程，支撑合规运营与知识资产沉淀。</a:t>
            </a:r>
          </a:p>
        </p:txBody>
      </p:sp>
      <p:sp>
        <p:nvSpPr>
          <p:cNvPr id="52" name="Rectangle 5"/>
          <p:cNvSpPr/>
          <p:nvPr/>
        </p:nvSpPr>
        <p:spPr>
          <a:xfrm>
            <a:off x="502920" y="1840230"/>
            <a:ext cx="11124000" cy="20320"/>
          </a:xfrm>
          <a:prstGeom prst="rect">
            <a:avLst/>
          </a:prstGeom>
          <a:solidFill>
            <a:srgbClr val="D9D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3" name="Rectangle 22"/>
          <p:cNvSpPr/>
          <p:nvPr/>
        </p:nvSpPr>
        <p:spPr>
          <a:xfrm>
            <a:off x="393700" y="5092700"/>
            <a:ext cx="11313160" cy="822960"/>
          </a:xfrm>
          <a:prstGeom prst="rect">
            <a:avLst/>
          </a:prstGeom>
          <a:solidFill>
            <a:srgbClr val="2E5A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54" name="TextBox 23"/>
          <p:cNvSpPr txBox="1"/>
          <p:nvPr/>
        </p:nvSpPr>
        <p:spPr>
          <a:xfrm>
            <a:off x="472440" y="5310823"/>
            <a:ext cx="11442700" cy="386715"/>
          </a:xfrm>
          <a:prstGeom prst="rect">
            <a:avLst/>
          </a:prstGeom>
          <a:noFill/>
        </p:spPr>
        <p:txBody>
          <a:bodyPr wrap="square" lIns="18288" tIns="9144" rIns="18288" bIns="9144" anchor="ctr">
            <a:spAutoFit/>
          </a:bodyPr>
          <a:p>
            <a:pPr algn="l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 xml:space="preserve">推广路径：</a:t>
            </a:r>
            <a:r>
              <a:rPr sz="2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rPr>
              <a:t xml:space="preserve">部门试点</a:t>
            </a: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 xml:space="preserve"> → </a:t>
            </a:r>
            <a:r>
              <a:rPr sz="2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rPr>
              <a:t xml:space="preserve">内规扩展</a:t>
            </a: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 xml:space="preserve"> → </a:t>
            </a:r>
            <a:r>
              <a:rPr sz="2400">
                <a:solidFill>
                  <a:srgbClr val="F0C800"/>
                </a:solidFill>
                <a:latin typeface="OPPOSans B" panose="00020600040101010101" charset="-122"/>
                <a:ea typeface="OPPOSans B" panose="00020600040101010101" charset="-122"/>
              </a:rPr>
              <a:t xml:space="preserve">门户集成</a:t>
            </a:r>
            <a:r>
              <a:rPr sz="2000" b="1">
                <a:solidFill>
                  <a:srgbClr val="FFFFFF"/>
                </a:solidFill>
                <a:latin typeface="OPPOSans R" panose="00020600040101010101" charset="-122"/>
                <a:ea typeface="OPPOSans R" panose="00020600040101010101" charset="-122"/>
              </a:rPr>
              <a:t xml:space="preserve">，沉淀可调用、可核验的监管知识服务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737870" y="1988185"/>
            <a:ext cx="3401695" cy="3031490"/>
            <a:chOff x="812" y="3129"/>
            <a:chExt cx="5357" cy="4774"/>
          </a:xfrm>
        </p:grpSpPr>
        <p:sp>
          <p:nvSpPr>
            <p:cNvPr id="13" name="Rectangle 7"/>
            <p:cNvSpPr/>
            <p:nvPr/>
          </p:nvSpPr>
          <p:spPr>
            <a:xfrm>
              <a:off x="812" y="3129"/>
              <a:ext cx="5357" cy="47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E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33" name="Rectangle 8"/>
            <p:cNvSpPr/>
            <p:nvPr/>
          </p:nvSpPr>
          <p:spPr>
            <a:xfrm>
              <a:off x="812" y="3129"/>
              <a:ext cx="5357" cy="1224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rgbClr val="195CC4"/>
                </a:solidFill>
              </a:endParaRPr>
            </a:p>
          </p:txBody>
        </p:sp>
        <p:sp>
          <p:nvSpPr>
            <p:cNvPr id="38" name="TextBox 11"/>
            <p:cNvSpPr txBox="1"/>
            <p:nvPr/>
          </p:nvSpPr>
          <p:spPr>
            <a:xfrm>
              <a:off x="1100" y="4459"/>
              <a:ext cx="4824" cy="3280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 xml:space="preserve">制度问答：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汇聚信贷、风控、消保等制度的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条款与条件例外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，缩短查询路径，辅助业务判断。</a:t>
              </a: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 xml:space="preserve">报送核对：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联动指标、期间与单位，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返回可复算结果及依据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，减少口径核对。</a:t>
              </a: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 xml:space="preserve">问询答复：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结论与原文一并交付，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支撑合规复核与审计追踪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。</a:t>
              </a:r>
            </a:p>
          </p:txBody>
        </p:sp>
        <p:sp>
          <p:nvSpPr>
            <p:cNvPr id="68" name="TextBox 9"/>
            <p:cNvSpPr txBox="1"/>
            <p:nvPr/>
          </p:nvSpPr>
          <p:spPr>
            <a:xfrm>
              <a:off x="1071" y="3201"/>
              <a:ext cx="4896" cy="51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>
                <a:spcAft>
                  <a:spcPts val="400"/>
                </a:spcAft>
              </a:pPr>
              <a:r>
                <a:rPr sz="20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</a:rPr>
                <a:t>业务价值</a:t>
              </a:r>
              <a:endPara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</a:endParaRPr>
            </a:p>
          </p:txBody>
        </p:sp>
        <p:sp>
          <p:nvSpPr>
            <p:cNvPr id="69" name="TextBox 10"/>
            <p:cNvSpPr txBox="1"/>
            <p:nvPr/>
          </p:nvSpPr>
          <p:spPr>
            <a:xfrm>
              <a:off x="1071" y="3849"/>
              <a:ext cx="4896" cy="36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>
                <a:spcAft>
                  <a:spcPts val="400"/>
                </a:spcAft>
              </a:pPr>
              <a:r>
                <a:rPr sz="14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</a:rPr>
                <a:t xml:space="preserve">业务提效，依据随行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4366895" y="1987550"/>
            <a:ext cx="3401695" cy="3031490"/>
            <a:chOff x="6442" y="3129"/>
            <a:chExt cx="5357" cy="4774"/>
          </a:xfrm>
        </p:grpSpPr>
        <p:sp>
          <p:nvSpPr>
            <p:cNvPr id="39" name="Rectangle 12"/>
            <p:cNvSpPr/>
            <p:nvPr/>
          </p:nvSpPr>
          <p:spPr>
            <a:xfrm>
              <a:off x="6442" y="3129"/>
              <a:ext cx="5357" cy="47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E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43" name="Rectangle 13"/>
            <p:cNvSpPr/>
            <p:nvPr/>
          </p:nvSpPr>
          <p:spPr>
            <a:xfrm>
              <a:off x="6442" y="3129"/>
              <a:ext cx="5357" cy="1224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rgbClr val="195CC4"/>
                </a:solidFill>
              </a:endParaRPr>
            </a:p>
          </p:txBody>
        </p:sp>
        <p:sp>
          <p:nvSpPr>
            <p:cNvPr id="46" name="TextBox 16"/>
            <p:cNvSpPr txBox="1"/>
            <p:nvPr/>
          </p:nvSpPr>
          <p:spPr>
            <a:xfrm>
              <a:off x="6730" y="4459"/>
              <a:ext cx="4824" cy="3280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 xml:space="preserve">能力复用：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解析、检索、计算与校验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组件统一服务，便于接入内部制度与统计附件。</a:t>
              </a: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 xml:space="preserve">部署适配：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Docker + CPU/GPU 双配置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，本地处理与外部模型协同。</a:t>
              </a: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 xml:space="preserve">业务集成：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API 对接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门户与工作台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，将知识服务融入日常业务入口。</a:t>
              </a:r>
            </a:p>
          </p:txBody>
        </p:sp>
        <p:sp>
          <p:nvSpPr>
            <p:cNvPr id="70" name="TextBox 14"/>
            <p:cNvSpPr txBox="1"/>
            <p:nvPr/>
          </p:nvSpPr>
          <p:spPr>
            <a:xfrm>
              <a:off x="6702" y="3201"/>
              <a:ext cx="4896" cy="51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20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技术价值</a:t>
              </a:r>
              <a:endPara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71" name="TextBox 15"/>
            <p:cNvSpPr txBox="1"/>
            <p:nvPr/>
          </p:nvSpPr>
          <p:spPr>
            <a:xfrm>
              <a:off x="6702" y="3849"/>
              <a:ext cx="4896" cy="36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 xml:space="preserve">能力复用，部署可行</a:t>
              </a:r>
            </a:p>
          </p:txBody>
        </p:sp>
      </p:grpSp>
      <p:grpSp>
        <p:nvGrpSpPr>
          <p:cNvPr id="77" name="组合 76"/>
          <p:cNvGrpSpPr/>
          <p:nvPr/>
        </p:nvGrpSpPr>
        <p:grpSpPr>
          <a:xfrm>
            <a:off x="7995920" y="1988185"/>
            <a:ext cx="3401695" cy="3031490"/>
            <a:chOff x="12073" y="3129"/>
            <a:chExt cx="5357" cy="4774"/>
          </a:xfrm>
        </p:grpSpPr>
        <p:sp>
          <p:nvSpPr>
            <p:cNvPr id="47" name="Rectangle 17"/>
            <p:cNvSpPr/>
            <p:nvPr/>
          </p:nvSpPr>
          <p:spPr>
            <a:xfrm>
              <a:off x="12073" y="3129"/>
              <a:ext cx="5357" cy="4774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D9DE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</a:p>
          </p:txBody>
        </p:sp>
        <p:sp>
          <p:nvSpPr>
            <p:cNvPr id="48" name="Rectangle 18"/>
            <p:cNvSpPr/>
            <p:nvPr/>
          </p:nvSpPr>
          <p:spPr>
            <a:xfrm>
              <a:off x="12073" y="3129"/>
              <a:ext cx="5357" cy="1224"/>
            </a:xfrm>
            <a:prstGeom prst="rect">
              <a:avLst/>
            </a:prstGeom>
            <a:solidFill>
              <a:srgbClr val="2E5AA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>
                <a:solidFill>
                  <a:srgbClr val="195CC4"/>
                </a:solidFill>
              </a:endParaRPr>
            </a:p>
          </p:txBody>
        </p:sp>
        <p:sp>
          <p:nvSpPr>
            <p:cNvPr id="51" name="TextBox 21"/>
            <p:cNvSpPr txBox="1"/>
            <p:nvPr/>
          </p:nvSpPr>
          <p:spPr>
            <a:xfrm>
              <a:off x="12361" y="4711"/>
              <a:ext cx="4824" cy="2873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 xml:space="preserve">知识更新：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文档接入、身份核对与索引重建协同，沉淀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可维护的知识资产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。</a:t>
              </a: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 xml:space="preserve">质量验证：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题集回归、引用溯源与问答留痕，形成</a:t>
              </a:r>
              <a:r>
                <a:rPr sz="1400">
                  <a:solidFill>
                    <a:schemeClr val="accent1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  <a:sym typeface="+mn-ea"/>
                </a:rPr>
                <a:t xml:space="preserve">可度量的维护闭环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。</a:t>
              </a:r>
            </a:p>
            <a:p>
              <a:pPr algn="l" fontAlgn="auto">
                <a:lnSpc>
                  <a:spcPct val="120000"/>
                </a:lnSpc>
                <a:spcAft>
                  <a:spcPts val="1000"/>
                </a:spcAft>
              </a:pPr>
              <a:r>
                <a:rPr sz="1400" b="1">
                  <a:solidFill>
                    <a:srgbClr val="C00000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▪ </a:t>
              </a:r>
              <a:r>
                <a:rPr sz="1400">
                  <a:solidFill>
                    <a:srgbClr val="1F3864"/>
                  </a:solidFill>
                  <a:latin typeface="OPPOSans B" panose="00020600040101010101" charset="-122"/>
                  <a:ea typeface="OPPOSans B" panose="00020600040101010101" charset="-122"/>
                  <a:cs typeface="OPPOSans R" panose="00020600040101010101" charset="-122"/>
                </a:rPr>
                <a:t xml:space="preserve">试点衡量：</a:t>
              </a:r>
              <a:r>
                <a:rPr sz="1400" b="0">
                  <a:solidFill>
                    <a:srgbClr val="595959"/>
                  </a:solidFill>
                  <a:latin typeface="OPPOSans R" panose="00020600040101010101" charset="-122"/>
                  <a:ea typeface="OPPOSans R" panose="00020600040101010101" charset="-122"/>
                  <a:cs typeface="OPPOSans R" panose="00020600040101010101" charset="-122"/>
                </a:rPr>
                <a:t xml:space="preserve">跟踪查找与复核耗时、人工修订率、单次服务成本，为推广提供依据。</a:t>
              </a:r>
            </a:p>
          </p:txBody>
        </p:sp>
        <p:sp>
          <p:nvSpPr>
            <p:cNvPr id="72" name="TextBox 19"/>
            <p:cNvSpPr txBox="1"/>
            <p:nvPr/>
          </p:nvSpPr>
          <p:spPr>
            <a:xfrm>
              <a:off x="12332" y="3201"/>
              <a:ext cx="4896" cy="512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2000">
                  <a:solidFill>
                    <a:srgbClr val="FFFFFF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>运营价值</a:t>
              </a:r>
              <a:endParaRPr sz="2000">
                <a:solidFill>
                  <a:srgbClr val="FFFFFF"/>
                </a:solidFill>
                <a:latin typeface="OPPOSans B" panose="00020600040101010101" charset="-122"/>
                <a:ea typeface="OPPOSans B" panose="00020600040101010101" charset="-122"/>
                <a:sym typeface="+mn-ea"/>
              </a:endParaRPr>
            </a:p>
          </p:txBody>
        </p:sp>
        <p:sp>
          <p:nvSpPr>
            <p:cNvPr id="73" name="TextBox 20"/>
            <p:cNvSpPr txBox="1"/>
            <p:nvPr/>
          </p:nvSpPr>
          <p:spPr>
            <a:xfrm>
              <a:off x="12332" y="3849"/>
              <a:ext cx="4896" cy="367"/>
            </a:xfrm>
            <a:prstGeom prst="rect">
              <a:avLst/>
            </a:prstGeom>
            <a:noFill/>
          </p:spPr>
          <p:txBody>
            <a:bodyPr wrap="square" lIns="18288" tIns="9144" rIns="18288" bIns="9144" anchor="t">
              <a:spAutoFit/>
            </a:bodyPr>
            <a:p>
              <a:pPr lvl="0" algn="l">
                <a:spcAft>
                  <a:spcPts val="400"/>
                </a:spcAft>
                <a:buClrTx/>
                <a:buSzTx/>
                <a:buFontTx/>
              </a:pPr>
              <a:r>
                <a:rPr sz="1400">
                  <a:solidFill>
                    <a:srgbClr val="F0C800"/>
                  </a:solidFill>
                  <a:latin typeface="OPPOSans B" panose="00020600040101010101" charset="-122"/>
                  <a:ea typeface="OPPOSans B" panose="00020600040101010101" charset="-122"/>
                  <a:sym typeface="+mn-ea"/>
                </a:rPr>
                <a:t xml:space="preserve">持续运营，成效可量化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118105" y="1445752"/>
            <a:ext cx="6345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谢谢观看！</a:t>
            </a:r>
            <a:endParaRPr kumimoji="0" lang="zh-CN" altLang="en-US" sz="96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814955" y="3635375"/>
            <a:ext cx="655701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</a:t>
            </a:r>
            <a:r>
              <a:rPr kumimoji="0" lang="zh-CN" altLang="en-US" sz="4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rtex </a:t>
            </a:r>
            <a:r>
              <a:rPr lang="zh-CN" altLang="en-US" sz="4400" b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团队</a:t>
            </a:r>
            <a:endParaRPr kumimoji="0" lang="zh-CN" altLang="en-US" sz="4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74350" y="4925066"/>
            <a:ext cx="42062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队员：李思、刘晨阳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2263351" y="4925066"/>
            <a:ext cx="2525267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>
                <a:ln>
                  <a:noFill/>
                </a:ln>
                <a:gradFill>
                  <a:gsLst>
                    <a:gs pos="32000">
                      <a:srgbClr val="4874CB">
                        <a:lumMod val="5000"/>
                        <a:lumOff val="95000"/>
                      </a:srgbClr>
                    </a:gs>
                    <a:gs pos="100000">
                      <a:srgbClr val="AAECFB"/>
                    </a:gs>
                  </a:gsLst>
                  <a:lin ang="5400000" scaled="0"/>
                </a:gra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队长：王博震</a:t>
            </a:r>
            <a:endParaRPr kumimoji="0" lang="zh-CN" altLang="en-US" sz="2400" b="1" i="0" u="none" strike="noStrike" kern="1200" cap="none" spc="0" normalizeH="0" baseline="0" noProof="1">
              <a:ln>
                <a:noFill/>
              </a:ln>
              <a:gradFill>
                <a:gsLst>
                  <a:gs pos="32000">
                    <a:srgbClr val="4874CB">
                      <a:lumMod val="5000"/>
                      <a:lumOff val="95000"/>
                    </a:srgbClr>
                  </a:gs>
                  <a:gs pos="100000">
                    <a:srgbClr val="AAECFB"/>
                  </a:gs>
                </a:gsLst>
                <a:lin ang="5400000" scaled="0"/>
              </a:gra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5189</Words>
  <Application>WPS 演示</Application>
  <PresentationFormat>宽屏</PresentationFormat>
  <Paragraphs>448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2" baseType="lpstr">
      <vt:lpstr>Arial</vt:lpstr>
      <vt:lpstr>宋体</vt:lpstr>
      <vt:lpstr>Wingdings</vt:lpstr>
      <vt:lpstr>庞门正道标题体</vt:lpstr>
      <vt:lpstr>Franklin Gothic Book</vt:lpstr>
      <vt:lpstr>微软雅黑</vt:lpstr>
      <vt:lpstr>Calibri</vt:lpstr>
      <vt:lpstr>OPPOSans B</vt:lpstr>
      <vt:lpstr>OPPOSans R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</dc:creator>
  <cp:lastModifiedBy>legion</cp:lastModifiedBy>
  <cp:revision>24</cp:revision>
  <dcterms:created xsi:type="dcterms:W3CDTF">2023-08-09T12:44:00Z</dcterms:created>
  <dcterms:modified xsi:type="dcterms:W3CDTF">2026-10-15T08:55:30Z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624A8775239844D99DE3F9D5E909B592_12</vt:lpwstr>
  </property>
</Properties>
</file>